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42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5557D-AC70-4DD8-839E-35E3E0BC98B3}" v="3" dt="2025-02-06T09:04:35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1" autoAdjust="0"/>
    <p:restoredTop sz="94660"/>
  </p:normalViewPr>
  <p:slideViewPr>
    <p:cSldViewPr snapToGrid="0">
      <p:cViewPr varScale="1">
        <p:scale>
          <a:sx n="202" d="100"/>
          <a:sy n="202" d="100"/>
        </p:scale>
        <p:origin x="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18A5557D-AC70-4DD8-839E-35E3E0BC98B3}"/>
    <pc:docChg chg="modSld">
      <pc:chgData name="Tamas Vamosi" userId="d29b3f17-2c73-4e3f-a1f7-7beee2a70eaf" providerId="ADAL" clId="{18A5557D-AC70-4DD8-839E-35E3E0BC98B3}" dt="2025-02-06T09:04:39.569" v="9" actId="1076"/>
      <pc:docMkLst>
        <pc:docMk/>
      </pc:docMkLst>
      <pc:sldChg chg="modSp">
        <pc:chgData name="Tamas Vamosi" userId="d29b3f17-2c73-4e3f-a1f7-7beee2a70eaf" providerId="ADAL" clId="{18A5557D-AC70-4DD8-839E-35E3E0BC98B3}" dt="2025-02-06T08:59:01.620" v="1" actId="20577"/>
        <pc:sldMkLst>
          <pc:docMk/>
          <pc:sldMk cId="2821083517" sldId="258"/>
        </pc:sldMkLst>
        <pc:spChg chg="mod">
          <ac:chgData name="Tamas Vamosi" userId="d29b3f17-2c73-4e3f-a1f7-7beee2a70eaf" providerId="ADAL" clId="{18A5557D-AC70-4DD8-839E-35E3E0BC98B3}" dt="2025-02-06T08:59:01.620" v="1" actId="20577"/>
          <ac:spMkLst>
            <pc:docMk/>
            <pc:sldMk cId="2821083517" sldId="258"/>
            <ac:spMk id="58371" creationId="{00000000-0000-0000-0000-000000000000}"/>
          </ac:spMkLst>
        </pc:spChg>
      </pc:sldChg>
      <pc:sldChg chg="modSp mod">
        <pc:chgData name="Tamas Vamosi" userId="d29b3f17-2c73-4e3f-a1f7-7beee2a70eaf" providerId="ADAL" clId="{18A5557D-AC70-4DD8-839E-35E3E0BC98B3}" dt="2025-02-06T09:02:42.150" v="7" actId="207"/>
        <pc:sldMkLst>
          <pc:docMk/>
          <pc:sldMk cId="718767874" sldId="269"/>
        </pc:sldMkLst>
        <pc:spChg chg="mod">
          <ac:chgData name="Tamas Vamosi" userId="d29b3f17-2c73-4e3f-a1f7-7beee2a70eaf" providerId="ADAL" clId="{18A5557D-AC70-4DD8-839E-35E3E0BC98B3}" dt="2025-02-06T09:02:42.150" v="7" actId="207"/>
          <ac:spMkLst>
            <pc:docMk/>
            <pc:sldMk cId="718767874" sldId="269"/>
            <ac:spMk id="73756" creationId="{00000000-0000-0000-0000-000000000000}"/>
          </ac:spMkLst>
        </pc:spChg>
      </pc:sldChg>
      <pc:sldChg chg="modSp mod">
        <pc:chgData name="Tamas Vamosi" userId="d29b3f17-2c73-4e3f-a1f7-7beee2a70eaf" providerId="ADAL" clId="{18A5557D-AC70-4DD8-839E-35E3E0BC98B3}" dt="2025-02-06T09:01:50.173" v="6" actId="20577"/>
        <pc:sldMkLst>
          <pc:docMk/>
          <pc:sldMk cId="1052721311" sldId="271"/>
        </pc:sldMkLst>
        <pc:spChg chg="mod">
          <ac:chgData name="Tamas Vamosi" userId="d29b3f17-2c73-4e3f-a1f7-7beee2a70eaf" providerId="ADAL" clId="{18A5557D-AC70-4DD8-839E-35E3E0BC98B3}" dt="2025-02-06T09:01:29.735" v="2" actId="115"/>
          <ac:spMkLst>
            <pc:docMk/>
            <pc:sldMk cId="1052721311" sldId="271"/>
            <ac:spMk id="35852" creationId="{00000000-0000-0000-0000-000000000000}"/>
          </ac:spMkLst>
        </pc:spChg>
        <pc:spChg chg="mod">
          <ac:chgData name="Tamas Vamosi" userId="d29b3f17-2c73-4e3f-a1f7-7beee2a70eaf" providerId="ADAL" clId="{18A5557D-AC70-4DD8-839E-35E3E0BC98B3}" dt="2025-02-06T09:01:50.173" v="6" actId="20577"/>
          <ac:spMkLst>
            <pc:docMk/>
            <pc:sldMk cId="1052721311" sldId="271"/>
            <ac:spMk id="35854" creationId="{00000000-0000-0000-0000-000000000000}"/>
          </ac:spMkLst>
        </pc:spChg>
      </pc:sldChg>
      <pc:sldChg chg="addSp modSp mod">
        <pc:chgData name="Tamas Vamosi" userId="d29b3f17-2c73-4e3f-a1f7-7beee2a70eaf" providerId="ADAL" clId="{18A5557D-AC70-4DD8-839E-35E3E0BC98B3}" dt="2025-02-06T09:04:39.569" v="9" actId="1076"/>
        <pc:sldMkLst>
          <pc:docMk/>
          <pc:sldMk cId="1723429531" sldId="275"/>
        </pc:sldMkLst>
        <pc:spChg chg="add mod">
          <ac:chgData name="Tamas Vamosi" userId="d29b3f17-2c73-4e3f-a1f7-7beee2a70eaf" providerId="ADAL" clId="{18A5557D-AC70-4DD8-839E-35E3E0BC98B3}" dt="2025-02-06T09:04:39.569" v="9" actId="1076"/>
          <ac:spMkLst>
            <pc:docMk/>
            <pc:sldMk cId="1723429531" sldId="275"/>
            <ac:spMk id="3" creationId="{D5F7133E-243C-5793-F00E-AFFF759D437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3E4BE-BA81-4A17-83C4-2D693E8B3821}" type="datetimeFigureOut">
              <a:rPr lang="da-DK" smtClean="0"/>
              <a:t>27.01.2026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6CC70-2415-4385-9CCC-ECB5C35F699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6529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E1036B-E6A7-4367-BB55-5AB625D331D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5526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DA195B-05EA-4FDE-9927-1AA4EB5B2FE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658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/>
          <p:cNvSpPr>
            <a:spLocks noChangeArrowheads="1"/>
          </p:cNvSpPr>
          <p:nvPr/>
        </p:nvSpPr>
        <p:spPr bwMode="auto">
          <a:xfrm>
            <a:off x="2286000" y="14478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endParaRPr lang="en-US" sz="3200" i="1" dirty="0">
              <a:solidFill>
                <a:srgbClr val="000066"/>
              </a:solidFill>
            </a:endParaRPr>
          </a:p>
          <a:p>
            <a:pPr algn="ctr" eaLnBrk="0" hangingPunct="0"/>
            <a:endParaRPr lang="en-US" sz="3200" i="1" dirty="0">
              <a:solidFill>
                <a:srgbClr val="000066"/>
              </a:solidFill>
            </a:endParaRPr>
          </a:p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Managerial Economics and </a:t>
            </a:r>
          </a:p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Organizational Architecture</a:t>
            </a:r>
            <a:br>
              <a:rPr lang="en-US" sz="32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Chapter 6:  </a:t>
            </a:r>
            <a:br>
              <a:rPr lang="en-US" sz="48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Market Structure</a:t>
            </a:r>
          </a:p>
        </p:txBody>
      </p:sp>
    </p:spTree>
    <p:extLst>
      <p:ext uri="{BB962C8B-B14F-4D97-AF65-F5344CB8AC3E}">
        <p14:creationId xmlns:p14="http://schemas.microsoft.com/office/powerpoint/2010/main" val="408071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Market Structure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2057400"/>
            <a:ext cx="5262880" cy="4114800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200" dirty="0"/>
              <a:t>A market consists of;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3200" dirty="0"/>
              <a:t>All firms and individuals willing and able to buy or sell a particular product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A market structure is;</a:t>
            </a:r>
          </a:p>
          <a:p>
            <a:pPr lvl="1" eaLnBrk="1" hangingPunct="1">
              <a:buClr>
                <a:srgbClr val="000066"/>
              </a:buClr>
              <a:buFontTx/>
              <a:buChar char="•"/>
            </a:pPr>
            <a:r>
              <a:rPr lang="en-US" sz="3200" dirty="0"/>
              <a:t>Defined by attributes of the market environment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10498201" y="592597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4A54B623-62B2-49D1-8AA0-E793C952E6FE}" type="slidenum">
              <a:rPr lang="en-US" sz="1000" smtClean="0"/>
              <a:pPr/>
              <a:t>2</a:t>
            </a:fld>
            <a:endParaRPr lang="en-US" sz="1000" dirty="0"/>
          </a:p>
        </p:txBody>
      </p:sp>
      <p:pic>
        <p:nvPicPr>
          <p:cNvPr id="1026" name="Picture 2" descr="Best of Copenhagen Attractions Tour | Food Market - Nordic Experience">
            <a:extLst>
              <a:ext uri="{FF2B5EF4-FFF2-40B4-BE49-F238E27FC236}">
                <a16:creationId xmlns:a16="http://schemas.microsoft.com/office/drawing/2014/main" id="{BF6C2AF9-EE44-EA4F-3CA7-DC08F218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506" y="2570480"/>
            <a:ext cx="3765973" cy="211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41FA8-4C41-20EE-487B-4CB808782E96}"/>
              </a:ext>
            </a:extLst>
          </p:cNvPr>
          <p:cNvSpPr txBox="1"/>
          <p:nvPr/>
        </p:nvSpPr>
        <p:spPr>
          <a:xfrm>
            <a:off x="7948506" y="4688840"/>
            <a:ext cx="335861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www.nordicexperience.com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/tours/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copenhagen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-tours/best-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copenhagen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-tour-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torvehallerne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-market-visit/</a:t>
            </a:r>
          </a:p>
        </p:txBody>
      </p:sp>
    </p:spTree>
    <p:extLst>
      <p:ext uri="{BB962C8B-B14F-4D97-AF65-F5344CB8AC3E}">
        <p14:creationId xmlns:p14="http://schemas.microsoft.com/office/powerpoint/2010/main" val="282108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Market Structure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05000"/>
            <a:ext cx="8229600" cy="3436938"/>
          </a:xfrm>
        </p:spPr>
        <p:txBody>
          <a:bodyPr/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Perfect competition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Monopoly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Monopolistic competition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Oligopoly</a:t>
            </a:r>
            <a:endParaRPr lang="en-US" sz="3600" dirty="0">
              <a:sym typeface="Monotype Sorts"/>
            </a:endParaRP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10962513" y="5848796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7BCF2FD1-3A2E-4453-9562-6EF21F163B8A}" type="slidenum">
              <a:rPr lang="en-US" sz="1000" smtClean="0"/>
              <a:pPr/>
              <a:t>3</a:t>
            </a:fld>
            <a:endParaRPr lang="en-US" sz="1000" dirty="0"/>
          </a:p>
        </p:txBody>
      </p:sp>
      <p:pic>
        <p:nvPicPr>
          <p:cNvPr id="2050" name="Picture 2" descr="4 Product Market Structures Explained - ReviewEcon.com">
            <a:extLst>
              <a:ext uri="{FF2B5EF4-FFF2-40B4-BE49-F238E27FC236}">
                <a16:creationId xmlns:a16="http://schemas.microsoft.com/office/drawing/2014/main" id="{BF618A66-5BCD-DF6D-B1A9-E2744526D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941" y="1440742"/>
            <a:ext cx="2862580" cy="414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BAF836-A08D-DD25-FA29-85F19E32909D}"/>
              </a:ext>
            </a:extLst>
          </p:cNvPr>
          <p:cNvSpPr txBox="1"/>
          <p:nvPr/>
        </p:nvSpPr>
        <p:spPr>
          <a:xfrm>
            <a:off x="8359941" y="5581650"/>
            <a:ext cx="175560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www.reviewecon.com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/4-market-structures1</a:t>
            </a:r>
          </a:p>
        </p:txBody>
      </p:sp>
    </p:spTree>
    <p:extLst>
      <p:ext uri="{BB962C8B-B14F-4D97-AF65-F5344CB8AC3E}">
        <p14:creationId xmlns:p14="http://schemas.microsoft.com/office/powerpoint/2010/main" val="400044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Perfect Competition Characteristics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2209799"/>
            <a:ext cx="5588000" cy="399951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Many buyers and sellers</a:t>
            </a: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Product homogeneity</a:t>
            </a: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Low cost and accurate information</a:t>
            </a: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Free entry and exit</a:t>
            </a: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Best regarded as a </a:t>
            </a:r>
            <a:r>
              <a:rPr lang="en-US" sz="4000" i="1" dirty="0"/>
              <a:t>benchmark</a:t>
            </a: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10935081" y="5963096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B3DB0CE9-2135-4564-A429-4CBF749B509E}" type="slidenum">
              <a:rPr lang="en-US" sz="1000" smtClean="0"/>
              <a:pPr/>
              <a:t>4</a:t>
            </a:fld>
            <a:endParaRPr lang="en-US" sz="1000" dirty="0"/>
          </a:p>
        </p:txBody>
      </p:sp>
      <p:pic>
        <p:nvPicPr>
          <p:cNvPr id="3074" name="Picture 2" descr="Market structures of perfect competition monopoly monopolistic competition  oligopoly | Premium Vector">
            <a:extLst>
              <a:ext uri="{FF2B5EF4-FFF2-40B4-BE49-F238E27FC236}">
                <a16:creationId xmlns:a16="http://schemas.microsoft.com/office/drawing/2014/main" id="{62242250-163B-1618-5FE5-50C8717B51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20" r="71916" b="27245"/>
          <a:stretch>
            <a:fillRect/>
          </a:stretch>
        </p:blipFill>
        <p:spPr bwMode="auto">
          <a:xfrm>
            <a:off x="8325134" y="2647666"/>
            <a:ext cx="2869955" cy="286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3800CA-7FD9-BDC9-5684-22138157F958}"/>
              </a:ext>
            </a:extLst>
          </p:cNvPr>
          <p:cNvSpPr txBox="1"/>
          <p:nvPr/>
        </p:nvSpPr>
        <p:spPr>
          <a:xfrm>
            <a:off x="8313851" y="5530295"/>
            <a:ext cx="2621230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300" dirty="0" err="1">
                <a:solidFill>
                  <a:schemeClr val="bg2">
                    <a:lumMod val="50000"/>
                  </a:schemeClr>
                </a:solidFill>
              </a:rPr>
              <a:t>www.freepik.com</a:t>
            </a:r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/premium-vector/market-structures-perfect-competition-monopoly-monopolistic-competition-oligopoly_137102145.htm</a:t>
            </a:r>
          </a:p>
        </p:txBody>
      </p:sp>
    </p:spTree>
    <p:extLst>
      <p:ext uri="{BB962C8B-B14F-4D97-AF65-F5344CB8AC3E}">
        <p14:creationId xmlns:p14="http://schemas.microsoft.com/office/powerpoint/2010/main" val="242449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685800"/>
            <a:ext cx="8763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Firm Demand Curve Perfect Competition</a:t>
            </a:r>
          </a:p>
        </p:txBody>
      </p:sp>
      <p:sp>
        <p:nvSpPr>
          <p:cNvPr id="19458" name="Line 4"/>
          <p:cNvSpPr>
            <a:spLocks noChangeShapeType="1"/>
          </p:cNvSpPr>
          <p:nvPr/>
        </p:nvSpPr>
        <p:spPr bwMode="auto">
          <a:xfrm>
            <a:off x="2590800" y="22098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9459" name="Line 5"/>
          <p:cNvSpPr>
            <a:spLocks noChangeShapeType="1"/>
          </p:cNvSpPr>
          <p:nvPr/>
        </p:nvSpPr>
        <p:spPr bwMode="auto">
          <a:xfrm>
            <a:off x="2590800" y="54864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9460" name="Line 6"/>
          <p:cNvSpPr>
            <a:spLocks noChangeShapeType="1"/>
          </p:cNvSpPr>
          <p:nvPr/>
        </p:nvSpPr>
        <p:spPr bwMode="auto">
          <a:xfrm flipV="1">
            <a:off x="2971800" y="2971800"/>
            <a:ext cx="2286000" cy="205740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9461" name="Line 7"/>
          <p:cNvSpPr>
            <a:spLocks noChangeShapeType="1"/>
          </p:cNvSpPr>
          <p:nvPr/>
        </p:nvSpPr>
        <p:spPr bwMode="auto">
          <a:xfrm>
            <a:off x="2971800" y="2895600"/>
            <a:ext cx="2286000" cy="21336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2590800" y="3962400"/>
            <a:ext cx="3429000" cy="0"/>
          </a:xfrm>
          <a:prstGeom prst="line">
            <a:avLst/>
          </a:prstGeom>
          <a:noFill/>
          <a:ln w="28575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9463" name="Line 9"/>
          <p:cNvSpPr>
            <a:spLocks noChangeShapeType="1"/>
          </p:cNvSpPr>
          <p:nvPr/>
        </p:nvSpPr>
        <p:spPr bwMode="auto">
          <a:xfrm>
            <a:off x="6477000" y="22860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9464" name="Line 10"/>
          <p:cNvSpPr>
            <a:spLocks noChangeShapeType="1"/>
          </p:cNvSpPr>
          <p:nvPr/>
        </p:nvSpPr>
        <p:spPr bwMode="auto">
          <a:xfrm>
            <a:off x="6477000" y="54864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79883" name="Line 11"/>
          <p:cNvSpPr>
            <a:spLocks noChangeShapeType="1"/>
          </p:cNvSpPr>
          <p:nvPr/>
        </p:nvSpPr>
        <p:spPr bwMode="auto">
          <a:xfrm>
            <a:off x="6477000" y="3962400"/>
            <a:ext cx="2286000" cy="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9466" name="Text Box 12"/>
          <p:cNvSpPr txBox="1">
            <a:spLocks noChangeArrowheads="1"/>
          </p:cNvSpPr>
          <p:nvPr/>
        </p:nvSpPr>
        <p:spPr bwMode="auto">
          <a:xfrm rot="-5400000">
            <a:off x="1278396" y="3920432"/>
            <a:ext cx="14087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Price (in dollars)</a:t>
            </a:r>
          </a:p>
        </p:txBody>
      </p:sp>
      <p:sp>
        <p:nvSpPr>
          <p:cNvPr id="19467" name="Text Box 13"/>
          <p:cNvSpPr txBox="1">
            <a:spLocks noChangeArrowheads="1"/>
          </p:cNvSpPr>
          <p:nvPr/>
        </p:nvSpPr>
        <p:spPr bwMode="auto">
          <a:xfrm>
            <a:off x="3505201" y="5562600"/>
            <a:ext cx="155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(market)</a:t>
            </a:r>
          </a:p>
        </p:txBody>
      </p:sp>
      <p:sp>
        <p:nvSpPr>
          <p:cNvPr id="19468" name="Text Box 14"/>
          <p:cNvSpPr txBox="1">
            <a:spLocks noChangeArrowheads="1"/>
          </p:cNvSpPr>
          <p:nvPr/>
        </p:nvSpPr>
        <p:spPr bwMode="auto">
          <a:xfrm>
            <a:off x="7543801" y="5562600"/>
            <a:ext cx="13954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(firm i)</a:t>
            </a:r>
          </a:p>
        </p:txBody>
      </p:sp>
      <p:sp>
        <p:nvSpPr>
          <p:cNvPr id="19469" name="Text Box 15"/>
          <p:cNvSpPr txBox="1">
            <a:spLocks noChangeArrowheads="1"/>
          </p:cNvSpPr>
          <p:nvPr/>
        </p:nvSpPr>
        <p:spPr bwMode="auto">
          <a:xfrm>
            <a:off x="5886450" y="5272089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19470" name="Text Box 16"/>
          <p:cNvSpPr txBox="1">
            <a:spLocks noChangeArrowheads="1"/>
          </p:cNvSpPr>
          <p:nvPr/>
        </p:nvSpPr>
        <p:spPr bwMode="auto">
          <a:xfrm>
            <a:off x="9829800" y="5334001"/>
            <a:ext cx="32733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19471" name="Text Box 17"/>
          <p:cNvSpPr txBox="1">
            <a:spLocks noChangeArrowheads="1"/>
          </p:cNvSpPr>
          <p:nvPr/>
        </p:nvSpPr>
        <p:spPr bwMode="auto">
          <a:xfrm>
            <a:off x="5257800" y="4845050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i="1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19472" name="Text Box 18"/>
          <p:cNvSpPr txBox="1">
            <a:spLocks noChangeArrowheads="1"/>
          </p:cNvSpPr>
          <p:nvPr/>
        </p:nvSpPr>
        <p:spPr bwMode="auto">
          <a:xfrm>
            <a:off x="5257800" y="2667000"/>
            <a:ext cx="30168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19473" name="Text Box 19"/>
          <p:cNvSpPr txBox="1">
            <a:spLocks noChangeArrowheads="1"/>
          </p:cNvSpPr>
          <p:nvPr/>
        </p:nvSpPr>
        <p:spPr bwMode="auto">
          <a:xfrm>
            <a:off x="2438400" y="1905001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19474" name="Text Box 20"/>
          <p:cNvSpPr txBox="1">
            <a:spLocks noChangeArrowheads="1"/>
          </p:cNvSpPr>
          <p:nvPr/>
        </p:nvSpPr>
        <p:spPr bwMode="auto">
          <a:xfrm>
            <a:off x="6332538" y="1949451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79894" name="Text Box 22"/>
          <p:cNvSpPr txBox="1">
            <a:spLocks noChangeArrowheads="1"/>
          </p:cNvSpPr>
          <p:nvPr/>
        </p:nvSpPr>
        <p:spPr bwMode="auto">
          <a:xfrm>
            <a:off x="2089150" y="3748089"/>
            <a:ext cx="389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P*</a:t>
            </a:r>
          </a:p>
        </p:txBody>
      </p:sp>
      <p:sp>
        <p:nvSpPr>
          <p:cNvPr id="79895" name="Text Box 23"/>
          <p:cNvSpPr txBox="1">
            <a:spLocks noChangeArrowheads="1"/>
          </p:cNvSpPr>
          <p:nvPr/>
        </p:nvSpPr>
        <p:spPr bwMode="auto">
          <a:xfrm>
            <a:off x="6096000" y="3810001"/>
            <a:ext cx="3898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P*</a:t>
            </a:r>
          </a:p>
        </p:txBody>
      </p:sp>
      <p:sp>
        <p:nvSpPr>
          <p:cNvPr id="79896" name="Text Box 24"/>
          <p:cNvSpPr txBox="1">
            <a:spLocks noChangeArrowheads="1"/>
          </p:cNvSpPr>
          <p:nvPr/>
        </p:nvSpPr>
        <p:spPr bwMode="auto">
          <a:xfrm>
            <a:off x="8839201" y="3810001"/>
            <a:ext cx="12378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D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  <a:r>
              <a:rPr lang="en-US" sz="1400" i="1">
                <a:solidFill>
                  <a:srgbClr val="5F5F5F"/>
                </a:solidFill>
              </a:rPr>
              <a:t> = </a:t>
            </a:r>
            <a:r>
              <a:rPr lang="en-US" sz="1400">
                <a:solidFill>
                  <a:srgbClr val="5F5F5F"/>
                </a:solidFill>
              </a:rPr>
              <a:t>MR</a:t>
            </a:r>
            <a:r>
              <a:rPr lang="en-US" sz="1400" baseline="-25000">
                <a:solidFill>
                  <a:srgbClr val="5F5F5F"/>
                </a:solidFill>
              </a:rPr>
              <a:t>i</a:t>
            </a:r>
            <a:r>
              <a:rPr lang="en-US" sz="1400">
                <a:solidFill>
                  <a:srgbClr val="5F5F5F"/>
                </a:solidFill>
              </a:rPr>
              <a:t> = AR</a:t>
            </a:r>
            <a:r>
              <a:rPr lang="en-US" sz="1400" baseline="-25000">
                <a:solidFill>
                  <a:srgbClr val="5F5F5F"/>
                </a:solidFill>
              </a:rPr>
              <a:t>i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19478" name="Rectangle 23"/>
          <p:cNvSpPr>
            <a:spLocks noChangeArrowheads="1"/>
          </p:cNvSpPr>
          <p:nvPr/>
        </p:nvSpPr>
        <p:spPr bwMode="auto">
          <a:xfrm>
            <a:off x="11304651" y="6137594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9B099FE5-1DA3-4256-B0E4-4C861F501A89}" type="slidenum">
              <a:rPr lang="en-US" sz="1000" smtClean="0"/>
              <a:pPr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6404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0" grpId="0" animBg="1"/>
      <p:bldP spid="79883" grpId="0" animBg="1"/>
      <p:bldP spid="79894" grpId="0"/>
      <p:bldP spid="79895" grpId="0"/>
      <p:bldP spid="7989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85800"/>
            <a:ext cx="7772400" cy="914400"/>
          </a:xfrm>
        </p:spPr>
        <p:txBody>
          <a:bodyPr/>
          <a:lstStyle/>
          <a:p>
            <a:pPr eaLnBrk="1" hangingPunct="1"/>
            <a:r>
              <a:rPr lang="en-US" dirty="0"/>
              <a:t>Firm </a:t>
            </a:r>
            <a:r>
              <a:rPr lang="en-US" u="sng" dirty="0">
                <a:solidFill>
                  <a:srgbClr val="FF6600"/>
                </a:solidFill>
              </a:rPr>
              <a:t>Supply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7225" y="1676400"/>
            <a:ext cx="8970380" cy="4529818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000066"/>
              </a:buClr>
            </a:pPr>
            <a:endParaRPr lang="en-US" sz="4000" dirty="0"/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Short run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4000" u="sng" dirty="0">
                <a:solidFill>
                  <a:srgbClr val="FF6600"/>
                </a:solidFill>
              </a:rPr>
              <a:t>Marginal cost curve above average variable cost</a:t>
            </a: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Long run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4000" dirty="0"/>
              <a:t>Long-run marginal cost curve above long-run average cost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11285919" y="5959997"/>
            <a:ext cx="40451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fld id="{104C0E85-EE9B-4475-9B93-B2894B0A2338}" type="slidenum">
              <a:rPr lang="en-US" sz="1000" smtClean="0"/>
              <a:pPr/>
              <a:t>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581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1143000"/>
          </a:xfrm>
        </p:spPr>
        <p:txBody>
          <a:bodyPr/>
          <a:lstStyle/>
          <a:p>
            <a:pPr eaLnBrk="1" hangingPunct="1"/>
            <a:r>
              <a:rPr lang="en-US" sz="4000"/>
              <a:t>The Firm’s Short-Run Supply Curve</a:t>
            </a:r>
          </a:p>
        </p:txBody>
      </p:sp>
      <p:sp>
        <p:nvSpPr>
          <p:cNvPr id="22530" name="Line 4"/>
          <p:cNvSpPr>
            <a:spLocks noChangeShapeType="1"/>
          </p:cNvSpPr>
          <p:nvPr/>
        </p:nvSpPr>
        <p:spPr bwMode="auto">
          <a:xfrm>
            <a:off x="4076700" y="1879600"/>
            <a:ext cx="0" cy="405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2531" name="Line 5"/>
          <p:cNvSpPr>
            <a:spLocks noChangeShapeType="1"/>
          </p:cNvSpPr>
          <p:nvPr/>
        </p:nvSpPr>
        <p:spPr bwMode="auto">
          <a:xfrm>
            <a:off x="4089400" y="5930900"/>
            <a:ext cx="3949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2532" name="Freeform 6"/>
          <p:cNvSpPr>
            <a:spLocks/>
          </p:cNvSpPr>
          <p:nvPr/>
        </p:nvSpPr>
        <p:spPr bwMode="auto">
          <a:xfrm>
            <a:off x="4457700" y="2692400"/>
            <a:ext cx="2413000" cy="1949450"/>
          </a:xfrm>
          <a:custGeom>
            <a:avLst/>
            <a:gdLst>
              <a:gd name="T0" fmla="*/ 0 w 1520"/>
              <a:gd name="T1" fmla="*/ 12618 h 1236"/>
              <a:gd name="T2" fmla="*/ 215900 w 1520"/>
              <a:gd name="T3" fmla="*/ 618272 h 1236"/>
              <a:gd name="T4" fmla="*/ 533400 w 1520"/>
              <a:gd name="T5" fmla="*/ 1287015 h 1236"/>
              <a:gd name="T6" fmla="*/ 749300 w 1520"/>
              <a:gd name="T7" fmla="*/ 1640314 h 1236"/>
              <a:gd name="T8" fmla="*/ 939800 w 1520"/>
              <a:gd name="T9" fmla="*/ 1842199 h 1236"/>
              <a:gd name="T10" fmla="*/ 1155700 w 1520"/>
              <a:gd name="T11" fmla="*/ 1943141 h 1236"/>
              <a:gd name="T12" fmla="*/ 1460500 w 1520"/>
              <a:gd name="T13" fmla="*/ 1880052 h 1236"/>
              <a:gd name="T14" fmla="*/ 1727200 w 1520"/>
              <a:gd name="T15" fmla="*/ 1690785 h 1236"/>
              <a:gd name="T16" fmla="*/ 1993900 w 1520"/>
              <a:gd name="T17" fmla="*/ 1299633 h 1236"/>
              <a:gd name="T18" fmla="*/ 2222500 w 1520"/>
              <a:gd name="T19" fmla="*/ 744450 h 1236"/>
              <a:gd name="T20" fmla="*/ 2413000 w 1520"/>
              <a:gd name="T21" fmla="*/ 0 h 12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520"/>
              <a:gd name="T34" fmla="*/ 0 h 1236"/>
              <a:gd name="T35" fmla="*/ 1520 w 1520"/>
              <a:gd name="T36" fmla="*/ 1236 h 12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520" h="1236">
                <a:moveTo>
                  <a:pt x="0" y="8"/>
                </a:moveTo>
                <a:cubicBezTo>
                  <a:pt x="40" y="132"/>
                  <a:pt x="80" y="257"/>
                  <a:pt x="136" y="392"/>
                </a:cubicBezTo>
                <a:cubicBezTo>
                  <a:pt x="192" y="527"/>
                  <a:pt x="280" y="708"/>
                  <a:pt x="336" y="816"/>
                </a:cubicBezTo>
                <a:cubicBezTo>
                  <a:pt x="392" y="924"/>
                  <a:pt x="429" y="981"/>
                  <a:pt x="472" y="1040"/>
                </a:cubicBezTo>
                <a:cubicBezTo>
                  <a:pt x="515" y="1099"/>
                  <a:pt x="549" y="1136"/>
                  <a:pt x="592" y="1168"/>
                </a:cubicBezTo>
                <a:cubicBezTo>
                  <a:pt x="635" y="1200"/>
                  <a:pt x="673" y="1228"/>
                  <a:pt x="728" y="1232"/>
                </a:cubicBezTo>
                <a:cubicBezTo>
                  <a:pt x="783" y="1236"/>
                  <a:pt x="860" y="1219"/>
                  <a:pt x="920" y="1192"/>
                </a:cubicBezTo>
                <a:cubicBezTo>
                  <a:pt x="980" y="1165"/>
                  <a:pt x="1032" y="1133"/>
                  <a:pt x="1088" y="1072"/>
                </a:cubicBezTo>
                <a:cubicBezTo>
                  <a:pt x="1144" y="1011"/>
                  <a:pt x="1204" y="924"/>
                  <a:pt x="1256" y="824"/>
                </a:cubicBezTo>
                <a:cubicBezTo>
                  <a:pt x="1308" y="724"/>
                  <a:pt x="1356" y="609"/>
                  <a:pt x="1400" y="472"/>
                </a:cubicBezTo>
                <a:cubicBezTo>
                  <a:pt x="1444" y="335"/>
                  <a:pt x="1482" y="167"/>
                  <a:pt x="1520" y="0"/>
                </a:cubicBezTo>
              </a:path>
            </a:pathLst>
          </a:custGeom>
          <a:noFill/>
          <a:ln w="28575" cmpd="sng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2533" name="Freeform 7"/>
          <p:cNvSpPr>
            <a:spLocks/>
          </p:cNvSpPr>
          <p:nvPr/>
        </p:nvSpPr>
        <p:spPr bwMode="auto">
          <a:xfrm>
            <a:off x="4622800" y="4648200"/>
            <a:ext cx="1016000" cy="603250"/>
          </a:xfrm>
          <a:custGeom>
            <a:avLst/>
            <a:gdLst>
              <a:gd name="T0" fmla="*/ 0 w 640"/>
              <a:gd name="T1" fmla="*/ 279400 h 380"/>
              <a:gd name="T2" fmla="*/ 88900 w 640"/>
              <a:gd name="T3" fmla="*/ 431800 h 380"/>
              <a:gd name="T4" fmla="*/ 228600 w 640"/>
              <a:gd name="T5" fmla="*/ 546100 h 380"/>
              <a:gd name="T6" fmla="*/ 444500 w 640"/>
              <a:gd name="T7" fmla="*/ 584200 h 380"/>
              <a:gd name="T8" fmla="*/ 723900 w 640"/>
              <a:gd name="T9" fmla="*/ 431800 h 380"/>
              <a:gd name="T10" fmla="*/ 939800 w 640"/>
              <a:gd name="T11" fmla="*/ 139700 h 380"/>
              <a:gd name="T12" fmla="*/ 1016000 w 640"/>
              <a:gd name="T13" fmla="*/ 0 h 3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0"/>
              <a:gd name="T22" fmla="*/ 0 h 380"/>
              <a:gd name="T23" fmla="*/ 640 w 640"/>
              <a:gd name="T24" fmla="*/ 380 h 38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0" h="380">
                <a:moveTo>
                  <a:pt x="0" y="176"/>
                </a:moveTo>
                <a:cubicBezTo>
                  <a:pt x="18" y="209"/>
                  <a:pt x="32" y="244"/>
                  <a:pt x="56" y="272"/>
                </a:cubicBezTo>
                <a:cubicBezTo>
                  <a:pt x="80" y="300"/>
                  <a:pt x="107" y="328"/>
                  <a:pt x="144" y="344"/>
                </a:cubicBezTo>
                <a:cubicBezTo>
                  <a:pt x="181" y="360"/>
                  <a:pt x="228" y="380"/>
                  <a:pt x="280" y="368"/>
                </a:cubicBezTo>
                <a:cubicBezTo>
                  <a:pt x="332" y="356"/>
                  <a:pt x="404" y="319"/>
                  <a:pt x="456" y="272"/>
                </a:cubicBezTo>
                <a:cubicBezTo>
                  <a:pt x="508" y="225"/>
                  <a:pt x="561" y="133"/>
                  <a:pt x="592" y="88"/>
                </a:cubicBezTo>
                <a:cubicBezTo>
                  <a:pt x="623" y="43"/>
                  <a:pt x="630" y="18"/>
                  <a:pt x="640" y="0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2534" name="Freeform 8"/>
          <p:cNvSpPr>
            <a:spLocks/>
          </p:cNvSpPr>
          <p:nvPr/>
        </p:nvSpPr>
        <p:spPr bwMode="auto">
          <a:xfrm>
            <a:off x="5651500" y="2717800"/>
            <a:ext cx="546100" cy="1917700"/>
          </a:xfrm>
          <a:custGeom>
            <a:avLst/>
            <a:gdLst>
              <a:gd name="T0" fmla="*/ 0 w 344"/>
              <a:gd name="T1" fmla="*/ 1917700 h 1208"/>
              <a:gd name="T2" fmla="*/ 114300 w 344"/>
              <a:gd name="T3" fmla="*/ 1663700 h 1208"/>
              <a:gd name="T4" fmla="*/ 266700 w 344"/>
              <a:gd name="T5" fmla="*/ 1219200 h 1208"/>
              <a:gd name="T6" fmla="*/ 457200 w 344"/>
              <a:gd name="T7" fmla="*/ 533400 h 1208"/>
              <a:gd name="T8" fmla="*/ 546100 w 344"/>
              <a:gd name="T9" fmla="*/ 0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4"/>
              <a:gd name="T16" fmla="*/ 0 h 1208"/>
              <a:gd name="T17" fmla="*/ 344 w 344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4" h="1208">
                <a:moveTo>
                  <a:pt x="0" y="1208"/>
                </a:moveTo>
                <a:cubicBezTo>
                  <a:pt x="12" y="1180"/>
                  <a:pt x="44" y="1121"/>
                  <a:pt x="72" y="1048"/>
                </a:cubicBezTo>
                <a:cubicBezTo>
                  <a:pt x="100" y="975"/>
                  <a:pt x="132" y="887"/>
                  <a:pt x="168" y="768"/>
                </a:cubicBezTo>
                <a:cubicBezTo>
                  <a:pt x="204" y="649"/>
                  <a:pt x="259" y="464"/>
                  <a:pt x="288" y="336"/>
                </a:cubicBezTo>
                <a:cubicBezTo>
                  <a:pt x="317" y="208"/>
                  <a:pt x="330" y="105"/>
                  <a:pt x="344" y="0"/>
                </a:cubicBezTo>
              </a:path>
            </a:pathLst>
          </a:custGeom>
          <a:noFill/>
          <a:ln w="50800" cmpd="sng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2535" name="Freeform 9"/>
          <p:cNvSpPr>
            <a:spLocks/>
          </p:cNvSpPr>
          <p:nvPr/>
        </p:nvSpPr>
        <p:spPr bwMode="auto">
          <a:xfrm>
            <a:off x="5168900" y="2400300"/>
            <a:ext cx="1562100" cy="1830388"/>
          </a:xfrm>
          <a:custGeom>
            <a:avLst/>
            <a:gdLst>
              <a:gd name="T0" fmla="*/ 0 w 984"/>
              <a:gd name="T1" fmla="*/ 0 h 1153"/>
              <a:gd name="T2" fmla="*/ 139700 w 984"/>
              <a:gd name="T3" fmla="*/ 685800 h 1153"/>
              <a:gd name="T4" fmla="*/ 419100 w 984"/>
              <a:gd name="T5" fmla="*/ 1498600 h 1153"/>
              <a:gd name="T6" fmla="*/ 647700 w 984"/>
              <a:gd name="T7" fmla="*/ 1803401 h 1153"/>
              <a:gd name="T8" fmla="*/ 901700 w 984"/>
              <a:gd name="T9" fmla="*/ 1663701 h 1153"/>
              <a:gd name="T10" fmla="*/ 1206500 w 984"/>
              <a:gd name="T11" fmla="*/ 1117600 h 1153"/>
              <a:gd name="T12" fmla="*/ 1562100 w 984"/>
              <a:gd name="T13" fmla="*/ 139700 h 11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84"/>
              <a:gd name="T22" fmla="*/ 0 h 1153"/>
              <a:gd name="T23" fmla="*/ 984 w 984"/>
              <a:gd name="T24" fmla="*/ 1153 h 115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84" h="1153">
                <a:moveTo>
                  <a:pt x="0" y="0"/>
                </a:moveTo>
                <a:cubicBezTo>
                  <a:pt x="15" y="72"/>
                  <a:pt x="44" y="275"/>
                  <a:pt x="88" y="432"/>
                </a:cubicBezTo>
                <a:cubicBezTo>
                  <a:pt x="132" y="589"/>
                  <a:pt x="211" y="827"/>
                  <a:pt x="264" y="944"/>
                </a:cubicBezTo>
                <a:cubicBezTo>
                  <a:pt x="317" y="1061"/>
                  <a:pt x="357" y="1119"/>
                  <a:pt x="408" y="1136"/>
                </a:cubicBezTo>
                <a:cubicBezTo>
                  <a:pt x="459" y="1153"/>
                  <a:pt x="509" y="1120"/>
                  <a:pt x="568" y="1048"/>
                </a:cubicBezTo>
                <a:cubicBezTo>
                  <a:pt x="627" y="976"/>
                  <a:pt x="691" y="864"/>
                  <a:pt x="760" y="704"/>
                </a:cubicBezTo>
                <a:cubicBezTo>
                  <a:pt x="829" y="544"/>
                  <a:pt x="908" y="314"/>
                  <a:pt x="984" y="88"/>
                </a:cubicBezTo>
              </a:path>
            </a:pathLst>
          </a:custGeom>
          <a:noFill/>
          <a:ln w="28575" cap="rnd" cmpd="sng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2536" name="Text Box 10"/>
          <p:cNvSpPr txBox="1">
            <a:spLocks noChangeArrowheads="1"/>
          </p:cNvSpPr>
          <p:nvPr/>
        </p:nvSpPr>
        <p:spPr bwMode="auto">
          <a:xfrm>
            <a:off x="5435600" y="59563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Quantity (firm </a:t>
            </a:r>
            <a:r>
              <a:rPr lang="en-US" sz="1400" i="1">
                <a:solidFill>
                  <a:srgbClr val="5F5F5F"/>
                </a:solidFill>
              </a:rPr>
              <a:t>i</a:t>
            </a:r>
            <a:r>
              <a:rPr lang="en-US" sz="1400">
                <a:solidFill>
                  <a:srgbClr val="5F5F5F"/>
                </a:solidFill>
              </a:rPr>
              <a:t>)</a:t>
            </a:r>
          </a:p>
        </p:txBody>
      </p:sp>
      <p:sp>
        <p:nvSpPr>
          <p:cNvPr id="22537" name="Text Box 11"/>
          <p:cNvSpPr txBox="1">
            <a:spLocks noChangeArrowheads="1"/>
          </p:cNvSpPr>
          <p:nvPr/>
        </p:nvSpPr>
        <p:spPr bwMode="auto">
          <a:xfrm rot="-5400000">
            <a:off x="2178050" y="3663950"/>
            <a:ext cx="2959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Costs per unit of output (in dollars)</a:t>
            </a:r>
          </a:p>
        </p:txBody>
      </p:sp>
      <p:sp>
        <p:nvSpPr>
          <p:cNvPr id="22538" name="Text Box 12"/>
          <p:cNvSpPr txBox="1">
            <a:spLocks noChangeArrowheads="1"/>
          </p:cNvSpPr>
          <p:nvPr/>
        </p:nvSpPr>
        <p:spPr bwMode="auto">
          <a:xfrm>
            <a:off x="3975100" y="15494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22539" name="Text Box 13"/>
          <p:cNvSpPr txBox="1">
            <a:spLocks noChangeArrowheads="1"/>
          </p:cNvSpPr>
          <p:nvPr/>
        </p:nvSpPr>
        <p:spPr bwMode="auto">
          <a:xfrm>
            <a:off x="5727700" y="2425700"/>
            <a:ext cx="81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SRMC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22540" name="Text Box 14"/>
          <p:cNvSpPr txBox="1">
            <a:spLocks noChangeArrowheads="1"/>
          </p:cNvSpPr>
          <p:nvPr/>
        </p:nvSpPr>
        <p:spPr bwMode="auto">
          <a:xfrm>
            <a:off x="6540500" y="2197100"/>
            <a:ext cx="63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ATC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22541" name="Text Box 15"/>
          <p:cNvSpPr txBox="1">
            <a:spLocks noChangeArrowheads="1"/>
          </p:cNvSpPr>
          <p:nvPr/>
        </p:nvSpPr>
        <p:spPr bwMode="auto">
          <a:xfrm>
            <a:off x="6858000" y="2527300"/>
            <a:ext cx="63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AVC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22542" name="Text Box 16"/>
          <p:cNvSpPr txBox="1">
            <a:spLocks noChangeArrowheads="1"/>
          </p:cNvSpPr>
          <p:nvPr/>
        </p:nvSpPr>
        <p:spPr bwMode="auto">
          <a:xfrm>
            <a:off x="8051800" y="5791200"/>
            <a:ext cx="40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22543" name="Rectangle 18"/>
          <p:cNvSpPr>
            <a:spLocks noChangeArrowheads="1"/>
          </p:cNvSpPr>
          <p:nvPr/>
        </p:nvSpPr>
        <p:spPr bwMode="auto">
          <a:xfrm>
            <a:off x="10923809" y="598411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CCA50CC0-1F9F-4DB4-9056-943B39DB11C7}" type="slidenum">
              <a:rPr lang="en-US" sz="1000" smtClean="0"/>
              <a:pPr/>
              <a:t>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0115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Competitive Equilibrium</a:t>
            </a:r>
          </a:p>
        </p:txBody>
      </p:sp>
      <p:sp>
        <p:nvSpPr>
          <p:cNvPr id="24578" name="Line 4"/>
          <p:cNvSpPr>
            <a:spLocks noChangeShapeType="1"/>
          </p:cNvSpPr>
          <p:nvPr/>
        </p:nvSpPr>
        <p:spPr bwMode="auto">
          <a:xfrm>
            <a:off x="2730500" y="2209800"/>
            <a:ext cx="0" cy="332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79" name="Line 5"/>
          <p:cNvSpPr>
            <a:spLocks noChangeShapeType="1"/>
          </p:cNvSpPr>
          <p:nvPr/>
        </p:nvSpPr>
        <p:spPr bwMode="auto">
          <a:xfrm>
            <a:off x="2730500" y="5575300"/>
            <a:ext cx="339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4580" name="Line 6"/>
          <p:cNvSpPr>
            <a:spLocks noChangeShapeType="1"/>
          </p:cNvSpPr>
          <p:nvPr/>
        </p:nvSpPr>
        <p:spPr bwMode="auto">
          <a:xfrm>
            <a:off x="6718300" y="21463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1" name="Line 7"/>
          <p:cNvSpPr>
            <a:spLocks noChangeShapeType="1"/>
          </p:cNvSpPr>
          <p:nvPr/>
        </p:nvSpPr>
        <p:spPr bwMode="auto">
          <a:xfrm>
            <a:off x="6718300" y="5575300"/>
            <a:ext cx="3365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4582" name="Line 8"/>
          <p:cNvSpPr>
            <a:spLocks noChangeShapeType="1"/>
          </p:cNvSpPr>
          <p:nvPr/>
        </p:nvSpPr>
        <p:spPr bwMode="auto">
          <a:xfrm flipV="1">
            <a:off x="6934200" y="2667000"/>
            <a:ext cx="3022600" cy="1854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3" name="Line 9"/>
          <p:cNvSpPr>
            <a:spLocks noChangeShapeType="1"/>
          </p:cNvSpPr>
          <p:nvPr/>
        </p:nvSpPr>
        <p:spPr bwMode="auto">
          <a:xfrm flipV="1">
            <a:off x="8140700" y="4305300"/>
            <a:ext cx="1701800" cy="111760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4" name="Line 10"/>
          <p:cNvSpPr>
            <a:spLocks noChangeShapeType="1"/>
          </p:cNvSpPr>
          <p:nvPr/>
        </p:nvSpPr>
        <p:spPr bwMode="auto">
          <a:xfrm>
            <a:off x="7035800" y="2413000"/>
            <a:ext cx="2590800" cy="2590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5" name="Line 11"/>
          <p:cNvSpPr>
            <a:spLocks noChangeShapeType="1"/>
          </p:cNvSpPr>
          <p:nvPr/>
        </p:nvSpPr>
        <p:spPr bwMode="auto">
          <a:xfrm>
            <a:off x="6705600" y="3683000"/>
            <a:ext cx="15748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6" name="Line 12"/>
          <p:cNvSpPr>
            <a:spLocks noChangeShapeType="1"/>
          </p:cNvSpPr>
          <p:nvPr/>
        </p:nvSpPr>
        <p:spPr bwMode="auto">
          <a:xfrm>
            <a:off x="8293100" y="3683000"/>
            <a:ext cx="0" cy="18923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7" name="Line 13"/>
          <p:cNvSpPr>
            <a:spLocks noChangeShapeType="1"/>
          </p:cNvSpPr>
          <p:nvPr/>
        </p:nvSpPr>
        <p:spPr bwMode="auto">
          <a:xfrm>
            <a:off x="6731000" y="4673600"/>
            <a:ext cx="25400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8" name="Line 14"/>
          <p:cNvSpPr>
            <a:spLocks noChangeShapeType="1"/>
          </p:cNvSpPr>
          <p:nvPr/>
        </p:nvSpPr>
        <p:spPr bwMode="auto">
          <a:xfrm>
            <a:off x="9283700" y="4673600"/>
            <a:ext cx="0" cy="9017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89" name="Rectangle 15"/>
          <p:cNvSpPr>
            <a:spLocks noChangeArrowheads="1"/>
          </p:cNvSpPr>
          <p:nvPr/>
        </p:nvSpPr>
        <p:spPr bwMode="auto">
          <a:xfrm>
            <a:off x="2717800" y="3683000"/>
            <a:ext cx="1422400" cy="850900"/>
          </a:xfrm>
          <a:prstGeom prst="rect">
            <a:avLst/>
          </a:prstGeom>
          <a:solidFill>
            <a:srgbClr val="0042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24590" name="Freeform 16"/>
          <p:cNvSpPr>
            <a:spLocks/>
          </p:cNvSpPr>
          <p:nvPr/>
        </p:nvSpPr>
        <p:spPr bwMode="auto">
          <a:xfrm>
            <a:off x="3009900" y="2603501"/>
            <a:ext cx="1830388" cy="2081213"/>
          </a:xfrm>
          <a:custGeom>
            <a:avLst/>
            <a:gdLst>
              <a:gd name="T0" fmla="*/ 0 w 1153"/>
              <a:gd name="T1" fmla="*/ 0 h 1311"/>
              <a:gd name="T2" fmla="*/ 114300 w 1153"/>
              <a:gd name="T3" fmla="*/ 774700 h 1311"/>
              <a:gd name="T4" fmla="*/ 241300 w 1153"/>
              <a:gd name="T5" fmla="*/ 1346200 h 1311"/>
              <a:gd name="T6" fmla="*/ 444500 w 1153"/>
              <a:gd name="T7" fmla="*/ 1854201 h 1311"/>
              <a:gd name="T8" fmla="*/ 774700 w 1153"/>
              <a:gd name="T9" fmla="*/ 2070101 h 1311"/>
              <a:gd name="T10" fmla="*/ 1130300 w 1153"/>
              <a:gd name="T11" fmla="*/ 1917701 h 1311"/>
              <a:gd name="T12" fmla="*/ 1435100 w 1153"/>
              <a:gd name="T13" fmla="*/ 1498600 h 1311"/>
              <a:gd name="T14" fmla="*/ 1663701 w 1153"/>
              <a:gd name="T15" fmla="*/ 876300 h 1311"/>
              <a:gd name="T16" fmla="*/ 1803401 w 1153"/>
              <a:gd name="T17" fmla="*/ 355600 h 1311"/>
              <a:gd name="T18" fmla="*/ 1828801 w 1153"/>
              <a:gd name="T19" fmla="*/ 63500 h 13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53"/>
              <a:gd name="T31" fmla="*/ 0 h 1311"/>
              <a:gd name="T32" fmla="*/ 1153 w 1153"/>
              <a:gd name="T33" fmla="*/ 1311 h 13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53" h="1311">
                <a:moveTo>
                  <a:pt x="0" y="0"/>
                </a:moveTo>
                <a:cubicBezTo>
                  <a:pt x="23" y="173"/>
                  <a:pt x="47" y="347"/>
                  <a:pt x="72" y="488"/>
                </a:cubicBezTo>
                <a:cubicBezTo>
                  <a:pt x="97" y="629"/>
                  <a:pt x="117" y="735"/>
                  <a:pt x="152" y="848"/>
                </a:cubicBezTo>
                <a:cubicBezTo>
                  <a:pt x="187" y="961"/>
                  <a:pt x="224" y="1092"/>
                  <a:pt x="280" y="1168"/>
                </a:cubicBezTo>
                <a:cubicBezTo>
                  <a:pt x="336" y="1244"/>
                  <a:pt x="416" y="1297"/>
                  <a:pt x="488" y="1304"/>
                </a:cubicBezTo>
                <a:cubicBezTo>
                  <a:pt x="560" y="1311"/>
                  <a:pt x="643" y="1268"/>
                  <a:pt x="712" y="1208"/>
                </a:cubicBezTo>
                <a:cubicBezTo>
                  <a:pt x="781" y="1148"/>
                  <a:pt x="848" y="1053"/>
                  <a:pt x="904" y="944"/>
                </a:cubicBezTo>
                <a:cubicBezTo>
                  <a:pt x="960" y="835"/>
                  <a:pt x="1009" y="672"/>
                  <a:pt x="1048" y="552"/>
                </a:cubicBezTo>
                <a:cubicBezTo>
                  <a:pt x="1087" y="432"/>
                  <a:pt x="1119" y="309"/>
                  <a:pt x="1136" y="224"/>
                </a:cubicBezTo>
                <a:cubicBezTo>
                  <a:pt x="1153" y="139"/>
                  <a:pt x="1149" y="78"/>
                  <a:pt x="1152" y="40"/>
                </a:cubicBezTo>
              </a:path>
            </a:pathLst>
          </a:custGeom>
          <a:noFill/>
          <a:ln w="28575" cmpd="sng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91" name="Line 18"/>
          <p:cNvSpPr>
            <a:spLocks noChangeShapeType="1"/>
          </p:cNvSpPr>
          <p:nvPr/>
        </p:nvSpPr>
        <p:spPr bwMode="auto">
          <a:xfrm>
            <a:off x="4165600" y="3683000"/>
            <a:ext cx="20828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92" name="Line 19"/>
          <p:cNvSpPr>
            <a:spLocks noChangeShapeType="1"/>
          </p:cNvSpPr>
          <p:nvPr/>
        </p:nvSpPr>
        <p:spPr bwMode="auto">
          <a:xfrm>
            <a:off x="2730500" y="4660900"/>
            <a:ext cx="34925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93" name="Line 20"/>
          <p:cNvSpPr>
            <a:spLocks noChangeShapeType="1"/>
          </p:cNvSpPr>
          <p:nvPr/>
        </p:nvSpPr>
        <p:spPr bwMode="auto">
          <a:xfrm>
            <a:off x="3797300" y="4660900"/>
            <a:ext cx="0" cy="9144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94" name="Line 21"/>
          <p:cNvSpPr>
            <a:spLocks noChangeShapeType="1"/>
          </p:cNvSpPr>
          <p:nvPr/>
        </p:nvSpPr>
        <p:spPr bwMode="auto">
          <a:xfrm>
            <a:off x="4127500" y="4521200"/>
            <a:ext cx="0" cy="10541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95" name="Freeform 17"/>
          <p:cNvSpPr>
            <a:spLocks/>
          </p:cNvSpPr>
          <p:nvPr/>
        </p:nvSpPr>
        <p:spPr bwMode="auto">
          <a:xfrm>
            <a:off x="2870200" y="2565400"/>
            <a:ext cx="1498600" cy="2520950"/>
          </a:xfrm>
          <a:custGeom>
            <a:avLst/>
            <a:gdLst>
              <a:gd name="T0" fmla="*/ 0 w 944"/>
              <a:gd name="T1" fmla="*/ 1917700 h 1588"/>
              <a:gd name="T2" fmla="*/ 127000 w 944"/>
              <a:gd name="T3" fmla="*/ 2197100 h 1588"/>
              <a:gd name="T4" fmla="*/ 304800 w 944"/>
              <a:gd name="T5" fmla="*/ 2425700 h 1588"/>
              <a:gd name="T6" fmla="*/ 571500 w 944"/>
              <a:gd name="T7" fmla="*/ 2489200 h 1588"/>
              <a:gd name="T8" fmla="*/ 876300 w 944"/>
              <a:gd name="T9" fmla="*/ 2235200 h 1588"/>
              <a:gd name="T10" fmla="*/ 1104900 w 944"/>
              <a:gd name="T11" fmla="*/ 1727200 h 1588"/>
              <a:gd name="T12" fmla="*/ 1308100 w 944"/>
              <a:gd name="T13" fmla="*/ 1003300 h 1588"/>
              <a:gd name="T14" fmla="*/ 1498600 w 944"/>
              <a:gd name="T15" fmla="*/ 0 h 15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44"/>
              <a:gd name="T25" fmla="*/ 0 h 1588"/>
              <a:gd name="T26" fmla="*/ 944 w 944"/>
              <a:gd name="T27" fmla="*/ 1588 h 15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44" h="1588">
                <a:moveTo>
                  <a:pt x="0" y="1208"/>
                </a:moveTo>
                <a:cubicBezTo>
                  <a:pt x="24" y="1269"/>
                  <a:pt x="48" y="1331"/>
                  <a:pt x="80" y="1384"/>
                </a:cubicBezTo>
                <a:cubicBezTo>
                  <a:pt x="112" y="1437"/>
                  <a:pt x="145" y="1497"/>
                  <a:pt x="192" y="1528"/>
                </a:cubicBezTo>
                <a:cubicBezTo>
                  <a:pt x="239" y="1559"/>
                  <a:pt x="300" y="1588"/>
                  <a:pt x="360" y="1568"/>
                </a:cubicBezTo>
                <a:cubicBezTo>
                  <a:pt x="420" y="1548"/>
                  <a:pt x="496" y="1488"/>
                  <a:pt x="552" y="1408"/>
                </a:cubicBezTo>
                <a:cubicBezTo>
                  <a:pt x="608" y="1328"/>
                  <a:pt x="651" y="1217"/>
                  <a:pt x="696" y="1088"/>
                </a:cubicBezTo>
                <a:cubicBezTo>
                  <a:pt x="741" y="959"/>
                  <a:pt x="783" y="813"/>
                  <a:pt x="824" y="632"/>
                </a:cubicBezTo>
                <a:cubicBezTo>
                  <a:pt x="865" y="451"/>
                  <a:pt x="904" y="225"/>
                  <a:pt x="944" y="0"/>
                </a:cubicBezTo>
              </a:path>
            </a:pathLst>
          </a:custGeom>
          <a:noFill/>
          <a:ln w="28575" cmpd="sng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4596" name="Text Box 22"/>
          <p:cNvSpPr txBox="1">
            <a:spLocks noChangeArrowheads="1"/>
          </p:cNvSpPr>
          <p:nvPr/>
        </p:nvSpPr>
        <p:spPr bwMode="auto">
          <a:xfrm rot="-5400000">
            <a:off x="152400" y="3746500"/>
            <a:ext cx="3594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Price and cost per unit of output (in dollars)</a:t>
            </a:r>
          </a:p>
        </p:txBody>
      </p:sp>
      <p:sp>
        <p:nvSpPr>
          <p:cNvPr id="24597" name="Text Box 23"/>
          <p:cNvSpPr txBox="1">
            <a:spLocks noChangeArrowheads="1"/>
          </p:cNvSpPr>
          <p:nvPr/>
        </p:nvSpPr>
        <p:spPr bwMode="auto">
          <a:xfrm>
            <a:off x="2197100" y="3517900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4598" name="Text Box 24"/>
          <p:cNvSpPr txBox="1">
            <a:spLocks noChangeArrowheads="1"/>
          </p:cNvSpPr>
          <p:nvPr/>
        </p:nvSpPr>
        <p:spPr bwMode="auto">
          <a:xfrm>
            <a:off x="2184400" y="4508500"/>
            <a:ext cx="647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4599" name="Text Box 25"/>
          <p:cNvSpPr txBox="1">
            <a:spLocks noChangeArrowheads="1"/>
          </p:cNvSpPr>
          <p:nvPr/>
        </p:nvSpPr>
        <p:spPr bwMode="auto">
          <a:xfrm>
            <a:off x="3429000" y="5588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Q*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4600" name="Text Box 26"/>
          <p:cNvSpPr txBox="1">
            <a:spLocks noChangeArrowheads="1"/>
          </p:cNvSpPr>
          <p:nvPr/>
        </p:nvSpPr>
        <p:spPr bwMode="auto">
          <a:xfrm>
            <a:off x="3975100" y="5588000"/>
            <a:ext cx="596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Q*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4601" name="Text Box 27"/>
          <p:cNvSpPr txBox="1">
            <a:spLocks noChangeArrowheads="1"/>
          </p:cNvSpPr>
          <p:nvPr/>
        </p:nvSpPr>
        <p:spPr bwMode="auto">
          <a:xfrm>
            <a:off x="3771900" y="5981700"/>
            <a:ext cx="1981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Quantity (firm </a:t>
            </a:r>
            <a:r>
              <a:rPr lang="en-US" sz="1400" i="1">
                <a:solidFill>
                  <a:srgbClr val="5F5F5F"/>
                </a:solidFill>
              </a:rPr>
              <a:t>i</a:t>
            </a:r>
            <a:r>
              <a:rPr lang="en-US" sz="1400">
                <a:solidFill>
                  <a:srgbClr val="5F5F5F"/>
                </a:solidFill>
              </a:rPr>
              <a:t>)</a:t>
            </a:r>
          </a:p>
        </p:txBody>
      </p:sp>
      <p:sp>
        <p:nvSpPr>
          <p:cNvPr id="24602" name="Text Box 28"/>
          <p:cNvSpPr txBox="1">
            <a:spLocks noChangeArrowheads="1"/>
          </p:cNvSpPr>
          <p:nvPr/>
        </p:nvSpPr>
        <p:spPr bwMode="auto">
          <a:xfrm>
            <a:off x="4258223" y="2330880"/>
            <a:ext cx="723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>
                <a:solidFill>
                  <a:srgbClr val="FF9900"/>
                </a:solidFill>
              </a:rPr>
              <a:t>LRMC</a:t>
            </a:r>
            <a:r>
              <a:rPr lang="en-US" sz="1400" i="1" baseline="-25000" dirty="0" err="1">
                <a:solidFill>
                  <a:srgbClr val="FF9900"/>
                </a:solidFill>
              </a:rPr>
              <a:t>i</a:t>
            </a:r>
            <a:endParaRPr lang="en-US" sz="1400" i="1" baseline="-25000" dirty="0">
              <a:solidFill>
                <a:srgbClr val="FF9900"/>
              </a:solidFill>
            </a:endParaRPr>
          </a:p>
        </p:txBody>
      </p:sp>
      <p:sp>
        <p:nvSpPr>
          <p:cNvPr id="24603" name="Text Box 29"/>
          <p:cNvSpPr txBox="1">
            <a:spLocks noChangeArrowheads="1"/>
          </p:cNvSpPr>
          <p:nvPr/>
        </p:nvSpPr>
        <p:spPr bwMode="auto">
          <a:xfrm>
            <a:off x="4800600" y="2362200"/>
            <a:ext cx="723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>
                <a:solidFill>
                  <a:srgbClr val="002060"/>
                </a:solidFill>
              </a:rPr>
              <a:t>LRAC</a:t>
            </a:r>
            <a:r>
              <a:rPr lang="en-US" sz="1400" i="1" baseline="-25000" dirty="0" err="1">
                <a:solidFill>
                  <a:srgbClr val="002060"/>
                </a:solidFill>
              </a:rPr>
              <a:t>i</a:t>
            </a:r>
            <a:endParaRPr lang="en-US" sz="1400" i="1" baseline="-25000" dirty="0">
              <a:solidFill>
                <a:srgbClr val="002060"/>
              </a:solidFill>
            </a:endParaRPr>
          </a:p>
        </p:txBody>
      </p:sp>
      <p:sp>
        <p:nvSpPr>
          <p:cNvPr id="24604" name="Text Box 30"/>
          <p:cNvSpPr txBox="1">
            <a:spLocks noChangeArrowheads="1"/>
          </p:cNvSpPr>
          <p:nvPr/>
        </p:nvSpPr>
        <p:spPr bwMode="auto">
          <a:xfrm>
            <a:off x="2616200" y="1816100"/>
            <a:ext cx="330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24605" name="Text Box 31"/>
          <p:cNvSpPr txBox="1">
            <a:spLocks noChangeArrowheads="1"/>
          </p:cNvSpPr>
          <p:nvPr/>
        </p:nvSpPr>
        <p:spPr bwMode="auto">
          <a:xfrm>
            <a:off x="6286500" y="3517900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4606" name="Text Box 32"/>
          <p:cNvSpPr txBox="1">
            <a:spLocks noChangeArrowheads="1"/>
          </p:cNvSpPr>
          <p:nvPr/>
        </p:nvSpPr>
        <p:spPr bwMode="auto">
          <a:xfrm>
            <a:off x="6273800" y="4508500"/>
            <a:ext cx="647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4607" name="Text Box 33"/>
          <p:cNvSpPr txBox="1">
            <a:spLocks noChangeArrowheads="1"/>
          </p:cNvSpPr>
          <p:nvPr/>
        </p:nvSpPr>
        <p:spPr bwMode="auto">
          <a:xfrm>
            <a:off x="6121400" y="5359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24608" name="Text Box 34"/>
          <p:cNvSpPr txBox="1">
            <a:spLocks noChangeArrowheads="1"/>
          </p:cNvSpPr>
          <p:nvPr/>
        </p:nvSpPr>
        <p:spPr bwMode="auto">
          <a:xfrm>
            <a:off x="6578600" y="1816100"/>
            <a:ext cx="330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24609" name="Text Box 35"/>
          <p:cNvSpPr txBox="1">
            <a:spLocks noChangeArrowheads="1"/>
          </p:cNvSpPr>
          <p:nvPr/>
        </p:nvSpPr>
        <p:spPr bwMode="auto">
          <a:xfrm>
            <a:off x="9956800" y="2349500"/>
            <a:ext cx="546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S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4610" name="Text Box 36"/>
          <p:cNvSpPr txBox="1">
            <a:spLocks noChangeArrowheads="1"/>
          </p:cNvSpPr>
          <p:nvPr/>
        </p:nvSpPr>
        <p:spPr bwMode="auto">
          <a:xfrm>
            <a:off x="9880600" y="4025900"/>
            <a:ext cx="546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S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4611" name="Text Box 37"/>
          <p:cNvSpPr txBox="1">
            <a:spLocks noChangeArrowheads="1"/>
          </p:cNvSpPr>
          <p:nvPr/>
        </p:nvSpPr>
        <p:spPr bwMode="auto">
          <a:xfrm>
            <a:off x="9659938" y="4940300"/>
            <a:ext cx="546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D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4612" name="Text Box 39"/>
          <p:cNvSpPr txBox="1">
            <a:spLocks noChangeArrowheads="1"/>
          </p:cNvSpPr>
          <p:nvPr/>
        </p:nvSpPr>
        <p:spPr bwMode="auto">
          <a:xfrm>
            <a:off x="7991475" y="5586413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4613" name="Text Box 40"/>
          <p:cNvSpPr txBox="1">
            <a:spLocks noChangeArrowheads="1"/>
          </p:cNvSpPr>
          <p:nvPr/>
        </p:nvSpPr>
        <p:spPr bwMode="auto">
          <a:xfrm>
            <a:off x="8985250" y="5580063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4614" name="Text Box 41"/>
          <p:cNvSpPr txBox="1">
            <a:spLocks noChangeArrowheads="1"/>
          </p:cNvSpPr>
          <p:nvPr/>
        </p:nvSpPr>
        <p:spPr bwMode="auto">
          <a:xfrm>
            <a:off x="8143875" y="5964238"/>
            <a:ext cx="11318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Quantity</a:t>
            </a:r>
          </a:p>
        </p:txBody>
      </p:sp>
      <p:sp>
        <p:nvSpPr>
          <p:cNvPr id="24615" name="Text Box 42"/>
          <p:cNvSpPr txBox="1">
            <a:spLocks noChangeArrowheads="1"/>
          </p:cNvSpPr>
          <p:nvPr/>
        </p:nvSpPr>
        <p:spPr bwMode="auto">
          <a:xfrm>
            <a:off x="10088564" y="5399088"/>
            <a:ext cx="319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24616" name="Rectangle 43"/>
          <p:cNvSpPr>
            <a:spLocks noChangeArrowheads="1"/>
          </p:cNvSpPr>
          <p:nvPr/>
        </p:nvSpPr>
        <p:spPr bwMode="auto">
          <a:xfrm>
            <a:off x="10987871" y="6073815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241BF8AC-D7C5-4FF7-B20D-A14271BAA069}" type="slidenum">
              <a:rPr lang="en-US" sz="1000" smtClean="0"/>
              <a:pPr/>
              <a:t>8</a:t>
            </a:fld>
            <a:endParaRPr lang="en-US" sz="1000" dirty="0"/>
          </a:p>
        </p:txBody>
      </p:sp>
      <p:cxnSp>
        <p:nvCxnSpPr>
          <p:cNvPr id="3" name="Lige pilforbindelse 2"/>
          <p:cNvCxnSpPr/>
          <p:nvPr/>
        </p:nvCxnSpPr>
        <p:spPr>
          <a:xfrm flipH="1">
            <a:off x="3632201" y="1822452"/>
            <a:ext cx="1028701" cy="1695449"/>
          </a:xfrm>
          <a:prstGeom prst="straightConnector1">
            <a:avLst/>
          </a:prstGeom>
          <a:ln>
            <a:solidFill>
              <a:srgbClr val="0042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boks 3"/>
          <p:cNvSpPr txBox="1"/>
          <p:nvPr/>
        </p:nvSpPr>
        <p:spPr>
          <a:xfrm>
            <a:off x="4043169" y="1290677"/>
            <a:ext cx="5616769" cy="36933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Profit? =&gt; If yes - </a:t>
            </a:r>
            <a:r>
              <a:rPr lang="da-DK" dirty="0" err="1"/>
              <a:t>entry</a:t>
            </a:r>
            <a:r>
              <a:rPr lang="da-DK" dirty="0"/>
              <a:t> =&gt; S </a:t>
            </a:r>
            <a:r>
              <a:rPr lang="da-DK" dirty="0" err="1"/>
              <a:t>increases</a:t>
            </a:r>
            <a:r>
              <a:rPr lang="da-DK" dirty="0"/>
              <a:t> =&gt; P </a:t>
            </a:r>
            <a:r>
              <a:rPr lang="da-DK" dirty="0" err="1"/>
              <a:t>decreases</a:t>
            </a:r>
            <a:r>
              <a:rPr lang="da-DK" dirty="0"/>
              <a:t> </a:t>
            </a:r>
          </a:p>
        </p:txBody>
      </p:sp>
      <p:cxnSp>
        <p:nvCxnSpPr>
          <p:cNvPr id="45" name="Lige pilforbindelse 44"/>
          <p:cNvCxnSpPr/>
          <p:nvPr/>
        </p:nvCxnSpPr>
        <p:spPr>
          <a:xfrm>
            <a:off x="9091920" y="3287640"/>
            <a:ext cx="768103" cy="8415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Monopoly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4750" y="1875710"/>
            <a:ext cx="6002337" cy="4114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Single seller in an industry</a:t>
            </a: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Strong barriers to entry</a:t>
            </a:r>
            <a:endParaRPr lang="en-US" sz="4000" dirty="0">
              <a:sym typeface="Wingdings" pitchFamily="2" charset="2"/>
            </a:endParaRP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Profit maximization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4000" dirty="0"/>
              <a:t>faces market demand and sets MR = MC</a:t>
            </a:r>
          </a:p>
          <a:p>
            <a:pPr eaLnBrk="1" hangingPunct="1">
              <a:buClr>
                <a:srgbClr val="000066"/>
              </a:buClr>
            </a:pPr>
            <a:r>
              <a:rPr lang="en-US" sz="4000" dirty="0"/>
              <a:t>Unexploited gains from trade</a:t>
            </a: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1120899" y="5867400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543BAF2E-37D8-4A48-9187-CD5704B65C16}" type="slidenum">
              <a:rPr lang="en-US" sz="1000" smtClean="0"/>
              <a:pPr/>
              <a:t>9</a:t>
            </a:fld>
            <a:endParaRPr lang="en-US" sz="1000" dirty="0"/>
          </a:p>
        </p:txBody>
      </p:sp>
      <p:pic>
        <p:nvPicPr>
          <p:cNvPr id="2" name="Picture 2" descr="Market structures of perfect competition monopoly monopolistic competition  oligopoly | Premium Vector">
            <a:extLst>
              <a:ext uri="{FF2B5EF4-FFF2-40B4-BE49-F238E27FC236}">
                <a16:creationId xmlns:a16="http://schemas.microsoft.com/office/drawing/2014/main" id="{3C6CB3C6-F9D2-B44E-BF12-2833073855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64" t="37386" r="-1848" b="27579"/>
          <a:stretch>
            <a:fillRect/>
          </a:stretch>
        </p:blipFill>
        <p:spPr bwMode="auto">
          <a:xfrm>
            <a:off x="8325134" y="2647666"/>
            <a:ext cx="2869955" cy="286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1A28BC-5378-C39E-A8DA-4363F0B07521}"/>
              </a:ext>
            </a:extLst>
          </p:cNvPr>
          <p:cNvSpPr txBox="1"/>
          <p:nvPr/>
        </p:nvSpPr>
        <p:spPr>
          <a:xfrm>
            <a:off x="8313851" y="5530295"/>
            <a:ext cx="2621230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300" dirty="0" err="1">
                <a:solidFill>
                  <a:schemeClr val="bg2">
                    <a:lumMod val="50000"/>
                  </a:schemeClr>
                </a:solidFill>
              </a:rPr>
              <a:t>www.freepik.com</a:t>
            </a:r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/premium-vector/market-structures-perfect-competition-monopoly-monopolistic-competition-oligopoly_137102145.htm</a:t>
            </a:r>
          </a:p>
        </p:txBody>
      </p:sp>
    </p:spTree>
    <p:extLst>
      <p:ext uri="{BB962C8B-B14F-4D97-AF65-F5344CB8AC3E}">
        <p14:creationId xmlns:p14="http://schemas.microsoft.com/office/powerpoint/2010/main" val="391534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/>
              <a:t>Monopolist Faces Market Demand</a:t>
            </a:r>
          </a:p>
        </p:txBody>
      </p:sp>
      <p:sp>
        <p:nvSpPr>
          <p:cNvPr id="27650" name="Line 4"/>
          <p:cNvSpPr>
            <a:spLocks noChangeShapeType="1"/>
          </p:cNvSpPr>
          <p:nvPr/>
        </p:nvSpPr>
        <p:spPr bwMode="auto">
          <a:xfrm>
            <a:off x="4038600" y="18288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7651" name="Line 5"/>
          <p:cNvSpPr>
            <a:spLocks noChangeShapeType="1"/>
          </p:cNvSpPr>
          <p:nvPr/>
        </p:nvSpPr>
        <p:spPr bwMode="auto">
          <a:xfrm>
            <a:off x="4038600" y="5562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81930" name="Line 10"/>
          <p:cNvSpPr>
            <a:spLocks noChangeShapeType="1"/>
          </p:cNvSpPr>
          <p:nvPr/>
        </p:nvSpPr>
        <p:spPr bwMode="auto">
          <a:xfrm>
            <a:off x="4038600" y="5105400"/>
            <a:ext cx="40386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7653" name="Line 11"/>
          <p:cNvSpPr>
            <a:spLocks noChangeShapeType="1"/>
          </p:cNvSpPr>
          <p:nvPr/>
        </p:nvSpPr>
        <p:spPr bwMode="auto">
          <a:xfrm>
            <a:off x="4038600" y="2209800"/>
            <a:ext cx="3657600" cy="33528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4038600" y="2209800"/>
            <a:ext cx="1981200" cy="381000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81933" name="Line 13"/>
          <p:cNvSpPr>
            <a:spLocks noChangeShapeType="1"/>
          </p:cNvSpPr>
          <p:nvPr/>
        </p:nvSpPr>
        <p:spPr bwMode="auto">
          <a:xfrm>
            <a:off x="5562600" y="3581400"/>
            <a:ext cx="0" cy="1981200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7656" name="Text Box 14"/>
          <p:cNvSpPr txBox="1">
            <a:spLocks noChangeArrowheads="1"/>
          </p:cNvSpPr>
          <p:nvPr/>
        </p:nvSpPr>
        <p:spPr bwMode="auto">
          <a:xfrm rot="-5400000">
            <a:off x="2009775" y="3629025"/>
            <a:ext cx="2686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Price and cost per unit of output</a:t>
            </a:r>
          </a:p>
        </p:txBody>
      </p:sp>
      <p:sp>
        <p:nvSpPr>
          <p:cNvPr id="27657" name="Text Box 15"/>
          <p:cNvSpPr txBox="1">
            <a:spLocks noChangeArrowheads="1"/>
          </p:cNvSpPr>
          <p:nvPr/>
        </p:nvSpPr>
        <p:spPr bwMode="auto">
          <a:xfrm>
            <a:off x="5851525" y="6030913"/>
            <a:ext cx="844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</a:t>
            </a:r>
          </a:p>
        </p:txBody>
      </p:sp>
      <p:sp>
        <p:nvSpPr>
          <p:cNvPr id="27658" name="Text Box 20"/>
          <p:cNvSpPr txBox="1">
            <a:spLocks noChangeArrowheads="1"/>
          </p:cNvSpPr>
          <p:nvPr/>
        </p:nvSpPr>
        <p:spPr bwMode="auto">
          <a:xfrm>
            <a:off x="3886200" y="1535114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81941" name="Text Box 21"/>
          <p:cNvSpPr txBox="1">
            <a:spLocks noChangeArrowheads="1"/>
          </p:cNvSpPr>
          <p:nvPr/>
        </p:nvSpPr>
        <p:spPr bwMode="auto">
          <a:xfrm>
            <a:off x="5965825" y="5715001"/>
            <a:ext cx="4411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MR</a:t>
            </a:r>
          </a:p>
        </p:txBody>
      </p:sp>
      <p:sp>
        <p:nvSpPr>
          <p:cNvPr id="81942" name="Text Box 22"/>
          <p:cNvSpPr txBox="1">
            <a:spLocks noChangeArrowheads="1"/>
          </p:cNvSpPr>
          <p:nvPr/>
        </p:nvSpPr>
        <p:spPr bwMode="auto">
          <a:xfrm>
            <a:off x="8104188" y="4953001"/>
            <a:ext cx="8261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MC = AC</a:t>
            </a:r>
          </a:p>
        </p:txBody>
      </p:sp>
      <p:sp>
        <p:nvSpPr>
          <p:cNvPr id="27661" name="Text Box 23"/>
          <p:cNvSpPr txBox="1">
            <a:spLocks noChangeArrowheads="1"/>
          </p:cNvSpPr>
          <p:nvPr/>
        </p:nvSpPr>
        <p:spPr bwMode="auto">
          <a:xfrm>
            <a:off x="8458200" y="5410201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81945" name="Text Box 25"/>
          <p:cNvSpPr txBox="1">
            <a:spLocks noChangeArrowheads="1"/>
          </p:cNvSpPr>
          <p:nvPr/>
        </p:nvSpPr>
        <p:spPr bwMode="auto">
          <a:xfrm>
            <a:off x="5181601" y="5562601"/>
            <a:ext cx="7232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Q*=95</a:t>
            </a:r>
          </a:p>
        </p:txBody>
      </p:sp>
      <p:sp>
        <p:nvSpPr>
          <p:cNvPr id="81946" name="Text Box 26"/>
          <p:cNvSpPr txBox="1">
            <a:spLocks noChangeArrowheads="1"/>
          </p:cNvSpPr>
          <p:nvPr/>
        </p:nvSpPr>
        <p:spPr bwMode="auto">
          <a:xfrm>
            <a:off x="3581401" y="3352800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P*=</a:t>
            </a:r>
          </a:p>
          <a:p>
            <a:r>
              <a:rPr lang="en-US" sz="1400" i="1">
                <a:solidFill>
                  <a:srgbClr val="5F5F5F"/>
                </a:solidFill>
              </a:rPr>
              <a:t>105</a:t>
            </a:r>
          </a:p>
        </p:txBody>
      </p:sp>
      <p:sp>
        <p:nvSpPr>
          <p:cNvPr id="27664" name="Text Box 27"/>
          <p:cNvSpPr txBox="1">
            <a:spLocks noChangeArrowheads="1"/>
          </p:cNvSpPr>
          <p:nvPr/>
        </p:nvSpPr>
        <p:spPr bwMode="auto">
          <a:xfrm>
            <a:off x="7540625" y="5257801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D</a:t>
            </a:r>
          </a:p>
        </p:txBody>
      </p:sp>
      <p:sp>
        <p:nvSpPr>
          <p:cNvPr id="81948" name="Text Box 28"/>
          <p:cNvSpPr txBox="1">
            <a:spLocks noChangeArrowheads="1"/>
          </p:cNvSpPr>
          <p:nvPr/>
        </p:nvSpPr>
        <p:spPr bwMode="auto">
          <a:xfrm>
            <a:off x="5486400" y="2819400"/>
            <a:ext cx="687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Profits</a:t>
            </a:r>
          </a:p>
        </p:txBody>
      </p:sp>
      <p:sp>
        <p:nvSpPr>
          <p:cNvPr id="81949" name="Line 29"/>
          <p:cNvSpPr>
            <a:spLocks noChangeShapeType="1"/>
          </p:cNvSpPr>
          <p:nvPr/>
        </p:nvSpPr>
        <p:spPr bwMode="auto">
          <a:xfrm flipH="1">
            <a:off x="5181600" y="30480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da-DK"/>
          </a:p>
        </p:txBody>
      </p:sp>
      <p:sp>
        <p:nvSpPr>
          <p:cNvPr id="81950" name="Text Box 30"/>
          <p:cNvSpPr txBox="1">
            <a:spLocks noChangeArrowheads="1"/>
          </p:cNvSpPr>
          <p:nvPr/>
        </p:nvSpPr>
        <p:spPr bwMode="auto">
          <a:xfrm>
            <a:off x="6170613" y="3581400"/>
            <a:ext cx="9764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Lost gains</a:t>
            </a:r>
          </a:p>
          <a:p>
            <a:r>
              <a:rPr lang="en-US" sz="1400">
                <a:solidFill>
                  <a:srgbClr val="5F5F5F"/>
                </a:solidFill>
              </a:rPr>
              <a:t>from trade</a:t>
            </a:r>
          </a:p>
        </p:txBody>
      </p:sp>
      <p:sp>
        <p:nvSpPr>
          <p:cNvPr id="81951" name="Line 31"/>
          <p:cNvSpPr>
            <a:spLocks noChangeShapeType="1"/>
          </p:cNvSpPr>
          <p:nvPr/>
        </p:nvSpPr>
        <p:spPr bwMode="auto">
          <a:xfrm flipH="1">
            <a:off x="6096000" y="4038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da-DK"/>
          </a:p>
        </p:txBody>
      </p:sp>
      <p:sp>
        <p:nvSpPr>
          <p:cNvPr id="81952" name="Rectangle 32"/>
          <p:cNvSpPr>
            <a:spLocks noChangeArrowheads="1"/>
          </p:cNvSpPr>
          <p:nvPr/>
        </p:nvSpPr>
        <p:spPr bwMode="auto">
          <a:xfrm>
            <a:off x="4038600" y="3581400"/>
            <a:ext cx="1524000" cy="1524000"/>
          </a:xfrm>
          <a:prstGeom prst="rect">
            <a:avLst/>
          </a:prstGeom>
          <a:solidFill>
            <a:srgbClr val="99CCFF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81953" name="AutoShape 33"/>
          <p:cNvSpPr>
            <a:spLocks noChangeArrowheads="1"/>
          </p:cNvSpPr>
          <p:nvPr/>
        </p:nvSpPr>
        <p:spPr bwMode="auto">
          <a:xfrm>
            <a:off x="5562600" y="3581400"/>
            <a:ext cx="1600200" cy="1524000"/>
          </a:xfrm>
          <a:prstGeom prst="rtTriangle">
            <a:avLst/>
          </a:prstGeom>
          <a:solidFill>
            <a:srgbClr val="FF9900">
              <a:alpha val="2196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81954" name="Line 34"/>
          <p:cNvSpPr>
            <a:spLocks noChangeShapeType="1"/>
          </p:cNvSpPr>
          <p:nvPr/>
        </p:nvSpPr>
        <p:spPr bwMode="auto">
          <a:xfrm flipH="1">
            <a:off x="4038600" y="3581400"/>
            <a:ext cx="1524000" cy="0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7672" name="Rectangle 25"/>
          <p:cNvSpPr>
            <a:spLocks noChangeArrowheads="1"/>
          </p:cNvSpPr>
          <p:nvPr/>
        </p:nvSpPr>
        <p:spPr bwMode="auto">
          <a:xfrm>
            <a:off x="11043494" y="6149092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6750DAC1-97C9-40D8-A07E-00496D34EBC2}" type="slidenum">
              <a:rPr lang="en-US" sz="1000" smtClean="0"/>
              <a:pPr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763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0" grpId="0" animBg="1"/>
      <p:bldP spid="81932" grpId="0" animBg="1"/>
      <p:bldP spid="81933" grpId="0" animBg="1"/>
      <p:bldP spid="81941" grpId="0"/>
      <p:bldP spid="81942" grpId="0"/>
      <p:bldP spid="81945" grpId="0"/>
      <p:bldP spid="81946" grpId="0"/>
      <p:bldP spid="81949" grpId="0" animBg="1"/>
      <p:bldP spid="81950" grpId="0"/>
      <p:bldP spid="81951" grpId="0" animBg="1"/>
      <p:bldP spid="81952" grpId="0" animBg="1"/>
      <p:bldP spid="81953" grpId="0" animBg="1"/>
      <p:bldP spid="819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1471914" y="445625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Oligopoly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4304" y="1371600"/>
            <a:ext cx="6353033" cy="3581400"/>
          </a:xfrm>
        </p:spPr>
        <p:txBody>
          <a:bodyPr>
            <a:no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000" dirty="0"/>
              <a:t>A few firms produce most market output</a:t>
            </a:r>
          </a:p>
          <a:p>
            <a:pPr eaLnBrk="1" hangingPunct="1">
              <a:buClr>
                <a:srgbClr val="000066"/>
              </a:buClr>
            </a:pPr>
            <a:r>
              <a:rPr lang="en-US" sz="3000" dirty="0"/>
              <a:t>Products may or may not be differentiated</a:t>
            </a:r>
          </a:p>
          <a:p>
            <a:pPr eaLnBrk="1" hangingPunct="1">
              <a:buClr>
                <a:srgbClr val="000066"/>
              </a:buClr>
            </a:pPr>
            <a:r>
              <a:rPr lang="en-US" sz="3000" dirty="0"/>
              <a:t>Effective entry barriers protect firm profitability</a:t>
            </a:r>
          </a:p>
          <a:p>
            <a:pPr eaLnBrk="1" hangingPunct="1">
              <a:buClr>
                <a:srgbClr val="000066"/>
              </a:buClr>
            </a:pPr>
            <a:r>
              <a:rPr lang="en-US" sz="3000" dirty="0"/>
              <a:t>Firm interdependence requires </a:t>
            </a:r>
            <a:r>
              <a:rPr lang="en-US" sz="3000" i="1" u="sng" dirty="0"/>
              <a:t>strategic thinking</a:t>
            </a:r>
          </a:p>
          <a:p>
            <a:pPr eaLnBrk="1" hangingPunct="1">
              <a:buClr>
                <a:srgbClr val="000066"/>
              </a:buClr>
            </a:pPr>
            <a:r>
              <a:rPr lang="en-US" sz="3000" dirty="0"/>
              <a:t>Examples – steel, autos, colas, airlines</a:t>
            </a:r>
          </a:p>
        </p:txBody>
      </p:sp>
      <p:sp>
        <p:nvSpPr>
          <p:cNvPr id="31747" name="Rectangle 2048"/>
          <p:cNvSpPr>
            <a:spLocks noChangeArrowheads="1"/>
          </p:cNvSpPr>
          <p:nvPr/>
        </p:nvSpPr>
        <p:spPr bwMode="auto">
          <a:xfrm>
            <a:off x="10805126" y="6039836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B73DAA56-471C-4DA9-9E19-5AEC22707059}" type="slidenum">
              <a:rPr lang="en-US" sz="1000" smtClean="0"/>
              <a:pPr/>
              <a:t>11</a:t>
            </a:fld>
            <a:endParaRPr lang="en-US" sz="1000" dirty="0"/>
          </a:p>
        </p:txBody>
      </p:sp>
      <p:pic>
        <p:nvPicPr>
          <p:cNvPr id="2" name="Picture 2" descr="Market structures of perfect competition monopoly monopolistic competition  oligopoly | Premium Vector">
            <a:extLst>
              <a:ext uri="{FF2B5EF4-FFF2-40B4-BE49-F238E27FC236}">
                <a16:creationId xmlns:a16="http://schemas.microsoft.com/office/drawing/2014/main" id="{B7F25367-EFC6-B2E0-F320-DEAFDF6492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12" t="37219" r="23704" b="27746"/>
          <a:stretch>
            <a:fillRect/>
          </a:stretch>
        </p:blipFill>
        <p:spPr bwMode="auto">
          <a:xfrm>
            <a:off x="8325134" y="2647666"/>
            <a:ext cx="2869955" cy="286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789BEA-18F5-9EAE-8F21-909911F2828B}"/>
              </a:ext>
            </a:extLst>
          </p:cNvPr>
          <p:cNvSpPr txBox="1"/>
          <p:nvPr/>
        </p:nvSpPr>
        <p:spPr>
          <a:xfrm>
            <a:off x="8313851" y="5530295"/>
            <a:ext cx="2621230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300" dirty="0" err="1">
                <a:solidFill>
                  <a:schemeClr val="bg2">
                    <a:lumMod val="50000"/>
                  </a:schemeClr>
                </a:solidFill>
              </a:rPr>
              <a:t>www.freepik.com</a:t>
            </a:r>
            <a:r>
              <a:rPr lang="en-US" sz="300" dirty="0">
                <a:solidFill>
                  <a:schemeClr val="bg2">
                    <a:lumMod val="50000"/>
                  </a:schemeClr>
                </a:solidFill>
              </a:rPr>
              <a:t>/premium-vector/market-structures-perfect-competition-monopoly-monopolistic-competition-oligopoly_137102145.htm</a:t>
            </a:r>
          </a:p>
        </p:txBody>
      </p:sp>
    </p:spTree>
    <p:extLst>
      <p:ext uri="{BB962C8B-B14F-4D97-AF65-F5344CB8AC3E}">
        <p14:creationId xmlns:p14="http://schemas.microsoft.com/office/powerpoint/2010/main" val="41656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Nash Equilibrium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04999"/>
            <a:ext cx="8229600" cy="45073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i="1" dirty="0">
                <a:solidFill>
                  <a:srgbClr val="FF6600"/>
                </a:solidFill>
              </a:rPr>
              <a:t>An </a:t>
            </a:r>
            <a:r>
              <a:rPr lang="en-US" sz="3200" i="1" dirty="0" err="1">
                <a:solidFill>
                  <a:srgbClr val="FF6600"/>
                </a:solidFill>
              </a:rPr>
              <a:t>oligopolist</a:t>
            </a:r>
            <a:r>
              <a:rPr lang="en-US" sz="3200" i="1" dirty="0">
                <a:solidFill>
                  <a:srgbClr val="FF6600"/>
                </a:solidFill>
              </a:rPr>
              <a:t> does the best it can, given </a:t>
            </a:r>
            <a:r>
              <a:rPr lang="en-US" sz="3200" i="1" u="sng" dirty="0"/>
              <a:t>expectations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rgbClr val="FF6600"/>
                </a:solidFill>
              </a:rPr>
              <a:t>of rival behavior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i="1" dirty="0">
                <a:solidFill>
                  <a:srgbClr val="FF6600"/>
                </a:solidFill>
              </a:rPr>
              <a:t>Behaviors are </a:t>
            </a:r>
            <a:r>
              <a:rPr lang="en-US" sz="3200" i="1" dirty="0" err="1">
                <a:solidFill>
                  <a:srgbClr val="FF6600"/>
                </a:solidFill>
              </a:rPr>
              <a:t>noncooperative</a:t>
            </a:r>
            <a:endParaRPr lang="en-US" sz="3200" i="1" dirty="0">
              <a:solidFill>
                <a:srgbClr val="FF6600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i="1" dirty="0" err="1">
                <a:solidFill>
                  <a:srgbClr val="FF6600"/>
                </a:solidFill>
              </a:rPr>
              <a:t>Duopolists</a:t>
            </a:r>
            <a:r>
              <a:rPr lang="en-US" sz="3200" i="1" dirty="0">
                <a:solidFill>
                  <a:srgbClr val="FF6600"/>
                </a:solidFill>
              </a:rPr>
              <a:t> considering to put a low price, or a high price must consider rival’s response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i="1" dirty="0">
                <a:solidFill>
                  <a:srgbClr val="FF6600"/>
                </a:solidFill>
              </a:rPr>
              <a:t>A Nash equilibrium occurs when each firm does the best it can </a:t>
            </a:r>
            <a:r>
              <a:rPr lang="en-US" sz="3200" i="1" dirty="0">
                <a:solidFill>
                  <a:srgbClr val="004200"/>
                </a:solidFill>
              </a:rPr>
              <a:t>given</a:t>
            </a:r>
            <a:r>
              <a:rPr lang="en-US" sz="3200" i="1" dirty="0">
                <a:solidFill>
                  <a:srgbClr val="006600"/>
                </a:solidFill>
              </a:rPr>
              <a:t> </a:t>
            </a:r>
            <a:r>
              <a:rPr lang="en-US" sz="3200" i="1" dirty="0">
                <a:solidFill>
                  <a:srgbClr val="FF6600"/>
                </a:solidFill>
              </a:rPr>
              <a:t>rival’s actions – no change in strategy can improve a situation.</a:t>
            </a:r>
          </a:p>
          <a:p>
            <a:pPr eaLnBrk="1" hangingPunct="1">
              <a:lnSpc>
                <a:spcPct val="90000"/>
              </a:lnSpc>
            </a:pPr>
            <a:endParaRPr lang="en-US" i="1" dirty="0">
              <a:solidFill>
                <a:srgbClr val="FF9900"/>
              </a:solidFill>
            </a:endParaRP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11118729" y="579120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0D2524F3-D4A2-4E1C-B052-A99D76F517CF}" type="slidenum">
              <a:rPr lang="en-US" sz="1000" smtClean="0"/>
              <a:pPr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20260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87630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dirty="0">
                <a:solidFill>
                  <a:srgbClr val="004200"/>
                </a:solidFill>
              </a:rPr>
              <a:t>Determining the Nash Equilibrium</a:t>
            </a:r>
          </a:p>
        </p:txBody>
      </p:sp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3352800" y="1752600"/>
            <a:ext cx="5791200" cy="44958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3795" name="Line 5"/>
          <p:cNvSpPr>
            <a:spLocks noChangeShapeType="1"/>
          </p:cNvSpPr>
          <p:nvPr/>
        </p:nvSpPr>
        <p:spPr bwMode="auto">
          <a:xfrm>
            <a:off x="6248400" y="1752600"/>
            <a:ext cx="0" cy="449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3796" name="Line 6"/>
          <p:cNvSpPr>
            <a:spLocks noChangeShapeType="1"/>
          </p:cNvSpPr>
          <p:nvPr/>
        </p:nvSpPr>
        <p:spPr bwMode="auto">
          <a:xfrm flipV="1">
            <a:off x="3352800" y="4038600"/>
            <a:ext cx="5791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3797" name="Line 7"/>
          <p:cNvSpPr>
            <a:spLocks noChangeShapeType="1"/>
          </p:cNvSpPr>
          <p:nvPr/>
        </p:nvSpPr>
        <p:spPr bwMode="auto">
          <a:xfrm flipH="1">
            <a:off x="3352800" y="1752600"/>
            <a:ext cx="2895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3798" name="Line 8"/>
          <p:cNvSpPr>
            <a:spLocks noChangeShapeType="1"/>
          </p:cNvSpPr>
          <p:nvPr/>
        </p:nvSpPr>
        <p:spPr bwMode="auto">
          <a:xfrm flipH="1">
            <a:off x="3429000" y="1752600"/>
            <a:ext cx="563880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3799" name="Line 9"/>
          <p:cNvSpPr>
            <a:spLocks noChangeShapeType="1"/>
          </p:cNvSpPr>
          <p:nvPr/>
        </p:nvSpPr>
        <p:spPr bwMode="auto">
          <a:xfrm flipH="1">
            <a:off x="6248400" y="4038600"/>
            <a:ext cx="28194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3946526" y="2246313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$20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3886201" y="46482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$200</a:t>
            </a: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5022851" y="52578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$250</a:t>
            </a:r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5099051" y="2971800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$40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6750051" y="2286000"/>
            <a:ext cx="588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$40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8045450" y="2971800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$0</a:t>
            </a: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6699251" y="4662488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$400</a:t>
            </a: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7918451" y="53340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$200</a:t>
            </a:r>
          </a:p>
        </p:txBody>
      </p:sp>
      <p:sp>
        <p:nvSpPr>
          <p:cNvPr id="73746" name="Text Box 18"/>
          <p:cNvSpPr txBox="1">
            <a:spLocks noChangeArrowheads="1"/>
          </p:cNvSpPr>
          <p:nvPr/>
        </p:nvSpPr>
        <p:spPr bwMode="auto">
          <a:xfrm>
            <a:off x="2590801" y="2590800"/>
            <a:ext cx="562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6600"/>
                </a:solidFill>
              </a:rPr>
              <a:t>Low</a:t>
            </a:r>
          </a:p>
          <a:p>
            <a:r>
              <a:rPr lang="en-US" sz="1400" dirty="0">
                <a:solidFill>
                  <a:srgbClr val="FF6600"/>
                </a:solidFill>
              </a:rPr>
              <a:t>Price</a:t>
            </a:r>
          </a:p>
        </p:txBody>
      </p:sp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4343401" y="1219200"/>
            <a:ext cx="562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Low</a:t>
            </a:r>
          </a:p>
          <a:p>
            <a:r>
              <a:rPr lang="en-US" sz="1400" dirty="0">
                <a:solidFill>
                  <a:srgbClr val="002060"/>
                </a:solidFill>
              </a:rPr>
              <a:t>Price</a:t>
            </a:r>
          </a:p>
        </p:txBody>
      </p:sp>
      <p:sp>
        <p:nvSpPr>
          <p:cNvPr id="73748" name="Text Box 20"/>
          <p:cNvSpPr txBox="1">
            <a:spLocks noChangeArrowheads="1"/>
          </p:cNvSpPr>
          <p:nvPr/>
        </p:nvSpPr>
        <p:spPr bwMode="auto">
          <a:xfrm>
            <a:off x="2667001" y="4800600"/>
            <a:ext cx="562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6600"/>
                </a:solidFill>
              </a:rPr>
              <a:t>High</a:t>
            </a:r>
          </a:p>
          <a:p>
            <a:r>
              <a:rPr lang="en-US" sz="1400" dirty="0">
                <a:solidFill>
                  <a:srgbClr val="FF6600"/>
                </a:solidFill>
              </a:rPr>
              <a:t>Price</a:t>
            </a:r>
          </a:p>
        </p:txBody>
      </p:sp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7467601" y="1219200"/>
            <a:ext cx="562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High</a:t>
            </a:r>
          </a:p>
          <a:p>
            <a:r>
              <a:rPr lang="en-US" sz="1400" dirty="0">
                <a:solidFill>
                  <a:srgbClr val="002060"/>
                </a:solidFill>
              </a:rPr>
              <a:t>Price</a:t>
            </a:r>
          </a:p>
        </p:txBody>
      </p:sp>
      <p:sp>
        <p:nvSpPr>
          <p:cNvPr id="33812" name="Text Box 22"/>
          <p:cNvSpPr txBox="1">
            <a:spLocks noChangeArrowheads="1"/>
          </p:cNvSpPr>
          <p:nvPr/>
        </p:nvSpPr>
        <p:spPr bwMode="auto">
          <a:xfrm>
            <a:off x="5797550" y="1233488"/>
            <a:ext cx="695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66"/>
                </a:solidFill>
              </a:rPr>
              <a:t>TuInc</a:t>
            </a:r>
          </a:p>
        </p:txBody>
      </p:sp>
      <p:sp>
        <p:nvSpPr>
          <p:cNvPr id="33813" name="Text Box 23"/>
          <p:cNvSpPr txBox="1">
            <a:spLocks noChangeArrowheads="1"/>
          </p:cNvSpPr>
          <p:nvPr/>
        </p:nvSpPr>
        <p:spPr bwMode="auto">
          <a:xfrm>
            <a:off x="2041525" y="3824288"/>
            <a:ext cx="8670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WonCo</a:t>
            </a:r>
          </a:p>
        </p:txBody>
      </p:sp>
      <p:sp>
        <p:nvSpPr>
          <p:cNvPr id="73752" name="Line 24"/>
          <p:cNvSpPr>
            <a:spLocks noChangeShapeType="1"/>
          </p:cNvSpPr>
          <p:nvPr/>
        </p:nvSpPr>
        <p:spPr bwMode="auto">
          <a:xfrm>
            <a:off x="3886200" y="5029200"/>
            <a:ext cx="6096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53" name="Line 25"/>
          <p:cNvSpPr>
            <a:spLocks noChangeShapeType="1"/>
          </p:cNvSpPr>
          <p:nvPr/>
        </p:nvSpPr>
        <p:spPr bwMode="auto">
          <a:xfrm>
            <a:off x="6781800" y="5029200"/>
            <a:ext cx="6096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54" name="Line 26"/>
          <p:cNvSpPr>
            <a:spLocks noChangeShapeType="1"/>
          </p:cNvSpPr>
          <p:nvPr/>
        </p:nvSpPr>
        <p:spPr bwMode="auto">
          <a:xfrm>
            <a:off x="5181600" y="3276600"/>
            <a:ext cx="533400" cy="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55" name="Line 27"/>
          <p:cNvSpPr>
            <a:spLocks noChangeShapeType="1"/>
          </p:cNvSpPr>
          <p:nvPr/>
        </p:nvSpPr>
        <p:spPr bwMode="auto">
          <a:xfrm>
            <a:off x="5105400" y="5562600"/>
            <a:ext cx="533400" cy="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73756" name="Rectangle 28"/>
          <p:cNvSpPr>
            <a:spLocks noChangeArrowheads="1"/>
          </p:cNvSpPr>
          <p:nvPr/>
        </p:nvSpPr>
        <p:spPr bwMode="auto">
          <a:xfrm>
            <a:off x="3352800" y="4038600"/>
            <a:ext cx="2895600" cy="2209800"/>
          </a:xfrm>
          <a:prstGeom prst="rect">
            <a:avLst/>
          </a:prstGeom>
          <a:solidFill>
            <a:srgbClr val="006600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3819" name="Rectangle 28"/>
          <p:cNvSpPr>
            <a:spLocks noChangeArrowheads="1"/>
          </p:cNvSpPr>
          <p:nvPr/>
        </p:nvSpPr>
        <p:spPr bwMode="auto">
          <a:xfrm>
            <a:off x="11247256" y="612528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FD25E80F-43DE-42FF-9938-7C034E66652A}" type="slidenum">
              <a:rPr lang="en-US" sz="1000" smtClean="0"/>
              <a:pPr/>
              <a:t>13</a:t>
            </a:fld>
            <a:endParaRPr lang="en-US" sz="1000" dirty="0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C5566CFA-6351-F9E6-66ED-C0044BA47165}"/>
              </a:ext>
            </a:extLst>
          </p:cNvPr>
          <p:cNvSpPr txBox="1"/>
          <p:nvPr/>
        </p:nvSpPr>
        <p:spPr>
          <a:xfrm>
            <a:off x="9832062" y="2286000"/>
            <a:ext cx="20551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4200"/>
                </a:solidFill>
              </a:rPr>
              <a:t>Tallene indicerer her </a:t>
            </a:r>
            <a:r>
              <a:rPr lang="da-DK" dirty="0" err="1">
                <a:solidFill>
                  <a:srgbClr val="004200"/>
                </a:solidFill>
              </a:rPr>
              <a:t>payoff</a:t>
            </a:r>
            <a:r>
              <a:rPr lang="da-DK" dirty="0">
                <a:solidFill>
                  <a:srgbClr val="004200"/>
                </a:solidFill>
              </a:rPr>
              <a:t>/</a:t>
            </a:r>
            <a:r>
              <a:rPr lang="da-DK" dirty="0" err="1">
                <a:solidFill>
                  <a:srgbClr val="004200"/>
                </a:solidFill>
              </a:rPr>
              <a:t>benefits</a:t>
            </a:r>
            <a:endParaRPr lang="da-DK" dirty="0">
              <a:solidFill>
                <a:srgbClr val="0042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76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1000" fill="hold"/>
                                        <p:tgtEl>
                                          <p:spTgt spid="7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1000" fill="hold"/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00" fill="hold"/>
                                        <p:tgtEl>
                                          <p:spTgt spid="7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0" fill="hold"/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6" presetClass="emph" presetSubtype="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1000" fill="hold"/>
                                        <p:tgtEl>
                                          <p:spTgt spid="7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000" fill="hold"/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1000" fill="hold"/>
                                        <p:tgtEl>
                                          <p:spTgt spid="7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5" dur="1000" fill="hold"/>
                                        <p:tgtEl>
                                          <p:spTgt spid="73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00" fill="hold"/>
                                        <p:tgtEl>
                                          <p:spTgt spid="7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1000" fill="hold"/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1000" fill="hold"/>
                                        <p:tgtEl>
                                          <p:spTgt spid="73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1000" fill="hold"/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1000" fill="hold"/>
                                        <p:tgtEl>
                                          <p:spTgt spid="73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1000" fill="hold"/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1000" fill="hold"/>
                                        <p:tgtEl>
                                          <p:spTgt spid="73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0" dur="1000" fill="hold"/>
                                        <p:tgtEl>
                                          <p:spTgt spid="73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2" dur="1000" fill="hold"/>
                                        <p:tgtEl>
                                          <p:spTgt spid="73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0" dur="1000" fill="hold"/>
                                        <p:tgtEl>
                                          <p:spTgt spid="7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2" dur="1000" fill="hold"/>
                                        <p:tgtEl>
                                          <p:spTgt spid="73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4" dur="1000" fill="hold"/>
                                        <p:tgtEl>
                                          <p:spTgt spid="7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6" dur="1000" fill="hold"/>
                                        <p:tgtEl>
                                          <p:spTgt spid="73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1000" fill="hold"/>
                                        <p:tgtEl>
                                          <p:spTgt spid="7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1000" fill="hold"/>
                                        <p:tgtEl>
                                          <p:spTgt spid="73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73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5" dur="1000" fill="hold"/>
                                        <p:tgtEl>
                                          <p:spTgt spid="73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3" dur="1000" fill="hold"/>
                                        <p:tgtEl>
                                          <p:spTgt spid="7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5" dur="1000" fill="hold"/>
                                        <p:tgtEl>
                                          <p:spTgt spid="73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1000" fill="hold"/>
                                        <p:tgtEl>
                                          <p:spTgt spid="7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1000" fill="hold"/>
                                        <p:tgtEl>
                                          <p:spTgt spid="73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1" dur="1000" fill="hold"/>
                                        <p:tgtEl>
                                          <p:spTgt spid="7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2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3" dur="1000" fill="hold"/>
                                        <p:tgtEl>
                                          <p:spTgt spid="73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6" dur="1000" fill="hold"/>
                                        <p:tgtEl>
                                          <p:spTgt spid="73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8" dur="1000" fill="hold"/>
                                        <p:tgtEl>
                                          <p:spTgt spid="73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0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3" grpId="0" build="allAtOnce"/>
      <p:bldP spid="73752" grpId="0" animBg="1"/>
      <p:bldP spid="73753" grpId="0" animBg="1"/>
      <p:bldP spid="73754" grpId="0" animBg="1"/>
      <p:bldP spid="73755" grpId="0" animBg="1"/>
      <p:bldP spid="737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914400"/>
          </a:xfrm>
        </p:spPr>
        <p:txBody>
          <a:bodyPr/>
          <a:lstStyle/>
          <a:p>
            <a:pPr eaLnBrk="1" hangingPunct="1"/>
            <a:r>
              <a:rPr lang="en-US"/>
              <a:t>The Cournot Model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752600"/>
            <a:ext cx="7772400" cy="4495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200" u="sng" dirty="0" err="1"/>
              <a:t>Duopolists</a:t>
            </a:r>
            <a:r>
              <a:rPr lang="en-US" sz="2200" dirty="0"/>
              <a:t> A and B face industry demand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solidFill>
                  <a:srgbClr val="FF6600"/>
                </a:solidFill>
              </a:rPr>
              <a:t>P = 100-Q, Q = Q</a:t>
            </a:r>
            <a:r>
              <a:rPr lang="en-US" sz="2200" baseline="-20000" dirty="0">
                <a:solidFill>
                  <a:srgbClr val="FF6600"/>
                </a:solidFill>
              </a:rPr>
              <a:t>A</a:t>
            </a:r>
            <a:r>
              <a:rPr lang="en-US" sz="2200" dirty="0">
                <a:solidFill>
                  <a:srgbClr val="FF6600"/>
                </a:solidFill>
              </a:rPr>
              <a:t>+Q</a:t>
            </a:r>
            <a:r>
              <a:rPr lang="en-US" sz="2200" baseline="-20000" dirty="0">
                <a:solidFill>
                  <a:srgbClr val="FF6600"/>
                </a:solidFill>
              </a:rPr>
              <a:t>B</a:t>
            </a:r>
            <a:endParaRPr lang="en-US" sz="2200" dirty="0">
              <a:solidFill>
                <a:srgbClr val="FF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Each firm takes the </a:t>
            </a:r>
            <a:r>
              <a:rPr lang="en-US" sz="2200" dirty="0">
                <a:solidFill>
                  <a:srgbClr val="004200"/>
                </a:solidFill>
              </a:rPr>
              <a:t>other’s output as fixed, and then decides how much to produce!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200" dirty="0"/>
              <a:t>E.g., </a:t>
            </a:r>
            <a:r>
              <a:rPr lang="en-US" sz="2200" dirty="0">
                <a:solidFill>
                  <a:srgbClr val="FF6600"/>
                </a:solidFill>
              </a:rPr>
              <a:t>P</a:t>
            </a:r>
            <a:r>
              <a:rPr lang="en-US" sz="2200" baseline="-20000" dirty="0">
                <a:solidFill>
                  <a:srgbClr val="FF6600"/>
                </a:solidFill>
              </a:rPr>
              <a:t>A </a:t>
            </a:r>
            <a:r>
              <a:rPr lang="en-US" sz="2200" dirty="0">
                <a:solidFill>
                  <a:srgbClr val="FF6600"/>
                </a:solidFill>
              </a:rPr>
              <a:t>= (100-Q</a:t>
            </a:r>
            <a:r>
              <a:rPr lang="en-US" sz="2200" baseline="-20000" dirty="0">
                <a:solidFill>
                  <a:srgbClr val="FF6600"/>
                </a:solidFill>
              </a:rPr>
              <a:t>B</a:t>
            </a:r>
            <a:r>
              <a:rPr lang="en-US" sz="2200" dirty="0">
                <a:solidFill>
                  <a:srgbClr val="FF6600"/>
                </a:solidFill>
              </a:rPr>
              <a:t>*)-Q</a:t>
            </a:r>
            <a:r>
              <a:rPr lang="en-US" sz="2200" baseline="-20000" dirty="0">
                <a:solidFill>
                  <a:srgbClr val="FF6600"/>
                </a:solidFill>
              </a:rPr>
              <a:t>A</a:t>
            </a:r>
            <a:endParaRPr lang="en-US" sz="2200" dirty="0">
              <a:solidFill>
                <a:srgbClr val="FF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Marginal revenue for A is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solidFill>
                  <a:srgbClr val="FF6600"/>
                </a:solidFill>
              </a:rPr>
              <a:t>MR</a:t>
            </a:r>
            <a:r>
              <a:rPr lang="en-US" sz="2200" baseline="-20000" dirty="0">
                <a:solidFill>
                  <a:srgbClr val="FF6600"/>
                </a:solidFill>
              </a:rPr>
              <a:t>A </a:t>
            </a:r>
            <a:r>
              <a:rPr lang="en-US" sz="2200" dirty="0">
                <a:solidFill>
                  <a:srgbClr val="FF6600"/>
                </a:solidFill>
              </a:rPr>
              <a:t>= (100-Q</a:t>
            </a:r>
            <a:r>
              <a:rPr lang="en-US" sz="2200" baseline="-20000" dirty="0">
                <a:solidFill>
                  <a:srgbClr val="FF6600"/>
                </a:solidFill>
              </a:rPr>
              <a:t>B</a:t>
            </a:r>
            <a:r>
              <a:rPr lang="en-US" sz="2200" dirty="0">
                <a:solidFill>
                  <a:srgbClr val="FF6600"/>
                </a:solidFill>
              </a:rPr>
              <a:t>*)-2Q</a:t>
            </a:r>
            <a:r>
              <a:rPr lang="en-US" sz="2200" baseline="-20000" dirty="0">
                <a:solidFill>
                  <a:srgbClr val="FF6600"/>
                </a:solidFill>
              </a:rPr>
              <a:t>A</a:t>
            </a:r>
            <a:endParaRPr lang="en-US" sz="2200" dirty="0">
              <a:solidFill>
                <a:srgbClr val="FF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If </a:t>
            </a:r>
            <a:r>
              <a:rPr lang="en-US" sz="2200" dirty="0">
                <a:solidFill>
                  <a:srgbClr val="FF6600"/>
                </a:solidFill>
              </a:rPr>
              <a:t>MC = 0,</a:t>
            </a:r>
            <a:r>
              <a:rPr lang="en-US" sz="2200" dirty="0"/>
              <a:t> the optimal output for A for the given output for B is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200" dirty="0">
                <a:solidFill>
                  <a:schemeClr val="tx1"/>
                </a:solidFill>
              </a:rPr>
              <a:t>(1) </a:t>
            </a:r>
            <a:r>
              <a:rPr lang="en-US" sz="2200" dirty="0">
                <a:solidFill>
                  <a:srgbClr val="FF6600"/>
                </a:solidFill>
              </a:rPr>
              <a:t>Q</a:t>
            </a:r>
            <a:r>
              <a:rPr lang="en-US" sz="2200" baseline="-20000" dirty="0">
                <a:solidFill>
                  <a:srgbClr val="FF6600"/>
                </a:solidFill>
              </a:rPr>
              <a:t>A </a:t>
            </a:r>
            <a:r>
              <a:rPr lang="en-US" sz="2200" dirty="0">
                <a:solidFill>
                  <a:srgbClr val="FF6600"/>
                </a:solidFill>
              </a:rPr>
              <a:t>= 50 - 0,5Q</a:t>
            </a:r>
            <a:r>
              <a:rPr lang="en-US" sz="2200" baseline="-20000" dirty="0">
                <a:solidFill>
                  <a:srgbClr val="FF6600"/>
                </a:solidFill>
              </a:rPr>
              <a:t>B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sz="2200" baseline="-20000" dirty="0">
              <a:solidFill>
                <a:srgbClr val="FF6600"/>
              </a:solidFill>
            </a:endParaRPr>
          </a:p>
          <a:p>
            <a:pPr algn="ctr" eaLnBrk="1" hangingPunct="1">
              <a:lnSpc>
                <a:spcPct val="9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(2)</a:t>
            </a:r>
            <a:r>
              <a:rPr lang="en-US" sz="2200" dirty="0">
                <a:solidFill>
                  <a:srgbClr val="FF6600"/>
                </a:solidFill>
              </a:rPr>
              <a:t> Q</a:t>
            </a:r>
            <a:r>
              <a:rPr lang="en-US" sz="2200" baseline="-20000" dirty="0">
                <a:solidFill>
                  <a:srgbClr val="FF6600"/>
                </a:solidFill>
              </a:rPr>
              <a:t>B </a:t>
            </a:r>
            <a:r>
              <a:rPr lang="en-US" sz="2200" dirty="0">
                <a:solidFill>
                  <a:srgbClr val="FF6600"/>
                </a:solidFill>
              </a:rPr>
              <a:t>= 50 - 0,5Q</a:t>
            </a:r>
            <a:r>
              <a:rPr lang="en-US" sz="2200" baseline="-20000" dirty="0">
                <a:solidFill>
                  <a:srgbClr val="FF6600"/>
                </a:solidFill>
              </a:rPr>
              <a:t>A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sz="2200" baseline="-20000" dirty="0">
              <a:solidFill>
                <a:srgbClr val="FF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..which is the reaction curve for firm A (</a:t>
            </a:r>
            <a:r>
              <a:rPr lang="en-US" sz="2200" dirty="0" err="1"/>
              <a:t>henholdsvis</a:t>
            </a:r>
            <a:r>
              <a:rPr lang="en-US" sz="2200" dirty="0"/>
              <a:t> B)</a:t>
            </a:r>
            <a:endParaRPr lang="en-US" sz="2200" baseline="-20000" dirty="0"/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11225313" y="612528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9961B005-CFC0-41D3-B44E-0F038EF1E5F0}" type="slidenum">
              <a:rPr lang="en-US" sz="1000" smtClean="0"/>
              <a:pPr/>
              <a:t>14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9055650" y="4786943"/>
            <a:ext cx="2596198" cy="646331"/>
          </a:xfrm>
          <a:prstGeom prst="rect">
            <a:avLst/>
          </a:prstGeom>
          <a:solidFill>
            <a:srgbClr val="004200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a-DK" dirty="0"/>
              <a:t>Lign. 2 ind i lign 1, isolér =&gt; Q = 33,33</a:t>
            </a:r>
          </a:p>
        </p:txBody>
      </p:sp>
    </p:spTree>
    <p:extLst>
      <p:ext uri="{BB962C8B-B14F-4D97-AF65-F5344CB8AC3E}">
        <p14:creationId xmlns:p14="http://schemas.microsoft.com/office/powerpoint/2010/main" val="1562061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Cournot Equilibrium</a:t>
            </a:r>
          </a:p>
        </p:txBody>
      </p:sp>
      <p:sp>
        <p:nvSpPr>
          <p:cNvPr id="35842" name="Line 4"/>
          <p:cNvSpPr>
            <a:spLocks noChangeShapeType="1"/>
          </p:cNvSpPr>
          <p:nvPr/>
        </p:nvSpPr>
        <p:spPr bwMode="auto">
          <a:xfrm>
            <a:off x="4191000" y="1828800"/>
            <a:ext cx="0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43" name="Line 5"/>
          <p:cNvSpPr>
            <a:spLocks noChangeShapeType="1"/>
          </p:cNvSpPr>
          <p:nvPr/>
        </p:nvSpPr>
        <p:spPr bwMode="auto">
          <a:xfrm>
            <a:off x="4191000" y="57912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35844" name="Line 6"/>
          <p:cNvSpPr>
            <a:spLocks noChangeShapeType="1"/>
          </p:cNvSpPr>
          <p:nvPr/>
        </p:nvSpPr>
        <p:spPr bwMode="auto">
          <a:xfrm>
            <a:off x="4191000" y="3962400"/>
            <a:ext cx="3657600" cy="18288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45" name="Line 7"/>
          <p:cNvSpPr>
            <a:spLocks noChangeShapeType="1"/>
          </p:cNvSpPr>
          <p:nvPr/>
        </p:nvSpPr>
        <p:spPr bwMode="auto">
          <a:xfrm>
            <a:off x="4191000" y="2133600"/>
            <a:ext cx="1854200" cy="36322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46" name="Line 8"/>
          <p:cNvSpPr>
            <a:spLocks noChangeShapeType="1"/>
          </p:cNvSpPr>
          <p:nvPr/>
        </p:nvSpPr>
        <p:spPr bwMode="auto">
          <a:xfrm>
            <a:off x="4191000" y="4572000"/>
            <a:ext cx="1193800" cy="0"/>
          </a:xfrm>
          <a:prstGeom prst="line">
            <a:avLst/>
          </a:prstGeom>
          <a:noFill/>
          <a:ln w="9525">
            <a:solidFill>
              <a:srgbClr val="5F5F5F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47" name="Line 9"/>
          <p:cNvSpPr>
            <a:spLocks noChangeShapeType="1"/>
          </p:cNvSpPr>
          <p:nvPr/>
        </p:nvSpPr>
        <p:spPr bwMode="auto">
          <a:xfrm>
            <a:off x="5422900" y="4572000"/>
            <a:ext cx="0" cy="1219200"/>
          </a:xfrm>
          <a:prstGeom prst="line">
            <a:avLst/>
          </a:prstGeom>
          <a:noFill/>
          <a:ln w="9525">
            <a:solidFill>
              <a:srgbClr val="5F5F5F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48" name="Line 10"/>
          <p:cNvSpPr>
            <a:spLocks noChangeShapeType="1"/>
          </p:cNvSpPr>
          <p:nvPr/>
        </p:nvSpPr>
        <p:spPr bwMode="auto">
          <a:xfrm>
            <a:off x="4191000" y="4876800"/>
            <a:ext cx="9906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49" name="Line 11"/>
          <p:cNvSpPr>
            <a:spLocks noChangeShapeType="1"/>
          </p:cNvSpPr>
          <p:nvPr/>
        </p:nvSpPr>
        <p:spPr bwMode="auto">
          <a:xfrm>
            <a:off x="5181600" y="4876800"/>
            <a:ext cx="0" cy="9144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50" name="Line 12"/>
          <p:cNvSpPr>
            <a:spLocks noChangeShapeType="1"/>
          </p:cNvSpPr>
          <p:nvPr/>
        </p:nvSpPr>
        <p:spPr bwMode="auto">
          <a:xfrm>
            <a:off x="4191000" y="3949700"/>
            <a:ext cx="18288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51" name="Line 13"/>
          <p:cNvSpPr>
            <a:spLocks noChangeShapeType="1"/>
          </p:cNvSpPr>
          <p:nvPr/>
        </p:nvSpPr>
        <p:spPr bwMode="auto">
          <a:xfrm>
            <a:off x="6032500" y="3949700"/>
            <a:ext cx="0" cy="18542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5852" name="Text Box 14"/>
          <p:cNvSpPr txBox="1">
            <a:spLocks noChangeArrowheads="1"/>
          </p:cNvSpPr>
          <p:nvPr/>
        </p:nvSpPr>
        <p:spPr bwMode="auto">
          <a:xfrm>
            <a:off x="4686300" y="6121400"/>
            <a:ext cx="269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u="sng" dirty="0">
                <a:solidFill>
                  <a:srgbClr val="004200"/>
                </a:solidFill>
              </a:rPr>
              <a:t>Quantity of output </a:t>
            </a:r>
            <a:r>
              <a:rPr lang="en-US" sz="1400" dirty="0">
                <a:solidFill>
                  <a:srgbClr val="004200"/>
                </a:solidFill>
              </a:rPr>
              <a:t>by Firm A</a:t>
            </a:r>
          </a:p>
        </p:txBody>
      </p:sp>
      <p:sp>
        <p:nvSpPr>
          <p:cNvPr id="35853" name="Text Box 15"/>
          <p:cNvSpPr txBox="1">
            <a:spLocks noChangeArrowheads="1"/>
          </p:cNvSpPr>
          <p:nvPr/>
        </p:nvSpPr>
        <p:spPr bwMode="auto">
          <a:xfrm>
            <a:off x="4330700" y="2057400"/>
            <a:ext cx="259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Firm A’s reaction curve</a:t>
            </a:r>
          </a:p>
        </p:txBody>
      </p:sp>
      <p:sp>
        <p:nvSpPr>
          <p:cNvPr id="35854" name="Text Box 17"/>
          <p:cNvSpPr txBox="1">
            <a:spLocks noChangeArrowheads="1"/>
          </p:cNvSpPr>
          <p:nvPr/>
        </p:nvSpPr>
        <p:spPr bwMode="auto">
          <a:xfrm rot="-5400000">
            <a:off x="1912938" y="3498850"/>
            <a:ext cx="241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u="sng" dirty="0">
                <a:solidFill>
                  <a:srgbClr val="004200"/>
                </a:solidFill>
              </a:rPr>
              <a:t>Quantity of </a:t>
            </a:r>
            <a:r>
              <a:rPr lang="en-US" sz="1400" dirty="0">
                <a:solidFill>
                  <a:srgbClr val="004200"/>
                </a:solidFill>
              </a:rPr>
              <a:t>output by Firm B</a:t>
            </a:r>
          </a:p>
        </p:txBody>
      </p:sp>
      <p:sp>
        <p:nvSpPr>
          <p:cNvPr id="35855" name="Text Box 18"/>
          <p:cNvSpPr txBox="1">
            <a:spLocks noChangeArrowheads="1"/>
          </p:cNvSpPr>
          <p:nvPr/>
        </p:nvSpPr>
        <p:spPr bwMode="auto">
          <a:xfrm>
            <a:off x="6648450" y="1981201"/>
            <a:ext cx="401955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5F5F5F"/>
                </a:solidFill>
              </a:rPr>
              <a:t>a</a:t>
            </a:r>
            <a:r>
              <a:rPr lang="en-US" sz="1400" dirty="0">
                <a:solidFill>
                  <a:srgbClr val="5F5F5F"/>
                </a:solidFill>
              </a:rPr>
              <a:t> = Competitive equilibrium, QFK=100</a:t>
            </a:r>
          </a:p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5F5F5F"/>
                </a:solidFill>
              </a:rPr>
              <a:t>b</a:t>
            </a:r>
            <a:r>
              <a:rPr lang="en-US" sz="1400" dirty="0">
                <a:solidFill>
                  <a:srgbClr val="5F5F5F"/>
                </a:solidFill>
              </a:rPr>
              <a:t> = </a:t>
            </a:r>
            <a:r>
              <a:rPr lang="en-US" sz="1400" dirty="0" err="1">
                <a:solidFill>
                  <a:srgbClr val="5F5F5F"/>
                </a:solidFill>
              </a:rPr>
              <a:t>Cournot</a:t>
            </a:r>
            <a:r>
              <a:rPr lang="en-US" sz="1400" dirty="0">
                <a:solidFill>
                  <a:srgbClr val="5F5F5F"/>
                </a:solidFill>
              </a:rPr>
              <a:t> equilibrium, QC=66,67</a:t>
            </a:r>
          </a:p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5F5F5F"/>
                </a:solidFill>
              </a:rPr>
              <a:t>c</a:t>
            </a:r>
            <a:r>
              <a:rPr lang="en-US" sz="1400" dirty="0">
                <a:solidFill>
                  <a:srgbClr val="5F5F5F"/>
                </a:solidFill>
              </a:rPr>
              <a:t> = Collusive (monopoly) equilibrium, QM=50</a:t>
            </a:r>
          </a:p>
        </p:txBody>
      </p:sp>
      <p:sp>
        <p:nvSpPr>
          <p:cNvPr id="35856" name="Text Box 19"/>
          <p:cNvSpPr txBox="1">
            <a:spLocks noChangeArrowheads="1"/>
          </p:cNvSpPr>
          <p:nvPr/>
        </p:nvSpPr>
        <p:spPr bwMode="auto">
          <a:xfrm>
            <a:off x="3771900" y="4762500"/>
            <a:ext cx="419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25</a:t>
            </a:r>
          </a:p>
        </p:txBody>
      </p:sp>
      <p:sp>
        <p:nvSpPr>
          <p:cNvPr id="35857" name="Text Box 20"/>
          <p:cNvSpPr txBox="1">
            <a:spLocks noChangeArrowheads="1"/>
          </p:cNvSpPr>
          <p:nvPr/>
        </p:nvSpPr>
        <p:spPr bwMode="auto">
          <a:xfrm>
            <a:off x="3517900" y="4432300"/>
            <a:ext cx="66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33.33</a:t>
            </a:r>
          </a:p>
        </p:txBody>
      </p:sp>
      <p:sp>
        <p:nvSpPr>
          <p:cNvPr id="35858" name="Text Box 21"/>
          <p:cNvSpPr txBox="1">
            <a:spLocks noChangeArrowheads="1"/>
          </p:cNvSpPr>
          <p:nvPr/>
        </p:nvSpPr>
        <p:spPr bwMode="auto">
          <a:xfrm>
            <a:off x="3771900" y="3822700"/>
            <a:ext cx="419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50</a:t>
            </a:r>
          </a:p>
        </p:txBody>
      </p:sp>
      <p:sp>
        <p:nvSpPr>
          <p:cNvPr id="35859" name="Text Box 22"/>
          <p:cNvSpPr txBox="1">
            <a:spLocks noChangeArrowheads="1"/>
          </p:cNvSpPr>
          <p:nvPr/>
        </p:nvSpPr>
        <p:spPr bwMode="auto">
          <a:xfrm>
            <a:off x="3695700" y="1968500"/>
            <a:ext cx="482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100</a:t>
            </a:r>
          </a:p>
        </p:txBody>
      </p:sp>
      <p:sp>
        <p:nvSpPr>
          <p:cNvPr id="35860" name="Text Box 23"/>
          <p:cNvSpPr txBox="1">
            <a:spLocks noChangeArrowheads="1"/>
          </p:cNvSpPr>
          <p:nvPr/>
        </p:nvSpPr>
        <p:spPr bwMode="auto">
          <a:xfrm>
            <a:off x="3987800" y="1511300"/>
            <a:ext cx="546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 baseline="-25000">
                <a:solidFill>
                  <a:srgbClr val="5F5F5F"/>
                </a:solidFill>
              </a:rPr>
              <a:t>B</a:t>
            </a:r>
          </a:p>
        </p:txBody>
      </p:sp>
      <p:sp>
        <p:nvSpPr>
          <p:cNvPr id="35861" name="Text Box 24"/>
          <p:cNvSpPr txBox="1">
            <a:spLocks noChangeArrowheads="1"/>
          </p:cNvSpPr>
          <p:nvPr/>
        </p:nvSpPr>
        <p:spPr bwMode="auto">
          <a:xfrm>
            <a:off x="5232400" y="5791200"/>
            <a:ext cx="66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5F5F5F"/>
                </a:solidFill>
              </a:rPr>
              <a:t>33.33</a:t>
            </a:r>
          </a:p>
        </p:txBody>
      </p:sp>
      <p:sp>
        <p:nvSpPr>
          <p:cNvPr id="35862" name="Text Box 25"/>
          <p:cNvSpPr txBox="1">
            <a:spLocks noChangeArrowheads="1"/>
          </p:cNvSpPr>
          <p:nvPr/>
        </p:nvSpPr>
        <p:spPr bwMode="auto">
          <a:xfrm>
            <a:off x="5803900" y="5791200"/>
            <a:ext cx="419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50</a:t>
            </a:r>
          </a:p>
        </p:txBody>
      </p:sp>
      <p:sp>
        <p:nvSpPr>
          <p:cNvPr id="35863" name="Text Box 26"/>
          <p:cNvSpPr txBox="1">
            <a:spLocks noChangeArrowheads="1"/>
          </p:cNvSpPr>
          <p:nvPr/>
        </p:nvSpPr>
        <p:spPr bwMode="auto">
          <a:xfrm>
            <a:off x="7581900" y="5791200"/>
            <a:ext cx="482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100</a:t>
            </a:r>
          </a:p>
        </p:txBody>
      </p:sp>
      <p:sp>
        <p:nvSpPr>
          <p:cNvPr id="35864" name="Text Box 27"/>
          <p:cNvSpPr txBox="1">
            <a:spLocks noChangeArrowheads="1"/>
          </p:cNvSpPr>
          <p:nvPr/>
        </p:nvSpPr>
        <p:spPr bwMode="auto">
          <a:xfrm>
            <a:off x="8166100" y="5626100"/>
            <a:ext cx="546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 baseline="-25000">
                <a:solidFill>
                  <a:srgbClr val="5F5F5F"/>
                </a:solidFill>
              </a:rPr>
              <a:t>A</a:t>
            </a:r>
          </a:p>
        </p:txBody>
      </p:sp>
      <p:sp>
        <p:nvSpPr>
          <p:cNvPr id="35865" name="Text Box 28"/>
          <p:cNvSpPr txBox="1">
            <a:spLocks noChangeArrowheads="1"/>
          </p:cNvSpPr>
          <p:nvPr/>
        </p:nvSpPr>
        <p:spPr bwMode="auto">
          <a:xfrm>
            <a:off x="6438900" y="4737100"/>
            <a:ext cx="259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Firm B’s reaction curve</a:t>
            </a:r>
          </a:p>
        </p:txBody>
      </p:sp>
      <p:sp>
        <p:nvSpPr>
          <p:cNvPr id="35866" name="Text Box 29"/>
          <p:cNvSpPr txBox="1">
            <a:spLocks noChangeArrowheads="1"/>
          </p:cNvSpPr>
          <p:nvPr/>
        </p:nvSpPr>
        <p:spPr bwMode="auto">
          <a:xfrm>
            <a:off x="5956300" y="3708400"/>
            <a:ext cx="342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a</a:t>
            </a:r>
          </a:p>
        </p:txBody>
      </p:sp>
      <p:sp>
        <p:nvSpPr>
          <p:cNvPr id="35867" name="Text Box 30"/>
          <p:cNvSpPr txBox="1">
            <a:spLocks noChangeArrowheads="1"/>
          </p:cNvSpPr>
          <p:nvPr/>
        </p:nvSpPr>
        <p:spPr bwMode="auto">
          <a:xfrm>
            <a:off x="5397500" y="4318000"/>
            <a:ext cx="393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b</a:t>
            </a:r>
          </a:p>
        </p:txBody>
      </p:sp>
      <p:sp>
        <p:nvSpPr>
          <p:cNvPr id="35868" name="Text Box 31"/>
          <p:cNvSpPr txBox="1">
            <a:spLocks noChangeArrowheads="1"/>
          </p:cNvSpPr>
          <p:nvPr/>
        </p:nvSpPr>
        <p:spPr bwMode="auto">
          <a:xfrm>
            <a:off x="5080000" y="46355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c</a:t>
            </a:r>
          </a:p>
        </p:txBody>
      </p:sp>
      <p:sp>
        <p:nvSpPr>
          <p:cNvPr id="35869" name="Rectangle 32"/>
          <p:cNvSpPr>
            <a:spLocks noChangeArrowheads="1"/>
          </p:cNvSpPr>
          <p:nvPr/>
        </p:nvSpPr>
        <p:spPr bwMode="auto">
          <a:xfrm>
            <a:off x="11342024" y="615068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49E36DE0-284C-4747-92E2-2C00A9236CDE}" type="slidenum">
              <a:rPr lang="en-US" sz="1000" smtClean="0"/>
              <a:pPr/>
              <a:t>15</a:t>
            </a:fld>
            <a:endParaRPr lang="en-US" sz="1000" dirty="0"/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4902200" y="5803900"/>
            <a:ext cx="66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5F5F5F"/>
                </a:solidFill>
              </a:rPr>
              <a:t>25</a:t>
            </a:r>
          </a:p>
        </p:txBody>
      </p:sp>
      <p:sp>
        <p:nvSpPr>
          <p:cNvPr id="2" name="Tekstboks 1"/>
          <p:cNvSpPr txBox="1"/>
          <p:nvPr/>
        </p:nvSpPr>
        <p:spPr>
          <a:xfrm>
            <a:off x="9398794" y="4420970"/>
            <a:ext cx="1269206" cy="646331"/>
          </a:xfrm>
          <a:prstGeom prst="rect">
            <a:avLst/>
          </a:prstGeom>
          <a:solidFill>
            <a:srgbClr val="004200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Bemærk akserne!</a:t>
            </a:r>
          </a:p>
        </p:txBody>
      </p:sp>
    </p:spTree>
    <p:extLst>
      <p:ext uri="{BB962C8B-B14F-4D97-AF65-F5344CB8AC3E}">
        <p14:creationId xmlns:p14="http://schemas.microsoft.com/office/powerpoint/2010/main" val="1052721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98501"/>
            <a:ext cx="9144000" cy="1033463"/>
          </a:xfrm>
        </p:spPr>
        <p:txBody>
          <a:bodyPr/>
          <a:lstStyle/>
          <a:p>
            <a:pPr eaLnBrk="1" hangingPunct="1"/>
            <a:r>
              <a:rPr lang="en-US" sz="3200" dirty="0"/>
              <a:t>Comparison of Prices and Output and Profits</a:t>
            </a:r>
            <a:br>
              <a:rPr lang="en-US" sz="3200" dirty="0"/>
            </a:br>
            <a:r>
              <a:rPr lang="en-US" sz="3200" dirty="0"/>
              <a:t>Among Different </a:t>
            </a:r>
            <a:r>
              <a:rPr lang="en-US" sz="3200" dirty="0" err="1"/>
              <a:t>Equilibria</a:t>
            </a:r>
            <a:r>
              <a:rPr lang="en-US" sz="3200" dirty="0"/>
              <a:t> – </a:t>
            </a:r>
            <a:r>
              <a:rPr lang="en-US" sz="3200" dirty="0">
                <a:solidFill>
                  <a:srgbClr val="FF6600"/>
                </a:solidFill>
              </a:rPr>
              <a:t>The Industry</a:t>
            </a:r>
          </a:p>
        </p:txBody>
      </p:sp>
      <p:sp>
        <p:nvSpPr>
          <p:cNvPr id="36866" name="Line 4"/>
          <p:cNvSpPr>
            <a:spLocks noChangeShapeType="1"/>
          </p:cNvSpPr>
          <p:nvPr/>
        </p:nvSpPr>
        <p:spPr bwMode="auto">
          <a:xfrm>
            <a:off x="4305300" y="20447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6867" name="Line 5"/>
          <p:cNvSpPr>
            <a:spLocks noChangeShapeType="1"/>
          </p:cNvSpPr>
          <p:nvPr/>
        </p:nvSpPr>
        <p:spPr bwMode="auto">
          <a:xfrm>
            <a:off x="4305300" y="5778500"/>
            <a:ext cx="3746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36868" name="Line 6"/>
          <p:cNvSpPr>
            <a:spLocks noChangeShapeType="1"/>
          </p:cNvSpPr>
          <p:nvPr/>
        </p:nvSpPr>
        <p:spPr bwMode="auto">
          <a:xfrm>
            <a:off x="4305300" y="2324100"/>
            <a:ext cx="2019300" cy="3962400"/>
          </a:xfrm>
          <a:prstGeom prst="line">
            <a:avLst/>
          </a:prstGeom>
          <a:noFill/>
          <a:ln w="25400">
            <a:solidFill>
              <a:srgbClr val="0000CC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6869" name="Line 7"/>
          <p:cNvSpPr>
            <a:spLocks noChangeShapeType="1"/>
          </p:cNvSpPr>
          <p:nvPr/>
        </p:nvSpPr>
        <p:spPr bwMode="auto">
          <a:xfrm>
            <a:off x="4305300" y="2324100"/>
            <a:ext cx="3467100" cy="34544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6870" name="Line 8"/>
          <p:cNvSpPr>
            <a:spLocks noChangeShapeType="1"/>
          </p:cNvSpPr>
          <p:nvPr/>
        </p:nvSpPr>
        <p:spPr bwMode="auto">
          <a:xfrm>
            <a:off x="4330700" y="4051300"/>
            <a:ext cx="16891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6871" name="Line 9"/>
          <p:cNvSpPr>
            <a:spLocks noChangeShapeType="1"/>
          </p:cNvSpPr>
          <p:nvPr/>
        </p:nvSpPr>
        <p:spPr bwMode="auto">
          <a:xfrm>
            <a:off x="6045200" y="4064000"/>
            <a:ext cx="0" cy="16510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6872" name="Line 10"/>
          <p:cNvSpPr>
            <a:spLocks noChangeShapeType="1"/>
          </p:cNvSpPr>
          <p:nvPr/>
        </p:nvSpPr>
        <p:spPr bwMode="auto">
          <a:xfrm>
            <a:off x="4305300" y="4622800"/>
            <a:ext cx="22733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6873" name="Line 11"/>
          <p:cNvSpPr>
            <a:spLocks noChangeShapeType="1"/>
          </p:cNvSpPr>
          <p:nvPr/>
        </p:nvSpPr>
        <p:spPr bwMode="auto">
          <a:xfrm>
            <a:off x="6591300" y="4648200"/>
            <a:ext cx="0" cy="11049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6874" name="Text Box 12"/>
          <p:cNvSpPr txBox="1">
            <a:spLocks noChangeArrowheads="1"/>
          </p:cNvSpPr>
          <p:nvPr/>
        </p:nvSpPr>
        <p:spPr bwMode="auto">
          <a:xfrm>
            <a:off x="4635500" y="5486400"/>
            <a:ext cx="1028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006600"/>
                </a:solidFill>
              </a:rPr>
              <a:t>MC = 0</a:t>
            </a:r>
          </a:p>
        </p:txBody>
      </p:sp>
      <p:sp>
        <p:nvSpPr>
          <p:cNvPr id="36875" name="Text Box 13"/>
          <p:cNvSpPr txBox="1">
            <a:spLocks noChangeArrowheads="1"/>
          </p:cNvSpPr>
          <p:nvPr/>
        </p:nvSpPr>
        <p:spPr bwMode="auto">
          <a:xfrm>
            <a:off x="4025900" y="5740400"/>
            <a:ext cx="266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36876" name="Text Box 14"/>
          <p:cNvSpPr txBox="1">
            <a:spLocks noChangeArrowheads="1"/>
          </p:cNvSpPr>
          <p:nvPr/>
        </p:nvSpPr>
        <p:spPr bwMode="auto">
          <a:xfrm>
            <a:off x="3632200" y="4483100"/>
            <a:ext cx="698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33.34</a:t>
            </a:r>
          </a:p>
        </p:txBody>
      </p:sp>
      <p:sp>
        <p:nvSpPr>
          <p:cNvPr id="36877" name="Text Box 15"/>
          <p:cNvSpPr txBox="1">
            <a:spLocks noChangeArrowheads="1"/>
          </p:cNvSpPr>
          <p:nvPr/>
        </p:nvSpPr>
        <p:spPr bwMode="auto">
          <a:xfrm>
            <a:off x="3898900" y="3873500"/>
            <a:ext cx="393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50</a:t>
            </a:r>
          </a:p>
        </p:txBody>
      </p:sp>
      <p:sp>
        <p:nvSpPr>
          <p:cNvPr id="36878" name="Text Box 16"/>
          <p:cNvSpPr txBox="1">
            <a:spLocks noChangeArrowheads="1"/>
          </p:cNvSpPr>
          <p:nvPr/>
        </p:nvSpPr>
        <p:spPr bwMode="auto">
          <a:xfrm>
            <a:off x="3784600" y="2197100"/>
            <a:ext cx="584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100</a:t>
            </a:r>
          </a:p>
        </p:txBody>
      </p:sp>
      <p:sp>
        <p:nvSpPr>
          <p:cNvPr id="36879" name="Text Box 17"/>
          <p:cNvSpPr txBox="1">
            <a:spLocks noChangeArrowheads="1"/>
          </p:cNvSpPr>
          <p:nvPr/>
        </p:nvSpPr>
        <p:spPr bwMode="auto">
          <a:xfrm>
            <a:off x="5372100" y="6286500"/>
            <a:ext cx="1117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Quantity</a:t>
            </a:r>
          </a:p>
        </p:txBody>
      </p:sp>
      <p:sp>
        <p:nvSpPr>
          <p:cNvPr id="36880" name="Text Box 18"/>
          <p:cNvSpPr txBox="1">
            <a:spLocks noChangeArrowheads="1"/>
          </p:cNvSpPr>
          <p:nvPr/>
        </p:nvSpPr>
        <p:spPr bwMode="auto">
          <a:xfrm>
            <a:off x="5791200" y="5803900"/>
            <a:ext cx="419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50</a:t>
            </a:r>
          </a:p>
        </p:txBody>
      </p:sp>
      <p:sp>
        <p:nvSpPr>
          <p:cNvPr id="36881" name="Text Box 19"/>
          <p:cNvSpPr txBox="1">
            <a:spLocks noChangeArrowheads="1"/>
          </p:cNvSpPr>
          <p:nvPr/>
        </p:nvSpPr>
        <p:spPr bwMode="auto">
          <a:xfrm>
            <a:off x="6337300" y="5791200"/>
            <a:ext cx="673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66.66</a:t>
            </a:r>
          </a:p>
        </p:txBody>
      </p:sp>
      <p:sp>
        <p:nvSpPr>
          <p:cNvPr id="36882" name="Text Box 20"/>
          <p:cNvSpPr txBox="1">
            <a:spLocks noChangeArrowheads="1"/>
          </p:cNvSpPr>
          <p:nvPr/>
        </p:nvSpPr>
        <p:spPr bwMode="auto">
          <a:xfrm>
            <a:off x="7391400" y="5791200"/>
            <a:ext cx="622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100</a:t>
            </a:r>
          </a:p>
        </p:txBody>
      </p:sp>
      <p:sp>
        <p:nvSpPr>
          <p:cNvPr id="36883" name="Text Box 21"/>
          <p:cNvSpPr txBox="1">
            <a:spLocks noChangeArrowheads="1"/>
          </p:cNvSpPr>
          <p:nvPr/>
        </p:nvSpPr>
        <p:spPr bwMode="auto">
          <a:xfrm>
            <a:off x="6032500" y="3746500"/>
            <a:ext cx="914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Collusion</a:t>
            </a:r>
          </a:p>
        </p:txBody>
      </p:sp>
      <p:sp>
        <p:nvSpPr>
          <p:cNvPr id="36884" name="Text Box 22"/>
          <p:cNvSpPr txBox="1">
            <a:spLocks noChangeArrowheads="1"/>
          </p:cNvSpPr>
          <p:nvPr/>
        </p:nvSpPr>
        <p:spPr bwMode="auto">
          <a:xfrm>
            <a:off x="6578600" y="4368800"/>
            <a:ext cx="889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Cournot</a:t>
            </a:r>
          </a:p>
        </p:txBody>
      </p:sp>
      <p:sp>
        <p:nvSpPr>
          <p:cNvPr id="36885" name="Text Box 23"/>
          <p:cNvSpPr txBox="1">
            <a:spLocks noChangeArrowheads="1"/>
          </p:cNvSpPr>
          <p:nvPr/>
        </p:nvSpPr>
        <p:spPr bwMode="auto">
          <a:xfrm>
            <a:off x="7607300" y="5384800"/>
            <a:ext cx="1193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Competition</a:t>
            </a:r>
          </a:p>
        </p:txBody>
      </p:sp>
      <p:sp>
        <p:nvSpPr>
          <p:cNvPr id="36886" name="Text Box 24"/>
          <p:cNvSpPr txBox="1">
            <a:spLocks noChangeArrowheads="1"/>
          </p:cNvSpPr>
          <p:nvPr/>
        </p:nvSpPr>
        <p:spPr bwMode="auto">
          <a:xfrm>
            <a:off x="8077200" y="56261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/>
              <a:t>Q</a:t>
            </a:r>
          </a:p>
        </p:txBody>
      </p:sp>
      <p:sp>
        <p:nvSpPr>
          <p:cNvPr id="36887" name="Text Box 25"/>
          <p:cNvSpPr txBox="1">
            <a:spLocks noChangeArrowheads="1"/>
          </p:cNvSpPr>
          <p:nvPr/>
        </p:nvSpPr>
        <p:spPr bwMode="auto">
          <a:xfrm rot="-5400000">
            <a:off x="2387600" y="3962400"/>
            <a:ext cx="148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Price (in dollars)</a:t>
            </a:r>
          </a:p>
        </p:txBody>
      </p:sp>
      <p:sp>
        <p:nvSpPr>
          <p:cNvPr id="36888" name="Text Box 26"/>
          <p:cNvSpPr txBox="1">
            <a:spLocks noChangeArrowheads="1"/>
          </p:cNvSpPr>
          <p:nvPr/>
        </p:nvSpPr>
        <p:spPr bwMode="auto">
          <a:xfrm>
            <a:off x="6235700" y="6019800"/>
            <a:ext cx="647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MR</a:t>
            </a:r>
          </a:p>
        </p:txBody>
      </p:sp>
      <p:sp>
        <p:nvSpPr>
          <p:cNvPr id="36889" name="Text Box 28"/>
          <p:cNvSpPr txBox="1">
            <a:spLocks noChangeArrowheads="1"/>
          </p:cNvSpPr>
          <p:nvPr/>
        </p:nvSpPr>
        <p:spPr bwMode="auto">
          <a:xfrm>
            <a:off x="4165600" y="1739900"/>
            <a:ext cx="279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36890" name="Rectangle 29"/>
          <p:cNvSpPr>
            <a:spLocks noChangeArrowheads="1"/>
          </p:cNvSpPr>
          <p:nvPr/>
        </p:nvSpPr>
        <p:spPr bwMode="auto">
          <a:xfrm>
            <a:off x="11321286" y="593090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D5676AD7-DB97-46D9-B4C8-4976A851C32F}" type="slidenum">
              <a:rPr lang="en-US" sz="1000" smtClean="0"/>
              <a:pPr/>
              <a:t>16</a:t>
            </a:fld>
            <a:endParaRPr lang="en-US" sz="1000" dirty="0"/>
          </a:p>
        </p:txBody>
      </p:sp>
      <p:sp>
        <p:nvSpPr>
          <p:cNvPr id="29" name="Tekstboks 28"/>
          <p:cNvSpPr txBox="1"/>
          <p:nvPr/>
        </p:nvSpPr>
        <p:spPr>
          <a:xfrm>
            <a:off x="9398794" y="4420970"/>
            <a:ext cx="1269206" cy="646331"/>
          </a:xfrm>
          <a:prstGeom prst="rect">
            <a:avLst/>
          </a:prstGeom>
          <a:solidFill>
            <a:srgbClr val="0042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Bemærk akserne!</a:t>
            </a:r>
          </a:p>
        </p:txBody>
      </p:sp>
    </p:spTree>
    <p:extLst>
      <p:ext uri="{BB962C8B-B14F-4D97-AF65-F5344CB8AC3E}">
        <p14:creationId xmlns:p14="http://schemas.microsoft.com/office/powerpoint/2010/main" val="178541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2044700" y="515938"/>
            <a:ext cx="8229600" cy="889000"/>
          </a:xfrm>
        </p:spPr>
        <p:txBody>
          <a:bodyPr/>
          <a:lstStyle/>
          <a:p>
            <a:pPr eaLnBrk="1" hangingPunct="1"/>
            <a:r>
              <a:rPr lang="en-US"/>
              <a:t>The Classic Prisoners’ Dilemma</a:t>
            </a:r>
          </a:p>
        </p:txBody>
      </p:sp>
      <p:grpSp>
        <p:nvGrpSpPr>
          <p:cNvPr id="37890" name="Group 31"/>
          <p:cNvGrpSpPr>
            <a:grpSpLocks/>
          </p:cNvGrpSpPr>
          <p:nvPr/>
        </p:nvGrpSpPr>
        <p:grpSpPr bwMode="auto">
          <a:xfrm>
            <a:off x="3042920" y="1600200"/>
            <a:ext cx="5765800" cy="4660900"/>
            <a:chOff x="1056" y="1008"/>
            <a:chExt cx="3632" cy="2936"/>
          </a:xfrm>
        </p:grpSpPr>
        <p:sp>
          <p:nvSpPr>
            <p:cNvPr id="37892" name="Rectangle 4"/>
            <p:cNvSpPr>
              <a:spLocks noChangeArrowheads="1"/>
            </p:cNvSpPr>
            <p:nvPr/>
          </p:nvSpPr>
          <p:spPr bwMode="auto">
            <a:xfrm>
              <a:off x="1064" y="1008"/>
              <a:ext cx="1808" cy="14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37893" name="Rectangle 5"/>
            <p:cNvSpPr>
              <a:spLocks noChangeArrowheads="1"/>
            </p:cNvSpPr>
            <p:nvPr/>
          </p:nvSpPr>
          <p:spPr bwMode="auto">
            <a:xfrm>
              <a:off x="2872" y="1008"/>
              <a:ext cx="1800" cy="14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a-DK"/>
            </a:p>
          </p:txBody>
        </p:sp>
        <p:grpSp>
          <p:nvGrpSpPr>
            <p:cNvPr id="37894" name="Group 30"/>
            <p:cNvGrpSpPr>
              <a:grpSpLocks/>
            </p:cNvGrpSpPr>
            <p:nvPr/>
          </p:nvGrpSpPr>
          <p:grpSpPr bwMode="auto">
            <a:xfrm>
              <a:off x="1056" y="1012"/>
              <a:ext cx="3632" cy="2932"/>
              <a:chOff x="1056" y="1012"/>
              <a:chExt cx="3632" cy="2932"/>
            </a:xfrm>
          </p:grpSpPr>
          <p:sp>
            <p:nvSpPr>
              <p:cNvPr id="37895" name="Rectangle 16"/>
              <p:cNvSpPr>
                <a:spLocks noChangeArrowheads="1"/>
              </p:cNvSpPr>
              <p:nvPr/>
            </p:nvSpPr>
            <p:spPr bwMode="auto">
              <a:xfrm>
                <a:off x="2880" y="2468"/>
                <a:ext cx="1808" cy="1472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a-DK"/>
              </a:p>
            </p:txBody>
          </p:sp>
          <p:sp>
            <p:nvSpPr>
              <p:cNvPr id="37896" name="Rectangle 6"/>
              <p:cNvSpPr>
                <a:spLocks noChangeArrowheads="1"/>
              </p:cNvSpPr>
              <p:nvPr/>
            </p:nvSpPr>
            <p:spPr bwMode="auto">
              <a:xfrm>
                <a:off x="2872" y="2480"/>
                <a:ext cx="1808" cy="146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a-DK"/>
              </a:p>
            </p:txBody>
          </p:sp>
          <p:sp>
            <p:nvSpPr>
              <p:cNvPr id="37897" name="Rectangle 7"/>
              <p:cNvSpPr>
                <a:spLocks noChangeArrowheads="1"/>
              </p:cNvSpPr>
              <p:nvPr/>
            </p:nvSpPr>
            <p:spPr bwMode="auto">
              <a:xfrm>
                <a:off x="1064" y="2480"/>
                <a:ext cx="1808" cy="146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a-DK"/>
              </a:p>
            </p:txBody>
          </p:sp>
          <p:sp>
            <p:nvSpPr>
              <p:cNvPr id="37898" name="Line 8"/>
              <p:cNvSpPr>
                <a:spLocks noChangeShapeType="1"/>
              </p:cNvSpPr>
              <p:nvPr/>
            </p:nvSpPr>
            <p:spPr bwMode="auto">
              <a:xfrm flipV="1">
                <a:off x="1056" y="1040"/>
                <a:ext cx="1808" cy="14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899" name="Line 9"/>
              <p:cNvSpPr>
                <a:spLocks noChangeShapeType="1"/>
              </p:cNvSpPr>
              <p:nvPr/>
            </p:nvSpPr>
            <p:spPr bwMode="auto">
              <a:xfrm flipV="1">
                <a:off x="2872" y="1040"/>
                <a:ext cx="1808" cy="14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900" name="Line 10"/>
              <p:cNvSpPr>
                <a:spLocks noChangeShapeType="1"/>
              </p:cNvSpPr>
              <p:nvPr/>
            </p:nvSpPr>
            <p:spPr bwMode="auto">
              <a:xfrm flipV="1">
                <a:off x="1072" y="2488"/>
                <a:ext cx="1808" cy="14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901" name="Line 11"/>
              <p:cNvSpPr>
                <a:spLocks noChangeShapeType="1"/>
              </p:cNvSpPr>
              <p:nvPr/>
            </p:nvSpPr>
            <p:spPr bwMode="auto">
              <a:xfrm flipV="1">
                <a:off x="2864" y="2504"/>
                <a:ext cx="1808" cy="14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902" name="Text Box 13"/>
              <p:cNvSpPr txBox="1">
                <a:spLocks noChangeArrowheads="1"/>
              </p:cNvSpPr>
              <p:nvPr/>
            </p:nvSpPr>
            <p:spPr bwMode="auto">
              <a:xfrm>
                <a:off x="1344" y="1256"/>
                <a:ext cx="7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FF6600"/>
                    </a:solidFill>
                  </a:rPr>
                  <a:t>2 months</a:t>
                </a:r>
              </a:p>
            </p:txBody>
          </p:sp>
          <p:sp>
            <p:nvSpPr>
              <p:cNvPr id="37903" name="Text Box 14"/>
              <p:cNvSpPr txBox="1">
                <a:spLocks noChangeArrowheads="1"/>
              </p:cNvSpPr>
              <p:nvPr/>
            </p:nvSpPr>
            <p:spPr bwMode="auto">
              <a:xfrm>
                <a:off x="1928" y="1976"/>
                <a:ext cx="7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2 months</a:t>
                </a:r>
              </a:p>
            </p:txBody>
          </p:sp>
          <p:sp>
            <p:nvSpPr>
              <p:cNvPr id="37904" name="Text Box 15"/>
              <p:cNvSpPr txBox="1">
                <a:spLocks noChangeArrowheads="1"/>
              </p:cNvSpPr>
              <p:nvPr/>
            </p:nvSpPr>
            <p:spPr bwMode="auto">
              <a:xfrm rot="-5400000">
                <a:off x="612" y="1524"/>
                <a:ext cx="11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 dirty="0" err="1">
                    <a:solidFill>
                      <a:srgbClr val="FF6600"/>
                    </a:solidFill>
                  </a:rPr>
                  <a:t>Avi</a:t>
                </a:r>
                <a:r>
                  <a:rPr lang="en-US" sz="1400" dirty="0">
                    <a:solidFill>
                      <a:srgbClr val="FF6600"/>
                    </a:solidFill>
                  </a:rPr>
                  <a:t>—No confession</a:t>
                </a:r>
              </a:p>
            </p:txBody>
          </p:sp>
          <p:sp>
            <p:nvSpPr>
              <p:cNvPr id="37905" name="Text Box 17"/>
              <p:cNvSpPr txBox="1">
                <a:spLocks noChangeArrowheads="1"/>
              </p:cNvSpPr>
              <p:nvPr/>
            </p:nvSpPr>
            <p:spPr bwMode="auto">
              <a:xfrm rot="-5400000">
                <a:off x="2404" y="1484"/>
                <a:ext cx="11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 dirty="0" err="1">
                    <a:solidFill>
                      <a:srgbClr val="FF6600"/>
                    </a:solidFill>
                  </a:rPr>
                  <a:t>Avi</a:t>
                </a:r>
                <a:r>
                  <a:rPr lang="en-US" sz="1400" dirty="0">
                    <a:solidFill>
                      <a:srgbClr val="FF6600"/>
                    </a:solidFill>
                  </a:rPr>
                  <a:t>—No confession</a:t>
                </a:r>
              </a:p>
            </p:txBody>
          </p:sp>
          <p:sp>
            <p:nvSpPr>
              <p:cNvPr id="37906" name="Text Box 18"/>
              <p:cNvSpPr txBox="1">
                <a:spLocks noChangeArrowheads="1"/>
              </p:cNvSpPr>
              <p:nvPr/>
            </p:nvSpPr>
            <p:spPr bwMode="auto">
              <a:xfrm rot="-5400000">
                <a:off x="664" y="2904"/>
                <a:ext cx="101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 dirty="0" err="1">
                    <a:solidFill>
                      <a:srgbClr val="FF6600"/>
                    </a:solidFill>
                  </a:rPr>
                  <a:t>Avi</a:t>
                </a:r>
                <a:r>
                  <a:rPr lang="en-US" sz="1400" dirty="0">
                    <a:solidFill>
                      <a:srgbClr val="FF6600"/>
                    </a:solidFill>
                  </a:rPr>
                  <a:t>—Confession</a:t>
                </a:r>
              </a:p>
            </p:txBody>
          </p:sp>
          <p:sp>
            <p:nvSpPr>
              <p:cNvPr id="37907" name="Text Box 19"/>
              <p:cNvSpPr txBox="1">
                <a:spLocks noChangeArrowheads="1"/>
              </p:cNvSpPr>
              <p:nvPr/>
            </p:nvSpPr>
            <p:spPr bwMode="auto">
              <a:xfrm rot="-5400000">
                <a:off x="2464" y="2896"/>
                <a:ext cx="101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 dirty="0" err="1">
                    <a:solidFill>
                      <a:srgbClr val="FF6600"/>
                    </a:solidFill>
                  </a:rPr>
                  <a:t>Avi</a:t>
                </a:r>
                <a:r>
                  <a:rPr lang="en-US" sz="1400" dirty="0">
                    <a:solidFill>
                      <a:srgbClr val="FF6600"/>
                    </a:solidFill>
                  </a:rPr>
                  <a:t>—Confession</a:t>
                </a:r>
              </a:p>
            </p:txBody>
          </p:sp>
          <p:sp>
            <p:nvSpPr>
              <p:cNvPr id="37908" name="Text Box 20"/>
              <p:cNvSpPr txBox="1">
                <a:spLocks noChangeArrowheads="1"/>
              </p:cNvSpPr>
              <p:nvPr/>
            </p:nvSpPr>
            <p:spPr bwMode="auto">
              <a:xfrm>
                <a:off x="3200" y="1264"/>
                <a:ext cx="85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FF6600"/>
                    </a:solidFill>
                  </a:rPr>
                  <a:t>18 months</a:t>
                </a:r>
              </a:p>
            </p:txBody>
          </p:sp>
          <p:sp>
            <p:nvSpPr>
              <p:cNvPr id="37909" name="Text Box 21"/>
              <p:cNvSpPr txBox="1">
                <a:spLocks noChangeArrowheads="1"/>
              </p:cNvSpPr>
              <p:nvPr/>
            </p:nvSpPr>
            <p:spPr bwMode="auto">
              <a:xfrm>
                <a:off x="1840" y="3424"/>
                <a:ext cx="85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/>
                  <a:t>18 months</a:t>
                </a:r>
              </a:p>
            </p:txBody>
          </p:sp>
          <p:sp>
            <p:nvSpPr>
              <p:cNvPr id="37910" name="Text Box 22"/>
              <p:cNvSpPr txBox="1">
                <a:spLocks noChangeArrowheads="1"/>
              </p:cNvSpPr>
              <p:nvPr/>
            </p:nvSpPr>
            <p:spPr bwMode="auto">
              <a:xfrm>
                <a:off x="3664" y="1968"/>
                <a:ext cx="808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/>
                  <a:t>0 months</a:t>
                </a:r>
              </a:p>
            </p:txBody>
          </p:sp>
          <p:sp>
            <p:nvSpPr>
              <p:cNvPr id="37911" name="Text Box 23"/>
              <p:cNvSpPr txBox="1">
                <a:spLocks noChangeArrowheads="1"/>
              </p:cNvSpPr>
              <p:nvPr/>
            </p:nvSpPr>
            <p:spPr bwMode="auto">
              <a:xfrm>
                <a:off x="1392" y="2672"/>
                <a:ext cx="808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FF6600"/>
                    </a:solidFill>
                  </a:rPr>
                  <a:t>0 months</a:t>
                </a:r>
              </a:p>
            </p:txBody>
          </p:sp>
          <p:sp>
            <p:nvSpPr>
              <p:cNvPr id="37912" name="Text Box 24"/>
              <p:cNvSpPr txBox="1">
                <a:spLocks noChangeArrowheads="1"/>
              </p:cNvSpPr>
              <p:nvPr/>
            </p:nvSpPr>
            <p:spPr bwMode="auto">
              <a:xfrm>
                <a:off x="3144" y="2720"/>
                <a:ext cx="888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rgbClr val="FF6600"/>
                    </a:solidFill>
                  </a:rPr>
                  <a:t>12 months</a:t>
                </a:r>
              </a:p>
            </p:txBody>
          </p:sp>
          <p:sp>
            <p:nvSpPr>
              <p:cNvPr id="37913" name="Text Box 25"/>
              <p:cNvSpPr txBox="1">
                <a:spLocks noChangeArrowheads="1"/>
              </p:cNvSpPr>
              <p:nvPr/>
            </p:nvSpPr>
            <p:spPr bwMode="auto">
              <a:xfrm>
                <a:off x="3688" y="3408"/>
                <a:ext cx="888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12 months</a:t>
                </a:r>
              </a:p>
            </p:txBody>
          </p:sp>
          <p:sp>
            <p:nvSpPr>
              <p:cNvPr id="37914" name="Text Box 26"/>
              <p:cNvSpPr txBox="1">
                <a:spLocks noChangeArrowheads="1"/>
              </p:cNvSpPr>
              <p:nvPr/>
            </p:nvSpPr>
            <p:spPr bwMode="auto">
              <a:xfrm>
                <a:off x="1704" y="2272"/>
                <a:ext cx="116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/>
                  <a:t>Bea—No confession</a:t>
                </a:r>
              </a:p>
            </p:txBody>
          </p:sp>
          <p:sp>
            <p:nvSpPr>
              <p:cNvPr id="37915" name="Text Box 27"/>
              <p:cNvSpPr txBox="1">
                <a:spLocks noChangeArrowheads="1"/>
              </p:cNvSpPr>
              <p:nvPr/>
            </p:nvSpPr>
            <p:spPr bwMode="auto">
              <a:xfrm>
                <a:off x="1696" y="3736"/>
                <a:ext cx="116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/>
                  <a:t>Bea—No confession</a:t>
                </a:r>
              </a:p>
            </p:txBody>
          </p:sp>
          <p:sp>
            <p:nvSpPr>
              <p:cNvPr id="37916" name="Text Box 28"/>
              <p:cNvSpPr txBox="1">
                <a:spLocks noChangeArrowheads="1"/>
              </p:cNvSpPr>
              <p:nvPr/>
            </p:nvSpPr>
            <p:spPr bwMode="auto">
              <a:xfrm>
                <a:off x="3616" y="2256"/>
                <a:ext cx="1048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/>
                  <a:t>Bea—Confession</a:t>
                </a:r>
              </a:p>
            </p:txBody>
          </p:sp>
          <p:sp>
            <p:nvSpPr>
              <p:cNvPr id="37917" name="Text Box 29"/>
              <p:cNvSpPr txBox="1">
                <a:spLocks noChangeArrowheads="1"/>
              </p:cNvSpPr>
              <p:nvPr/>
            </p:nvSpPr>
            <p:spPr bwMode="auto">
              <a:xfrm>
                <a:off x="3640" y="3728"/>
                <a:ext cx="1048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/>
                  <a:t>Bea—Confession</a:t>
                </a:r>
              </a:p>
            </p:txBody>
          </p:sp>
        </p:grpSp>
      </p:grpSp>
      <p:sp>
        <p:nvSpPr>
          <p:cNvPr id="37891" name="Rectangle 32"/>
          <p:cNvSpPr>
            <a:spLocks noChangeArrowheads="1"/>
          </p:cNvSpPr>
          <p:nvPr/>
        </p:nvSpPr>
        <p:spPr bwMode="auto">
          <a:xfrm>
            <a:off x="10997914" y="593090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6D440D89-B84A-4FB3-950F-8BBA50F00FED}" type="slidenum">
              <a:rPr lang="en-US" sz="1000" smtClean="0"/>
              <a:pPr/>
              <a:t>17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5803900" y="1230868"/>
            <a:ext cx="59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Bea</a:t>
            </a: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2382520" y="3766820"/>
            <a:ext cx="660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>
                <a:solidFill>
                  <a:srgbClr val="FF6600"/>
                </a:solidFill>
              </a:rPr>
              <a:t>Avi</a:t>
            </a:r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49FFA9D6-02B5-D2C1-A4C8-0DDD50940B31}"/>
              </a:ext>
            </a:extLst>
          </p:cNvPr>
          <p:cNvSpPr txBox="1"/>
          <p:nvPr/>
        </p:nvSpPr>
        <p:spPr>
          <a:xfrm>
            <a:off x="9832062" y="2286000"/>
            <a:ext cx="20551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4200"/>
                </a:solidFill>
              </a:rPr>
              <a:t>Tallene indicerer her </a:t>
            </a:r>
            <a:r>
              <a:rPr lang="da-DK" dirty="0" err="1">
                <a:solidFill>
                  <a:srgbClr val="004200"/>
                </a:solidFill>
              </a:rPr>
              <a:t>costs</a:t>
            </a:r>
            <a:r>
              <a:rPr lang="da-DK" dirty="0">
                <a:solidFill>
                  <a:srgbClr val="004200"/>
                </a:solidFill>
              </a:rPr>
              <a:t>/’bads’</a:t>
            </a:r>
          </a:p>
        </p:txBody>
      </p:sp>
    </p:spTree>
    <p:extLst>
      <p:ext uri="{BB962C8B-B14F-4D97-AF65-F5344CB8AC3E}">
        <p14:creationId xmlns:p14="http://schemas.microsoft.com/office/powerpoint/2010/main" val="3326203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582" y="477838"/>
            <a:ext cx="8648218" cy="1143000"/>
          </a:xfrm>
        </p:spPr>
        <p:txBody>
          <a:bodyPr/>
          <a:lstStyle/>
          <a:p>
            <a:pPr eaLnBrk="1" hangingPunct="1"/>
            <a:r>
              <a:rPr lang="en-US" dirty="0"/>
              <a:t>Cartels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20838"/>
            <a:ext cx="5820770" cy="4826261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sz="4000" dirty="0"/>
              <a:t>Occur when firms agree to set price and output levels (and are acting as a monopoly)</a:t>
            </a:r>
          </a:p>
          <a:p>
            <a:pPr eaLnBrk="1" hangingPunct="1"/>
            <a:r>
              <a:rPr lang="en-US" sz="4000" dirty="0"/>
              <a:t>Generally illegal in the U.S. and the EU</a:t>
            </a:r>
          </a:p>
          <a:p>
            <a:pPr eaLnBrk="1" hangingPunct="1"/>
            <a:r>
              <a:rPr lang="en-US" sz="4000" dirty="0"/>
              <a:t>Self interest results in failure of the cartel</a:t>
            </a:r>
          </a:p>
          <a:p>
            <a:pPr eaLnBrk="1" hangingPunct="1"/>
            <a:r>
              <a:rPr lang="en-US" sz="4000" dirty="0"/>
              <a:t>Repeated interaction increase the incentives to cooperate</a:t>
            </a:r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11215426" y="5867400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19A15830-8DA1-4D73-B017-074049F642E4}" type="slidenum">
              <a:rPr lang="en-US" sz="1000" smtClean="0"/>
              <a:pPr/>
              <a:t>18</a:t>
            </a:fld>
            <a:endParaRPr lang="en-US" sz="1000" dirty="0"/>
          </a:p>
        </p:txBody>
      </p:sp>
      <p:pic>
        <p:nvPicPr>
          <p:cNvPr id="6146" name="Picture 2" descr="Shadow business">
            <a:extLst>
              <a:ext uri="{FF2B5EF4-FFF2-40B4-BE49-F238E27FC236}">
                <a16:creationId xmlns:a16="http://schemas.microsoft.com/office/drawing/2014/main" id="{EB7833B1-B89C-EFE2-955A-C2B96FAA6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925" y="2251880"/>
            <a:ext cx="3899849" cy="259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1A841D-5E2F-5C15-EEBF-544E6F1D2EA9}"/>
              </a:ext>
            </a:extLst>
          </p:cNvPr>
          <p:cNvSpPr txBox="1"/>
          <p:nvPr/>
        </p:nvSpPr>
        <p:spPr>
          <a:xfrm>
            <a:off x="7650925" y="4851779"/>
            <a:ext cx="232146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www.aeaweb.org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/research/uncovering-number-of-cartels-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finland</a:t>
            </a:r>
            <a:endParaRPr lang="en-US" sz="5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32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1492250" y="438150"/>
            <a:ext cx="7772400" cy="1066800"/>
          </a:xfrm>
        </p:spPr>
        <p:txBody>
          <a:bodyPr/>
          <a:lstStyle/>
          <a:p>
            <a:pPr eaLnBrk="1" hangingPunct="1"/>
            <a:r>
              <a:rPr lang="en-US"/>
              <a:t>The </a:t>
            </a:r>
            <a:r>
              <a:rPr lang="en-US" dirty="0"/>
              <a:t>Cartel’s Dilemma</a:t>
            </a:r>
          </a:p>
        </p:txBody>
      </p:sp>
      <p:sp>
        <p:nvSpPr>
          <p:cNvPr id="39938" name="Rectangle 5"/>
          <p:cNvSpPr>
            <a:spLocks noChangeArrowheads="1"/>
          </p:cNvSpPr>
          <p:nvPr/>
        </p:nvSpPr>
        <p:spPr bwMode="auto">
          <a:xfrm>
            <a:off x="3213100" y="1600200"/>
            <a:ext cx="2870200" cy="2324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39" name="Rectangle 6"/>
          <p:cNvSpPr>
            <a:spLocks noChangeArrowheads="1"/>
          </p:cNvSpPr>
          <p:nvPr/>
        </p:nvSpPr>
        <p:spPr bwMode="auto">
          <a:xfrm>
            <a:off x="6083300" y="1600200"/>
            <a:ext cx="2857500" cy="233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40" name="Rectangle 7"/>
          <p:cNvSpPr>
            <a:spLocks noChangeArrowheads="1"/>
          </p:cNvSpPr>
          <p:nvPr/>
        </p:nvSpPr>
        <p:spPr bwMode="auto">
          <a:xfrm>
            <a:off x="6083300" y="3937000"/>
            <a:ext cx="2870200" cy="2324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41" name="Rectangle 8"/>
          <p:cNvSpPr>
            <a:spLocks noChangeArrowheads="1"/>
          </p:cNvSpPr>
          <p:nvPr/>
        </p:nvSpPr>
        <p:spPr bwMode="auto">
          <a:xfrm>
            <a:off x="3213100" y="3937000"/>
            <a:ext cx="2870200" cy="2324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42" name="Line 9"/>
          <p:cNvSpPr>
            <a:spLocks noChangeShapeType="1"/>
          </p:cNvSpPr>
          <p:nvPr/>
        </p:nvSpPr>
        <p:spPr bwMode="auto">
          <a:xfrm flipV="1">
            <a:off x="3200400" y="16510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3" name="Line 10"/>
          <p:cNvSpPr>
            <a:spLocks noChangeShapeType="1"/>
          </p:cNvSpPr>
          <p:nvPr/>
        </p:nvSpPr>
        <p:spPr bwMode="auto">
          <a:xfrm flipV="1">
            <a:off x="6083300" y="16510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4" name="Line 11"/>
          <p:cNvSpPr>
            <a:spLocks noChangeShapeType="1"/>
          </p:cNvSpPr>
          <p:nvPr/>
        </p:nvSpPr>
        <p:spPr bwMode="auto">
          <a:xfrm flipV="1">
            <a:off x="3225800" y="39497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5" name="Line 12"/>
          <p:cNvSpPr>
            <a:spLocks noChangeShapeType="1"/>
          </p:cNvSpPr>
          <p:nvPr/>
        </p:nvSpPr>
        <p:spPr bwMode="auto">
          <a:xfrm flipV="1">
            <a:off x="6108700" y="40132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46" name="Rectangle 14"/>
          <p:cNvSpPr>
            <a:spLocks noChangeArrowheads="1"/>
          </p:cNvSpPr>
          <p:nvPr/>
        </p:nvSpPr>
        <p:spPr bwMode="auto">
          <a:xfrm>
            <a:off x="6083300" y="3937000"/>
            <a:ext cx="2870200" cy="23368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47" name="Rectangle 15"/>
          <p:cNvSpPr>
            <a:spLocks noChangeArrowheads="1"/>
          </p:cNvSpPr>
          <p:nvPr/>
        </p:nvSpPr>
        <p:spPr bwMode="auto">
          <a:xfrm>
            <a:off x="6083300" y="3937000"/>
            <a:ext cx="2870200" cy="2324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48" name="Rectangle 16"/>
          <p:cNvSpPr>
            <a:spLocks noChangeArrowheads="1"/>
          </p:cNvSpPr>
          <p:nvPr/>
        </p:nvSpPr>
        <p:spPr bwMode="auto">
          <a:xfrm>
            <a:off x="3213100" y="3937000"/>
            <a:ext cx="2870200" cy="2324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39949" name="Line 17"/>
          <p:cNvSpPr>
            <a:spLocks noChangeShapeType="1"/>
          </p:cNvSpPr>
          <p:nvPr/>
        </p:nvSpPr>
        <p:spPr bwMode="auto">
          <a:xfrm flipV="1">
            <a:off x="3200400" y="16510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50" name="Line 18"/>
          <p:cNvSpPr>
            <a:spLocks noChangeShapeType="1"/>
          </p:cNvSpPr>
          <p:nvPr/>
        </p:nvSpPr>
        <p:spPr bwMode="auto">
          <a:xfrm flipV="1">
            <a:off x="6083300" y="16510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51" name="Line 19"/>
          <p:cNvSpPr>
            <a:spLocks noChangeShapeType="1"/>
          </p:cNvSpPr>
          <p:nvPr/>
        </p:nvSpPr>
        <p:spPr bwMode="auto">
          <a:xfrm flipV="1">
            <a:off x="3225800" y="39497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52" name="Line 20"/>
          <p:cNvSpPr>
            <a:spLocks noChangeShapeType="1"/>
          </p:cNvSpPr>
          <p:nvPr/>
        </p:nvSpPr>
        <p:spPr bwMode="auto">
          <a:xfrm flipV="1">
            <a:off x="6070600" y="3975100"/>
            <a:ext cx="287020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39953" name="Text Box 21"/>
          <p:cNvSpPr txBox="1">
            <a:spLocks noChangeArrowheads="1"/>
          </p:cNvSpPr>
          <p:nvPr/>
        </p:nvSpPr>
        <p:spPr bwMode="auto">
          <a:xfrm>
            <a:off x="3962400" y="1993901"/>
            <a:ext cx="1168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6600"/>
                </a:solidFill>
              </a:rPr>
              <a:t>$500</a:t>
            </a:r>
          </a:p>
        </p:txBody>
      </p:sp>
      <p:sp>
        <p:nvSpPr>
          <p:cNvPr id="39954" name="Text Box 22"/>
          <p:cNvSpPr txBox="1">
            <a:spLocks noChangeArrowheads="1"/>
          </p:cNvSpPr>
          <p:nvPr/>
        </p:nvSpPr>
        <p:spPr bwMode="auto">
          <a:xfrm>
            <a:off x="5003800" y="3136901"/>
            <a:ext cx="749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$500</a:t>
            </a:r>
          </a:p>
        </p:txBody>
      </p:sp>
      <p:sp>
        <p:nvSpPr>
          <p:cNvPr id="39955" name="Text Box 23"/>
          <p:cNvSpPr txBox="1">
            <a:spLocks noChangeArrowheads="1"/>
          </p:cNvSpPr>
          <p:nvPr/>
        </p:nvSpPr>
        <p:spPr bwMode="auto">
          <a:xfrm rot="-5400000">
            <a:off x="2495550" y="2419350"/>
            <a:ext cx="180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>
                <a:solidFill>
                  <a:srgbClr val="FF6600"/>
                </a:solidFill>
              </a:rPr>
              <a:t>AVInc</a:t>
            </a:r>
            <a:r>
              <a:rPr lang="en-US" sz="1400" dirty="0">
                <a:solidFill>
                  <a:srgbClr val="FF6600"/>
                </a:solidFill>
              </a:rPr>
              <a:t>—Low output</a:t>
            </a:r>
          </a:p>
        </p:txBody>
      </p:sp>
      <p:sp>
        <p:nvSpPr>
          <p:cNvPr id="39956" name="Text Box 24"/>
          <p:cNvSpPr txBox="1">
            <a:spLocks noChangeArrowheads="1"/>
          </p:cNvSpPr>
          <p:nvPr/>
        </p:nvSpPr>
        <p:spPr bwMode="auto">
          <a:xfrm rot="-5400000">
            <a:off x="5340350" y="2355850"/>
            <a:ext cx="180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>
                <a:solidFill>
                  <a:srgbClr val="FF6600"/>
                </a:solidFill>
              </a:rPr>
              <a:t>AVInc</a:t>
            </a:r>
            <a:r>
              <a:rPr lang="en-US" sz="1400" dirty="0">
                <a:solidFill>
                  <a:srgbClr val="FF6600"/>
                </a:solidFill>
              </a:rPr>
              <a:t>—Low output</a:t>
            </a:r>
          </a:p>
        </p:txBody>
      </p:sp>
      <p:sp>
        <p:nvSpPr>
          <p:cNvPr id="39957" name="Text Box 25"/>
          <p:cNvSpPr txBox="1">
            <a:spLocks noChangeArrowheads="1"/>
          </p:cNvSpPr>
          <p:nvPr/>
        </p:nvSpPr>
        <p:spPr bwMode="auto">
          <a:xfrm rot="-5400000">
            <a:off x="2498725" y="4683125"/>
            <a:ext cx="1765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>
                <a:solidFill>
                  <a:srgbClr val="FF6600"/>
                </a:solidFill>
              </a:rPr>
              <a:t>AVInc</a:t>
            </a:r>
            <a:r>
              <a:rPr lang="en-US" sz="1400" dirty="0">
                <a:solidFill>
                  <a:srgbClr val="FF6600"/>
                </a:solidFill>
              </a:rPr>
              <a:t>—High output</a:t>
            </a:r>
          </a:p>
        </p:txBody>
      </p:sp>
      <p:sp>
        <p:nvSpPr>
          <p:cNvPr id="39958" name="Text Box 26"/>
          <p:cNvSpPr txBox="1">
            <a:spLocks noChangeArrowheads="1"/>
          </p:cNvSpPr>
          <p:nvPr/>
        </p:nvSpPr>
        <p:spPr bwMode="auto">
          <a:xfrm rot="-5400000">
            <a:off x="5346700" y="4683125"/>
            <a:ext cx="1790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err="1">
                <a:solidFill>
                  <a:srgbClr val="FF6600"/>
                </a:solidFill>
              </a:rPr>
              <a:t>AVInc</a:t>
            </a:r>
            <a:r>
              <a:rPr lang="en-US" sz="1400" dirty="0">
                <a:solidFill>
                  <a:srgbClr val="FF6600"/>
                </a:solidFill>
              </a:rPr>
              <a:t>—High output</a:t>
            </a:r>
          </a:p>
        </p:txBody>
      </p:sp>
      <p:sp>
        <p:nvSpPr>
          <p:cNvPr id="39959" name="Text Box 27"/>
          <p:cNvSpPr txBox="1">
            <a:spLocks noChangeArrowheads="1"/>
          </p:cNvSpPr>
          <p:nvPr/>
        </p:nvSpPr>
        <p:spPr bwMode="auto">
          <a:xfrm>
            <a:off x="6908800" y="2006601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6600"/>
                </a:solidFill>
              </a:rPr>
              <a:t>$150</a:t>
            </a:r>
          </a:p>
        </p:txBody>
      </p:sp>
      <p:sp>
        <p:nvSpPr>
          <p:cNvPr id="39960" name="Text Box 28"/>
          <p:cNvSpPr txBox="1">
            <a:spLocks noChangeArrowheads="1"/>
          </p:cNvSpPr>
          <p:nvPr/>
        </p:nvSpPr>
        <p:spPr bwMode="auto">
          <a:xfrm>
            <a:off x="4953000" y="5473701"/>
            <a:ext cx="812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$150</a:t>
            </a:r>
          </a:p>
        </p:txBody>
      </p:sp>
      <p:sp>
        <p:nvSpPr>
          <p:cNvPr id="39961" name="Text Box 29"/>
          <p:cNvSpPr txBox="1">
            <a:spLocks noChangeArrowheads="1"/>
          </p:cNvSpPr>
          <p:nvPr/>
        </p:nvSpPr>
        <p:spPr bwMode="auto">
          <a:xfrm>
            <a:off x="7950200" y="3111500"/>
            <a:ext cx="825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$600</a:t>
            </a:r>
          </a:p>
        </p:txBody>
      </p:sp>
      <p:sp>
        <p:nvSpPr>
          <p:cNvPr id="39962" name="Text Box 30"/>
          <p:cNvSpPr txBox="1">
            <a:spLocks noChangeArrowheads="1"/>
          </p:cNvSpPr>
          <p:nvPr/>
        </p:nvSpPr>
        <p:spPr bwMode="auto">
          <a:xfrm>
            <a:off x="4013200" y="4241800"/>
            <a:ext cx="7620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6600"/>
                </a:solidFill>
              </a:rPr>
              <a:t>$600</a:t>
            </a:r>
          </a:p>
        </p:txBody>
      </p:sp>
      <p:sp>
        <p:nvSpPr>
          <p:cNvPr id="39963" name="Text Box 31"/>
          <p:cNvSpPr txBox="1">
            <a:spLocks noChangeArrowheads="1"/>
          </p:cNvSpPr>
          <p:nvPr/>
        </p:nvSpPr>
        <p:spPr bwMode="auto">
          <a:xfrm>
            <a:off x="6769100" y="4267200"/>
            <a:ext cx="8763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6600"/>
                </a:solidFill>
              </a:rPr>
              <a:t>$200</a:t>
            </a:r>
          </a:p>
        </p:txBody>
      </p:sp>
      <p:sp>
        <p:nvSpPr>
          <p:cNvPr id="39964" name="Text Box 32"/>
          <p:cNvSpPr txBox="1">
            <a:spLocks noChangeArrowheads="1"/>
          </p:cNvSpPr>
          <p:nvPr/>
        </p:nvSpPr>
        <p:spPr bwMode="auto">
          <a:xfrm>
            <a:off x="7785100" y="5410200"/>
            <a:ext cx="9779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$200</a:t>
            </a:r>
          </a:p>
        </p:txBody>
      </p:sp>
      <p:sp>
        <p:nvSpPr>
          <p:cNvPr id="39965" name="Text Box 33"/>
          <p:cNvSpPr txBox="1">
            <a:spLocks noChangeArrowheads="1"/>
          </p:cNvSpPr>
          <p:nvPr/>
        </p:nvSpPr>
        <p:spPr bwMode="auto">
          <a:xfrm>
            <a:off x="4229100" y="3606800"/>
            <a:ext cx="1841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BeaCo—Low output</a:t>
            </a:r>
          </a:p>
        </p:txBody>
      </p:sp>
      <p:sp>
        <p:nvSpPr>
          <p:cNvPr id="39966" name="Text Box 34"/>
          <p:cNvSpPr txBox="1">
            <a:spLocks noChangeArrowheads="1"/>
          </p:cNvSpPr>
          <p:nvPr/>
        </p:nvSpPr>
        <p:spPr bwMode="auto">
          <a:xfrm>
            <a:off x="4216400" y="5930900"/>
            <a:ext cx="1841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BeaCo—Low output</a:t>
            </a:r>
          </a:p>
        </p:txBody>
      </p:sp>
      <p:sp>
        <p:nvSpPr>
          <p:cNvPr id="39967" name="Text Box 35"/>
          <p:cNvSpPr txBox="1">
            <a:spLocks noChangeArrowheads="1"/>
          </p:cNvSpPr>
          <p:nvPr/>
        </p:nvSpPr>
        <p:spPr bwMode="auto">
          <a:xfrm>
            <a:off x="6997700" y="3581400"/>
            <a:ext cx="193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BeaCo—High output</a:t>
            </a:r>
          </a:p>
        </p:txBody>
      </p:sp>
      <p:sp>
        <p:nvSpPr>
          <p:cNvPr id="39968" name="Text Box 36"/>
          <p:cNvSpPr txBox="1">
            <a:spLocks noChangeArrowheads="1"/>
          </p:cNvSpPr>
          <p:nvPr/>
        </p:nvSpPr>
        <p:spPr bwMode="auto">
          <a:xfrm>
            <a:off x="7086600" y="5918200"/>
            <a:ext cx="187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BeaCo—High output</a:t>
            </a:r>
          </a:p>
        </p:txBody>
      </p:sp>
      <p:sp>
        <p:nvSpPr>
          <p:cNvPr id="39969" name="Rectangle 37"/>
          <p:cNvSpPr>
            <a:spLocks noChangeArrowheads="1"/>
          </p:cNvSpPr>
          <p:nvPr/>
        </p:nvSpPr>
        <p:spPr bwMode="auto">
          <a:xfrm>
            <a:off x="11233007" y="6064813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C8908D6C-0098-4096-A3B5-6F4F0C850B16}" type="slidenum">
              <a:rPr lang="en-US" sz="1000" smtClean="0"/>
              <a:pPr/>
              <a:t>19</a:t>
            </a:fld>
            <a:endParaRPr lang="en-US" sz="1000" dirty="0"/>
          </a:p>
        </p:txBody>
      </p:sp>
      <p:sp>
        <p:nvSpPr>
          <p:cNvPr id="35" name="Text Box 24"/>
          <p:cNvSpPr txBox="1">
            <a:spLocks noChangeArrowheads="1"/>
          </p:cNvSpPr>
          <p:nvPr/>
        </p:nvSpPr>
        <p:spPr bwMode="auto">
          <a:xfrm>
            <a:off x="5727700" y="1295400"/>
            <a:ext cx="660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Bea</a:t>
            </a:r>
          </a:p>
        </p:txBody>
      </p:sp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2367280" y="3860800"/>
            <a:ext cx="660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6600"/>
                </a:solidFill>
              </a:rPr>
              <a:t>AVI</a:t>
            </a:r>
          </a:p>
        </p:txBody>
      </p:sp>
      <p:sp>
        <p:nvSpPr>
          <p:cNvPr id="2" name="Tekstboks 1"/>
          <p:cNvSpPr txBox="1"/>
          <p:nvPr/>
        </p:nvSpPr>
        <p:spPr>
          <a:xfrm>
            <a:off x="9245600" y="3726934"/>
            <a:ext cx="2946400" cy="369332"/>
          </a:xfrm>
          <a:prstGeom prst="rect">
            <a:avLst/>
          </a:prstGeom>
          <a:solidFill>
            <a:srgbClr val="004200"/>
          </a:solidFill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chemeClr val="bg1"/>
                </a:solidFill>
              </a:rPr>
              <a:t>Ramme p. 213n. &amp; 214ø.</a:t>
            </a:r>
          </a:p>
        </p:txBody>
      </p:sp>
      <p:sp>
        <p:nvSpPr>
          <p:cNvPr id="4" name="Ellipse 3"/>
          <p:cNvSpPr/>
          <p:nvPr/>
        </p:nvSpPr>
        <p:spPr>
          <a:xfrm>
            <a:off x="3825132" y="1771650"/>
            <a:ext cx="1879600" cy="1968500"/>
          </a:xfrm>
          <a:prstGeom prst="ellipse">
            <a:avLst/>
          </a:prstGeom>
          <a:solidFill>
            <a:schemeClr val="bg1">
              <a:lumMod val="85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D5F7133E-243C-5793-F00E-AFFF759D4376}"/>
              </a:ext>
            </a:extLst>
          </p:cNvPr>
          <p:cNvSpPr txBox="1"/>
          <p:nvPr/>
        </p:nvSpPr>
        <p:spPr>
          <a:xfrm>
            <a:off x="9691231" y="1969611"/>
            <a:ext cx="20551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4200"/>
                </a:solidFill>
              </a:rPr>
              <a:t>Tallene indicerer her </a:t>
            </a:r>
            <a:r>
              <a:rPr lang="da-DK" dirty="0" err="1">
                <a:solidFill>
                  <a:srgbClr val="004200"/>
                </a:solidFill>
              </a:rPr>
              <a:t>payoff</a:t>
            </a:r>
            <a:r>
              <a:rPr lang="da-DK" dirty="0">
                <a:solidFill>
                  <a:srgbClr val="004200"/>
                </a:solidFill>
              </a:rPr>
              <a:t>/</a:t>
            </a:r>
            <a:r>
              <a:rPr lang="da-DK" dirty="0" err="1">
                <a:solidFill>
                  <a:srgbClr val="004200"/>
                </a:solidFill>
              </a:rPr>
              <a:t>benefits</a:t>
            </a:r>
            <a:endParaRPr lang="da-DK" dirty="0">
              <a:solidFill>
                <a:srgbClr val="0042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42953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Beskæring</Template>
  <TotalTime>330</TotalTime>
  <Words>907</Words>
  <Application>Microsoft Macintosh PowerPoint</Application>
  <PresentationFormat>Widescreen</PresentationFormat>
  <Paragraphs>249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Franklin Gothic Book</vt:lpstr>
      <vt:lpstr>Monotype Sorts</vt:lpstr>
      <vt:lpstr>Wingdings</vt:lpstr>
      <vt:lpstr>Crop</vt:lpstr>
      <vt:lpstr>PowerPoint Presentation</vt:lpstr>
      <vt:lpstr>Market Structure</vt:lpstr>
      <vt:lpstr>Market Structure</vt:lpstr>
      <vt:lpstr>Perfect Competition Characteristics</vt:lpstr>
      <vt:lpstr>Firm Demand Curve Perfect Competition</vt:lpstr>
      <vt:lpstr>Firm Supply</vt:lpstr>
      <vt:lpstr>The Firm’s Short-Run Supply Curve</vt:lpstr>
      <vt:lpstr>Competitive Equilibrium</vt:lpstr>
      <vt:lpstr>Monopoly</vt:lpstr>
      <vt:lpstr>Monopolist Faces Market Demand</vt:lpstr>
      <vt:lpstr>Oligopoly</vt:lpstr>
      <vt:lpstr>The Nash Equilibrium</vt:lpstr>
      <vt:lpstr>Determining the Nash Equilibrium</vt:lpstr>
      <vt:lpstr>The Cournot Model</vt:lpstr>
      <vt:lpstr>Cournot Equilibrium</vt:lpstr>
      <vt:lpstr>Comparison of Prices and Output and Profits Among Different Equilibria – The Industry</vt:lpstr>
      <vt:lpstr>The Classic Prisoners’ Dilemma</vt:lpstr>
      <vt:lpstr>Cartels</vt:lpstr>
      <vt:lpstr>The Cartel’s Dilemma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Tamas Vamosi</dc:creator>
  <cp:lastModifiedBy>Kai Inga Liehr Storm</cp:lastModifiedBy>
  <cp:revision>15</cp:revision>
  <dcterms:created xsi:type="dcterms:W3CDTF">2020-02-07T08:09:33Z</dcterms:created>
  <dcterms:modified xsi:type="dcterms:W3CDTF">2026-01-27T13:21:37Z</dcterms:modified>
</cp:coreProperties>
</file>