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 id="2147483828" r:id="rId2"/>
  </p:sldMasterIdLst>
  <p:notesMasterIdLst>
    <p:notesMasterId r:id="rId25"/>
  </p:notesMasterIdLst>
  <p:sldIdLst>
    <p:sldId id="257" r:id="rId3"/>
    <p:sldId id="258" r:id="rId4"/>
    <p:sldId id="259" r:id="rId5"/>
    <p:sldId id="260" r:id="rId6"/>
    <p:sldId id="261" r:id="rId7"/>
    <p:sldId id="262" r:id="rId8"/>
    <p:sldId id="263" r:id="rId9"/>
    <p:sldId id="280" r:id="rId10"/>
    <p:sldId id="265" r:id="rId11"/>
    <p:sldId id="266" r:id="rId12"/>
    <p:sldId id="267" r:id="rId13"/>
    <p:sldId id="268" r:id="rId14"/>
    <p:sldId id="269" r:id="rId15"/>
    <p:sldId id="270" r:id="rId16"/>
    <p:sldId id="271" r:id="rId17"/>
    <p:sldId id="272" r:id="rId18"/>
    <p:sldId id="273" r:id="rId19"/>
    <p:sldId id="274" r:id="rId20"/>
    <p:sldId id="279"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6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A242A6-3400-431C-BDAE-45CC3FE77C22}" v="1" dt="2025-03-17T13:20:41.2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5" autoAdjust="0"/>
    <p:restoredTop sz="94660"/>
  </p:normalViewPr>
  <p:slideViewPr>
    <p:cSldViewPr snapToGrid="0">
      <p:cViewPr varScale="1">
        <p:scale>
          <a:sx n="94" d="100"/>
          <a:sy n="94" d="100"/>
        </p:scale>
        <p:origin x="232" y="84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as Vamosi" userId="d29b3f17-2c73-4e3f-a1f7-7beee2a70eaf" providerId="ADAL" clId="{E4A242A6-3400-431C-BDAE-45CC3FE77C22}"/>
    <pc:docChg chg="undo redo custSel modSld">
      <pc:chgData name="Tamas Vamosi" userId="d29b3f17-2c73-4e3f-a1f7-7beee2a70eaf" providerId="ADAL" clId="{E4A242A6-3400-431C-BDAE-45CC3FE77C22}" dt="2025-03-17T13:20:41.216" v="13" actId="115"/>
      <pc:docMkLst>
        <pc:docMk/>
      </pc:docMkLst>
      <pc:sldChg chg="modSp mod">
        <pc:chgData name="Tamas Vamosi" userId="d29b3f17-2c73-4e3f-a1f7-7beee2a70eaf" providerId="ADAL" clId="{E4A242A6-3400-431C-BDAE-45CC3FE77C22}" dt="2025-03-17T13:10:44.597" v="1" actId="20577"/>
        <pc:sldMkLst>
          <pc:docMk/>
          <pc:sldMk cId="64725836" sldId="267"/>
        </pc:sldMkLst>
        <pc:spChg chg="mod">
          <ac:chgData name="Tamas Vamosi" userId="d29b3f17-2c73-4e3f-a1f7-7beee2a70eaf" providerId="ADAL" clId="{E4A242A6-3400-431C-BDAE-45CC3FE77C22}" dt="2025-03-17T13:10:44.597" v="1" actId="20577"/>
          <ac:spMkLst>
            <pc:docMk/>
            <pc:sldMk cId="64725836" sldId="267"/>
            <ac:spMk id="35842" creationId="{00000000-0000-0000-0000-000000000000}"/>
          </ac:spMkLst>
        </pc:spChg>
      </pc:sldChg>
      <pc:sldChg chg="modSp mod">
        <pc:chgData name="Tamas Vamosi" userId="d29b3f17-2c73-4e3f-a1f7-7beee2a70eaf" providerId="ADAL" clId="{E4A242A6-3400-431C-BDAE-45CC3FE77C22}" dt="2025-03-17T13:19:32.024" v="10" actId="20577"/>
        <pc:sldMkLst>
          <pc:docMk/>
          <pc:sldMk cId="1804568620" sldId="269"/>
        </pc:sldMkLst>
        <pc:spChg chg="mod">
          <ac:chgData name="Tamas Vamosi" userId="d29b3f17-2c73-4e3f-a1f7-7beee2a70eaf" providerId="ADAL" clId="{E4A242A6-3400-431C-BDAE-45CC3FE77C22}" dt="2025-03-17T13:19:05.141" v="8" actId="20577"/>
          <ac:spMkLst>
            <pc:docMk/>
            <pc:sldMk cId="1804568620" sldId="269"/>
            <ac:spMk id="7" creationId="{00000000-0000-0000-0000-000000000000}"/>
          </ac:spMkLst>
        </pc:spChg>
        <pc:spChg chg="mod">
          <ac:chgData name="Tamas Vamosi" userId="d29b3f17-2c73-4e3f-a1f7-7beee2a70eaf" providerId="ADAL" clId="{E4A242A6-3400-431C-BDAE-45CC3FE77C22}" dt="2025-03-17T13:19:32.024" v="10" actId="20577"/>
          <ac:spMkLst>
            <pc:docMk/>
            <pc:sldMk cId="1804568620" sldId="269"/>
            <ac:spMk id="10243" creationId="{00000000-0000-0000-0000-000000000000}"/>
          </ac:spMkLst>
        </pc:spChg>
      </pc:sldChg>
      <pc:sldChg chg="modSp mod">
        <pc:chgData name="Tamas Vamosi" userId="d29b3f17-2c73-4e3f-a1f7-7beee2a70eaf" providerId="ADAL" clId="{E4A242A6-3400-431C-BDAE-45CC3FE77C22}" dt="2025-03-17T13:20:07.413" v="12" actId="20577"/>
        <pc:sldMkLst>
          <pc:docMk/>
          <pc:sldMk cId="1834008414" sldId="270"/>
        </pc:sldMkLst>
        <pc:spChg chg="mod">
          <ac:chgData name="Tamas Vamosi" userId="d29b3f17-2c73-4e3f-a1f7-7beee2a70eaf" providerId="ADAL" clId="{E4A242A6-3400-431C-BDAE-45CC3FE77C22}" dt="2025-03-17T13:20:07.413" v="12" actId="20577"/>
          <ac:spMkLst>
            <pc:docMk/>
            <pc:sldMk cId="1834008414" sldId="270"/>
            <ac:spMk id="2052" creationId="{00000000-0000-0000-0000-000000000000}"/>
          </ac:spMkLst>
        </pc:spChg>
      </pc:sldChg>
      <pc:sldChg chg="modSp">
        <pc:chgData name="Tamas Vamosi" userId="d29b3f17-2c73-4e3f-a1f7-7beee2a70eaf" providerId="ADAL" clId="{E4A242A6-3400-431C-BDAE-45CC3FE77C22}" dt="2025-03-17T13:20:41.216" v="13" actId="115"/>
        <pc:sldMkLst>
          <pc:docMk/>
          <pc:sldMk cId="2181289147" sldId="279"/>
        </pc:sldMkLst>
        <pc:spChg chg="mod">
          <ac:chgData name="Tamas Vamosi" userId="d29b3f17-2c73-4e3f-a1f7-7beee2a70eaf" providerId="ADAL" clId="{E4A242A6-3400-431C-BDAE-45CC3FE77C22}" dt="2025-03-17T13:20:41.216" v="13" actId="115"/>
          <ac:spMkLst>
            <pc:docMk/>
            <pc:sldMk cId="2181289147" sldId="279"/>
            <ac:spMk id="14339" creationId="{00000000-0000-0000-0000-000000000000}"/>
          </ac:spMkLst>
        </pc:spChg>
      </pc:sldChg>
      <pc:sldChg chg="modSp mod">
        <pc:chgData name="Tamas Vamosi" userId="d29b3f17-2c73-4e3f-a1f7-7beee2a70eaf" providerId="ADAL" clId="{E4A242A6-3400-431C-BDAE-45CC3FE77C22}" dt="2025-03-17T13:17:37.552" v="3" actId="207"/>
        <pc:sldMkLst>
          <pc:docMk/>
          <pc:sldMk cId="3176373497" sldId="280"/>
        </pc:sldMkLst>
        <pc:spChg chg="mod">
          <ac:chgData name="Tamas Vamosi" userId="d29b3f17-2c73-4e3f-a1f7-7beee2a70eaf" providerId="ADAL" clId="{E4A242A6-3400-431C-BDAE-45CC3FE77C22}" dt="2025-03-17T13:17:37.552" v="3" actId="207"/>
          <ac:spMkLst>
            <pc:docMk/>
            <pc:sldMk cId="3176373497" sldId="280"/>
            <ac:spMk id="5" creationId="{36EA58A3-3DCD-C255-0B81-E2B3CBABB9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AD40AC-4A3D-43B8-AE45-BAD9A01B5328}" type="datetimeFigureOut">
              <a:rPr lang="da-DK" smtClean="0"/>
              <a:t>29.01.2026</a:t>
            </a:fld>
            <a:endParaRPr lang="da-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a-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9EAD58-937F-4BA9-A034-292551775C7F}" type="slidenum">
              <a:rPr lang="da-DK" smtClean="0"/>
              <a:t>‹#›</a:t>
            </a:fld>
            <a:endParaRPr lang="da-DK"/>
          </a:p>
        </p:txBody>
      </p:sp>
    </p:spTree>
    <p:extLst>
      <p:ext uri="{BB962C8B-B14F-4D97-AF65-F5344CB8AC3E}">
        <p14:creationId xmlns:p14="http://schemas.microsoft.com/office/powerpoint/2010/main" val="1488448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diasbillede 1"/>
          <p:cNvSpPr>
            <a:spLocks noGrp="1" noRot="1" noChangeAspect="1"/>
          </p:cNvSpPr>
          <p:nvPr>
            <p:ph type="sldImg"/>
          </p:nvPr>
        </p:nvSpPr>
        <p:spPr/>
      </p:sp>
      <p:sp>
        <p:nvSpPr>
          <p:cNvPr id="3" name="Pladsholder til noter 2"/>
          <p:cNvSpPr>
            <a:spLocks noGrp="1"/>
          </p:cNvSpPr>
          <p:nvPr>
            <p:ph type="body" idx="1"/>
          </p:nvPr>
        </p:nvSpPr>
        <p:spPr/>
        <p:txBody>
          <a:bodyPr>
            <a:normAutofit/>
          </a:bodyPr>
          <a:lstStyle/>
          <a:p>
            <a:endParaRPr lang="da-DK" dirty="0"/>
          </a:p>
        </p:txBody>
      </p:sp>
      <p:sp>
        <p:nvSpPr>
          <p:cNvPr id="4" name="Pladsholder til diasnummer 3"/>
          <p:cNvSpPr>
            <a:spLocks noGrp="1"/>
          </p:cNvSpPr>
          <p:nvPr>
            <p:ph type="sldNum" sz="quarter" idx="10"/>
          </p:nvPr>
        </p:nvSpPr>
        <p:spPr/>
        <p:txBody>
          <a:bodyPr/>
          <a:lstStyle/>
          <a:p>
            <a:pPr>
              <a:defRPr/>
            </a:pPr>
            <a:fld id="{9BE2C241-9F4E-4F7C-92BA-3C57FDB97549}" type="slidenum">
              <a:rPr lang="en-US" smtClean="0"/>
              <a:pPr>
                <a:defRPr/>
              </a:pPr>
              <a:t>2</a:t>
            </a:fld>
            <a:endParaRPr lang="en-US"/>
          </a:p>
        </p:txBody>
      </p:sp>
    </p:spTree>
    <p:extLst>
      <p:ext uri="{BB962C8B-B14F-4D97-AF65-F5344CB8AC3E}">
        <p14:creationId xmlns:p14="http://schemas.microsoft.com/office/powerpoint/2010/main" val="4114680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02D9AC12-AF1B-4B5D-A399-E3839C93D710}" type="datetimeFigureOut">
              <a:rPr lang="da-DK" smtClean="0"/>
              <a:t>29.01.2026</a:t>
            </a:fld>
            <a:endParaRPr lang="da-DK"/>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da-DK"/>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902BF1D1-8B2B-40A9-BA6A-248752E2813F}" type="slidenum">
              <a:rPr lang="da-DK" smtClean="0"/>
              <a:t>‹#›</a:t>
            </a:fld>
            <a:endParaRPr lang="da-DK"/>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US"/>
            </a:p>
          </p:txBody>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US"/>
            </a:p>
          </p:txBody>
        </p:sp>
      </p:grpSp>
    </p:spTree>
    <p:extLst>
      <p:ext uri="{BB962C8B-B14F-4D97-AF65-F5344CB8AC3E}">
        <p14:creationId xmlns:p14="http://schemas.microsoft.com/office/powerpoint/2010/main" val="2410246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D9AC12-AF1B-4B5D-A399-E3839C93D710}" type="datetimeFigureOut">
              <a:rPr lang="da-DK" smtClean="0"/>
              <a:t>29.01.2026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21408411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02D9AC12-AF1B-4B5D-A399-E3839C93D710}" type="datetimeFigureOut">
              <a:rPr lang="da-DK" smtClean="0"/>
              <a:t>29.01.2026</a:t>
            </a:fld>
            <a:endParaRPr lang="da-DK"/>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da-DK"/>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902BF1D1-8B2B-40A9-BA6A-248752E2813F}" type="slidenum">
              <a:rPr lang="da-DK" smtClean="0"/>
              <a:t>‹#›</a:t>
            </a:fld>
            <a:endParaRPr lang="da-DK"/>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175731269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D9AC12-AF1B-4B5D-A399-E3839C93D710}" type="datetimeFigureOut">
              <a:rPr lang="da-DK" smtClean="0"/>
              <a:t>29.01.2026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1334391481"/>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D9AC12-AF1B-4B5D-A399-E3839C93D710}" type="datetimeFigureOut">
              <a:rPr lang="da-DK" smtClean="0"/>
              <a:t>29.01.2026</a:t>
            </a:fld>
            <a:endParaRPr lang="da-DK"/>
          </a:p>
        </p:txBody>
      </p:sp>
      <p:sp>
        <p:nvSpPr>
          <p:cNvPr id="8" name="Footer Placeholder 7"/>
          <p:cNvSpPr>
            <a:spLocks noGrp="1"/>
          </p:cNvSpPr>
          <p:nvPr>
            <p:ph type="ftr" sz="quarter" idx="11"/>
          </p:nvPr>
        </p:nvSpPr>
        <p:spPr/>
        <p:txBody>
          <a:bodyPr/>
          <a:lstStyle/>
          <a:p>
            <a:endParaRPr lang="da-DK"/>
          </a:p>
        </p:txBody>
      </p:sp>
      <p:sp>
        <p:nvSpPr>
          <p:cNvPr id="9" name="Slide Number Placeholder 8"/>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32639647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D9AC12-AF1B-4B5D-A399-E3839C93D710}" type="datetimeFigureOut">
              <a:rPr lang="da-DK" smtClean="0"/>
              <a:t>29.01.2026</a:t>
            </a:fld>
            <a:endParaRPr lang="da-DK"/>
          </a:p>
        </p:txBody>
      </p:sp>
      <p:sp>
        <p:nvSpPr>
          <p:cNvPr id="4" name="Footer Placeholder 3"/>
          <p:cNvSpPr>
            <a:spLocks noGrp="1"/>
          </p:cNvSpPr>
          <p:nvPr>
            <p:ph type="ftr" sz="quarter" idx="11"/>
          </p:nvPr>
        </p:nvSpPr>
        <p:spPr/>
        <p:txBody>
          <a:bodyPr/>
          <a:lstStyle/>
          <a:p>
            <a:endParaRPr lang="da-DK"/>
          </a:p>
        </p:txBody>
      </p:sp>
      <p:sp>
        <p:nvSpPr>
          <p:cNvPr id="5" name="Slide Number Placeholder 4"/>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4069201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D9AC12-AF1B-4B5D-A399-E3839C93D710}" type="datetimeFigureOut">
              <a:rPr lang="da-DK" smtClean="0"/>
              <a:t>29.01.2026</a:t>
            </a:fld>
            <a:endParaRPr lang="da-DK"/>
          </a:p>
        </p:txBody>
      </p:sp>
      <p:sp>
        <p:nvSpPr>
          <p:cNvPr id="3" name="Footer Placeholder 2"/>
          <p:cNvSpPr>
            <a:spLocks noGrp="1"/>
          </p:cNvSpPr>
          <p:nvPr>
            <p:ph type="ftr" sz="quarter" idx="11"/>
          </p:nvPr>
        </p:nvSpPr>
        <p:spPr/>
        <p:txBody>
          <a:bodyPr/>
          <a:lstStyle/>
          <a:p>
            <a:endParaRPr lang="da-DK"/>
          </a:p>
        </p:txBody>
      </p:sp>
      <p:sp>
        <p:nvSpPr>
          <p:cNvPr id="4" name="Slide Number Placeholder 3"/>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2172697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2D9AC12-AF1B-4B5D-A399-E3839C93D710}" type="datetimeFigureOut">
              <a:rPr lang="da-DK" smtClean="0"/>
              <a:t>29.01.2026</a:t>
            </a:fld>
            <a:endParaRPr lang="da-DK"/>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da-DK"/>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02BF1D1-8B2B-40A9-BA6A-248752E2813F}" type="slidenum">
              <a:rPr lang="da-DK" smtClean="0"/>
              <a:t>‹#›</a:t>
            </a:fld>
            <a:endParaRPr lang="da-DK"/>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1063280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2D9AC12-AF1B-4B5D-A399-E3839C93D710}" type="datetimeFigureOut">
              <a:rPr lang="da-DK" smtClean="0"/>
              <a:t>29.01.2026</a:t>
            </a:fld>
            <a:endParaRPr lang="da-DK"/>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da-DK"/>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02BF1D1-8B2B-40A9-BA6A-248752E2813F}" type="slidenum">
              <a:rPr lang="da-DK" smtClean="0"/>
              <a:t>‹#›</a:t>
            </a:fld>
            <a:endParaRPr lang="da-DK"/>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481880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D9AC12-AF1B-4B5D-A399-E3839C93D710}" type="datetimeFigureOut">
              <a:rPr lang="da-DK" smtClean="0"/>
              <a:t>29.01.2026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4120544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D9AC12-AF1B-4B5D-A399-E3839C93D710}" type="datetimeFigureOut">
              <a:rPr lang="da-DK" smtClean="0"/>
              <a:t>29.01.2026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4768548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02D9AC12-AF1B-4B5D-A399-E3839C93D710}" type="datetimeFigureOut">
              <a:rPr lang="da-DK" smtClean="0"/>
              <a:t>29.01.2026</a:t>
            </a:fld>
            <a:endParaRPr lang="da-DK"/>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da-DK"/>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902BF1D1-8B2B-40A9-BA6A-248752E2813F}" type="slidenum">
              <a:rPr lang="da-DK" smtClean="0"/>
              <a:t>‹#›</a:t>
            </a:fld>
            <a:endParaRPr lang="da-DK"/>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084379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D9AC12-AF1B-4B5D-A399-E3839C93D710}" type="datetimeFigureOut">
              <a:rPr lang="da-DK" smtClean="0"/>
              <a:t>29.01.2026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1509798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02D9AC12-AF1B-4B5D-A399-E3839C93D710}" type="datetimeFigureOut">
              <a:rPr lang="da-DK" smtClean="0"/>
              <a:t>29.01.2026</a:t>
            </a:fld>
            <a:endParaRPr lang="da-DK"/>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da-DK"/>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902BF1D1-8B2B-40A9-BA6A-248752E2813F}" type="slidenum">
              <a:rPr lang="da-DK" smtClean="0"/>
              <a:t>‹#›</a:t>
            </a:fld>
            <a:endParaRPr lang="da-DK"/>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3609324340"/>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2D9AC12-AF1B-4B5D-A399-E3839C93D710}" type="datetimeFigureOut">
              <a:rPr lang="da-DK" smtClean="0"/>
              <a:t>29.01.2026</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2650470559"/>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D9AC12-AF1B-4B5D-A399-E3839C93D710}" type="datetimeFigureOut">
              <a:rPr lang="da-DK" smtClean="0"/>
              <a:t>29.01.2026</a:t>
            </a:fld>
            <a:endParaRPr lang="da-DK"/>
          </a:p>
        </p:txBody>
      </p:sp>
      <p:sp>
        <p:nvSpPr>
          <p:cNvPr id="8" name="Footer Placeholder 7"/>
          <p:cNvSpPr>
            <a:spLocks noGrp="1"/>
          </p:cNvSpPr>
          <p:nvPr>
            <p:ph type="ftr" sz="quarter" idx="11"/>
          </p:nvPr>
        </p:nvSpPr>
        <p:spPr/>
        <p:txBody>
          <a:bodyPr/>
          <a:lstStyle/>
          <a:p>
            <a:endParaRPr lang="da-DK"/>
          </a:p>
        </p:txBody>
      </p:sp>
      <p:sp>
        <p:nvSpPr>
          <p:cNvPr id="9" name="Slide Number Placeholder 8"/>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521436092"/>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2D9AC12-AF1B-4B5D-A399-E3839C93D710}" type="datetimeFigureOut">
              <a:rPr lang="da-DK" smtClean="0"/>
              <a:t>29.01.2026</a:t>
            </a:fld>
            <a:endParaRPr lang="da-DK"/>
          </a:p>
        </p:txBody>
      </p:sp>
      <p:sp>
        <p:nvSpPr>
          <p:cNvPr id="4" name="Footer Placeholder 3"/>
          <p:cNvSpPr>
            <a:spLocks noGrp="1"/>
          </p:cNvSpPr>
          <p:nvPr>
            <p:ph type="ftr" sz="quarter" idx="11"/>
          </p:nvPr>
        </p:nvSpPr>
        <p:spPr/>
        <p:txBody>
          <a:bodyPr/>
          <a:lstStyle/>
          <a:p>
            <a:endParaRPr lang="da-DK"/>
          </a:p>
        </p:txBody>
      </p:sp>
      <p:sp>
        <p:nvSpPr>
          <p:cNvPr id="5" name="Slide Number Placeholder 4"/>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20025330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D9AC12-AF1B-4B5D-A399-E3839C93D710}" type="datetimeFigureOut">
              <a:rPr lang="da-DK" smtClean="0"/>
              <a:t>29.01.2026</a:t>
            </a:fld>
            <a:endParaRPr lang="da-DK"/>
          </a:p>
        </p:txBody>
      </p:sp>
      <p:sp>
        <p:nvSpPr>
          <p:cNvPr id="3" name="Footer Placeholder 2"/>
          <p:cNvSpPr>
            <a:spLocks noGrp="1"/>
          </p:cNvSpPr>
          <p:nvPr>
            <p:ph type="ftr" sz="quarter" idx="11"/>
          </p:nvPr>
        </p:nvSpPr>
        <p:spPr/>
        <p:txBody>
          <a:bodyPr/>
          <a:lstStyle/>
          <a:p>
            <a:endParaRPr lang="da-DK"/>
          </a:p>
        </p:txBody>
      </p:sp>
      <p:sp>
        <p:nvSpPr>
          <p:cNvPr id="4" name="Slide Number Placeholder 3"/>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39024130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2D9AC12-AF1B-4B5D-A399-E3839C93D710}" type="datetimeFigureOut">
              <a:rPr lang="da-DK" smtClean="0"/>
              <a:t>29.01.2026</a:t>
            </a:fld>
            <a:endParaRPr lang="da-DK"/>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da-DK"/>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02BF1D1-8B2B-40A9-BA6A-248752E2813F}" type="slidenum">
              <a:rPr lang="da-DK" smtClean="0"/>
              <a:t>‹#›</a:t>
            </a:fld>
            <a:endParaRPr lang="da-DK"/>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72337853"/>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02D9AC12-AF1B-4B5D-A399-E3839C93D710}" type="datetimeFigureOut">
              <a:rPr lang="da-DK" smtClean="0"/>
              <a:t>29.01.2026</a:t>
            </a:fld>
            <a:endParaRPr lang="da-DK"/>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da-DK"/>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902BF1D1-8B2B-40A9-BA6A-248752E2813F}" type="slidenum">
              <a:rPr lang="da-DK" smtClean="0"/>
              <a:t>‹#›</a:t>
            </a:fld>
            <a:endParaRPr lang="da-DK"/>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96579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D9AC12-AF1B-4B5D-A399-E3839C93D710}" type="datetimeFigureOut">
              <a:rPr lang="da-DK" smtClean="0"/>
              <a:t>29.01.2026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304603513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D9AC12-AF1B-4B5D-A399-E3839C93D710}" type="datetimeFigureOut">
              <a:rPr lang="da-DK" smtClean="0"/>
              <a:t>29.01.2026</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902BF1D1-8B2B-40A9-BA6A-248752E2813F}" type="slidenum">
              <a:rPr lang="da-DK" smtClean="0"/>
              <a:t>‹#›</a:t>
            </a:fld>
            <a:endParaRPr lang="da-DK"/>
          </a:p>
        </p:txBody>
      </p:sp>
    </p:spTree>
    <p:extLst>
      <p:ext uri="{BB962C8B-B14F-4D97-AF65-F5344CB8AC3E}">
        <p14:creationId xmlns:p14="http://schemas.microsoft.com/office/powerpoint/2010/main" val="1649829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02D9AC12-AF1B-4B5D-A399-E3839C93D710}" type="datetimeFigureOut">
              <a:rPr lang="da-DK" smtClean="0"/>
              <a:t>29.01.2026</a:t>
            </a:fld>
            <a:endParaRPr lang="da-DK"/>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da-DK"/>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902BF1D1-8B2B-40A9-BA6A-248752E2813F}" type="slidenum">
              <a:rPr lang="da-DK" smtClean="0"/>
              <a:t>‹#›</a:t>
            </a:fld>
            <a:endParaRPr lang="da-DK"/>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759238022"/>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02D9AC12-AF1B-4B5D-A399-E3839C93D710}" type="datetimeFigureOut">
              <a:rPr lang="da-DK" smtClean="0"/>
              <a:t>29.01.2026</a:t>
            </a:fld>
            <a:endParaRPr lang="da-DK"/>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da-DK"/>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902BF1D1-8B2B-40A9-BA6A-248752E2813F}" type="slidenum">
              <a:rPr lang="da-DK" smtClean="0"/>
              <a:t>‹#›</a:t>
            </a:fld>
            <a:endParaRPr lang="da-DK"/>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4653751"/>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3" name="Rectangle 7"/>
          <p:cNvSpPr>
            <a:spLocks noChangeArrowheads="1"/>
          </p:cNvSpPr>
          <p:nvPr/>
        </p:nvSpPr>
        <p:spPr bwMode="auto">
          <a:xfrm>
            <a:off x="2286000" y="1676400"/>
            <a:ext cx="7772400" cy="2819400"/>
          </a:xfrm>
          <a:prstGeom prst="rect">
            <a:avLst/>
          </a:prstGeom>
          <a:noFill/>
          <a:ln w="9525">
            <a:noFill/>
            <a:miter lim="800000"/>
            <a:headEnd/>
            <a:tailEnd/>
          </a:ln>
          <a:effectLst/>
        </p:spPr>
        <p:txBody>
          <a:bodyPr anchor="ctr"/>
          <a:lstStyle/>
          <a:p>
            <a:pPr algn="ctr" eaLnBrk="0" hangingPunct="0"/>
            <a:r>
              <a:rPr lang="en-US" sz="3200" i="1" dirty="0">
                <a:solidFill>
                  <a:schemeClr val="bg1"/>
                </a:solidFill>
              </a:rPr>
              <a:t>Managerial Economics and </a:t>
            </a:r>
          </a:p>
          <a:p>
            <a:pPr algn="ctr" eaLnBrk="0" hangingPunct="0"/>
            <a:r>
              <a:rPr lang="en-US" sz="3200" i="1" dirty="0">
                <a:solidFill>
                  <a:schemeClr val="bg1"/>
                </a:solidFill>
              </a:rPr>
              <a:t>Organizational Architecture</a:t>
            </a:r>
            <a:br>
              <a:rPr lang="en-US" sz="3200" dirty="0">
                <a:solidFill>
                  <a:schemeClr val="bg1"/>
                </a:solidFill>
              </a:rPr>
            </a:br>
            <a:br>
              <a:rPr lang="en-US" sz="4400" dirty="0">
                <a:solidFill>
                  <a:schemeClr val="bg1"/>
                </a:solidFill>
              </a:rPr>
            </a:br>
            <a:r>
              <a:rPr lang="en-US" sz="4800" dirty="0">
                <a:solidFill>
                  <a:schemeClr val="bg1"/>
                </a:solidFill>
              </a:rPr>
              <a:t>Chapter 15:  </a:t>
            </a:r>
          </a:p>
          <a:p>
            <a:pPr algn="ctr" eaLnBrk="0" hangingPunct="0"/>
            <a:r>
              <a:rPr lang="en-US" sz="4800" dirty="0">
                <a:solidFill>
                  <a:schemeClr val="bg1"/>
                </a:solidFill>
              </a:rPr>
              <a:t>Incentive Compensation</a:t>
            </a:r>
          </a:p>
        </p:txBody>
      </p:sp>
    </p:spTree>
    <p:extLst>
      <p:ext uri="{BB962C8B-B14F-4D97-AF65-F5344CB8AC3E}">
        <p14:creationId xmlns:p14="http://schemas.microsoft.com/office/powerpoint/2010/main" val="1039658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1371600" y="442912"/>
            <a:ext cx="8229600" cy="1143000"/>
          </a:xfrm>
        </p:spPr>
        <p:txBody>
          <a:bodyPr/>
          <a:lstStyle/>
          <a:p>
            <a:r>
              <a:rPr lang="en-US" dirty="0"/>
              <a:t>Incentives</a:t>
            </a:r>
          </a:p>
        </p:txBody>
      </p:sp>
      <p:sp>
        <p:nvSpPr>
          <p:cNvPr id="28675" name="Rectangle 3"/>
          <p:cNvSpPr>
            <a:spLocks noGrp="1" noChangeArrowheads="1"/>
          </p:cNvSpPr>
          <p:nvPr>
            <p:ph idx="1"/>
          </p:nvPr>
        </p:nvSpPr>
        <p:spPr>
          <a:xfrm>
            <a:off x="1371601" y="1427547"/>
            <a:ext cx="7248418" cy="4683126"/>
          </a:xfrm>
        </p:spPr>
        <p:txBody>
          <a:bodyPr>
            <a:normAutofit fontScale="92500" lnSpcReduction="10000"/>
          </a:bodyPr>
          <a:lstStyle/>
          <a:p>
            <a:endParaRPr lang="en-US" dirty="0"/>
          </a:p>
          <a:p>
            <a:pPr marL="0" indent="0">
              <a:buNone/>
            </a:pPr>
            <a:r>
              <a:rPr lang="en-US" sz="3600" dirty="0"/>
              <a:t>Owners and employees have different aims:</a:t>
            </a:r>
          </a:p>
          <a:p>
            <a:pPr marL="0" indent="0">
              <a:buNone/>
            </a:pPr>
            <a:endParaRPr lang="en-US" sz="3600" dirty="0"/>
          </a:p>
          <a:p>
            <a:pPr marL="514350" indent="-514350">
              <a:buFont typeface="+mj-lt"/>
              <a:buAutoNum type="arabicPeriod"/>
            </a:pPr>
            <a:r>
              <a:rPr lang="en-US" sz="3600" dirty="0"/>
              <a:t>Owners wish to </a:t>
            </a:r>
            <a:r>
              <a:rPr lang="en-US" sz="3600" u="sng" dirty="0"/>
              <a:t>maximize profits</a:t>
            </a:r>
            <a:r>
              <a:rPr lang="en-US" sz="3600" dirty="0"/>
              <a:t> and want employees to work diligently (</a:t>
            </a:r>
            <a:r>
              <a:rPr lang="en-US" sz="3600" dirty="0" err="1"/>
              <a:t>omhyggeligt</a:t>
            </a:r>
            <a:r>
              <a:rPr lang="en-US" sz="3600" dirty="0"/>
              <a:t>)</a:t>
            </a:r>
          </a:p>
          <a:p>
            <a:pPr marL="514350" indent="-514350">
              <a:buFont typeface="+mj-lt"/>
              <a:buAutoNum type="arabicPeriod"/>
            </a:pPr>
            <a:r>
              <a:rPr lang="en-US" sz="3600" dirty="0"/>
              <a:t>Employees wish to </a:t>
            </a:r>
            <a:r>
              <a:rPr lang="en-US" sz="3600" u="sng" dirty="0"/>
              <a:t>maximize utility</a:t>
            </a:r>
            <a:r>
              <a:rPr lang="en-US" sz="3600" dirty="0"/>
              <a:t> and take breaks from working!</a:t>
            </a:r>
          </a:p>
          <a:p>
            <a:endParaRPr lang="en-US" dirty="0"/>
          </a:p>
        </p:txBody>
      </p:sp>
      <p:sp>
        <p:nvSpPr>
          <p:cNvPr id="28676" name="Rectangle 4"/>
          <p:cNvSpPr>
            <a:spLocks noChangeArrowheads="1"/>
          </p:cNvSpPr>
          <p:nvPr/>
        </p:nvSpPr>
        <p:spPr bwMode="auto">
          <a:xfrm>
            <a:off x="9301162" y="6124576"/>
            <a:ext cx="2133600" cy="244475"/>
          </a:xfrm>
          <a:prstGeom prst="rect">
            <a:avLst/>
          </a:prstGeom>
          <a:noFill/>
          <a:ln w="9525">
            <a:noFill/>
            <a:miter lim="800000"/>
            <a:headEnd/>
            <a:tailEnd/>
          </a:ln>
          <a:effectLst/>
        </p:spPr>
        <p:txBody>
          <a:bodyPr/>
          <a:lstStyle/>
          <a:p>
            <a:pPr algn="r"/>
            <a:r>
              <a:rPr lang="en-US" sz="1200" dirty="0"/>
              <a:t>2</a:t>
            </a:r>
          </a:p>
        </p:txBody>
      </p:sp>
      <p:pic>
        <p:nvPicPr>
          <p:cNvPr id="1028" name="Picture 4" descr="Profit Maximization">
            <a:extLst>
              <a:ext uri="{FF2B5EF4-FFF2-40B4-BE49-F238E27FC236}">
                <a16:creationId xmlns:a16="http://schemas.microsoft.com/office/drawing/2014/main" id="{4DEDC498-B85C-11FF-2EFA-FD9196CFF1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1533" y="1940866"/>
            <a:ext cx="2887769" cy="182973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4AA9A72-CCAD-D28E-6490-FD066909B506}"/>
              </a:ext>
            </a:extLst>
          </p:cNvPr>
          <p:cNvSpPr txBox="1"/>
          <p:nvPr/>
        </p:nvSpPr>
        <p:spPr>
          <a:xfrm>
            <a:off x="8979613" y="3770605"/>
            <a:ext cx="2382383" cy="169277"/>
          </a:xfrm>
          <a:prstGeom prst="rect">
            <a:avLst/>
          </a:prstGeom>
          <a:noFill/>
        </p:spPr>
        <p:txBody>
          <a:bodyPr wrap="none" rtlCol="0">
            <a:spAutoFit/>
          </a:bodyPr>
          <a:lstStyle/>
          <a:p>
            <a:r>
              <a:rPr lang="en-US" sz="500" dirty="0">
                <a:solidFill>
                  <a:schemeClr val="bg2">
                    <a:lumMod val="75000"/>
                  </a:schemeClr>
                </a:solidFill>
              </a:rPr>
              <a:t>Kilde: https://</a:t>
            </a:r>
            <a:r>
              <a:rPr lang="en-US" sz="500" dirty="0" err="1">
                <a:solidFill>
                  <a:schemeClr val="bg2">
                    <a:lumMod val="75000"/>
                  </a:schemeClr>
                </a:solidFill>
              </a:rPr>
              <a:t>www.economicsonline.co.uk</a:t>
            </a:r>
            <a:r>
              <a:rPr lang="en-US" sz="500" dirty="0">
                <a:solidFill>
                  <a:schemeClr val="bg2">
                    <a:lumMod val="75000"/>
                  </a:schemeClr>
                </a:solidFill>
              </a:rPr>
              <a:t>/definitions/</a:t>
            </a:r>
            <a:r>
              <a:rPr lang="en-US" sz="500" dirty="0" err="1">
                <a:solidFill>
                  <a:schemeClr val="bg2">
                    <a:lumMod val="75000"/>
                  </a:schemeClr>
                </a:solidFill>
              </a:rPr>
              <a:t>profit_maximisation.html</a:t>
            </a:r>
            <a:r>
              <a:rPr lang="en-US" sz="500" dirty="0">
                <a:solidFill>
                  <a:schemeClr val="bg2">
                    <a:lumMod val="75000"/>
                  </a:schemeClr>
                </a:solidFill>
              </a:rPr>
              <a:t>/</a:t>
            </a:r>
          </a:p>
        </p:txBody>
      </p:sp>
      <p:pic>
        <p:nvPicPr>
          <p:cNvPr id="1030" name="Picture 6" descr="Stream DVS NME - Shirking by DVS NME | Listen online for free on SoundCloud">
            <a:extLst>
              <a:ext uri="{FF2B5EF4-FFF2-40B4-BE49-F238E27FC236}">
                <a16:creationId xmlns:a16="http://schemas.microsoft.com/office/drawing/2014/main" id="{2E820A4E-C4A8-FE7E-1DAB-5C51396060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01162" y="4018921"/>
            <a:ext cx="1857339" cy="185733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3DE2F46-F032-D97E-CBA9-220051B4FF57}"/>
              </a:ext>
            </a:extLst>
          </p:cNvPr>
          <p:cNvSpPr txBox="1"/>
          <p:nvPr/>
        </p:nvSpPr>
        <p:spPr>
          <a:xfrm>
            <a:off x="9301162" y="5831140"/>
            <a:ext cx="2568332" cy="169277"/>
          </a:xfrm>
          <a:prstGeom prst="rect">
            <a:avLst/>
          </a:prstGeom>
          <a:noFill/>
        </p:spPr>
        <p:txBody>
          <a:bodyPr wrap="none" rtlCol="0">
            <a:spAutoFit/>
          </a:bodyPr>
          <a:lstStyle/>
          <a:p>
            <a:r>
              <a:rPr lang="en-US" sz="500" dirty="0">
                <a:solidFill>
                  <a:schemeClr val="bg2">
                    <a:lumMod val="75000"/>
                  </a:schemeClr>
                </a:solidFill>
              </a:rPr>
              <a:t>Kilde: https://</a:t>
            </a:r>
            <a:r>
              <a:rPr lang="en-US" sz="500" dirty="0" err="1">
                <a:solidFill>
                  <a:schemeClr val="bg2">
                    <a:lumMod val="75000"/>
                  </a:schemeClr>
                </a:solidFill>
              </a:rPr>
              <a:t>soundcloud.com</a:t>
            </a:r>
            <a:r>
              <a:rPr lang="en-US" sz="500" dirty="0">
                <a:solidFill>
                  <a:schemeClr val="bg2">
                    <a:lumMod val="75000"/>
                  </a:schemeClr>
                </a:solidFill>
              </a:rPr>
              <a:t>/</a:t>
            </a:r>
            <a:r>
              <a:rPr lang="en-US" sz="500" dirty="0" err="1">
                <a:solidFill>
                  <a:schemeClr val="bg2">
                    <a:lumMod val="75000"/>
                  </a:schemeClr>
                </a:solidFill>
              </a:rPr>
              <a:t>dvsnme</a:t>
            </a:r>
            <a:r>
              <a:rPr lang="en-US" sz="500" dirty="0">
                <a:solidFill>
                  <a:schemeClr val="bg2">
                    <a:lumMod val="75000"/>
                  </a:schemeClr>
                </a:solidFill>
              </a:rPr>
              <a:t>/</a:t>
            </a:r>
            <a:r>
              <a:rPr lang="en-US" sz="500" dirty="0" err="1">
                <a:solidFill>
                  <a:schemeClr val="bg2">
                    <a:lumMod val="75000"/>
                  </a:schemeClr>
                </a:solidFill>
              </a:rPr>
              <a:t>dvs-nme-shirking?in</a:t>
            </a:r>
            <a:r>
              <a:rPr lang="en-US" sz="500" dirty="0">
                <a:solidFill>
                  <a:schemeClr val="bg2">
                    <a:lumMod val="75000"/>
                  </a:schemeClr>
                </a:solidFill>
              </a:rPr>
              <a:t>=</a:t>
            </a:r>
            <a:r>
              <a:rPr lang="en-US" sz="500" dirty="0" err="1">
                <a:solidFill>
                  <a:schemeClr val="bg2">
                    <a:lumMod val="75000"/>
                  </a:schemeClr>
                </a:solidFill>
              </a:rPr>
              <a:t>dvsnme</a:t>
            </a:r>
            <a:r>
              <a:rPr lang="en-US" sz="500" dirty="0">
                <a:solidFill>
                  <a:schemeClr val="bg2">
                    <a:lumMod val="75000"/>
                  </a:schemeClr>
                </a:solidFill>
              </a:rPr>
              <a:t>/sets/unreleased</a:t>
            </a:r>
          </a:p>
        </p:txBody>
      </p:sp>
    </p:spTree>
    <p:extLst>
      <p:ext uri="{BB962C8B-B14F-4D97-AF65-F5344CB8AC3E}">
        <p14:creationId xmlns:p14="http://schemas.microsoft.com/office/powerpoint/2010/main" val="848228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Rectangle 2"/>
          <p:cNvSpPr>
            <a:spLocks noGrp="1" noChangeArrowheads="1"/>
          </p:cNvSpPr>
          <p:nvPr>
            <p:ph type="title"/>
          </p:nvPr>
        </p:nvSpPr>
        <p:spPr>
          <a:xfrm>
            <a:off x="1079863" y="239486"/>
            <a:ext cx="8229600" cy="1143000"/>
          </a:xfrm>
        </p:spPr>
        <p:txBody>
          <a:bodyPr>
            <a:normAutofit fontScale="90000"/>
          </a:bodyPr>
          <a:lstStyle/>
          <a:p>
            <a:pPr eaLnBrk="1" hangingPunct="1"/>
            <a:r>
              <a:rPr lang="en-US" dirty="0"/>
              <a:t>The Incentive Problem</a:t>
            </a:r>
            <a:br>
              <a:rPr lang="en-US" dirty="0"/>
            </a:br>
            <a:r>
              <a:rPr lang="en-US" sz="3600" dirty="0"/>
              <a:t>Ian McLeod – employee at </a:t>
            </a:r>
            <a:r>
              <a:rPr lang="en-US" sz="3600" dirty="0" err="1"/>
              <a:t>AssemCo</a:t>
            </a:r>
            <a:endParaRPr lang="en-US" dirty="0"/>
          </a:p>
        </p:txBody>
      </p:sp>
      <p:sp>
        <p:nvSpPr>
          <p:cNvPr id="1029" name="Rectangle 3"/>
          <p:cNvSpPr>
            <a:spLocks noGrp="1" noChangeArrowheads="1"/>
          </p:cNvSpPr>
          <p:nvPr>
            <p:ph idx="1"/>
          </p:nvPr>
        </p:nvSpPr>
        <p:spPr>
          <a:xfrm>
            <a:off x="1397726" y="1606731"/>
            <a:ext cx="8813074" cy="5052833"/>
          </a:xfrm>
        </p:spPr>
        <p:txBody>
          <a:bodyPr>
            <a:normAutofit/>
          </a:bodyPr>
          <a:lstStyle/>
          <a:p>
            <a:pPr eaLnBrk="1" hangingPunct="1">
              <a:buClr>
                <a:srgbClr val="000066"/>
              </a:buClr>
            </a:pPr>
            <a:r>
              <a:rPr lang="en-US" sz="2800" dirty="0"/>
              <a:t>Ian’s utility function: </a:t>
            </a:r>
            <a:r>
              <a:rPr lang="en-US" sz="2800" i="1" dirty="0"/>
              <a:t>U = I - </a:t>
            </a:r>
            <a:r>
              <a:rPr lang="en-US" sz="2800" i="1" dirty="0">
                <a:solidFill>
                  <a:srgbClr val="960000"/>
                </a:solidFill>
              </a:rPr>
              <a:t>e</a:t>
            </a:r>
            <a:r>
              <a:rPr lang="en-US" sz="2800" i="1" baseline="30000" dirty="0">
                <a:solidFill>
                  <a:srgbClr val="960000"/>
                </a:solidFill>
              </a:rPr>
              <a:t>2 </a:t>
            </a:r>
          </a:p>
          <a:p>
            <a:pPr lvl="1" eaLnBrk="1" hangingPunct="1">
              <a:buClr>
                <a:srgbClr val="000066"/>
              </a:buClr>
            </a:pPr>
            <a:r>
              <a:rPr lang="en-US" sz="2800" dirty="0" err="1"/>
              <a:t>Hvor</a:t>
            </a:r>
            <a:r>
              <a:rPr lang="en-US" sz="2800" dirty="0"/>
              <a:t> I </a:t>
            </a:r>
            <a:r>
              <a:rPr lang="en-US" sz="2800" dirty="0" err="1"/>
              <a:t>er</a:t>
            </a:r>
            <a:r>
              <a:rPr lang="en-US" sz="2800" dirty="0"/>
              <a:t> </a:t>
            </a:r>
            <a:r>
              <a:rPr lang="en-US" sz="2800" dirty="0" err="1"/>
              <a:t>indkomst</a:t>
            </a:r>
            <a:r>
              <a:rPr lang="en-US" sz="2800" dirty="0"/>
              <a:t> </a:t>
            </a:r>
            <a:r>
              <a:rPr lang="en-US" sz="2800" dirty="0" err="1"/>
              <a:t>og</a:t>
            </a:r>
            <a:r>
              <a:rPr lang="en-US" sz="2800" dirty="0"/>
              <a:t> e </a:t>
            </a:r>
            <a:r>
              <a:rPr lang="en-US" sz="2800" dirty="0" err="1"/>
              <a:t>er</a:t>
            </a:r>
            <a:r>
              <a:rPr lang="en-US" sz="2800" dirty="0"/>
              <a:t> effort</a:t>
            </a:r>
          </a:p>
          <a:p>
            <a:pPr lvl="1" eaLnBrk="1" hangingPunct="1">
              <a:buClr>
                <a:srgbClr val="000066"/>
              </a:buClr>
            </a:pPr>
            <a:r>
              <a:rPr lang="en-US" sz="2800" dirty="0" err="1"/>
              <a:t>Ians</a:t>
            </a:r>
            <a:r>
              <a:rPr lang="en-US" sz="2800" dirty="0"/>
              <a:t> reservation utility = </a:t>
            </a:r>
            <a:r>
              <a:rPr lang="en-US" sz="2800" dirty="0">
                <a:solidFill>
                  <a:srgbClr val="960000"/>
                </a:solidFill>
              </a:rPr>
              <a:t>1000$</a:t>
            </a:r>
          </a:p>
          <a:p>
            <a:pPr eaLnBrk="1" hangingPunct="1">
              <a:buClr>
                <a:srgbClr val="000066"/>
              </a:buClr>
            </a:pPr>
            <a:r>
              <a:rPr lang="en-US" sz="2800" dirty="0"/>
              <a:t>Firm’s benefits (B) from Ian’s effort is $100e</a:t>
            </a:r>
          </a:p>
          <a:p>
            <a:pPr eaLnBrk="1" hangingPunct="1">
              <a:buClr>
                <a:srgbClr val="000066"/>
              </a:buClr>
            </a:pPr>
            <a:r>
              <a:rPr lang="en-US" sz="2800" dirty="0"/>
              <a:t>Vi </a:t>
            </a:r>
            <a:r>
              <a:rPr lang="en-US" sz="2800" dirty="0" err="1"/>
              <a:t>antager</a:t>
            </a:r>
            <a:r>
              <a:rPr lang="en-US" sz="2800" dirty="0"/>
              <a:t> at </a:t>
            </a:r>
            <a:r>
              <a:rPr lang="en-US" sz="2800" dirty="0" err="1"/>
              <a:t>Ians</a:t>
            </a:r>
            <a:r>
              <a:rPr lang="en-US" sz="2800" dirty="0"/>
              <a:t> effort </a:t>
            </a:r>
            <a:r>
              <a:rPr lang="en-US" sz="2800" dirty="0" err="1"/>
              <a:t>er</a:t>
            </a:r>
            <a:r>
              <a:rPr lang="en-US" sz="2800" dirty="0"/>
              <a:t> </a:t>
            </a:r>
            <a:r>
              <a:rPr lang="en-US" sz="2800" dirty="0" err="1"/>
              <a:t>nemt</a:t>
            </a:r>
            <a:r>
              <a:rPr lang="en-US" sz="2800" dirty="0"/>
              <a:t> </a:t>
            </a:r>
            <a:r>
              <a:rPr lang="en-US" sz="2800" dirty="0" err="1"/>
              <a:t>og</a:t>
            </a:r>
            <a:r>
              <a:rPr lang="en-US" sz="2800" dirty="0"/>
              <a:t> </a:t>
            </a:r>
            <a:r>
              <a:rPr lang="en-US" sz="2800" dirty="0" err="1"/>
              <a:t>billigt</a:t>
            </a:r>
            <a:r>
              <a:rPr lang="en-US" sz="2800" dirty="0"/>
              <a:t> </a:t>
            </a:r>
            <a:r>
              <a:rPr lang="en-US" sz="2800" dirty="0" err="1"/>
              <a:t>måleligt</a:t>
            </a:r>
            <a:endParaRPr lang="en-US" sz="2800" dirty="0"/>
          </a:p>
          <a:p>
            <a:pPr eaLnBrk="1" hangingPunct="1">
              <a:buClr>
                <a:srgbClr val="000066"/>
              </a:buClr>
            </a:pPr>
            <a:r>
              <a:rPr lang="en-US" sz="2800" dirty="0">
                <a:solidFill>
                  <a:srgbClr val="960000"/>
                </a:solidFill>
              </a:rPr>
              <a:t>Profit</a:t>
            </a:r>
            <a:r>
              <a:rPr lang="en-US" sz="2800" dirty="0">
                <a:solidFill>
                  <a:srgbClr val="C00000"/>
                </a:solidFill>
              </a:rPr>
              <a:t> </a:t>
            </a:r>
            <a:r>
              <a:rPr lang="en-US" sz="2800" dirty="0"/>
              <a:t>as a function of specified level of effort</a:t>
            </a:r>
            <a:r>
              <a:rPr lang="en-US" sz="2800" dirty="0">
                <a:latin typeface="Tahoma" pitchFamily="34" charset="0"/>
              </a:rPr>
              <a:t> </a:t>
            </a:r>
          </a:p>
          <a:p>
            <a:pPr eaLnBrk="1" hangingPunct="1">
              <a:buClr>
                <a:srgbClr val="000066"/>
              </a:buClr>
            </a:pPr>
            <a:r>
              <a:rPr lang="en-US" sz="2800" dirty="0"/>
              <a:t>Maximum profits (P) occur where </a:t>
            </a:r>
            <a:r>
              <a:rPr lang="en-US" sz="2800" i="1" dirty="0"/>
              <a:t>e = 50</a:t>
            </a:r>
          </a:p>
        </p:txBody>
      </p:sp>
      <p:graphicFrame>
        <p:nvGraphicFramePr>
          <p:cNvPr id="1027" name="Object 5"/>
          <p:cNvGraphicFramePr>
            <a:graphicFrameLocks noChangeAspect="1"/>
          </p:cNvGraphicFramePr>
          <p:nvPr/>
        </p:nvGraphicFramePr>
        <p:xfrm>
          <a:off x="2952751" y="5391150"/>
          <a:ext cx="3998913" cy="693738"/>
        </p:xfrm>
        <a:graphic>
          <a:graphicData uri="http://schemas.openxmlformats.org/presentationml/2006/ole">
            <mc:AlternateContent xmlns:mc="http://schemas.openxmlformats.org/markup-compatibility/2006">
              <mc:Choice xmlns:v="urn:schemas-microsoft-com:vml" Requires="v">
                <p:oleObj name="Ligning" r:id="rId2" imgW="1320480" imgH="228600" progId="Equation.3">
                  <p:embed/>
                </p:oleObj>
              </mc:Choice>
              <mc:Fallback>
                <p:oleObj name="Ligning" r:id="rId2" imgW="1320480" imgH="228600" progId="Equation.3">
                  <p:embed/>
                  <p:pic>
                    <p:nvPicPr>
                      <p:cNvPr id="1027" name="Object 5"/>
                      <p:cNvPicPr>
                        <a:picLocks noChangeAspect="1" noChangeArrowheads="1"/>
                      </p:cNvPicPr>
                      <p:nvPr/>
                    </p:nvPicPr>
                    <p:blipFill>
                      <a:blip r:embed="rId3"/>
                      <a:srcRect/>
                      <a:stretch>
                        <a:fillRect/>
                      </a:stretch>
                    </p:blipFill>
                    <p:spPr bwMode="auto">
                      <a:xfrm>
                        <a:off x="2952751" y="5391150"/>
                        <a:ext cx="3998913" cy="693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31" name="Rectangle 7"/>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fld id="{9116ABE6-5049-484D-872C-E1423185194E}" type="slidenum">
              <a:rPr lang="en-US" sz="1200" smtClean="0"/>
              <a:pPr algn="r"/>
              <a:t>3</a:t>
            </a:fld>
            <a:endParaRPr lang="en-US" sz="1200" dirty="0"/>
          </a:p>
        </p:txBody>
      </p:sp>
    </p:spTree>
    <p:extLst>
      <p:ext uri="{BB962C8B-B14F-4D97-AF65-F5344CB8AC3E}">
        <p14:creationId xmlns:p14="http://schemas.microsoft.com/office/powerpoint/2010/main" val="3957609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1676400" y="685800"/>
            <a:ext cx="8763000" cy="914400"/>
          </a:xfrm>
        </p:spPr>
        <p:txBody>
          <a:bodyPr>
            <a:normAutofit/>
          </a:bodyPr>
          <a:lstStyle/>
          <a:p>
            <a:pPr eaLnBrk="1" hangingPunct="1"/>
            <a:r>
              <a:rPr lang="en-US" dirty="0"/>
              <a:t>Optimal Effort Choice at </a:t>
            </a:r>
            <a:r>
              <a:rPr lang="en-US" u="sng" dirty="0" err="1">
                <a:solidFill>
                  <a:srgbClr val="960000"/>
                </a:solidFill>
              </a:rPr>
              <a:t>AssemCo</a:t>
            </a:r>
            <a:endParaRPr lang="en-US" u="sng" dirty="0">
              <a:solidFill>
                <a:srgbClr val="960000"/>
              </a:solidFill>
            </a:endParaRPr>
          </a:p>
        </p:txBody>
      </p:sp>
      <p:sp>
        <p:nvSpPr>
          <p:cNvPr id="6151" name="Line 7"/>
          <p:cNvSpPr>
            <a:spLocks noChangeShapeType="1"/>
          </p:cNvSpPr>
          <p:nvPr/>
        </p:nvSpPr>
        <p:spPr bwMode="auto">
          <a:xfrm>
            <a:off x="4343400" y="1905000"/>
            <a:ext cx="0" cy="3886200"/>
          </a:xfrm>
          <a:prstGeom prst="line">
            <a:avLst/>
          </a:prstGeom>
          <a:noFill/>
          <a:ln w="9525">
            <a:solidFill>
              <a:schemeClr val="tx1"/>
            </a:solidFill>
            <a:round/>
            <a:headEnd type="triangle"/>
            <a:tailEnd/>
          </a:ln>
          <a:effectLst/>
        </p:spPr>
        <p:txBody>
          <a:bodyPr/>
          <a:lstStyle/>
          <a:p>
            <a:endParaRPr lang="da-DK"/>
          </a:p>
        </p:txBody>
      </p:sp>
      <p:sp>
        <p:nvSpPr>
          <p:cNvPr id="6152" name="Line 8"/>
          <p:cNvSpPr>
            <a:spLocks noChangeShapeType="1"/>
          </p:cNvSpPr>
          <p:nvPr/>
        </p:nvSpPr>
        <p:spPr bwMode="auto">
          <a:xfrm>
            <a:off x="4343400" y="5791200"/>
            <a:ext cx="3962400" cy="0"/>
          </a:xfrm>
          <a:prstGeom prst="line">
            <a:avLst/>
          </a:prstGeom>
          <a:noFill/>
          <a:ln w="9525">
            <a:solidFill>
              <a:schemeClr val="tx1"/>
            </a:solidFill>
            <a:round/>
            <a:headEnd/>
            <a:tailEnd type="triangle"/>
          </a:ln>
          <a:effectLst/>
        </p:spPr>
        <p:txBody>
          <a:bodyPr/>
          <a:lstStyle/>
          <a:p>
            <a:endParaRPr lang="da-DK"/>
          </a:p>
        </p:txBody>
      </p:sp>
      <p:sp>
        <p:nvSpPr>
          <p:cNvPr id="6153" name="Line 9"/>
          <p:cNvSpPr>
            <a:spLocks noChangeShapeType="1"/>
          </p:cNvSpPr>
          <p:nvPr/>
        </p:nvSpPr>
        <p:spPr bwMode="auto">
          <a:xfrm flipV="1">
            <a:off x="4343400" y="1905000"/>
            <a:ext cx="3352800" cy="3886200"/>
          </a:xfrm>
          <a:prstGeom prst="line">
            <a:avLst/>
          </a:prstGeom>
          <a:noFill/>
          <a:ln w="28575">
            <a:solidFill>
              <a:srgbClr val="000066"/>
            </a:solidFill>
            <a:round/>
            <a:headEnd/>
            <a:tailEnd/>
          </a:ln>
          <a:effectLst/>
        </p:spPr>
        <p:txBody>
          <a:bodyPr/>
          <a:lstStyle/>
          <a:p>
            <a:endParaRPr lang="da-DK"/>
          </a:p>
        </p:txBody>
      </p:sp>
      <p:sp>
        <p:nvSpPr>
          <p:cNvPr id="6154" name="Line 10"/>
          <p:cNvSpPr>
            <a:spLocks noChangeShapeType="1"/>
          </p:cNvSpPr>
          <p:nvPr/>
        </p:nvSpPr>
        <p:spPr bwMode="auto">
          <a:xfrm>
            <a:off x="4343400" y="3352800"/>
            <a:ext cx="2133600" cy="0"/>
          </a:xfrm>
          <a:prstGeom prst="line">
            <a:avLst/>
          </a:prstGeom>
          <a:noFill/>
          <a:ln w="9525">
            <a:solidFill>
              <a:srgbClr val="5F5F5F"/>
            </a:solidFill>
            <a:prstDash val="dash"/>
            <a:round/>
            <a:headEnd/>
            <a:tailEnd/>
          </a:ln>
          <a:effectLst/>
        </p:spPr>
        <p:txBody>
          <a:bodyPr/>
          <a:lstStyle/>
          <a:p>
            <a:endParaRPr lang="da-DK"/>
          </a:p>
        </p:txBody>
      </p:sp>
      <p:sp>
        <p:nvSpPr>
          <p:cNvPr id="6155" name="Line 11"/>
          <p:cNvSpPr>
            <a:spLocks noChangeShapeType="1"/>
          </p:cNvSpPr>
          <p:nvPr/>
        </p:nvSpPr>
        <p:spPr bwMode="auto">
          <a:xfrm>
            <a:off x="6477000" y="3352801"/>
            <a:ext cx="0" cy="747713"/>
          </a:xfrm>
          <a:prstGeom prst="line">
            <a:avLst/>
          </a:prstGeom>
          <a:noFill/>
          <a:ln w="28575">
            <a:solidFill>
              <a:srgbClr val="C00000"/>
            </a:solidFill>
            <a:round/>
            <a:headEnd/>
            <a:tailEnd/>
          </a:ln>
          <a:effectLst/>
        </p:spPr>
        <p:txBody>
          <a:bodyPr/>
          <a:lstStyle/>
          <a:p>
            <a:endParaRPr lang="da-DK"/>
          </a:p>
        </p:txBody>
      </p:sp>
      <p:sp>
        <p:nvSpPr>
          <p:cNvPr id="6156" name="Line 12"/>
          <p:cNvSpPr>
            <a:spLocks noChangeShapeType="1"/>
          </p:cNvSpPr>
          <p:nvPr/>
        </p:nvSpPr>
        <p:spPr bwMode="auto">
          <a:xfrm>
            <a:off x="4330700" y="4090988"/>
            <a:ext cx="2133600" cy="0"/>
          </a:xfrm>
          <a:prstGeom prst="line">
            <a:avLst/>
          </a:prstGeom>
          <a:noFill/>
          <a:ln w="9525">
            <a:solidFill>
              <a:srgbClr val="5F5F5F"/>
            </a:solidFill>
            <a:prstDash val="dash"/>
            <a:round/>
            <a:headEnd/>
            <a:tailEnd/>
          </a:ln>
          <a:effectLst/>
        </p:spPr>
        <p:txBody>
          <a:bodyPr/>
          <a:lstStyle/>
          <a:p>
            <a:endParaRPr lang="da-DK"/>
          </a:p>
        </p:txBody>
      </p:sp>
      <p:sp>
        <p:nvSpPr>
          <p:cNvPr id="6157" name="Line 13"/>
          <p:cNvSpPr>
            <a:spLocks noChangeShapeType="1"/>
          </p:cNvSpPr>
          <p:nvPr/>
        </p:nvSpPr>
        <p:spPr bwMode="auto">
          <a:xfrm>
            <a:off x="6470650" y="4114801"/>
            <a:ext cx="0" cy="1687513"/>
          </a:xfrm>
          <a:prstGeom prst="line">
            <a:avLst/>
          </a:prstGeom>
          <a:noFill/>
          <a:ln w="9525">
            <a:solidFill>
              <a:srgbClr val="5F5F5F"/>
            </a:solidFill>
            <a:prstDash val="dash"/>
            <a:round/>
            <a:headEnd/>
            <a:tailEnd/>
          </a:ln>
          <a:effectLst/>
        </p:spPr>
        <p:txBody>
          <a:bodyPr/>
          <a:lstStyle/>
          <a:p>
            <a:endParaRPr lang="da-DK"/>
          </a:p>
        </p:txBody>
      </p:sp>
      <p:sp>
        <p:nvSpPr>
          <p:cNvPr id="6158" name="Line 14"/>
          <p:cNvSpPr>
            <a:spLocks noChangeShapeType="1"/>
          </p:cNvSpPr>
          <p:nvPr/>
        </p:nvSpPr>
        <p:spPr bwMode="auto">
          <a:xfrm flipV="1">
            <a:off x="5895975" y="3282951"/>
            <a:ext cx="1277938" cy="1465263"/>
          </a:xfrm>
          <a:prstGeom prst="line">
            <a:avLst/>
          </a:prstGeom>
          <a:noFill/>
          <a:ln w="9525">
            <a:solidFill>
              <a:srgbClr val="5F5F5F"/>
            </a:solidFill>
            <a:prstDash val="dash"/>
            <a:round/>
            <a:headEnd/>
            <a:tailEnd/>
          </a:ln>
          <a:effectLst/>
        </p:spPr>
        <p:txBody>
          <a:bodyPr/>
          <a:lstStyle/>
          <a:p>
            <a:endParaRPr lang="da-DK"/>
          </a:p>
        </p:txBody>
      </p:sp>
      <p:sp>
        <p:nvSpPr>
          <p:cNvPr id="6159" name="Freeform 15"/>
          <p:cNvSpPr>
            <a:spLocks/>
          </p:cNvSpPr>
          <p:nvPr/>
        </p:nvSpPr>
        <p:spPr bwMode="auto">
          <a:xfrm>
            <a:off x="4349751" y="1676401"/>
            <a:ext cx="2847975" cy="3609975"/>
          </a:xfrm>
          <a:custGeom>
            <a:avLst/>
            <a:gdLst/>
            <a:ahLst/>
            <a:cxnLst>
              <a:cxn ang="0">
                <a:pos x="0" y="2274"/>
              </a:cxn>
              <a:cxn ang="0">
                <a:pos x="487" y="2142"/>
              </a:cxn>
              <a:cxn ang="0">
                <a:pos x="923" y="1890"/>
              </a:cxn>
              <a:cxn ang="0">
                <a:pos x="1344" y="1514"/>
              </a:cxn>
              <a:cxn ang="0">
                <a:pos x="1573" y="1100"/>
              </a:cxn>
              <a:cxn ang="0">
                <a:pos x="1698" y="606"/>
              </a:cxn>
              <a:cxn ang="0">
                <a:pos x="1794" y="0"/>
              </a:cxn>
            </a:cxnLst>
            <a:rect l="0" t="0" r="r" b="b"/>
            <a:pathLst>
              <a:path w="1794" h="2274">
                <a:moveTo>
                  <a:pt x="0" y="2274"/>
                </a:moveTo>
                <a:cubicBezTo>
                  <a:pt x="166" y="2240"/>
                  <a:pt x="333" y="2206"/>
                  <a:pt x="487" y="2142"/>
                </a:cubicBezTo>
                <a:cubicBezTo>
                  <a:pt x="641" y="2078"/>
                  <a:pt x="780" y="1995"/>
                  <a:pt x="923" y="1890"/>
                </a:cubicBezTo>
                <a:cubicBezTo>
                  <a:pt x="1066" y="1785"/>
                  <a:pt x="1236" y="1646"/>
                  <a:pt x="1344" y="1514"/>
                </a:cubicBezTo>
                <a:cubicBezTo>
                  <a:pt x="1452" y="1382"/>
                  <a:pt x="1514" y="1251"/>
                  <a:pt x="1573" y="1100"/>
                </a:cubicBezTo>
                <a:cubicBezTo>
                  <a:pt x="1632" y="949"/>
                  <a:pt x="1661" y="789"/>
                  <a:pt x="1698" y="606"/>
                </a:cubicBezTo>
                <a:cubicBezTo>
                  <a:pt x="1735" y="423"/>
                  <a:pt x="1764" y="211"/>
                  <a:pt x="1794" y="0"/>
                </a:cubicBezTo>
              </a:path>
            </a:pathLst>
          </a:custGeom>
          <a:noFill/>
          <a:ln w="28575" cmpd="sng">
            <a:solidFill>
              <a:schemeClr val="bg1"/>
            </a:solidFill>
            <a:round/>
            <a:headEnd/>
            <a:tailEnd/>
          </a:ln>
          <a:effectLst/>
        </p:spPr>
        <p:txBody>
          <a:bodyPr/>
          <a:lstStyle/>
          <a:p>
            <a:endParaRPr lang="da-DK"/>
          </a:p>
        </p:txBody>
      </p:sp>
      <p:sp>
        <p:nvSpPr>
          <p:cNvPr id="6160" name="Line 16"/>
          <p:cNvSpPr>
            <a:spLocks noChangeShapeType="1"/>
          </p:cNvSpPr>
          <p:nvPr/>
        </p:nvSpPr>
        <p:spPr bwMode="auto">
          <a:xfrm flipH="1">
            <a:off x="6542089" y="3646488"/>
            <a:ext cx="936625" cy="0"/>
          </a:xfrm>
          <a:prstGeom prst="line">
            <a:avLst/>
          </a:prstGeom>
          <a:noFill/>
          <a:ln w="9525">
            <a:solidFill>
              <a:schemeClr val="tx1"/>
            </a:solidFill>
            <a:round/>
            <a:headEnd/>
            <a:tailEnd type="triangle" w="med" len="med"/>
          </a:ln>
          <a:effectLst/>
        </p:spPr>
        <p:txBody>
          <a:bodyPr/>
          <a:lstStyle/>
          <a:p>
            <a:endParaRPr lang="da-DK"/>
          </a:p>
        </p:txBody>
      </p:sp>
      <p:sp>
        <p:nvSpPr>
          <p:cNvPr id="6161" name="Text Box 17"/>
          <p:cNvSpPr txBox="1">
            <a:spLocks noChangeArrowheads="1"/>
          </p:cNvSpPr>
          <p:nvPr/>
        </p:nvSpPr>
        <p:spPr bwMode="auto">
          <a:xfrm>
            <a:off x="3694114" y="5132487"/>
            <a:ext cx="711200" cy="307777"/>
          </a:xfrm>
          <a:prstGeom prst="rect">
            <a:avLst/>
          </a:prstGeom>
          <a:noFill/>
          <a:ln w="9525">
            <a:noFill/>
            <a:miter lim="800000"/>
            <a:headEnd/>
            <a:tailEnd/>
          </a:ln>
          <a:effectLst/>
        </p:spPr>
        <p:txBody>
          <a:bodyPr wrap="square">
            <a:spAutoFit/>
          </a:bodyPr>
          <a:lstStyle/>
          <a:p>
            <a:pPr>
              <a:spcBef>
                <a:spcPct val="50000"/>
              </a:spcBef>
            </a:pPr>
            <a:r>
              <a:rPr lang="en-US" sz="1400" dirty="0"/>
              <a:t>1,000</a:t>
            </a:r>
          </a:p>
        </p:txBody>
      </p:sp>
      <p:sp>
        <p:nvSpPr>
          <p:cNvPr id="6162" name="Text Box 18"/>
          <p:cNvSpPr txBox="1">
            <a:spLocks noChangeArrowheads="1"/>
          </p:cNvSpPr>
          <p:nvPr/>
        </p:nvSpPr>
        <p:spPr bwMode="auto">
          <a:xfrm>
            <a:off x="3708400" y="3925888"/>
            <a:ext cx="742950" cy="304800"/>
          </a:xfrm>
          <a:prstGeom prst="rect">
            <a:avLst/>
          </a:prstGeom>
          <a:noFill/>
          <a:ln w="9525">
            <a:noFill/>
            <a:miter lim="800000"/>
            <a:headEnd/>
            <a:tailEnd/>
          </a:ln>
          <a:effectLst/>
        </p:spPr>
        <p:txBody>
          <a:bodyPr>
            <a:spAutoFit/>
          </a:bodyPr>
          <a:lstStyle/>
          <a:p>
            <a:pPr>
              <a:spcBef>
                <a:spcPct val="50000"/>
              </a:spcBef>
            </a:pPr>
            <a:r>
              <a:rPr lang="en-US" sz="1400" dirty="0"/>
              <a:t>3,500</a:t>
            </a:r>
          </a:p>
        </p:txBody>
      </p:sp>
      <p:sp>
        <p:nvSpPr>
          <p:cNvPr id="6163" name="Text Box 19"/>
          <p:cNvSpPr txBox="1">
            <a:spLocks noChangeArrowheads="1"/>
          </p:cNvSpPr>
          <p:nvPr/>
        </p:nvSpPr>
        <p:spPr bwMode="auto">
          <a:xfrm>
            <a:off x="3741739" y="3205163"/>
            <a:ext cx="744537" cy="304800"/>
          </a:xfrm>
          <a:prstGeom prst="rect">
            <a:avLst/>
          </a:prstGeom>
          <a:noFill/>
          <a:ln w="9525">
            <a:noFill/>
            <a:miter lim="800000"/>
            <a:headEnd/>
            <a:tailEnd/>
          </a:ln>
          <a:effectLst/>
        </p:spPr>
        <p:txBody>
          <a:bodyPr>
            <a:spAutoFit/>
          </a:bodyPr>
          <a:lstStyle/>
          <a:p>
            <a:pPr>
              <a:spcBef>
                <a:spcPct val="50000"/>
              </a:spcBef>
            </a:pPr>
            <a:r>
              <a:rPr lang="en-US" sz="1400" dirty="0"/>
              <a:t>5,000</a:t>
            </a:r>
          </a:p>
        </p:txBody>
      </p:sp>
      <p:sp>
        <p:nvSpPr>
          <p:cNvPr id="6164" name="Text Box 20"/>
          <p:cNvSpPr txBox="1">
            <a:spLocks noChangeArrowheads="1"/>
          </p:cNvSpPr>
          <p:nvPr/>
        </p:nvSpPr>
        <p:spPr bwMode="auto">
          <a:xfrm rot="16200000">
            <a:off x="2303463" y="3609975"/>
            <a:ext cx="1987550" cy="304800"/>
          </a:xfrm>
          <a:prstGeom prst="rect">
            <a:avLst/>
          </a:prstGeom>
          <a:noFill/>
          <a:ln w="9525">
            <a:noFill/>
            <a:miter lim="800000"/>
            <a:headEnd/>
            <a:tailEnd/>
          </a:ln>
          <a:effectLst/>
        </p:spPr>
        <p:txBody>
          <a:bodyPr>
            <a:spAutoFit/>
          </a:bodyPr>
          <a:lstStyle/>
          <a:p>
            <a:pPr>
              <a:spcBef>
                <a:spcPct val="50000"/>
              </a:spcBef>
            </a:pPr>
            <a:r>
              <a:rPr lang="en-US" sz="1400" dirty="0"/>
              <a:t>Costs (in dollars)</a:t>
            </a:r>
          </a:p>
        </p:txBody>
      </p:sp>
      <p:sp>
        <p:nvSpPr>
          <p:cNvPr id="6165" name="Text Box 21"/>
          <p:cNvSpPr txBox="1">
            <a:spLocks noChangeArrowheads="1"/>
          </p:cNvSpPr>
          <p:nvPr/>
        </p:nvSpPr>
        <p:spPr bwMode="auto">
          <a:xfrm>
            <a:off x="5376863" y="6167438"/>
            <a:ext cx="1744662" cy="304800"/>
          </a:xfrm>
          <a:prstGeom prst="rect">
            <a:avLst/>
          </a:prstGeom>
          <a:noFill/>
          <a:ln w="9525">
            <a:noFill/>
            <a:miter lim="800000"/>
            <a:headEnd/>
            <a:tailEnd/>
          </a:ln>
          <a:effectLst/>
        </p:spPr>
        <p:txBody>
          <a:bodyPr>
            <a:spAutoFit/>
          </a:bodyPr>
          <a:lstStyle/>
          <a:p>
            <a:pPr>
              <a:spcBef>
                <a:spcPct val="50000"/>
              </a:spcBef>
            </a:pPr>
            <a:r>
              <a:rPr lang="en-US" sz="1400" dirty="0"/>
              <a:t>Level of effort</a:t>
            </a:r>
          </a:p>
        </p:txBody>
      </p:sp>
      <p:sp>
        <p:nvSpPr>
          <p:cNvPr id="6166" name="Text Box 22"/>
          <p:cNvSpPr txBox="1">
            <a:spLocks noChangeArrowheads="1"/>
          </p:cNvSpPr>
          <p:nvPr/>
        </p:nvSpPr>
        <p:spPr bwMode="auto">
          <a:xfrm>
            <a:off x="6096001" y="5767388"/>
            <a:ext cx="804863" cy="304800"/>
          </a:xfrm>
          <a:prstGeom prst="rect">
            <a:avLst/>
          </a:prstGeom>
          <a:noFill/>
          <a:ln w="9525">
            <a:noFill/>
            <a:miter lim="800000"/>
            <a:headEnd/>
            <a:tailEnd/>
          </a:ln>
          <a:effectLst/>
        </p:spPr>
        <p:txBody>
          <a:bodyPr>
            <a:spAutoFit/>
          </a:bodyPr>
          <a:lstStyle/>
          <a:p>
            <a:pPr>
              <a:spcBef>
                <a:spcPct val="50000"/>
              </a:spcBef>
            </a:pPr>
            <a:r>
              <a:rPr lang="en-US" sz="1400" i="1" dirty="0"/>
              <a:t>e</a:t>
            </a:r>
            <a:r>
              <a:rPr lang="en-US" sz="1400" dirty="0"/>
              <a:t>* = 50</a:t>
            </a:r>
          </a:p>
        </p:txBody>
      </p:sp>
      <p:sp>
        <p:nvSpPr>
          <p:cNvPr id="6167" name="Text Box 23"/>
          <p:cNvSpPr txBox="1">
            <a:spLocks noChangeArrowheads="1"/>
          </p:cNvSpPr>
          <p:nvPr/>
        </p:nvSpPr>
        <p:spPr bwMode="auto">
          <a:xfrm>
            <a:off x="5695950" y="1558925"/>
            <a:ext cx="1365250" cy="523220"/>
          </a:xfrm>
          <a:prstGeom prst="rect">
            <a:avLst/>
          </a:prstGeom>
          <a:noFill/>
          <a:ln w="9525">
            <a:solidFill>
              <a:schemeClr val="bg1"/>
            </a:solidFill>
            <a:miter lim="800000"/>
            <a:headEnd/>
            <a:tailEnd/>
          </a:ln>
          <a:effectLst/>
        </p:spPr>
        <p:txBody>
          <a:bodyPr>
            <a:spAutoFit/>
          </a:bodyPr>
          <a:lstStyle/>
          <a:p>
            <a:pPr>
              <a:spcBef>
                <a:spcPct val="50000"/>
              </a:spcBef>
            </a:pPr>
            <a:r>
              <a:rPr lang="en-US" sz="1400" dirty="0">
                <a:solidFill>
                  <a:schemeClr val="bg1"/>
                </a:solidFill>
              </a:rPr>
              <a:t>Costs of effort: $1,000 + </a:t>
            </a:r>
            <a:r>
              <a:rPr lang="en-US" sz="1400" i="1" dirty="0">
                <a:solidFill>
                  <a:schemeClr val="bg1"/>
                </a:solidFill>
              </a:rPr>
              <a:t>e</a:t>
            </a:r>
            <a:r>
              <a:rPr lang="en-US" sz="1400" baseline="30000" dirty="0">
                <a:solidFill>
                  <a:schemeClr val="bg1"/>
                </a:solidFill>
              </a:rPr>
              <a:t>2</a:t>
            </a:r>
          </a:p>
        </p:txBody>
      </p:sp>
      <p:sp>
        <p:nvSpPr>
          <p:cNvPr id="6168" name="Text Box 24"/>
          <p:cNvSpPr txBox="1">
            <a:spLocks noChangeArrowheads="1"/>
          </p:cNvSpPr>
          <p:nvPr/>
        </p:nvSpPr>
        <p:spPr bwMode="auto">
          <a:xfrm>
            <a:off x="7718426" y="1585913"/>
            <a:ext cx="1622425" cy="523220"/>
          </a:xfrm>
          <a:prstGeom prst="rect">
            <a:avLst/>
          </a:prstGeom>
          <a:noFill/>
          <a:ln w="9525">
            <a:solidFill>
              <a:srgbClr val="002060"/>
            </a:solidFill>
            <a:miter lim="800000"/>
            <a:headEnd/>
            <a:tailEnd/>
          </a:ln>
          <a:effectLst/>
        </p:spPr>
        <p:txBody>
          <a:bodyPr>
            <a:spAutoFit/>
          </a:bodyPr>
          <a:lstStyle/>
          <a:p>
            <a:pPr>
              <a:spcBef>
                <a:spcPct val="50000"/>
              </a:spcBef>
            </a:pPr>
            <a:r>
              <a:rPr lang="en-US" sz="1400" dirty="0">
                <a:solidFill>
                  <a:srgbClr val="000066"/>
                </a:solidFill>
              </a:rPr>
              <a:t>Benefits of effort: $100</a:t>
            </a:r>
            <a:r>
              <a:rPr lang="en-US" sz="1400" i="1" dirty="0">
                <a:solidFill>
                  <a:srgbClr val="000066"/>
                </a:solidFill>
              </a:rPr>
              <a:t>e</a:t>
            </a:r>
          </a:p>
        </p:txBody>
      </p:sp>
      <p:sp>
        <p:nvSpPr>
          <p:cNvPr id="6169" name="Text Box 25"/>
          <p:cNvSpPr txBox="1">
            <a:spLocks noChangeArrowheads="1"/>
          </p:cNvSpPr>
          <p:nvPr/>
        </p:nvSpPr>
        <p:spPr bwMode="auto">
          <a:xfrm>
            <a:off x="7497763" y="3486150"/>
            <a:ext cx="2354262" cy="304800"/>
          </a:xfrm>
          <a:prstGeom prst="rect">
            <a:avLst/>
          </a:prstGeom>
          <a:noFill/>
          <a:ln w="9525">
            <a:solidFill>
              <a:srgbClr val="960000"/>
            </a:solidFill>
            <a:miter lim="800000"/>
            <a:headEnd/>
            <a:tailEnd/>
          </a:ln>
          <a:effectLst/>
        </p:spPr>
        <p:txBody>
          <a:bodyPr>
            <a:spAutoFit/>
          </a:bodyPr>
          <a:lstStyle/>
          <a:p>
            <a:pPr>
              <a:spcBef>
                <a:spcPct val="50000"/>
              </a:spcBef>
            </a:pPr>
            <a:r>
              <a:rPr lang="en-US" sz="1400" dirty="0">
                <a:solidFill>
                  <a:srgbClr val="960000"/>
                </a:solidFill>
              </a:rPr>
              <a:t>Firm profit = $1,500</a:t>
            </a:r>
          </a:p>
        </p:txBody>
      </p:sp>
      <p:sp>
        <p:nvSpPr>
          <p:cNvPr id="6170" name="Text Box 26"/>
          <p:cNvSpPr txBox="1">
            <a:spLocks noChangeArrowheads="1"/>
          </p:cNvSpPr>
          <p:nvPr/>
        </p:nvSpPr>
        <p:spPr bwMode="auto">
          <a:xfrm>
            <a:off x="8289925" y="5619750"/>
            <a:ext cx="414338" cy="304800"/>
          </a:xfrm>
          <a:prstGeom prst="rect">
            <a:avLst/>
          </a:prstGeom>
          <a:noFill/>
          <a:ln w="9525">
            <a:noFill/>
            <a:miter lim="800000"/>
            <a:headEnd/>
            <a:tailEnd/>
          </a:ln>
          <a:effectLst/>
        </p:spPr>
        <p:txBody>
          <a:bodyPr>
            <a:spAutoFit/>
          </a:bodyPr>
          <a:lstStyle/>
          <a:p>
            <a:pPr>
              <a:spcBef>
                <a:spcPct val="50000"/>
              </a:spcBef>
            </a:pPr>
            <a:r>
              <a:rPr lang="en-US" sz="1400" i="1" dirty="0"/>
              <a:t>e</a:t>
            </a:r>
          </a:p>
        </p:txBody>
      </p:sp>
      <p:sp>
        <p:nvSpPr>
          <p:cNvPr id="6171" name="Rectangle 27"/>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fld id="{B5B0CE5C-ABD5-4DDD-9712-6E475F870A23}" type="slidenum">
              <a:rPr lang="en-US" sz="1200" smtClean="0"/>
              <a:pPr algn="r"/>
              <a:t>4</a:t>
            </a:fld>
            <a:endParaRPr lang="en-US" sz="1200" dirty="0"/>
          </a:p>
        </p:txBody>
      </p:sp>
      <p:cxnSp>
        <p:nvCxnSpPr>
          <p:cNvPr id="25" name="Lige pilforbindelse 24"/>
          <p:cNvCxnSpPr/>
          <p:nvPr/>
        </p:nvCxnSpPr>
        <p:spPr>
          <a:xfrm>
            <a:off x="3314700" y="1905000"/>
            <a:ext cx="3048000" cy="1371600"/>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 name="Tekstboks 26"/>
          <p:cNvSpPr txBox="1"/>
          <p:nvPr/>
        </p:nvSpPr>
        <p:spPr>
          <a:xfrm>
            <a:off x="8515350" y="4147870"/>
            <a:ext cx="2152650" cy="738664"/>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wrap="square" rtlCol="0">
            <a:spAutoFit/>
          </a:bodyPr>
          <a:lstStyle/>
          <a:p>
            <a:pPr algn="just"/>
            <a:r>
              <a:rPr lang="da-DK" sz="1400" dirty="0">
                <a:latin typeface="Times New Roman" panose="02020603050405020304" pitchFamily="18" charset="0"/>
                <a:cs typeface="Times New Roman" panose="02020603050405020304" pitchFamily="18" charset="0"/>
              </a:rPr>
              <a:t>Ian </a:t>
            </a:r>
            <a:r>
              <a:rPr lang="da-DK" sz="1400" dirty="0" err="1">
                <a:latin typeface="Times New Roman" panose="02020603050405020304" pitchFamily="18" charset="0"/>
                <a:cs typeface="Times New Roman" panose="02020603050405020304" pitchFamily="18" charset="0"/>
              </a:rPr>
              <a:t>promises</a:t>
            </a:r>
            <a:r>
              <a:rPr lang="da-DK" sz="1400" dirty="0">
                <a:latin typeface="Times New Roman" panose="02020603050405020304" pitchFamily="18" charset="0"/>
                <a:cs typeface="Times New Roman" panose="02020603050405020304" pitchFamily="18" charset="0"/>
              </a:rPr>
              <a:t> an </a:t>
            </a:r>
            <a:r>
              <a:rPr lang="da-DK" sz="1400" dirty="0" err="1">
                <a:latin typeface="Times New Roman" panose="02020603050405020304" pitchFamily="18" charset="0"/>
                <a:cs typeface="Times New Roman" panose="02020603050405020304" pitchFamily="18" charset="0"/>
              </a:rPr>
              <a:t>effort</a:t>
            </a:r>
            <a:r>
              <a:rPr lang="da-DK" sz="1400" dirty="0">
                <a:latin typeface="Times New Roman" panose="02020603050405020304" pitchFamily="18" charset="0"/>
                <a:cs typeface="Times New Roman" panose="02020603050405020304" pitchFamily="18" charset="0"/>
              </a:rPr>
              <a:t> of 50 units and is </a:t>
            </a:r>
            <a:r>
              <a:rPr lang="da-DK" sz="1400" dirty="0" err="1">
                <a:latin typeface="Times New Roman" panose="02020603050405020304" pitchFamily="18" charset="0"/>
                <a:cs typeface="Times New Roman" panose="02020603050405020304" pitchFamily="18" charset="0"/>
              </a:rPr>
              <a:t>paid</a:t>
            </a:r>
            <a:r>
              <a:rPr lang="da-DK" sz="1400" dirty="0">
                <a:latin typeface="Times New Roman" panose="02020603050405020304" pitchFamily="18" charset="0"/>
                <a:cs typeface="Times New Roman" panose="02020603050405020304" pitchFamily="18" charset="0"/>
              </a:rPr>
              <a:t> a </a:t>
            </a:r>
            <a:r>
              <a:rPr lang="da-DK" sz="1400" dirty="0" err="1">
                <a:latin typeface="Times New Roman" panose="02020603050405020304" pitchFamily="18" charset="0"/>
                <a:cs typeface="Times New Roman" panose="02020603050405020304" pitchFamily="18" charset="0"/>
              </a:rPr>
              <a:t>fixed</a:t>
            </a:r>
            <a:r>
              <a:rPr lang="da-DK" sz="1400" dirty="0">
                <a:latin typeface="Times New Roman" panose="02020603050405020304" pitchFamily="18" charset="0"/>
                <a:cs typeface="Times New Roman" panose="02020603050405020304" pitchFamily="18" charset="0"/>
              </a:rPr>
              <a:t> </a:t>
            </a:r>
            <a:r>
              <a:rPr lang="da-DK" sz="1400" dirty="0" err="1">
                <a:latin typeface="Times New Roman" panose="02020603050405020304" pitchFamily="18" charset="0"/>
                <a:cs typeface="Times New Roman" panose="02020603050405020304" pitchFamily="18" charset="0"/>
              </a:rPr>
              <a:t>salary</a:t>
            </a:r>
            <a:r>
              <a:rPr lang="da-DK" sz="1400" dirty="0">
                <a:latin typeface="Times New Roman" panose="02020603050405020304" pitchFamily="18" charset="0"/>
                <a:cs typeface="Times New Roman" panose="02020603050405020304" pitchFamily="18" charset="0"/>
              </a:rPr>
              <a:t> of 3,500$ !</a:t>
            </a:r>
          </a:p>
        </p:txBody>
      </p:sp>
      <p:cxnSp>
        <p:nvCxnSpPr>
          <p:cNvPr id="29" name="Lige pilforbindelse 28"/>
          <p:cNvCxnSpPr>
            <a:stCxn id="27" idx="1"/>
          </p:cNvCxnSpPr>
          <p:nvPr/>
        </p:nvCxnSpPr>
        <p:spPr>
          <a:xfrm flipH="1" flipV="1">
            <a:off x="6534150" y="4109204"/>
            <a:ext cx="1981200" cy="40799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8" name="Tekstboks 25">
            <a:extLst>
              <a:ext uri="{FF2B5EF4-FFF2-40B4-BE49-F238E27FC236}">
                <a16:creationId xmlns:a16="http://schemas.microsoft.com/office/drawing/2014/main" id="{0B5AC115-3017-6D47-8470-600DA0CFEE41}"/>
              </a:ext>
            </a:extLst>
          </p:cNvPr>
          <p:cNvSpPr txBox="1"/>
          <p:nvPr/>
        </p:nvSpPr>
        <p:spPr>
          <a:xfrm>
            <a:off x="930274" y="1605338"/>
            <a:ext cx="1620838" cy="1815882"/>
          </a:xfrm>
          <a:prstGeom prst="rect">
            <a:avLst/>
          </a:prstGeom>
          <a:gradFill>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12700">
            <a:solidFill>
              <a:schemeClr val="tx1">
                <a:lumMod val="95000"/>
                <a:lumOff val="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da-DK" sz="1400" dirty="0">
                <a:latin typeface="Times New Roman" panose="02020603050405020304" pitchFamily="18" charset="0"/>
                <a:cs typeface="Times New Roman" panose="02020603050405020304" pitchFamily="18" charset="0"/>
              </a:rPr>
              <a:t>TC = 1,000 + e2 =&gt; MC = 2e</a:t>
            </a:r>
          </a:p>
          <a:p>
            <a:endParaRPr lang="da-DK" sz="1400" dirty="0">
              <a:latin typeface="Times New Roman" panose="02020603050405020304" pitchFamily="18" charset="0"/>
              <a:cs typeface="Times New Roman" panose="02020603050405020304" pitchFamily="18" charset="0"/>
            </a:endParaRPr>
          </a:p>
          <a:p>
            <a:r>
              <a:rPr lang="da-DK" sz="1400" dirty="0">
                <a:latin typeface="Times New Roman" panose="02020603050405020304" pitchFamily="18" charset="0"/>
                <a:cs typeface="Times New Roman" panose="02020603050405020304" pitchFamily="18" charset="0"/>
              </a:rPr>
              <a:t>TB = 100e =&gt; </a:t>
            </a:r>
          </a:p>
          <a:p>
            <a:r>
              <a:rPr lang="da-DK" sz="1400" dirty="0">
                <a:latin typeface="Times New Roman" panose="02020603050405020304" pitchFamily="18" charset="0"/>
                <a:cs typeface="Times New Roman" panose="02020603050405020304" pitchFamily="18" charset="0"/>
              </a:rPr>
              <a:t>MB = 100</a:t>
            </a:r>
          </a:p>
          <a:p>
            <a:endParaRPr lang="da-DK" sz="1400" dirty="0">
              <a:latin typeface="Times New Roman" panose="02020603050405020304" pitchFamily="18" charset="0"/>
              <a:cs typeface="Times New Roman" panose="02020603050405020304" pitchFamily="18" charset="0"/>
            </a:endParaRPr>
          </a:p>
          <a:p>
            <a:r>
              <a:rPr lang="da-DK" sz="1400" dirty="0">
                <a:latin typeface="Times New Roman" panose="02020603050405020304" pitchFamily="18" charset="0"/>
                <a:cs typeface="Times New Roman" panose="02020603050405020304" pitchFamily="18" charset="0"/>
              </a:rPr>
              <a:t>2e = 100 =&gt;</a:t>
            </a:r>
          </a:p>
          <a:p>
            <a:r>
              <a:rPr lang="da-DK" sz="1400" dirty="0">
                <a:latin typeface="Times New Roman" panose="02020603050405020304" pitchFamily="18" charset="0"/>
                <a:cs typeface="Times New Roman" panose="02020603050405020304" pitchFamily="18" charset="0"/>
              </a:rPr>
              <a:t>e = 50</a:t>
            </a:r>
          </a:p>
        </p:txBody>
      </p:sp>
      <p:sp>
        <p:nvSpPr>
          <p:cNvPr id="30" name="Tekstboks 25">
            <a:extLst>
              <a:ext uri="{FF2B5EF4-FFF2-40B4-BE49-F238E27FC236}">
                <a16:creationId xmlns:a16="http://schemas.microsoft.com/office/drawing/2014/main" id="{0B5AC115-3017-6D47-8470-600DA0CFEE41}"/>
              </a:ext>
            </a:extLst>
          </p:cNvPr>
          <p:cNvSpPr txBox="1"/>
          <p:nvPr/>
        </p:nvSpPr>
        <p:spPr>
          <a:xfrm>
            <a:off x="901511" y="4239935"/>
            <a:ext cx="1620838" cy="954107"/>
          </a:xfrm>
          <a:prstGeom prst="rect">
            <a:avLst/>
          </a:prstGeom>
          <a:gradFill>
            <a:gsLst>
              <a:gs pos="0">
                <a:schemeClr val="dk1">
                  <a:tint val="50000"/>
                  <a:satMod val="300000"/>
                </a:schemeClr>
              </a:gs>
              <a:gs pos="35000">
                <a:schemeClr val="dk1">
                  <a:tint val="37000"/>
                  <a:satMod val="300000"/>
                </a:schemeClr>
              </a:gs>
              <a:gs pos="100000">
                <a:schemeClr val="dk1">
                  <a:tint val="15000"/>
                  <a:satMod val="350000"/>
                </a:schemeClr>
              </a:gs>
            </a:gsLst>
            <a:lin ang="16200000" scaled="1"/>
          </a:gradFill>
          <a:ln w="12700">
            <a:solidFill>
              <a:schemeClr val="tx1">
                <a:lumMod val="95000"/>
                <a:lumOff val="5000"/>
              </a:schemeClr>
            </a:solid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da-DK" sz="1400" dirty="0">
                <a:latin typeface="Times New Roman" panose="02020603050405020304" pitchFamily="18" charset="0"/>
                <a:cs typeface="Times New Roman" panose="02020603050405020304" pitchFamily="18" charset="0"/>
              </a:rPr>
              <a:t>MR = MC </a:t>
            </a:r>
          </a:p>
          <a:p>
            <a:r>
              <a:rPr lang="da-DK" sz="1400" dirty="0">
                <a:latin typeface="Times New Roman" panose="02020603050405020304" pitchFamily="18" charset="0"/>
                <a:cs typeface="Times New Roman" panose="02020603050405020304" pitchFamily="18" charset="0"/>
              </a:rPr>
              <a:t>Profit =1,500$</a:t>
            </a:r>
          </a:p>
          <a:p>
            <a:r>
              <a:rPr lang="da-DK" sz="1400" dirty="0">
                <a:latin typeface="Times New Roman" panose="02020603050405020304" pitchFamily="18" charset="0"/>
                <a:cs typeface="Times New Roman" panose="02020603050405020304" pitchFamily="18" charset="0"/>
              </a:rPr>
              <a:t>Bemærk note 2 og 3!</a:t>
            </a:r>
          </a:p>
        </p:txBody>
      </p:sp>
    </p:spTree>
    <p:extLst>
      <p:ext uri="{BB962C8B-B14F-4D97-AF65-F5344CB8AC3E}">
        <p14:creationId xmlns:p14="http://schemas.microsoft.com/office/powerpoint/2010/main" val="373775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112520" y="198121"/>
            <a:ext cx="8229600" cy="1143000"/>
          </a:xfrm>
        </p:spPr>
        <p:txBody>
          <a:bodyPr/>
          <a:lstStyle/>
          <a:p>
            <a:r>
              <a:rPr lang="en-US" dirty="0"/>
              <a:t>Results</a:t>
            </a:r>
          </a:p>
        </p:txBody>
      </p:sp>
      <p:sp>
        <p:nvSpPr>
          <p:cNvPr id="30723" name="Rectangle 3"/>
          <p:cNvSpPr>
            <a:spLocks noGrp="1" noChangeArrowheads="1"/>
          </p:cNvSpPr>
          <p:nvPr>
            <p:ph idx="1"/>
          </p:nvPr>
        </p:nvSpPr>
        <p:spPr>
          <a:xfrm>
            <a:off x="1112520" y="1540927"/>
            <a:ext cx="9479280" cy="4525963"/>
          </a:xfrm>
        </p:spPr>
        <p:txBody>
          <a:bodyPr/>
          <a:lstStyle/>
          <a:p>
            <a:endParaRPr lang="en-US" dirty="0"/>
          </a:p>
          <a:p>
            <a:r>
              <a:rPr lang="en-US" sz="2800" dirty="0"/>
              <a:t>The firm will pay Ian $3,500 for 50 hours of effort (fixed salary)</a:t>
            </a:r>
          </a:p>
          <a:p>
            <a:r>
              <a:rPr lang="en-US" sz="2800" dirty="0"/>
              <a:t>Problems:</a:t>
            </a:r>
          </a:p>
          <a:p>
            <a:pPr lvl="1"/>
            <a:r>
              <a:rPr lang="en-US" sz="2600" dirty="0"/>
              <a:t>The firm </a:t>
            </a:r>
            <a:r>
              <a:rPr lang="en-US" sz="2600" dirty="0">
                <a:solidFill>
                  <a:srgbClr val="960000"/>
                </a:solidFill>
              </a:rPr>
              <a:t>cannot</a:t>
            </a:r>
            <a:r>
              <a:rPr lang="en-US" sz="2600" dirty="0"/>
              <a:t> observe Ian’s effort without costs.</a:t>
            </a:r>
          </a:p>
          <a:p>
            <a:pPr lvl="1"/>
            <a:r>
              <a:rPr lang="en-US" sz="2600" dirty="0">
                <a:solidFill>
                  <a:srgbClr val="960000"/>
                </a:solidFill>
              </a:rPr>
              <a:t>Did</a:t>
            </a:r>
            <a:r>
              <a:rPr lang="en-US" sz="2600" dirty="0"/>
              <a:t> Ian work hard? </a:t>
            </a:r>
          </a:p>
          <a:p>
            <a:pPr lvl="1"/>
            <a:r>
              <a:rPr lang="en-US" sz="2600" dirty="0"/>
              <a:t>The firm could observe output, but </a:t>
            </a:r>
          </a:p>
          <a:p>
            <a:pPr lvl="2"/>
            <a:r>
              <a:rPr lang="en-US" sz="2400" dirty="0"/>
              <a:t>it may be difficult to measure and </a:t>
            </a:r>
          </a:p>
          <a:p>
            <a:pPr lvl="2"/>
            <a:r>
              <a:rPr lang="en-US" sz="2400" dirty="0"/>
              <a:t>may be affected by factors beyond the employee’s control</a:t>
            </a:r>
          </a:p>
        </p:txBody>
      </p:sp>
      <p:sp>
        <p:nvSpPr>
          <p:cNvPr id="30724" name="Rectangle 4"/>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fld id="{39A928C5-4CC1-4355-9D49-D49BD94ED2F8}" type="slidenum">
              <a:rPr lang="en-US" sz="1200" smtClean="0"/>
              <a:pPr algn="r"/>
              <a:t>5</a:t>
            </a:fld>
            <a:endParaRPr lang="en-US" sz="1200" dirty="0"/>
          </a:p>
        </p:txBody>
      </p:sp>
      <p:sp>
        <p:nvSpPr>
          <p:cNvPr id="5" name="Tekstboks 4"/>
          <p:cNvSpPr txBox="1"/>
          <p:nvPr/>
        </p:nvSpPr>
        <p:spPr>
          <a:xfrm>
            <a:off x="8621485" y="913884"/>
            <a:ext cx="3473929" cy="369332"/>
          </a:xfrm>
          <a:prstGeom prst="rect">
            <a:avLst/>
          </a:prstGeom>
          <a:solidFill>
            <a:schemeClr val="bg1"/>
          </a:solidFill>
          <a:ln>
            <a:solidFill>
              <a:schemeClr val="tx1">
                <a:lumMod val="50000"/>
                <a:lumOff val="50000"/>
              </a:schemeClr>
            </a:solidFill>
          </a:ln>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da-DK" dirty="0"/>
              <a:t>Ramme 466n – 467n. &amp; 468ø.!</a:t>
            </a:r>
          </a:p>
        </p:txBody>
      </p:sp>
    </p:spTree>
    <p:extLst>
      <p:ext uri="{BB962C8B-B14F-4D97-AF65-F5344CB8AC3E}">
        <p14:creationId xmlns:p14="http://schemas.microsoft.com/office/powerpoint/2010/main" val="143398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07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72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72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72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72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72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7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988423" y="150676"/>
            <a:ext cx="8229600" cy="1143000"/>
          </a:xfrm>
        </p:spPr>
        <p:txBody>
          <a:bodyPr/>
          <a:lstStyle/>
          <a:p>
            <a:r>
              <a:rPr lang="en-US" dirty="0"/>
              <a:t>Incentive Problems</a:t>
            </a:r>
          </a:p>
        </p:txBody>
      </p:sp>
      <p:sp>
        <p:nvSpPr>
          <p:cNvPr id="33795" name="Rectangle 3"/>
          <p:cNvSpPr>
            <a:spLocks noGrp="1" noChangeArrowheads="1"/>
          </p:cNvSpPr>
          <p:nvPr>
            <p:ph idx="1"/>
          </p:nvPr>
        </p:nvSpPr>
        <p:spPr>
          <a:xfrm>
            <a:off x="1371600" y="1293676"/>
            <a:ext cx="9601200" cy="4310290"/>
          </a:xfrm>
        </p:spPr>
        <p:txBody>
          <a:bodyPr>
            <a:noAutofit/>
          </a:bodyPr>
          <a:lstStyle/>
          <a:p>
            <a:r>
              <a:rPr lang="en-US" sz="3200" dirty="0"/>
              <a:t>If the interests of the firm and employee are aligned, the incentive problem does not exist!</a:t>
            </a:r>
          </a:p>
          <a:p>
            <a:r>
              <a:rPr lang="en-US" sz="3200" dirty="0"/>
              <a:t>In case of incentive problems – mis-aligned incentives between principal and agent - </a:t>
            </a:r>
            <a:r>
              <a:rPr lang="en-US" sz="3200" u="sng" dirty="0"/>
              <a:t>contracts</a:t>
            </a:r>
            <a:r>
              <a:rPr lang="en-US" sz="3200" dirty="0"/>
              <a:t> can solve the problem if the agents' actions are observable.</a:t>
            </a:r>
          </a:p>
          <a:p>
            <a:r>
              <a:rPr lang="en-US" sz="3200" dirty="0">
                <a:solidFill>
                  <a:srgbClr val="960000"/>
                </a:solidFill>
              </a:rPr>
              <a:t>An essential ‘trade-off’ exists regarding the employees/agents’ action/effort; the benefits goes to the firm/principal, but the personal costs are born by the employee/agent!</a:t>
            </a:r>
          </a:p>
        </p:txBody>
      </p:sp>
      <p:sp>
        <p:nvSpPr>
          <p:cNvPr id="33796" name="Rectangle 4"/>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fld id="{F1FD1295-5122-4FF4-AF80-10DDDD9B4DDE}" type="slidenum">
              <a:rPr lang="en-US" sz="1200" smtClean="0"/>
              <a:pPr algn="r"/>
              <a:t>6</a:t>
            </a:fld>
            <a:endParaRPr lang="en-US" sz="1200" dirty="0"/>
          </a:p>
        </p:txBody>
      </p:sp>
    </p:spTree>
    <p:extLst>
      <p:ext uri="{BB962C8B-B14F-4D97-AF65-F5344CB8AC3E}">
        <p14:creationId xmlns:p14="http://schemas.microsoft.com/office/powerpoint/2010/main" val="884276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37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7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7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962297" y="136526"/>
            <a:ext cx="8229600" cy="1143000"/>
          </a:xfrm>
        </p:spPr>
        <p:txBody>
          <a:bodyPr>
            <a:normAutofit/>
          </a:bodyPr>
          <a:lstStyle/>
          <a:p>
            <a:pPr eaLnBrk="1" hangingPunct="1"/>
            <a:r>
              <a:rPr lang="en-US" dirty="0"/>
              <a:t>Incentives from Ownership</a:t>
            </a:r>
          </a:p>
        </p:txBody>
      </p:sp>
      <p:sp>
        <p:nvSpPr>
          <p:cNvPr id="7171" name="Rectangle 3"/>
          <p:cNvSpPr>
            <a:spLocks noGrp="1" noChangeArrowheads="1"/>
          </p:cNvSpPr>
          <p:nvPr>
            <p:ph idx="1"/>
          </p:nvPr>
        </p:nvSpPr>
        <p:spPr>
          <a:xfrm>
            <a:off x="1658983" y="1524001"/>
            <a:ext cx="8582297" cy="5007428"/>
          </a:xfrm>
        </p:spPr>
        <p:txBody>
          <a:bodyPr>
            <a:normAutofit lnSpcReduction="10000"/>
          </a:bodyPr>
          <a:lstStyle/>
          <a:p>
            <a:pPr eaLnBrk="1" hangingPunct="1">
              <a:lnSpc>
                <a:spcPct val="90000"/>
              </a:lnSpc>
              <a:buClr>
                <a:srgbClr val="000066"/>
              </a:buClr>
            </a:pPr>
            <a:r>
              <a:rPr lang="en-US" sz="2600" dirty="0">
                <a:solidFill>
                  <a:srgbClr val="960000"/>
                </a:solidFill>
              </a:rPr>
              <a:t>One way to avoid this problem is to sell employees the rights to their production – to create a ‘residual </a:t>
            </a:r>
            <a:r>
              <a:rPr lang="en-US" sz="2600" dirty="0" err="1">
                <a:solidFill>
                  <a:srgbClr val="960000"/>
                </a:solidFill>
              </a:rPr>
              <a:t>claimancy</a:t>
            </a:r>
            <a:r>
              <a:rPr lang="en-US" sz="2600" dirty="0">
                <a:solidFill>
                  <a:srgbClr val="960000"/>
                </a:solidFill>
              </a:rPr>
              <a:t>’ kind of ownership (</a:t>
            </a:r>
            <a:r>
              <a:rPr lang="en-US" sz="2600" dirty="0" err="1">
                <a:solidFill>
                  <a:srgbClr val="960000"/>
                </a:solidFill>
              </a:rPr>
              <a:t>ramme</a:t>
            </a:r>
            <a:r>
              <a:rPr lang="en-US" sz="2600" dirty="0">
                <a:solidFill>
                  <a:srgbClr val="960000"/>
                </a:solidFill>
              </a:rPr>
              <a:t> 468m.); </a:t>
            </a:r>
            <a:r>
              <a:rPr lang="en-US" sz="2600" u="sng" dirty="0">
                <a:solidFill>
                  <a:srgbClr val="960000"/>
                </a:solidFill>
              </a:rPr>
              <a:t>internalizing</a:t>
            </a:r>
            <a:r>
              <a:rPr lang="en-US" sz="2600" dirty="0">
                <a:solidFill>
                  <a:srgbClr val="960000"/>
                </a:solidFill>
              </a:rPr>
              <a:t> (to the employee/agent) benefits and costs! =&gt;</a:t>
            </a:r>
          </a:p>
          <a:p>
            <a:pPr eaLnBrk="1" hangingPunct="1">
              <a:lnSpc>
                <a:spcPct val="90000"/>
              </a:lnSpc>
              <a:buClr>
                <a:srgbClr val="000066"/>
              </a:buClr>
            </a:pPr>
            <a:endParaRPr lang="en-US" dirty="0"/>
          </a:p>
          <a:p>
            <a:pPr eaLnBrk="1" hangingPunct="1">
              <a:lnSpc>
                <a:spcPct val="90000"/>
              </a:lnSpc>
              <a:buClr>
                <a:srgbClr val="000066"/>
              </a:buClr>
            </a:pPr>
            <a:endParaRPr lang="en-US" dirty="0"/>
          </a:p>
          <a:p>
            <a:pPr eaLnBrk="1" hangingPunct="1">
              <a:lnSpc>
                <a:spcPct val="90000"/>
              </a:lnSpc>
              <a:buClr>
                <a:srgbClr val="000066"/>
              </a:buClr>
            </a:pPr>
            <a:r>
              <a:rPr lang="en-US" sz="2600" dirty="0">
                <a:solidFill>
                  <a:srgbClr val="960000"/>
                </a:solidFill>
              </a:rPr>
              <a:t>This is seen in franchising and managerial buyouts.</a:t>
            </a:r>
          </a:p>
          <a:p>
            <a:pPr eaLnBrk="1" hangingPunct="1">
              <a:lnSpc>
                <a:spcPct val="90000"/>
              </a:lnSpc>
              <a:buClr>
                <a:srgbClr val="000066"/>
              </a:buClr>
            </a:pPr>
            <a:r>
              <a:rPr lang="en-US" sz="2600" dirty="0">
                <a:solidFill>
                  <a:srgbClr val="960000"/>
                </a:solidFill>
              </a:rPr>
              <a:t>Limiting factors</a:t>
            </a:r>
          </a:p>
          <a:p>
            <a:pPr lvl="1" eaLnBrk="1" hangingPunct="1">
              <a:lnSpc>
                <a:spcPct val="90000"/>
              </a:lnSpc>
              <a:buClr>
                <a:srgbClr val="000066"/>
              </a:buClr>
              <a:buFontTx/>
              <a:buChar char="•"/>
            </a:pPr>
            <a:r>
              <a:rPr lang="en-US" sz="2600" dirty="0">
                <a:solidFill>
                  <a:srgbClr val="960000"/>
                </a:solidFill>
              </a:rPr>
              <a:t>wealth constraints </a:t>
            </a:r>
            <a:r>
              <a:rPr lang="en-US" sz="2600" i="0" dirty="0">
                <a:solidFill>
                  <a:srgbClr val="960000"/>
                </a:solidFill>
              </a:rPr>
              <a:t>(who can afford to buy?)</a:t>
            </a:r>
          </a:p>
          <a:p>
            <a:pPr lvl="1" eaLnBrk="1" hangingPunct="1">
              <a:lnSpc>
                <a:spcPct val="90000"/>
              </a:lnSpc>
              <a:buClr>
                <a:srgbClr val="000066"/>
              </a:buClr>
              <a:buFontTx/>
              <a:buChar char="•"/>
            </a:pPr>
            <a:r>
              <a:rPr lang="en-US" sz="2600" dirty="0">
                <a:solidFill>
                  <a:srgbClr val="960000"/>
                </a:solidFill>
              </a:rPr>
              <a:t>risk aversion </a:t>
            </a:r>
            <a:r>
              <a:rPr lang="en-US" sz="2600" i="0" dirty="0">
                <a:solidFill>
                  <a:srgbClr val="960000"/>
                </a:solidFill>
              </a:rPr>
              <a:t>(random, controllability)</a:t>
            </a:r>
          </a:p>
          <a:p>
            <a:pPr lvl="1" eaLnBrk="1" hangingPunct="1">
              <a:lnSpc>
                <a:spcPct val="90000"/>
              </a:lnSpc>
              <a:buClr>
                <a:srgbClr val="000066"/>
              </a:buClr>
              <a:buFontTx/>
              <a:buChar char="•"/>
            </a:pPr>
            <a:r>
              <a:rPr lang="en-US" sz="2600" dirty="0">
                <a:solidFill>
                  <a:srgbClr val="960000"/>
                </a:solidFill>
              </a:rPr>
              <a:t>team production </a:t>
            </a:r>
            <a:r>
              <a:rPr lang="en-US" sz="2600" i="0" dirty="0">
                <a:solidFill>
                  <a:srgbClr val="960000"/>
                </a:solidFill>
              </a:rPr>
              <a:t>(free-rider problems)</a:t>
            </a:r>
          </a:p>
        </p:txBody>
      </p:sp>
      <p:sp>
        <p:nvSpPr>
          <p:cNvPr id="7173" name="Rectangle 5"/>
          <p:cNvSpPr>
            <a:spLocks noChangeArrowheads="1"/>
          </p:cNvSpPr>
          <p:nvPr/>
        </p:nvSpPr>
        <p:spPr bwMode="auto">
          <a:xfrm>
            <a:off x="9450977" y="6049964"/>
            <a:ext cx="2133600" cy="244475"/>
          </a:xfrm>
          <a:prstGeom prst="rect">
            <a:avLst/>
          </a:prstGeom>
          <a:noFill/>
          <a:ln w="9525">
            <a:noFill/>
            <a:miter lim="800000"/>
            <a:headEnd/>
            <a:tailEnd/>
          </a:ln>
          <a:effectLst/>
        </p:spPr>
        <p:txBody>
          <a:bodyPr/>
          <a:lstStyle/>
          <a:p>
            <a:pPr algn="r"/>
            <a:r>
              <a:rPr lang="en-US" sz="1200" dirty="0"/>
              <a:t>7</a:t>
            </a:r>
          </a:p>
        </p:txBody>
      </p:sp>
      <p:graphicFrame>
        <p:nvGraphicFramePr>
          <p:cNvPr id="2" name="Objekt 1"/>
          <p:cNvGraphicFramePr>
            <a:graphicFrameLocks noChangeAspect="1"/>
          </p:cNvGraphicFramePr>
          <p:nvPr>
            <p:extLst>
              <p:ext uri="{D42A27DB-BD31-4B8C-83A1-F6EECF244321}">
                <p14:modId xmlns:p14="http://schemas.microsoft.com/office/powerpoint/2010/main" val="2345266855"/>
              </p:ext>
            </p:extLst>
          </p:nvPr>
        </p:nvGraphicFramePr>
        <p:xfrm>
          <a:off x="2913017" y="3165794"/>
          <a:ext cx="5617029" cy="693737"/>
        </p:xfrm>
        <a:graphic>
          <a:graphicData uri="http://schemas.openxmlformats.org/presentationml/2006/ole">
            <mc:AlternateContent xmlns:mc="http://schemas.openxmlformats.org/markup-compatibility/2006">
              <mc:Choice xmlns:v="urn:schemas-microsoft-com:vml" Requires="v">
                <p:oleObj name="Ligning" r:id="rId2" imgW="1523880" imgH="228600" progId="Equation.3">
                  <p:embed/>
                </p:oleObj>
              </mc:Choice>
              <mc:Fallback>
                <p:oleObj name="Ligning" r:id="rId2" imgW="1523880" imgH="228600" progId="Equation.3">
                  <p:embed/>
                  <p:pic>
                    <p:nvPicPr>
                      <p:cNvPr id="2" name="Objekt 1"/>
                      <p:cNvPicPr>
                        <a:picLocks noChangeAspect="1" noChangeArrowheads="1"/>
                      </p:cNvPicPr>
                      <p:nvPr/>
                    </p:nvPicPr>
                    <p:blipFill>
                      <a:blip r:embed="rId3"/>
                      <a:srcRect/>
                      <a:stretch>
                        <a:fillRect/>
                      </a:stretch>
                    </p:blipFill>
                    <p:spPr bwMode="auto">
                      <a:xfrm>
                        <a:off x="2913017" y="3165794"/>
                        <a:ext cx="5617029" cy="693737"/>
                      </a:xfrm>
                      <a:prstGeom prst="rect">
                        <a:avLst/>
                      </a:prstGeom>
                      <a:noFill/>
                      <a:ln>
                        <a:noFill/>
                      </a:ln>
                    </p:spPr>
                  </p:pic>
                </p:oleObj>
              </mc:Fallback>
            </mc:AlternateContent>
          </a:graphicData>
        </a:graphic>
      </p:graphicFrame>
      <p:sp>
        <p:nvSpPr>
          <p:cNvPr id="6" name="5-takket stjerne 1"/>
          <p:cNvSpPr/>
          <p:nvPr/>
        </p:nvSpPr>
        <p:spPr>
          <a:xfrm>
            <a:off x="10680370" y="1859850"/>
            <a:ext cx="1181100" cy="901700"/>
          </a:xfrm>
          <a:prstGeom prst="star5">
            <a:avLst/>
          </a:prstGeom>
          <a:solidFill>
            <a:srgbClr val="FFFF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pic>
        <p:nvPicPr>
          <p:cNvPr id="2050" name="Picture 2" descr="Franchisee Guide">
            <a:extLst>
              <a:ext uri="{FF2B5EF4-FFF2-40B4-BE49-F238E27FC236}">
                <a16:creationId xmlns:a16="http://schemas.microsoft.com/office/drawing/2014/main" id="{22E4EAE4-E759-D916-A7A3-59D421FC14B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2653" t="4761" r="12123" b="8218"/>
          <a:stretch>
            <a:fillRect/>
          </a:stretch>
        </p:blipFill>
        <p:spPr bwMode="auto">
          <a:xfrm>
            <a:off x="10075939" y="4113470"/>
            <a:ext cx="1673979" cy="193649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81CE32C9-7966-89B2-1968-82F28946BF9E}"/>
              </a:ext>
            </a:extLst>
          </p:cNvPr>
          <p:cNvSpPr txBox="1"/>
          <p:nvPr/>
        </p:nvSpPr>
        <p:spPr>
          <a:xfrm>
            <a:off x="9801343" y="6003253"/>
            <a:ext cx="2452916" cy="169277"/>
          </a:xfrm>
          <a:prstGeom prst="rect">
            <a:avLst/>
          </a:prstGeom>
          <a:noFill/>
        </p:spPr>
        <p:txBody>
          <a:bodyPr wrap="none" rtlCol="0">
            <a:spAutoFit/>
          </a:bodyPr>
          <a:lstStyle/>
          <a:p>
            <a:r>
              <a:rPr lang="en-US" sz="500" dirty="0">
                <a:solidFill>
                  <a:schemeClr val="bg2">
                    <a:lumMod val="75000"/>
                  </a:schemeClr>
                </a:solidFill>
              </a:rPr>
              <a:t>Kilde: https://</a:t>
            </a:r>
            <a:r>
              <a:rPr lang="en-US" sz="500" dirty="0" err="1">
                <a:solidFill>
                  <a:schemeClr val="bg2">
                    <a:lumMod val="75000"/>
                  </a:schemeClr>
                </a:solidFill>
              </a:rPr>
              <a:t>www.mcdonalds.com</a:t>
            </a:r>
            <a:r>
              <a:rPr lang="en-US" sz="500" dirty="0">
                <a:solidFill>
                  <a:schemeClr val="bg2">
                    <a:lumMod val="75000"/>
                  </a:schemeClr>
                </a:solidFill>
              </a:rPr>
              <a:t>/us/</a:t>
            </a:r>
            <a:r>
              <a:rPr lang="en-US" sz="500" dirty="0" err="1">
                <a:solidFill>
                  <a:schemeClr val="bg2">
                    <a:lumMod val="75000"/>
                  </a:schemeClr>
                </a:solidFill>
              </a:rPr>
              <a:t>en</a:t>
            </a:r>
            <a:r>
              <a:rPr lang="en-US" sz="500" dirty="0">
                <a:solidFill>
                  <a:schemeClr val="bg2">
                    <a:lumMod val="75000"/>
                  </a:schemeClr>
                </a:solidFill>
              </a:rPr>
              <a:t>-us/us-franchising/franchisee-</a:t>
            </a:r>
            <a:r>
              <a:rPr lang="en-US" sz="500" dirty="0" err="1">
                <a:solidFill>
                  <a:schemeClr val="bg2">
                    <a:lumMod val="75000"/>
                  </a:schemeClr>
                </a:solidFill>
              </a:rPr>
              <a:t>guide.html</a:t>
            </a:r>
            <a:endParaRPr lang="en-US" sz="500" dirty="0">
              <a:solidFill>
                <a:schemeClr val="bg2">
                  <a:lumMod val="75000"/>
                </a:schemeClr>
              </a:solidFill>
            </a:endParaRPr>
          </a:p>
        </p:txBody>
      </p:sp>
    </p:spTree>
    <p:extLst>
      <p:ext uri="{BB962C8B-B14F-4D97-AF65-F5344CB8AC3E}">
        <p14:creationId xmlns:p14="http://schemas.microsoft.com/office/powerpoint/2010/main" val="3396706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171">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171">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8" presetClass="emph" presetSubtype="0" fill="hold" grpId="0" nodeType="clickEffect">
                                  <p:stCondLst>
                                    <p:cond delay="0"/>
                                  </p:stCondLst>
                                  <p:childTnLst>
                                    <p:animRot by="21600000">
                                      <p:cBhvr>
                                        <p:cTn id="24" dur="10000" fill="hold"/>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295400" y="254726"/>
            <a:ext cx="8229600" cy="1143000"/>
          </a:xfrm>
        </p:spPr>
        <p:txBody>
          <a:bodyPr/>
          <a:lstStyle/>
          <a:p>
            <a:pPr eaLnBrk="1" hangingPunct="1"/>
            <a:r>
              <a:rPr lang="en-US" dirty="0"/>
              <a:t>Optimal Risk Sharing </a:t>
            </a:r>
          </a:p>
        </p:txBody>
      </p:sp>
      <p:sp>
        <p:nvSpPr>
          <p:cNvPr id="8195" name="Rectangle 3"/>
          <p:cNvSpPr>
            <a:spLocks noGrp="1" noChangeArrowheads="1"/>
          </p:cNvSpPr>
          <p:nvPr>
            <p:ph idx="1"/>
          </p:nvPr>
        </p:nvSpPr>
        <p:spPr>
          <a:xfrm>
            <a:off x="1362547" y="1026534"/>
            <a:ext cx="10269940" cy="4469674"/>
          </a:xfrm>
        </p:spPr>
        <p:txBody>
          <a:bodyPr>
            <a:noAutofit/>
          </a:bodyPr>
          <a:lstStyle/>
          <a:p>
            <a:pPr eaLnBrk="1" hangingPunct="1">
              <a:buClr>
                <a:srgbClr val="000066"/>
              </a:buClr>
            </a:pPr>
            <a:r>
              <a:rPr lang="en-US" sz="2800" dirty="0"/>
              <a:t>Most </a:t>
            </a:r>
            <a:r>
              <a:rPr lang="en-US" sz="2800" u="sng" dirty="0"/>
              <a:t>individuals</a:t>
            </a:r>
            <a:r>
              <a:rPr lang="en-US" sz="2800" dirty="0"/>
              <a:t> (agents) are risk averse</a:t>
            </a:r>
          </a:p>
          <a:p>
            <a:pPr lvl="1" eaLnBrk="1" hangingPunct="1">
              <a:buClr>
                <a:srgbClr val="000066"/>
              </a:buClr>
              <a:buFontTx/>
              <a:buChar char="•"/>
            </a:pPr>
            <a:r>
              <a:rPr lang="en-US" sz="2800" dirty="0">
                <a:solidFill>
                  <a:srgbClr val="960000"/>
                </a:solidFill>
              </a:rPr>
              <a:t>for a given income level, individuals prefer less dispersion </a:t>
            </a:r>
            <a:r>
              <a:rPr lang="en-US" sz="2800" i="0" dirty="0">
                <a:solidFill>
                  <a:srgbClr val="960000"/>
                </a:solidFill>
              </a:rPr>
              <a:t>(</a:t>
            </a:r>
            <a:r>
              <a:rPr lang="en-US" sz="2800" i="0" dirty="0" err="1">
                <a:solidFill>
                  <a:srgbClr val="960000"/>
                </a:solidFill>
              </a:rPr>
              <a:t>spredning</a:t>
            </a:r>
            <a:r>
              <a:rPr lang="en-US" sz="2800" i="0" dirty="0">
                <a:solidFill>
                  <a:srgbClr val="960000"/>
                </a:solidFill>
              </a:rPr>
              <a:t>) </a:t>
            </a:r>
            <a:r>
              <a:rPr lang="en-US" sz="2800" dirty="0">
                <a:solidFill>
                  <a:srgbClr val="960000"/>
                </a:solidFill>
              </a:rPr>
              <a:t>in outcomes </a:t>
            </a:r>
            <a:r>
              <a:rPr lang="en-US" sz="2800" i="0" dirty="0">
                <a:solidFill>
                  <a:srgbClr val="960000"/>
                </a:solidFill>
              </a:rPr>
              <a:t>(</a:t>
            </a:r>
            <a:r>
              <a:rPr lang="en-US" sz="2800" i="0" dirty="0" err="1">
                <a:solidFill>
                  <a:srgbClr val="960000"/>
                </a:solidFill>
              </a:rPr>
              <a:t>ramme</a:t>
            </a:r>
            <a:r>
              <a:rPr lang="en-US" sz="2800" i="0" dirty="0">
                <a:solidFill>
                  <a:srgbClr val="960000"/>
                </a:solidFill>
              </a:rPr>
              <a:t> 469n. – 470n.)</a:t>
            </a:r>
          </a:p>
          <a:p>
            <a:pPr eaLnBrk="1" hangingPunct="1">
              <a:buClr>
                <a:srgbClr val="000066"/>
              </a:buClr>
            </a:pPr>
            <a:r>
              <a:rPr lang="en-US" sz="2800" u="sng" dirty="0"/>
              <a:t>Shareholders</a:t>
            </a:r>
            <a:r>
              <a:rPr lang="en-US" sz="2800" dirty="0"/>
              <a:t> (principals) have </a:t>
            </a:r>
            <a:r>
              <a:rPr lang="en-US" sz="2800" dirty="0">
                <a:solidFill>
                  <a:srgbClr val="960000"/>
                </a:solidFill>
              </a:rPr>
              <a:t>diverse</a:t>
            </a:r>
            <a:r>
              <a:rPr lang="en-US" sz="2800" dirty="0">
                <a:solidFill>
                  <a:srgbClr val="FF9900"/>
                </a:solidFill>
              </a:rPr>
              <a:t> </a:t>
            </a:r>
            <a:r>
              <a:rPr lang="en-US" sz="2800" dirty="0"/>
              <a:t>portfolios:</a:t>
            </a:r>
          </a:p>
          <a:p>
            <a:pPr lvl="1" eaLnBrk="1" hangingPunct="1">
              <a:buClr>
                <a:srgbClr val="000066"/>
              </a:buClr>
              <a:buFontTx/>
              <a:buChar char="•"/>
            </a:pPr>
            <a:r>
              <a:rPr lang="en-US" sz="2800" dirty="0"/>
              <a:t>are less concerned about performance of any </a:t>
            </a:r>
            <a:r>
              <a:rPr lang="en-US" sz="2800" dirty="0">
                <a:solidFill>
                  <a:srgbClr val="960000"/>
                </a:solidFill>
              </a:rPr>
              <a:t>one</a:t>
            </a:r>
            <a:r>
              <a:rPr lang="en-US" sz="2800" dirty="0">
                <a:solidFill>
                  <a:srgbClr val="FF6600"/>
                </a:solidFill>
              </a:rPr>
              <a:t> </a:t>
            </a:r>
            <a:r>
              <a:rPr lang="en-US" sz="2800" dirty="0"/>
              <a:t>company</a:t>
            </a:r>
          </a:p>
          <a:p>
            <a:pPr lvl="1" eaLnBrk="1" hangingPunct="1">
              <a:buClr>
                <a:srgbClr val="000066"/>
              </a:buClr>
              <a:buFontTx/>
              <a:buChar char="•"/>
            </a:pPr>
            <a:r>
              <a:rPr lang="en-US" sz="2800" dirty="0"/>
              <a:t>can manage risk more effectively than employees </a:t>
            </a:r>
          </a:p>
          <a:p>
            <a:pPr eaLnBrk="1" hangingPunct="1">
              <a:buClr>
                <a:srgbClr val="000066"/>
              </a:buClr>
            </a:pPr>
            <a:r>
              <a:rPr lang="en-US" sz="2800" u="sng" dirty="0"/>
              <a:t>Employees</a:t>
            </a:r>
            <a:r>
              <a:rPr lang="en-US" sz="2800" dirty="0"/>
              <a:t> receive substantial income from </a:t>
            </a:r>
            <a:r>
              <a:rPr lang="en-US" sz="2800" dirty="0">
                <a:solidFill>
                  <a:srgbClr val="960000"/>
                </a:solidFill>
              </a:rPr>
              <a:t>single</a:t>
            </a:r>
            <a:r>
              <a:rPr lang="en-US" sz="2800" dirty="0">
                <a:solidFill>
                  <a:srgbClr val="FF9900"/>
                </a:solidFill>
              </a:rPr>
              <a:t> </a:t>
            </a:r>
            <a:r>
              <a:rPr lang="en-US" sz="2800" dirty="0"/>
              <a:t>company =&gt; </a:t>
            </a:r>
            <a:r>
              <a:rPr lang="en-US" sz="2800" dirty="0" err="1"/>
              <a:t>medfører</a:t>
            </a:r>
            <a:r>
              <a:rPr lang="en-US" sz="2800" dirty="0"/>
              <a:t> 471m. (VIGTIGT!): </a:t>
            </a:r>
            <a:r>
              <a:rPr lang="en-US" sz="2800" dirty="0" err="1"/>
              <a:t>Derfor</a:t>
            </a:r>
            <a:r>
              <a:rPr lang="en-US" sz="2800" dirty="0"/>
              <a:t> </a:t>
            </a:r>
            <a:r>
              <a:rPr lang="en-US" sz="2800" dirty="0" err="1"/>
              <a:t>betal</a:t>
            </a:r>
            <a:r>
              <a:rPr lang="en-US" sz="2800" dirty="0"/>
              <a:t> </a:t>
            </a:r>
            <a:r>
              <a:rPr lang="en-US" sz="2800" dirty="0" err="1"/>
              <a:t>agenter</a:t>
            </a:r>
            <a:r>
              <a:rPr lang="en-US" sz="2800" dirty="0"/>
              <a:t> fast </a:t>
            </a:r>
            <a:r>
              <a:rPr lang="en-US" sz="2800" dirty="0" err="1"/>
              <a:t>løn</a:t>
            </a:r>
            <a:r>
              <a:rPr lang="en-US" sz="2800" dirty="0"/>
              <a:t> </a:t>
            </a:r>
            <a:r>
              <a:rPr lang="en-US" sz="3000" dirty="0"/>
              <a:t>(</a:t>
            </a:r>
            <a:r>
              <a:rPr lang="en-US" sz="3000" dirty="0" err="1"/>
              <a:t>fra</a:t>
            </a:r>
            <a:r>
              <a:rPr lang="en-US" sz="3000" dirty="0"/>
              <a:t> et </a:t>
            </a:r>
            <a:r>
              <a:rPr lang="en-US" sz="3000" dirty="0" err="1"/>
              <a:t>risiko-perspektiv</a:t>
            </a:r>
            <a:r>
              <a:rPr lang="en-US" sz="3000" dirty="0"/>
              <a:t>!)</a:t>
            </a:r>
          </a:p>
        </p:txBody>
      </p:sp>
      <p:sp>
        <p:nvSpPr>
          <p:cNvPr id="8197" name="Rectangle 5"/>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fld id="{799A67EF-B317-4CF0-83B0-4358F198920B}" type="slidenum">
              <a:rPr lang="en-US" sz="1200" smtClean="0"/>
              <a:pPr algn="r"/>
              <a:t>8</a:t>
            </a:fld>
            <a:endParaRPr lang="en-US" sz="1200" dirty="0"/>
          </a:p>
        </p:txBody>
      </p:sp>
      <p:sp>
        <p:nvSpPr>
          <p:cNvPr id="5" name="TextBox 7">
            <a:extLst>
              <a:ext uri="{FF2B5EF4-FFF2-40B4-BE49-F238E27FC236}">
                <a16:creationId xmlns:a16="http://schemas.microsoft.com/office/drawing/2014/main" id="{36EA58A3-3DCD-C255-0B81-E2B3CBABB9CD}"/>
              </a:ext>
            </a:extLst>
          </p:cNvPr>
          <p:cNvSpPr txBox="1"/>
          <p:nvPr/>
        </p:nvSpPr>
        <p:spPr>
          <a:xfrm>
            <a:off x="1896701" y="5594125"/>
            <a:ext cx="8229600" cy="1200329"/>
          </a:xfrm>
          <a:prstGeom prst="rect">
            <a:avLst/>
          </a:prstGeom>
          <a:ln>
            <a:solidFill>
              <a:srgbClr val="96000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da-DK" sz="2400" dirty="0">
                <a:solidFill>
                  <a:srgbClr val="960000"/>
                </a:solidFill>
                <a:latin typeface="Times New Roman"/>
                <a:cs typeface="Times New Roman"/>
              </a:rPr>
              <a:t>Fra et risikodelingsperspektiv – ud fra en idé om fairness – bør medarbejdere/agenter alt andet lige aflønnes med en fast, præs-</a:t>
            </a:r>
            <a:r>
              <a:rPr lang="da-DK" sz="2400" dirty="0" err="1">
                <a:solidFill>
                  <a:srgbClr val="960000"/>
                </a:solidFill>
                <a:latin typeface="Times New Roman"/>
                <a:cs typeface="Times New Roman"/>
              </a:rPr>
              <a:t>tations</a:t>
            </a:r>
            <a:r>
              <a:rPr lang="da-DK" sz="2400" u="sng" dirty="0" err="1">
                <a:solidFill>
                  <a:srgbClr val="960000"/>
                </a:solidFill>
                <a:latin typeface="Times New Roman"/>
                <a:cs typeface="Times New Roman"/>
              </a:rPr>
              <a:t>uafhængig</a:t>
            </a:r>
            <a:r>
              <a:rPr lang="da-DK" sz="2400" dirty="0">
                <a:solidFill>
                  <a:srgbClr val="960000"/>
                </a:solidFill>
                <a:latin typeface="Times New Roman"/>
                <a:cs typeface="Times New Roman"/>
              </a:rPr>
              <a:t> løn!</a:t>
            </a:r>
          </a:p>
        </p:txBody>
      </p:sp>
    </p:spTree>
    <p:extLst>
      <p:ext uri="{BB962C8B-B14F-4D97-AF65-F5344CB8AC3E}">
        <p14:creationId xmlns:p14="http://schemas.microsoft.com/office/powerpoint/2010/main" val="3176373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1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9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19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19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1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981200" y="333078"/>
            <a:ext cx="8229600" cy="1143000"/>
          </a:xfrm>
        </p:spPr>
        <p:txBody>
          <a:bodyPr/>
          <a:lstStyle/>
          <a:p>
            <a:r>
              <a:rPr lang="da-DK" sz="3600" dirty="0" err="1"/>
              <a:t>Table</a:t>
            </a:r>
            <a:r>
              <a:rPr lang="da-DK" sz="3600" dirty="0"/>
              <a:t> 15.1</a:t>
            </a:r>
          </a:p>
        </p:txBody>
      </p:sp>
      <p:graphicFrame>
        <p:nvGraphicFramePr>
          <p:cNvPr id="6" name="Pladsholder til indhold 5"/>
          <p:cNvGraphicFramePr>
            <a:graphicFrameLocks noGrp="1"/>
          </p:cNvGraphicFramePr>
          <p:nvPr>
            <p:ph idx="1"/>
            <p:extLst>
              <p:ext uri="{D42A27DB-BD31-4B8C-83A1-F6EECF244321}">
                <p14:modId xmlns:p14="http://schemas.microsoft.com/office/powerpoint/2010/main" val="2857297163"/>
              </p:ext>
            </p:extLst>
          </p:nvPr>
        </p:nvGraphicFramePr>
        <p:xfrm>
          <a:off x="1981200" y="2981325"/>
          <a:ext cx="8229600" cy="2433320"/>
        </p:xfrm>
        <a:graphic>
          <a:graphicData uri="http://schemas.openxmlformats.org/drawingml/2006/table">
            <a:tbl>
              <a:tblPr firstRow="1" bandRow="1">
                <a:tableStyleId>{AF606853-7671-496A-8E4F-DF71F8EC918B}</a:tableStyleId>
              </a:tblPr>
              <a:tblGrid>
                <a:gridCol w="2743200">
                  <a:extLst>
                    <a:ext uri="{9D8B030D-6E8A-4147-A177-3AD203B41FA5}">
                      <a16:colId xmlns:a16="http://schemas.microsoft.com/office/drawing/2014/main" val="3801827807"/>
                    </a:ext>
                  </a:extLst>
                </a:gridCol>
                <a:gridCol w="2743200">
                  <a:extLst>
                    <a:ext uri="{9D8B030D-6E8A-4147-A177-3AD203B41FA5}">
                      <a16:colId xmlns:a16="http://schemas.microsoft.com/office/drawing/2014/main" val="627278347"/>
                    </a:ext>
                  </a:extLst>
                </a:gridCol>
                <a:gridCol w="2743200">
                  <a:extLst>
                    <a:ext uri="{9D8B030D-6E8A-4147-A177-3AD203B41FA5}">
                      <a16:colId xmlns:a16="http://schemas.microsoft.com/office/drawing/2014/main" val="1177956045"/>
                    </a:ext>
                  </a:extLst>
                </a:gridCol>
              </a:tblGrid>
              <a:tr h="419100">
                <a:tc>
                  <a:txBody>
                    <a:bodyPr/>
                    <a:lstStyle/>
                    <a:p>
                      <a:pPr algn="ctr"/>
                      <a:r>
                        <a:rPr lang="da-DK" sz="1600" dirty="0" err="1"/>
                        <a:t>Outcomes</a:t>
                      </a:r>
                      <a:endParaRPr lang="da-DK" sz="1600" dirty="0"/>
                    </a:p>
                  </a:txBody>
                  <a:tcPr>
                    <a:solidFill>
                      <a:srgbClr val="960000"/>
                    </a:solidFill>
                  </a:tcPr>
                </a:tc>
                <a:tc>
                  <a:txBody>
                    <a:bodyPr/>
                    <a:lstStyle/>
                    <a:p>
                      <a:pPr algn="ctr"/>
                      <a:r>
                        <a:rPr lang="da-DK" sz="1600" dirty="0" err="1"/>
                        <a:t>Probality</a:t>
                      </a:r>
                      <a:endParaRPr lang="da-DK" sz="1600" dirty="0"/>
                    </a:p>
                  </a:txBody>
                  <a:tcPr>
                    <a:solidFill>
                      <a:srgbClr val="960000"/>
                    </a:solidFill>
                  </a:tcPr>
                </a:tc>
                <a:tc>
                  <a:txBody>
                    <a:bodyPr/>
                    <a:lstStyle/>
                    <a:p>
                      <a:pPr algn="ctr"/>
                      <a:r>
                        <a:rPr lang="da-DK" sz="1600" dirty="0" err="1"/>
                        <a:t>Individual</a:t>
                      </a:r>
                      <a:r>
                        <a:rPr lang="da-DK" sz="1600" dirty="0"/>
                        <a:t> </a:t>
                      </a:r>
                      <a:r>
                        <a:rPr lang="da-DK" sz="1600" dirty="0" err="1"/>
                        <a:t>payoffs</a:t>
                      </a:r>
                      <a:r>
                        <a:rPr lang="da-DK" sz="1600" dirty="0"/>
                        <a:t> from </a:t>
                      </a:r>
                      <a:r>
                        <a:rPr lang="da-DK" sz="1600" dirty="0" err="1"/>
                        <a:t>pooling</a:t>
                      </a:r>
                      <a:r>
                        <a:rPr lang="da-DK" sz="1600" dirty="0"/>
                        <a:t> </a:t>
                      </a:r>
                      <a:r>
                        <a:rPr lang="da-DK" sz="1600" u="sng" dirty="0"/>
                        <a:t>AND</a:t>
                      </a:r>
                      <a:r>
                        <a:rPr lang="da-DK" sz="1600" baseline="0" dirty="0"/>
                        <a:t> s</a:t>
                      </a:r>
                      <a:r>
                        <a:rPr lang="da-DK" sz="1600" dirty="0"/>
                        <a:t>plitting</a:t>
                      </a:r>
                    </a:p>
                  </a:txBody>
                  <a:tcPr>
                    <a:solidFill>
                      <a:srgbClr val="960000"/>
                    </a:solidFill>
                  </a:tcPr>
                </a:tc>
                <a:extLst>
                  <a:ext uri="{0D108BD9-81ED-4DB2-BD59-A6C34878D82A}">
                    <a16:rowId xmlns:a16="http://schemas.microsoft.com/office/drawing/2014/main" val="3613600256"/>
                  </a:ext>
                </a:extLst>
              </a:tr>
              <a:tr h="370840">
                <a:tc>
                  <a:txBody>
                    <a:bodyPr/>
                    <a:lstStyle/>
                    <a:p>
                      <a:r>
                        <a:rPr lang="da-DK" dirty="0"/>
                        <a:t>(</a:t>
                      </a:r>
                      <a:r>
                        <a:rPr lang="da-DK" dirty="0">
                          <a:solidFill>
                            <a:srgbClr val="002060"/>
                          </a:solidFill>
                        </a:rPr>
                        <a:t>0</a:t>
                      </a:r>
                      <a:r>
                        <a:rPr lang="da-DK" dirty="0"/>
                        <a:t>; </a:t>
                      </a:r>
                      <a:r>
                        <a:rPr lang="da-DK" dirty="0">
                          <a:solidFill>
                            <a:srgbClr val="FFC000"/>
                          </a:solidFill>
                        </a:rPr>
                        <a:t>0</a:t>
                      </a:r>
                      <a:r>
                        <a:rPr lang="da-DK" dirty="0"/>
                        <a:t>)</a:t>
                      </a:r>
                    </a:p>
                  </a:txBody>
                  <a:tcPr/>
                </a:tc>
                <a:tc>
                  <a:txBody>
                    <a:bodyPr/>
                    <a:lstStyle/>
                    <a:p>
                      <a:pPr algn="ctr"/>
                      <a:r>
                        <a:rPr lang="da-DK" dirty="0"/>
                        <a:t>.25</a:t>
                      </a:r>
                    </a:p>
                  </a:txBody>
                  <a:tcPr/>
                </a:tc>
                <a:tc>
                  <a:txBody>
                    <a:bodyPr/>
                    <a:lstStyle/>
                    <a:p>
                      <a:pPr algn="r"/>
                      <a:r>
                        <a:rPr lang="da-DK" dirty="0"/>
                        <a:t>0</a:t>
                      </a:r>
                    </a:p>
                  </a:txBody>
                  <a:tcPr/>
                </a:tc>
                <a:extLst>
                  <a:ext uri="{0D108BD9-81ED-4DB2-BD59-A6C34878D82A}">
                    <a16:rowId xmlns:a16="http://schemas.microsoft.com/office/drawing/2014/main" val="3399552569"/>
                  </a:ext>
                </a:extLst>
              </a:tr>
              <a:tr h="370840">
                <a:tc>
                  <a:txBody>
                    <a:bodyPr/>
                    <a:lstStyle/>
                    <a:p>
                      <a:r>
                        <a:rPr lang="da-DK" dirty="0"/>
                        <a:t>(</a:t>
                      </a:r>
                      <a:r>
                        <a:rPr lang="da-DK" dirty="0">
                          <a:solidFill>
                            <a:srgbClr val="002060"/>
                          </a:solidFill>
                        </a:rPr>
                        <a:t>0</a:t>
                      </a:r>
                      <a:r>
                        <a:rPr lang="da-DK" dirty="0"/>
                        <a:t>; 10,000)</a:t>
                      </a:r>
                    </a:p>
                  </a:txBody>
                  <a:tcPr/>
                </a:tc>
                <a:tc>
                  <a:txBody>
                    <a:bodyPr/>
                    <a:lstStyle/>
                    <a:p>
                      <a:pPr algn="ctr"/>
                      <a:r>
                        <a:rPr lang="da-DK" dirty="0"/>
                        <a:t>.25</a:t>
                      </a:r>
                    </a:p>
                  </a:txBody>
                  <a:tcPr/>
                </a:tc>
                <a:tc>
                  <a:txBody>
                    <a:bodyPr/>
                    <a:lstStyle/>
                    <a:p>
                      <a:pPr algn="r"/>
                      <a:r>
                        <a:rPr lang="da-DK" dirty="0"/>
                        <a:t>5,000</a:t>
                      </a:r>
                    </a:p>
                  </a:txBody>
                  <a:tcPr/>
                </a:tc>
                <a:extLst>
                  <a:ext uri="{0D108BD9-81ED-4DB2-BD59-A6C34878D82A}">
                    <a16:rowId xmlns:a16="http://schemas.microsoft.com/office/drawing/2014/main" val="897555333"/>
                  </a:ext>
                </a:extLst>
              </a:tr>
              <a:tr h="370840">
                <a:tc>
                  <a:txBody>
                    <a:bodyPr/>
                    <a:lstStyle/>
                    <a:p>
                      <a:r>
                        <a:rPr lang="da-DK" dirty="0"/>
                        <a:t>(10,000; </a:t>
                      </a:r>
                      <a:r>
                        <a:rPr lang="da-DK" dirty="0">
                          <a:solidFill>
                            <a:srgbClr val="FFC000"/>
                          </a:solidFill>
                        </a:rPr>
                        <a:t>0</a:t>
                      </a:r>
                      <a:r>
                        <a:rPr lang="da-DK" dirty="0"/>
                        <a:t>)</a:t>
                      </a:r>
                    </a:p>
                  </a:txBody>
                  <a:tcPr/>
                </a:tc>
                <a:tc>
                  <a:txBody>
                    <a:bodyPr/>
                    <a:lstStyle/>
                    <a:p>
                      <a:pPr algn="ctr"/>
                      <a:r>
                        <a:rPr lang="da-DK" dirty="0"/>
                        <a:t>.25</a:t>
                      </a:r>
                    </a:p>
                  </a:txBody>
                  <a:tcPr/>
                </a:tc>
                <a:tc>
                  <a:txBody>
                    <a:bodyPr/>
                    <a:lstStyle/>
                    <a:p>
                      <a:pPr algn="r"/>
                      <a:r>
                        <a:rPr lang="da-DK" dirty="0"/>
                        <a:t>5,000</a:t>
                      </a:r>
                    </a:p>
                  </a:txBody>
                  <a:tcPr/>
                </a:tc>
                <a:extLst>
                  <a:ext uri="{0D108BD9-81ED-4DB2-BD59-A6C34878D82A}">
                    <a16:rowId xmlns:a16="http://schemas.microsoft.com/office/drawing/2014/main" val="427885435"/>
                  </a:ext>
                </a:extLst>
              </a:tr>
              <a:tr h="370840">
                <a:tc>
                  <a:txBody>
                    <a:bodyPr/>
                    <a:lstStyle/>
                    <a:p>
                      <a:r>
                        <a:rPr lang="da-DK" dirty="0"/>
                        <a:t>(10,000; 10,000)</a:t>
                      </a:r>
                    </a:p>
                  </a:txBody>
                  <a:tcPr/>
                </a:tc>
                <a:tc>
                  <a:txBody>
                    <a:bodyPr/>
                    <a:lstStyle/>
                    <a:p>
                      <a:pPr algn="ctr"/>
                      <a:r>
                        <a:rPr lang="da-DK" dirty="0"/>
                        <a:t>.25</a:t>
                      </a:r>
                    </a:p>
                  </a:txBody>
                  <a:tcPr/>
                </a:tc>
                <a:tc>
                  <a:txBody>
                    <a:bodyPr/>
                    <a:lstStyle/>
                    <a:p>
                      <a:pPr algn="r"/>
                      <a:r>
                        <a:rPr lang="da-DK" dirty="0"/>
                        <a:t>10,000</a:t>
                      </a:r>
                    </a:p>
                  </a:txBody>
                  <a:tcPr/>
                </a:tc>
                <a:extLst>
                  <a:ext uri="{0D108BD9-81ED-4DB2-BD59-A6C34878D82A}">
                    <a16:rowId xmlns:a16="http://schemas.microsoft.com/office/drawing/2014/main" val="2495433997"/>
                  </a:ext>
                </a:extLst>
              </a:tr>
              <a:tr h="370840">
                <a:tc>
                  <a:txBody>
                    <a:bodyPr/>
                    <a:lstStyle/>
                    <a:p>
                      <a:endParaRPr lang="da-DK"/>
                    </a:p>
                  </a:txBody>
                  <a:tcPr/>
                </a:tc>
                <a:tc>
                  <a:txBody>
                    <a:bodyPr/>
                    <a:lstStyle/>
                    <a:p>
                      <a:endParaRPr lang="da-DK" dirty="0"/>
                    </a:p>
                  </a:txBody>
                  <a:tcPr/>
                </a:tc>
                <a:tc>
                  <a:txBody>
                    <a:bodyPr/>
                    <a:lstStyle/>
                    <a:p>
                      <a:pPr algn="r"/>
                      <a:r>
                        <a:rPr lang="da-DK" dirty="0"/>
                        <a:t>E (</a:t>
                      </a:r>
                      <a:r>
                        <a:rPr lang="da-DK" dirty="0" err="1"/>
                        <a:t>income</a:t>
                      </a:r>
                      <a:r>
                        <a:rPr lang="da-DK" dirty="0"/>
                        <a:t>) = 5,000</a:t>
                      </a:r>
                    </a:p>
                  </a:txBody>
                  <a:tcPr/>
                </a:tc>
                <a:extLst>
                  <a:ext uri="{0D108BD9-81ED-4DB2-BD59-A6C34878D82A}">
                    <a16:rowId xmlns:a16="http://schemas.microsoft.com/office/drawing/2014/main" val="778779047"/>
                  </a:ext>
                </a:extLst>
              </a:tr>
            </a:tbl>
          </a:graphicData>
        </a:graphic>
      </p:graphicFrame>
      <p:sp>
        <p:nvSpPr>
          <p:cNvPr id="12" name="Pladsholder til slidenummer 11"/>
          <p:cNvSpPr>
            <a:spLocks noGrp="1"/>
          </p:cNvSpPr>
          <p:nvPr>
            <p:ph type="sldNum" sz="quarter" idx="12"/>
          </p:nvPr>
        </p:nvSpPr>
        <p:spPr/>
        <p:txBody>
          <a:bodyPr/>
          <a:lstStyle/>
          <a:p>
            <a:pPr>
              <a:defRPr/>
            </a:pPr>
            <a:fld id="{1AB64B38-8871-46AB-AB63-C0CE7031558F}" type="slidenum">
              <a:rPr lang="en-US" smtClean="0"/>
              <a:pPr>
                <a:defRPr/>
              </a:pPr>
              <a:t>9</a:t>
            </a:fld>
            <a:endParaRPr lang="en-US" dirty="0"/>
          </a:p>
        </p:txBody>
      </p:sp>
      <p:sp>
        <p:nvSpPr>
          <p:cNvPr id="7" name="Tekstfelt 6"/>
          <p:cNvSpPr txBox="1"/>
          <p:nvPr/>
        </p:nvSpPr>
        <p:spPr>
          <a:xfrm>
            <a:off x="2247900" y="1457623"/>
            <a:ext cx="2171700" cy="923330"/>
          </a:xfrm>
          <a:prstGeom prst="rect">
            <a:avLst/>
          </a:prstGeom>
          <a:solidFill>
            <a:srgbClr val="960000"/>
          </a:solidFill>
        </p:spPr>
        <p:txBody>
          <a:bodyPr wrap="square" rtlCol="0">
            <a:spAutoFit/>
          </a:bodyPr>
          <a:lstStyle/>
          <a:p>
            <a:r>
              <a:rPr lang="da-DK" dirty="0">
                <a:solidFill>
                  <a:schemeClr val="bg1"/>
                </a:solidFill>
              </a:rPr>
              <a:t>Sandsynlighed for at den </a:t>
            </a:r>
            <a:r>
              <a:rPr lang="da-DK" dirty="0" err="1">
                <a:solidFill>
                  <a:schemeClr val="bg1"/>
                </a:solidFill>
              </a:rPr>
              <a:t>éne</a:t>
            </a:r>
            <a:r>
              <a:rPr lang="da-DK" dirty="0">
                <a:solidFill>
                  <a:schemeClr val="bg1"/>
                </a:solidFill>
              </a:rPr>
              <a:t> spiller får 0 = 50 %</a:t>
            </a:r>
          </a:p>
        </p:txBody>
      </p:sp>
      <p:sp>
        <p:nvSpPr>
          <p:cNvPr id="8" name="Tekstfelt 7"/>
          <p:cNvSpPr txBox="1"/>
          <p:nvPr/>
        </p:nvSpPr>
        <p:spPr>
          <a:xfrm>
            <a:off x="7781925" y="1457326"/>
            <a:ext cx="2171700" cy="923330"/>
          </a:xfrm>
          <a:prstGeom prst="rect">
            <a:avLst/>
          </a:prstGeom>
          <a:solidFill>
            <a:srgbClr val="960000"/>
          </a:solidFill>
        </p:spPr>
        <p:txBody>
          <a:bodyPr wrap="square" rtlCol="0">
            <a:spAutoFit/>
          </a:bodyPr>
          <a:lstStyle/>
          <a:p>
            <a:r>
              <a:rPr lang="da-DK" dirty="0">
                <a:solidFill>
                  <a:schemeClr val="bg1"/>
                </a:solidFill>
              </a:rPr>
              <a:t>Sandsynlighed for at den </a:t>
            </a:r>
            <a:r>
              <a:rPr lang="da-DK" dirty="0" err="1">
                <a:solidFill>
                  <a:schemeClr val="bg1"/>
                </a:solidFill>
              </a:rPr>
              <a:t>éne</a:t>
            </a:r>
            <a:r>
              <a:rPr lang="da-DK" dirty="0">
                <a:solidFill>
                  <a:schemeClr val="bg1"/>
                </a:solidFill>
              </a:rPr>
              <a:t> spiller får 0 = 25 %</a:t>
            </a:r>
          </a:p>
        </p:txBody>
      </p:sp>
      <p:cxnSp>
        <p:nvCxnSpPr>
          <p:cNvPr id="10" name="Lige pilforbindelse 9"/>
          <p:cNvCxnSpPr/>
          <p:nvPr/>
        </p:nvCxnSpPr>
        <p:spPr>
          <a:xfrm>
            <a:off x="3333750" y="2571750"/>
            <a:ext cx="0" cy="26670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Lige pilforbindelse 10"/>
          <p:cNvCxnSpPr/>
          <p:nvPr/>
        </p:nvCxnSpPr>
        <p:spPr>
          <a:xfrm>
            <a:off x="8867775" y="2571750"/>
            <a:ext cx="0" cy="26670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94324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092926" y="448900"/>
            <a:ext cx="8229600" cy="1143000"/>
          </a:xfrm>
        </p:spPr>
        <p:txBody>
          <a:bodyPr>
            <a:normAutofit/>
          </a:bodyPr>
          <a:lstStyle/>
          <a:p>
            <a:pPr eaLnBrk="1" hangingPunct="1"/>
            <a:r>
              <a:rPr lang="en-US" dirty="0"/>
              <a:t>Effective Incentive Contracts</a:t>
            </a:r>
          </a:p>
        </p:txBody>
      </p:sp>
      <p:sp>
        <p:nvSpPr>
          <p:cNvPr id="9219" name="Rectangle 3"/>
          <p:cNvSpPr>
            <a:spLocks noGrp="1" noChangeArrowheads="1"/>
          </p:cNvSpPr>
          <p:nvPr>
            <p:ph idx="1"/>
          </p:nvPr>
        </p:nvSpPr>
        <p:spPr>
          <a:xfrm>
            <a:off x="1873976" y="1300378"/>
            <a:ext cx="8229600" cy="4953000"/>
          </a:xfrm>
        </p:spPr>
        <p:txBody>
          <a:bodyPr>
            <a:normAutofit lnSpcReduction="10000"/>
          </a:bodyPr>
          <a:lstStyle/>
          <a:p>
            <a:pPr eaLnBrk="1" hangingPunct="1">
              <a:lnSpc>
                <a:spcPct val="90000"/>
              </a:lnSpc>
              <a:buClr>
                <a:srgbClr val="000066"/>
              </a:buClr>
            </a:pPr>
            <a:endParaRPr lang="en-US" sz="2600" dirty="0">
              <a:solidFill>
                <a:srgbClr val="FF0000"/>
              </a:solidFill>
            </a:endParaRPr>
          </a:p>
          <a:p>
            <a:pPr eaLnBrk="1" hangingPunct="1">
              <a:lnSpc>
                <a:spcPct val="90000"/>
              </a:lnSpc>
              <a:buClr>
                <a:srgbClr val="000066"/>
              </a:buClr>
            </a:pPr>
            <a:r>
              <a:rPr lang="en-US" sz="2600" dirty="0">
                <a:solidFill>
                  <a:schemeClr val="tx1">
                    <a:lumMod val="85000"/>
                    <a:lumOff val="15000"/>
                  </a:schemeClr>
                </a:solidFill>
              </a:rPr>
              <a:t>Compensation contracts have many functions. To mention two important ones:</a:t>
            </a:r>
          </a:p>
          <a:p>
            <a:pPr lvl="1" eaLnBrk="1" hangingPunct="1">
              <a:lnSpc>
                <a:spcPct val="90000"/>
              </a:lnSpc>
              <a:buClr>
                <a:srgbClr val="000066"/>
              </a:buClr>
              <a:buFontTx/>
              <a:buChar char="•"/>
            </a:pPr>
            <a:r>
              <a:rPr lang="en-US" sz="2600" dirty="0">
                <a:solidFill>
                  <a:schemeClr val="tx1">
                    <a:lumMod val="85000"/>
                    <a:lumOff val="15000"/>
                  </a:schemeClr>
                </a:solidFill>
              </a:rPr>
              <a:t>motivate employees </a:t>
            </a:r>
            <a:r>
              <a:rPr lang="en-US" sz="2600" i="0" dirty="0">
                <a:solidFill>
                  <a:schemeClr val="tx1">
                    <a:lumMod val="85000"/>
                    <a:lumOff val="15000"/>
                  </a:schemeClr>
                </a:solidFill>
              </a:rPr>
              <a:t>(incentives)</a:t>
            </a:r>
          </a:p>
          <a:p>
            <a:pPr lvl="1" eaLnBrk="1" hangingPunct="1">
              <a:lnSpc>
                <a:spcPct val="90000"/>
              </a:lnSpc>
              <a:buClr>
                <a:srgbClr val="000066"/>
              </a:buClr>
              <a:buFontTx/>
              <a:buChar char="•"/>
            </a:pPr>
            <a:r>
              <a:rPr lang="en-US" sz="2600" dirty="0">
                <a:solidFill>
                  <a:schemeClr val="tx1">
                    <a:lumMod val="85000"/>
                    <a:lumOff val="15000"/>
                  </a:schemeClr>
                </a:solidFill>
              </a:rPr>
              <a:t>share risk more efficiently </a:t>
            </a:r>
            <a:r>
              <a:rPr lang="en-US" sz="2600" i="0" dirty="0">
                <a:solidFill>
                  <a:schemeClr val="tx1">
                    <a:lumMod val="85000"/>
                    <a:lumOff val="15000"/>
                  </a:schemeClr>
                </a:solidFill>
              </a:rPr>
              <a:t>(471m.)</a:t>
            </a:r>
          </a:p>
          <a:p>
            <a:pPr eaLnBrk="1" hangingPunct="1">
              <a:lnSpc>
                <a:spcPct val="90000"/>
              </a:lnSpc>
              <a:buClr>
                <a:srgbClr val="000066"/>
              </a:buClr>
            </a:pPr>
            <a:r>
              <a:rPr lang="en-US" sz="2600" dirty="0">
                <a:solidFill>
                  <a:schemeClr val="tx1">
                    <a:lumMod val="85000"/>
                    <a:lumOff val="15000"/>
                  </a:schemeClr>
                </a:solidFill>
              </a:rPr>
              <a:t>Employees prefer fixed income to random income flows…..</a:t>
            </a:r>
          </a:p>
          <a:p>
            <a:pPr eaLnBrk="1" hangingPunct="1">
              <a:lnSpc>
                <a:spcPct val="90000"/>
              </a:lnSpc>
              <a:buClr>
                <a:srgbClr val="000066"/>
              </a:buClr>
            </a:pPr>
            <a:r>
              <a:rPr lang="en-US" sz="2600" dirty="0">
                <a:solidFill>
                  <a:schemeClr val="tx1">
                    <a:lumMod val="85000"/>
                    <a:lumOff val="15000"/>
                  </a:schemeClr>
                </a:solidFill>
              </a:rPr>
              <a:t>(but) Fixed incomes do not provide strong incentives…….</a:t>
            </a:r>
          </a:p>
          <a:p>
            <a:pPr eaLnBrk="1" hangingPunct="1">
              <a:lnSpc>
                <a:spcPct val="90000"/>
              </a:lnSpc>
              <a:buClr>
                <a:srgbClr val="000066"/>
              </a:buClr>
            </a:pPr>
            <a:r>
              <a:rPr lang="en-US" sz="2600" dirty="0">
                <a:solidFill>
                  <a:schemeClr val="tx1">
                    <a:lumMod val="85000"/>
                    <a:lumOff val="15000"/>
                  </a:schemeClr>
                </a:solidFill>
              </a:rPr>
              <a:t>Contract must balance these considerations!</a:t>
            </a:r>
          </a:p>
          <a:p>
            <a:pPr eaLnBrk="1" hangingPunct="1">
              <a:lnSpc>
                <a:spcPct val="90000"/>
              </a:lnSpc>
              <a:buClr>
                <a:srgbClr val="000066"/>
              </a:buClr>
            </a:pPr>
            <a:r>
              <a:rPr lang="en-US" sz="2600" u="sng" dirty="0">
                <a:solidFill>
                  <a:schemeClr val="tx1">
                    <a:lumMod val="85000"/>
                    <a:lumOff val="15000"/>
                  </a:schemeClr>
                </a:solidFill>
              </a:rPr>
              <a:t>A trade-off exist between incentives and risk sharing</a:t>
            </a:r>
          </a:p>
        </p:txBody>
      </p:sp>
      <p:sp>
        <p:nvSpPr>
          <p:cNvPr id="9221" name="Rectangle 5"/>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fld id="{562C006D-171B-4E97-833A-EE3072DAE2A2}" type="slidenum">
              <a:rPr lang="en-US" sz="1200" smtClean="0"/>
              <a:pPr algn="r"/>
              <a:t>10</a:t>
            </a:fld>
            <a:endParaRPr lang="en-US" sz="1200" dirty="0"/>
          </a:p>
        </p:txBody>
      </p:sp>
      <p:cxnSp>
        <p:nvCxnSpPr>
          <p:cNvPr id="15" name="Lige pilforbindelse 14"/>
          <p:cNvCxnSpPr/>
          <p:nvPr/>
        </p:nvCxnSpPr>
        <p:spPr>
          <a:xfrm>
            <a:off x="9524999" y="3528196"/>
            <a:ext cx="1" cy="1067555"/>
          </a:xfrm>
          <a:prstGeom prst="straightConnector1">
            <a:avLst/>
          </a:prstGeom>
          <a:ln w="41275">
            <a:solidFill>
              <a:srgbClr val="C000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17" name="Tekstboks 16"/>
          <p:cNvSpPr txBox="1"/>
          <p:nvPr/>
        </p:nvSpPr>
        <p:spPr>
          <a:xfrm>
            <a:off x="9820819" y="3154032"/>
            <a:ext cx="361950" cy="1815882"/>
          </a:xfrm>
          <a:prstGeom prst="rect">
            <a:avLst/>
          </a:prstGeom>
          <a:solidFill>
            <a:srgbClr val="000066"/>
          </a:solidFill>
          <a:ln w="3175">
            <a:solidFill>
              <a:schemeClr val="tx1"/>
            </a:solid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da-DK" sz="1600" dirty="0"/>
              <a:t>D</a:t>
            </a:r>
          </a:p>
          <a:p>
            <a:pPr algn="ctr"/>
            <a:r>
              <a:rPr lang="da-DK" sz="1600" dirty="0"/>
              <a:t>i</a:t>
            </a:r>
          </a:p>
          <a:p>
            <a:pPr algn="ctr"/>
            <a:r>
              <a:rPr lang="da-DK" sz="1600" dirty="0"/>
              <a:t>l</a:t>
            </a:r>
          </a:p>
          <a:p>
            <a:pPr algn="ctr"/>
            <a:r>
              <a:rPr lang="da-DK" sz="1600" dirty="0" err="1"/>
              <a:t>emma</a:t>
            </a:r>
            <a:endParaRPr lang="da-DK" sz="1600" dirty="0"/>
          </a:p>
        </p:txBody>
      </p:sp>
      <p:sp>
        <p:nvSpPr>
          <p:cNvPr id="9" name="Tekstboks 16"/>
          <p:cNvSpPr txBox="1"/>
          <p:nvPr/>
        </p:nvSpPr>
        <p:spPr>
          <a:xfrm>
            <a:off x="6410697" y="6068712"/>
            <a:ext cx="2959726" cy="369332"/>
          </a:xfrm>
          <a:prstGeom prst="rect">
            <a:avLst/>
          </a:prstGeom>
          <a:solidFill>
            <a:srgbClr val="000066"/>
          </a:solidFill>
          <a:ln w="3175">
            <a:solidFill>
              <a:schemeClr val="tx1"/>
            </a:solid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da-DK" dirty="0"/>
              <a:t>Ramme p. 471n. – 472m.!</a:t>
            </a:r>
          </a:p>
        </p:txBody>
      </p:sp>
      <p:sp>
        <p:nvSpPr>
          <p:cNvPr id="10" name="Tekstboks 16"/>
          <p:cNvSpPr txBox="1"/>
          <p:nvPr/>
        </p:nvSpPr>
        <p:spPr>
          <a:xfrm>
            <a:off x="10399395" y="2907811"/>
            <a:ext cx="315537" cy="2308324"/>
          </a:xfrm>
          <a:prstGeom prst="rect">
            <a:avLst/>
          </a:prstGeom>
          <a:solidFill>
            <a:srgbClr val="000066"/>
          </a:solidFill>
          <a:ln w="3175">
            <a:solidFill>
              <a:schemeClr val="tx1"/>
            </a:solid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da-DK" sz="1600" dirty="0"/>
              <a:t>T</a:t>
            </a:r>
          </a:p>
          <a:p>
            <a:pPr algn="ctr"/>
            <a:r>
              <a:rPr lang="da-DK" sz="1600" dirty="0"/>
              <a:t>rade-of</a:t>
            </a:r>
          </a:p>
          <a:p>
            <a:pPr algn="ctr"/>
            <a:r>
              <a:rPr lang="da-DK" sz="1600" dirty="0"/>
              <a:t>f</a:t>
            </a:r>
          </a:p>
        </p:txBody>
      </p:sp>
      <p:sp>
        <p:nvSpPr>
          <p:cNvPr id="11" name="5-takket stjerne 1"/>
          <p:cNvSpPr/>
          <p:nvPr/>
        </p:nvSpPr>
        <p:spPr>
          <a:xfrm>
            <a:off x="10621166" y="569550"/>
            <a:ext cx="1181100" cy="901700"/>
          </a:xfrm>
          <a:prstGeom prst="star5">
            <a:avLst/>
          </a:prstGeom>
          <a:solidFill>
            <a:srgbClr val="FFFF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 name="Ligebenet trekant 1">
            <a:extLst>
              <a:ext uri="{FF2B5EF4-FFF2-40B4-BE49-F238E27FC236}">
                <a16:creationId xmlns:a16="http://schemas.microsoft.com/office/drawing/2014/main" id="{69A67F6D-DA5B-108B-70B1-707CF6A042AD}"/>
              </a:ext>
            </a:extLst>
          </p:cNvPr>
          <p:cNvSpPr/>
          <p:nvPr/>
        </p:nvSpPr>
        <p:spPr>
          <a:xfrm rot="16200000">
            <a:off x="8114293" y="2787288"/>
            <a:ext cx="3114244" cy="2426423"/>
          </a:xfrm>
          <a:prstGeom prst="triangle">
            <a:avLst>
              <a:gd name="adj" fmla="val 50735"/>
            </a:avLst>
          </a:prstGeom>
          <a:solidFill>
            <a:schemeClr val="bg1">
              <a:alpha val="0"/>
            </a:schemeClr>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3925660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219">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219">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21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219">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21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219">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8" presetClass="emph" presetSubtype="0" fill="hold" grpId="0" nodeType="clickEffect">
                                  <p:stCondLst>
                                    <p:cond delay="0"/>
                                  </p:stCondLst>
                                  <p:childTnLst>
                                    <p:animRot by="21600000">
                                      <p:cBhvr>
                                        <p:cTn id="30" dur="10000" fill="hold"/>
                                        <p:tgtEl>
                                          <p:spTgt spid="1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uiExpand="1" build="p"/>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092926" y="272142"/>
            <a:ext cx="8229600" cy="1143000"/>
          </a:xfrm>
        </p:spPr>
        <p:txBody>
          <a:bodyPr>
            <a:normAutofit/>
          </a:bodyPr>
          <a:lstStyle/>
          <a:p>
            <a:r>
              <a:rPr lang="en-US" dirty="0"/>
              <a:t>Agency Relationships/theory</a:t>
            </a:r>
          </a:p>
        </p:txBody>
      </p:sp>
      <p:sp>
        <p:nvSpPr>
          <p:cNvPr id="35843" name="Rectangle 3"/>
          <p:cNvSpPr>
            <a:spLocks noGrp="1" noChangeArrowheads="1"/>
          </p:cNvSpPr>
          <p:nvPr>
            <p:ph idx="1"/>
          </p:nvPr>
        </p:nvSpPr>
        <p:spPr>
          <a:xfrm>
            <a:off x="1981200" y="1981201"/>
            <a:ext cx="8229600" cy="4144963"/>
          </a:xfrm>
        </p:spPr>
        <p:txBody>
          <a:bodyPr/>
          <a:lstStyle/>
          <a:p>
            <a:pPr eaLnBrk="1" hangingPunct="1">
              <a:buClr>
                <a:srgbClr val="000066"/>
              </a:buClr>
            </a:pPr>
            <a:r>
              <a:rPr lang="en-US" sz="4000" b="1" i="1" u="sng" dirty="0">
                <a:solidFill>
                  <a:srgbClr val="960000"/>
                </a:solidFill>
              </a:rPr>
              <a:t>“An agency relationship consists of an agreement under which one party, the principal, engages another party, the agent, to perform some service </a:t>
            </a:r>
            <a:r>
              <a:rPr lang="en-US" sz="4000" b="1" u="sng" dirty="0">
                <a:solidFill>
                  <a:srgbClr val="960000"/>
                </a:solidFill>
              </a:rPr>
              <a:t>(or activity in general, TV)</a:t>
            </a:r>
            <a:r>
              <a:rPr lang="en-US" sz="4000" b="1" i="1" u="sng" dirty="0">
                <a:solidFill>
                  <a:srgbClr val="960000"/>
                </a:solidFill>
              </a:rPr>
              <a:t> on the principal’s behalf” </a:t>
            </a:r>
            <a:r>
              <a:rPr lang="en-US" sz="4000" dirty="0">
                <a:solidFill>
                  <a:srgbClr val="960000"/>
                </a:solidFill>
              </a:rPr>
              <a:t>(BSZ p. 336n.)</a:t>
            </a:r>
          </a:p>
          <a:p>
            <a:pPr>
              <a:buClr>
                <a:srgbClr val="000066"/>
              </a:buClr>
            </a:pPr>
            <a:endParaRPr lang="en-US" dirty="0"/>
          </a:p>
        </p:txBody>
      </p:sp>
      <p:sp>
        <p:nvSpPr>
          <p:cNvPr id="35844" name="Rectangle 4"/>
          <p:cNvSpPr>
            <a:spLocks noChangeArrowheads="1"/>
          </p:cNvSpPr>
          <p:nvPr/>
        </p:nvSpPr>
        <p:spPr bwMode="auto">
          <a:xfrm>
            <a:off x="11000106" y="6003926"/>
            <a:ext cx="335348" cy="246221"/>
          </a:xfrm>
          <a:prstGeom prst="rect">
            <a:avLst/>
          </a:prstGeom>
          <a:noFill/>
          <a:ln w="9525">
            <a:noFill/>
            <a:miter lim="800000"/>
            <a:headEnd/>
            <a:tailEnd/>
          </a:ln>
          <a:effectLst/>
        </p:spPr>
        <p:txBody>
          <a:bodyPr wrap="none">
            <a:spAutoFit/>
          </a:bodyPr>
          <a:lstStyle/>
          <a:p>
            <a:fld id="{F362A544-3E2D-4000-8BD2-DBAB91443D63}" type="slidenum">
              <a:rPr lang="en-US" sz="1000" smtClean="0"/>
              <a:pPr/>
              <a:t>11</a:t>
            </a:fld>
            <a:endParaRPr lang="en-US" sz="1000" dirty="0"/>
          </a:p>
        </p:txBody>
      </p:sp>
      <p:sp>
        <p:nvSpPr>
          <p:cNvPr id="2" name="5-takket stjerne 1"/>
          <p:cNvSpPr/>
          <p:nvPr/>
        </p:nvSpPr>
        <p:spPr>
          <a:xfrm>
            <a:off x="10345002" y="565821"/>
            <a:ext cx="990451" cy="901700"/>
          </a:xfrm>
          <a:prstGeom prst="star5">
            <a:avLst/>
          </a:prstGeom>
          <a:solidFill>
            <a:srgbClr val="FFFF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64725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10000" fill="hold"/>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105989" y="233408"/>
            <a:ext cx="8229600" cy="1143000"/>
          </a:xfrm>
        </p:spPr>
        <p:txBody>
          <a:bodyPr>
            <a:normAutofit/>
          </a:bodyPr>
          <a:lstStyle/>
          <a:p>
            <a:r>
              <a:rPr lang="en-US" sz="4200" dirty="0">
                <a:solidFill>
                  <a:schemeClr val="tx1">
                    <a:lumMod val="85000"/>
                    <a:lumOff val="15000"/>
                  </a:schemeClr>
                </a:solidFill>
              </a:rPr>
              <a:t>The Basic Principal-Agent Model!</a:t>
            </a:r>
          </a:p>
        </p:txBody>
      </p:sp>
      <p:sp>
        <p:nvSpPr>
          <p:cNvPr id="36867" name="Rectangle 3"/>
          <p:cNvSpPr>
            <a:spLocks noGrp="1" noChangeArrowheads="1"/>
          </p:cNvSpPr>
          <p:nvPr>
            <p:ph idx="1"/>
          </p:nvPr>
        </p:nvSpPr>
        <p:spPr>
          <a:xfrm>
            <a:off x="1371600" y="1672046"/>
            <a:ext cx="9601200" cy="4195354"/>
          </a:xfrm>
        </p:spPr>
        <p:txBody>
          <a:bodyPr>
            <a:noAutofit/>
          </a:bodyPr>
          <a:lstStyle/>
          <a:p>
            <a:r>
              <a:rPr lang="en-US" sz="2800" dirty="0"/>
              <a:t>Employer is the principal (med </a:t>
            </a:r>
            <a:r>
              <a:rPr lang="en-US" sz="2800" dirty="0" err="1"/>
              <a:t>forbehold</a:t>
            </a:r>
            <a:r>
              <a:rPr lang="en-US" sz="2800" dirty="0"/>
              <a:t>)</a:t>
            </a:r>
          </a:p>
          <a:p>
            <a:r>
              <a:rPr lang="en-US" sz="2800" dirty="0"/>
              <a:t>Employee is the agent</a:t>
            </a:r>
          </a:p>
          <a:p>
            <a:pPr marL="0" indent="0">
              <a:buNone/>
            </a:pPr>
            <a:endParaRPr lang="da-DK" sz="2800" dirty="0"/>
          </a:p>
          <a:p>
            <a:pPr marL="0" indent="0">
              <a:buNone/>
            </a:pPr>
            <a:r>
              <a:rPr lang="da-DK" sz="2800" dirty="0" err="1"/>
              <a:t>We</a:t>
            </a:r>
            <a:r>
              <a:rPr lang="da-DK" sz="2800" dirty="0"/>
              <a:t> </a:t>
            </a:r>
            <a:r>
              <a:rPr lang="da-DK" sz="2800" dirty="0" err="1"/>
              <a:t>assume</a:t>
            </a:r>
            <a:r>
              <a:rPr lang="da-DK" sz="2800" dirty="0"/>
              <a:t>, </a:t>
            </a:r>
            <a:r>
              <a:rPr lang="da-DK" sz="2800" dirty="0" err="1"/>
              <a:t>that</a:t>
            </a:r>
            <a:r>
              <a:rPr lang="da-DK" sz="2800" dirty="0"/>
              <a:t>;</a:t>
            </a:r>
            <a:endParaRPr lang="en-US" sz="2800" dirty="0"/>
          </a:p>
          <a:p>
            <a:pPr marL="514350" indent="-514350">
              <a:buFont typeface="+mj-lt"/>
              <a:buAutoNum type="arabicPeriod"/>
            </a:pPr>
            <a:r>
              <a:rPr lang="en-US" sz="2800" dirty="0"/>
              <a:t>Employer is risk neutral</a:t>
            </a:r>
          </a:p>
          <a:p>
            <a:pPr marL="514350" indent="-514350">
              <a:buFont typeface="+mj-lt"/>
              <a:buAutoNum type="arabicPeriod"/>
            </a:pPr>
            <a:r>
              <a:rPr lang="en-US" sz="2800" dirty="0"/>
              <a:t>Employee is risk averse</a:t>
            </a:r>
          </a:p>
          <a:p>
            <a:pPr marL="0" indent="0">
              <a:buNone/>
            </a:pPr>
            <a:endParaRPr lang="en-US" sz="2800" dirty="0"/>
          </a:p>
          <a:p>
            <a:r>
              <a:rPr lang="en-US" sz="2800" dirty="0"/>
              <a:t>The basic model illustrates trade-offs between incentives and risk sharing</a:t>
            </a:r>
          </a:p>
        </p:txBody>
      </p:sp>
      <p:sp>
        <p:nvSpPr>
          <p:cNvPr id="36868" name="Rectangle 4"/>
          <p:cNvSpPr>
            <a:spLocks noChangeArrowheads="1"/>
          </p:cNvSpPr>
          <p:nvPr/>
        </p:nvSpPr>
        <p:spPr bwMode="auto">
          <a:xfrm>
            <a:off x="9607731" y="6324601"/>
            <a:ext cx="2133600" cy="244475"/>
          </a:xfrm>
          <a:prstGeom prst="rect">
            <a:avLst/>
          </a:prstGeom>
          <a:noFill/>
          <a:ln w="9525">
            <a:noFill/>
            <a:miter lim="800000"/>
            <a:headEnd/>
            <a:tailEnd/>
          </a:ln>
          <a:effectLst/>
        </p:spPr>
        <p:txBody>
          <a:bodyPr/>
          <a:lstStyle/>
          <a:p>
            <a:pPr algn="r"/>
            <a:fld id="{FFC5442B-AD6F-48A9-A37D-1A93FDF0AC97}" type="slidenum">
              <a:rPr lang="en-US" sz="1200" smtClean="0"/>
              <a:pPr algn="r"/>
              <a:t>12</a:t>
            </a:fld>
            <a:endParaRPr lang="en-US" sz="1200" dirty="0"/>
          </a:p>
        </p:txBody>
      </p:sp>
    </p:spTree>
    <p:extLst>
      <p:ext uri="{BB962C8B-B14F-4D97-AF65-F5344CB8AC3E}">
        <p14:creationId xmlns:p14="http://schemas.microsoft.com/office/powerpoint/2010/main" val="1294682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820920" y="173961"/>
            <a:ext cx="8229600" cy="1143000"/>
          </a:xfrm>
        </p:spPr>
        <p:txBody>
          <a:bodyPr/>
          <a:lstStyle/>
          <a:p>
            <a:pPr eaLnBrk="1" hangingPunct="1"/>
            <a:r>
              <a:rPr lang="en-US" sz="3200" dirty="0"/>
              <a:t>Basic Principal - Agent Model</a:t>
            </a:r>
            <a:br>
              <a:rPr lang="en-US" sz="3200" dirty="0"/>
            </a:br>
            <a:r>
              <a:rPr lang="en-US" sz="3200" dirty="0"/>
              <a:t>Erica Olsson of </a:t>
            </a:r>
            <a:r>
              <a:rPr lang="en-US" sz="3200" dirty="0" err="1"/>
              <a:t>DNAcorp</a:t>
            </a:r>
            <a:r>
              <a:rPr lang="en-US" sz="3200" dirty="0"/>
              <a:t> – </a:t>
            </a:r>
            <a:r>
              <a:rPr lang="en-US" sz="3200" dirty="0">
                <a:solidFill>
                  <a:srgbClr val="960000"/>
                </a:solidFill>
              </a:rPr>
              <a:t>ESSENTIELT</a:t>
            </a:r>
            <a:r>
              <a:rPr lang="en-US" sz="3200" dirty="0"/>
              <a:t>!</a:t>
            </a:r>
          </a:p>
        </p:txBody>
      </p:sp>
      <p:sp>
        <p:nvSpPr>
          <p:cNvPr id="10243" name="Rectangle 3"/>
          <p:cNvSpPr>
            <a:spLocks noGrp="1" noChangeArrowheads="1"/>
          </p:cNvSpPr>
          <p:nvPr>
            <p:ph idx="1"/>
          </p:nvPr>
        </p:nvSpPr>
        <p:spPr>
          <a:xfrm>
            <a:off x="988423" y="2024160"/>
            <a:ext cx="8773094" cy="4833840"/>
          </a:xfrm>
        </p:spPr>
        <p:txBody>
          <a:bodyPr>
            <a:normAutofit/>
          </a:bodyPr>
          <a:lstStyle/>
          <a:p>
            <a:pPr eaLnBrk="1" hangingPunct="1">
              <a:buFontTx/>
              <a:buNone/>
            </a:pPr>
            <a:r>
              <a:rPr lang="en-US" sz="2600" dirty="0" err="1"/>
              <a:t>Erica’component,market</a:t>
            </a:r>
            <a:r>
              <a:rPr lang="en-US" sz="2600" dirty="0"/>
              <a:t> value of the output (MRP): </a:t>
            </a:r>
            <a:r>
              <a:rPr lang="en-US" sz="2600" i="1" dirty="0">
                <a:solidFill>
                  <a:srgbClr val="960000"/>
                </a:solidFill>
              </a:rPr>
              <a:t>Q = </a:t>
            </a:r>
            <a:r>
              <a:rPr lang="en-US" sz="2600" i="1" dirty="0">
                <a:solidFill>
                  <a:srgbClr val="960000"/>
                </a:solidFill>
                <a:sym typeface="Symbol" pitchFamily="18" charset="2"/>
              </a:rPr>
              <a:t>e + , </a:t>
            </a:r>
          </a:p>
          <a:p>
            <a:pPr lvl="1" eaLnBrk="1" hangingPunct="1"/>
            <a:r>
              <a:rPr lang="en-US" sz="2600" dirty="0">
                <a:sym typeface="Symbol" pitchFamily="18" charset="2"/>
              </a:rPr>
              <a:t>output depends on effort </a:t>
            </a:r>
            <a:r>
              <a:rPr lang="en-US" sz="2600" dirty="0">
                <a:solidFill>
                  <a:schemeClr val="bg1"/>
                </a:solidFill>
                <a:sym typeface="Symbol" pitchFamily="18" charset="2"/>
              </a:rPr>
              <a:t>e</a:t>
            </a:r>
            <a:r>
              <a:rPr lang="en-US" sz="2600" dirty="0">
                <a:sym typeface="Symbol" pitchFamily="18" charset="2"/>
              </a:rPr>
              <a:t> and a random element </a:t>
            </a:r>
            <a:r>
              <a:rPr lang="en-US" sz="2600" i="1" dirty="0">
                <a:solidFill>
                  <a:srgbClr val="960000"/>
                </a:solidFill>
                <a:sym typeface="Symbol" pitchFamily="18" charset="2"/>
              </a:rPr>
              <a:t></a:t>
            </a:r>
          </a:p>
          <a:p>
            <a:pPr lvl="1" eaLnBrk="1" hangingPunct="1"/>
            <a:r>
              <a:rPr lang="en-US" sz="2600" i="1" dirty="0">
                <a:solidFill>
                  <a:srgbClr val="960000"/>
                </a:solidFill>
                <a:sym typeface="Symbol" pitchFamily="18" charset="2"/>
              </a:rPr>
              <a:t>Alpha is </a:t>
            </a:r>
            <a:r>
              <a:rPr lang="en-US" sz="2600" i="1" dirty="0" err="1">
                <a:solidFill>
                  <a:srgbClr val="960000"/>
                </a:solidFill>
                <a:sym typeface="Symbol" pitchFamily="18" charset="2"/>
              </a:rPr>
              <a:t>Ericas</a:t>
            </a:r>
            <a:r>
              <a:rPr lang="en-US" sz="2600" i="1" dirty="0">
                <a:solidFill>
                  <a:srgbClr val="960000"/>
                </a:solidFill>
                <a:sym typeface="Symbol" pitchFamily="18" charset="2"/>
              </a:rPr>
              <a:t> MP </a:t>
            </a:r>
            <a:r>
              <a:rPr lang="en-US" sz="2600" i="0" dirty="0">
                <a:solidFill>
                  <a:srgbClr val="960000"/>
                </a:solidFill>
                <a:sym typeface="Symbol" pitchFamily="18" charset="2"/>
              </a:rPr>
              <a:t>(marginal productivity) </a:t>
            </a:r>
            <a:endParaRPr lang="en-US" sz="2600" i="1" dirty="0">
              <a:solidFill>
                <a:srgbClr val="960000"/>
              </a:solidFill>
              <a:sym typeface="Symbol" pitchFamily="18" charset="2"/>
            </a:endParaRPr>
          </a:p>
          <a:p>
            <a:pPr lvl="1" eaLnBrk="1" hangingPunct="1"/>
            <a:r>
              <a:rPr lang="en-US" sz="2600" i="1" dirty="0">
                <a:solidFill>
                  <a:srgbClr val="960000"/>
                </a:solidFill>
                <a:sym typeface="Symbol" pitchFamily="18" charset="2"/>
              </a:rPr>
              <a:t>The model does not consider manipulation</a:t>
            </a:r>
            <a:endParaRPr lang="en-US" sz="2600" dirty="0">
              <a:solidFill>
                <a:srgbClr val="960000"/>
              </a:solidFill>
              <a:sym typeface="Symbol" pitchFamily="18" charset="2"/>
            </a:endParaRPr>
          </a:p>
          <a:p>
            <a:pPr eaLnBrk="1" hangingPunct="1">
              <a:buFontTx/>
              <a:buNone/>
            </a:pPr>
            <a:r>
              <a:rPr lang="en-US" sz="2600" dirty="0">
                <a:sym typeface="Symbol" pitchFamily="18" charset="2"/>
              </a:rPr>
              <a:t>Firm Profit: </a:t>
            </a:r>
            <a:r>
              <a:rPr lang="en-US" sz="2600" i="1" dirty="0">
                <a:solidFill>
                  <a:srgbClr val="960000"/>
                </a:solidFill>
                <a:cs typeface="Times New Roman" pitchFamily="18" charset="0"/>
                <a:sym typeface="Symbol" pitchFamily="18" charset="2"/>
              </a:rPr>
              <a:t>Π </a:t>
            </a:r>
            <a:r>
              <a:rPr lang="en-US" sz="2600" i="1" dirty="0">
                <a:solidFill>
                  <a:srgbClr val="960000"/>
                </a:solidFill>
                <a:sym typeface="Symbol" pitchFamily="18" charset="2"/>
              </a:rPr>
              <a:t>= (e + ) - W</a:t>
            </a:r>
          </a:p>
          <a:p>
            <a:pPr lvl="1" eaLnBrk="1" hangingPunct="1"/>
            <a:r>
              <a:rPr lang="en-US" sz="2600" dirty="0">
                <a:sym typeface="Symbol" pitchFamily="18" charset="2"/>
              </a:rPr>
              <a:t>profit is output-value minus Erica’s cost to the firm!</a:t>
            </a:r>
          </a:p>
          <a:p>
            <a:pPr eaLnBrk="1" hangingPunct="1">
              <a:buFontTx/>
              <a:buNone/>
            </a:pPr>
            <a:r>
              <a:rPr lang="en-US" sz="2600" dirty="0">
                <a:sym typeface="Symbol" pitchFamily="18" charset="2"/>
              </a:rPr>
              <a:t>Compensation: </a:t>
            </a:r>
            <a:r>
              <a:rPr lang="en-US" sz="2600" i="1" dirty="0">
                <a:solidFill>
                  <a:srgbClr val="960000"/>
                </a:solidFill>
                <a:sym typeface="Symbol" pitchFamily="18" charset="2"/>
              </a:rPr>
              <a:t>W = W</a:t>
            </a:r>
            <a:r>
              <a:rPr lang="en-US" sz="2600" i="1" baseline="-20000" dirty="0">
                <a:solidFill>
                  <a:srgbClr val="960000"/>
                </a:solidFill>
                <a:sym typeface="Symbol" pitchFamily="18" charset="2"/>
              </a:rPr>
              <a:t>0 </a:t>
            </a:r>
            <a:r>
              <a:rPr lang="en-US" sz="2600" i="1" dirty="0">
                <a:solidFill>
                  <a:srgbClr val="960000"/>
                </a:solidFill>
                <a:sym typeface="Symbol" pitchFamily="18" charset="2"/>
              </a:rPr>
              <a:t>+ Q, 0      1</a:t>
            </a:r>
          </a:p>
          <a:p>
            <a:pPr lvl="1" eaLnBrk="1" hangingPunct="1"/>
            <a:r>
              <a:rPr lang="en-US" sz="2600" dirty="0">
                <a:sym typeface="Symbol" pitchFamily="18" charset="2"/>
              </a:rPr>
              <a:t>Compensation has a fixed component, and an element linked to output</a:t>
            </a:r>
          </a:p>
          <a:p>
            <a:pPr marL="457200" lvl="1" indent="0">
              <a:buNone/>
            </a:pPr>
            <a:endParaRPr lang="en-US" dirty="0">
              <a:sym typeface="Symbol" pitchFamily="18" charset="2"/>
            </a:endParaRPr>
          </a:p>
        </p:txBody>
      </p:sp>
      <p:sp>
        <p:nvSpPr>
          <p:cNvPr id="10247" name="Rectangle 7"/>
          <p:cNvSpPr>
            <a:spLocks noChangeArrowheads="1"/>
          </p:cNvSpPr>
          <p:nvPr/>
        </p:nvSpPr>
        <p:spPr bwMode="auto">
          <a:xfrm>
            <a:off x="9409294" y="6296671"/>
            <a:ext cx="2133600" cy="244475"/>
          </a:xfrm>
          <a:prstGeom prst="rect">
            <a:avLst/>
          </a:prstGeom>
          <a:noFill/>
          <a:ln w="9525">
            <a:noFill/>
            <a:miter lim="800000"/>
            <a:headEnd/>
            <a:tailEnd/>
          </a:ln>
          <a:effectLst/>
        </p:spPr>
        <p:txBody>
          <a:bodyPr/>
          <a:lstStyle/>
          <a:p>
            <a:pPr algn="r"/>
            <a:fld id="{82252DBE-B513-4F39-B62D-B69FA39EFA88}" type="slidenum">
              <a:rPr lang="en-US" sz="1200" smtClean="0"/>
              <a:pPr algn="r"/>
              <a:t>13</a:t>
            </a:fld>
            <a:endParaRPr lang="en-US" sz="1200" dirty="0"/>
          </a:p>
        </p:txBody>
      </p:sp>
      <p:sp>
        <p:nvSpPr>
          <p:cNvPr id="6" name="Tekstboks 5"/>
          <p:cNvSpPr txBox="1"/>
          <p:nvPr/>
        </p:nvSpPr>
        <p:spPr>
          <a:xfrm>
            <a:off x="6708776" y="6163226"/>
            <a:ext cx="3860263" cy="646331"/>
          </a:xfrm>
          <a:prstGeom prst="rect">
            <a:avLst/>
          </a:prstGeom>
          <a:solidFill>
            <a:srgbClr val="000066"/>
          </a:solidFill>
          <a:ln>
            <a:solidFill>
              <a:schemeClr val="bg1"/>
            </a:solidFill>
          </a:ln>
        </p:spPr>
        <p:style>
          <a:lnRef idx="1">
            <a:schemeClr val="dk1"/>
          </a:lnRef>
          <a:fillRef idx="3">
            <a:schemeClr val="dk1"/>
          </a:fillRef>
          <a:effectRef idx="2">
            <a:schemeClr val="dk1"/>
          </a:effectRef>
          <a:fontRef idx="minor">
            <a:schemeClr val="lt1"/>
          </a:fontRef>
        </p:style>
        <p:txBody>
          <a:bodyPr wrap="square" rtlCol="0">
            <a:spAutoFit/>
          </a:bodyPr>
          <a:lstStyle/>
          <a:p>
            <a:r>
              <a:rPr lang="da-DK" dirty="0"/>
              <a:t>RAMME 472m. – 473m. Essentielt for bogen – herunder også note 13.</a:t>
            </a:r>
          </a:p>
        </p:txBody>
      </p:sp>
      <p:cxnSp>
        <p:nvCxnSpPr>
          <p:cNvPr id="8" name="Lige pilforbindelse 7"/>
          <p:cNvCxnSpPr/>
          <p:nvPr/>
        </p:nvCxnSpPr>
        <p:spPr>
          <a:xfrm>
            <a:off x="3886200" y="6163226"/>
            <a:ext cx="2822576" cy="323165"/>
          </a:xfrm>
          <a:prstGeom prst="straightConnector1">
            <a:avLst/>
          </a:prstGeom>
          <a:ln>
            <a:solidFill>
              <a:srgbClr val="00206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7" name="Tekstboks 6"/>
          <p:cNvSpPr txBox="1"/>
          <p:nvPr/>
        </p:nvSpPr>
        <p:spPr>
          <a:xfrm>
            <a:off x="9587424" y="336057"/>
            <a:ext cx="2451780" cy="1600438"/>
          </a:xfrm>
          <a:prstGeom prst="rect">
            <a:avLst/>
          </a:prstGeom>
          <a:solidFill>
            <a:srgbClr val="000066"/>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da-DK" sz="1400" dirty="0"/>
              <a:t>Optimal </a:t>
            </a:r>
            <a:r>
              <a:rPr lang="da-DK" sz="1400" dirty="0" err="1"/>
              <a:t>risk</a:t>
            </a:r>
            <a:r>
              <a:rPr lang="da-DK" sz="1400" dirty="0"/>
              <a:t> </a:t>
            </a:r>
            <a:r>
              <a:rPr lang="da-DK" sz="1400" dirty="0" err="1"/>
              <a:t>sharing</a:t>
            </a:r>
            <a:r>
              <a:rPr lang="da-DK" sz="1400" dirty="0"/>
              <a:t>; </a:t>
            </a:r>
          </a:p>
          <a:p>
            <a:r>
              <a:rPr lang="da-DK" sz="1400" dirty="0" err="1"/>
              <a:t>owners</a:t>
            </a:r>
            <a:r>
              <a:rPr lang="da-DK" sz="1400" dirty="0"/>
              <a:t> </a:t>
            </a:r>
            <a:r>
              <a:rPr lang="da-DK" sz="1400" dirty="0" err="1"/>
              <a:t>bear</a:t>
            </a:r>
            <a:r>
              <a:rPr lang="da-DK" sz="1400" dirty="0"/>
              <a:t> </a:t>
            </a:r>
            <a:r>
              <a:rPr lang="da-DK" sz="1400" dirty="0" err="1"/>
              <a:t>risk</a:t>
            </a:r>
            <a:r>
              <a:rPr lang="da-DK" sz="1400" dirty="0"/>
              <a:t>, Erica </a:t>
            </a:r>
            <a:r>
              <a:rPr lang="da-DK" sz="1400" dirty="0" err="1"/>
              <a:t>should</a:t>
            </a:r>
            <a:r>
              <a:rPr lang="da-DK" sz="1400" dirty="0"/>
              <a:t> have </a:t>
            </a:r>
            <a:r>
              <a:rPr lang="da-DK" sz="1400" dirty="0" err="1"/>
              <a:t>fixed</a:t>
            </a:r>
            <a:r>
              <a:rPr lang="da-DK" sz="1400" dirty="0"/>
              <a:t> </a:t>
            </a:r>
            <a:r>
              <a:rPr lang="da-DK" sz="1400" dirty="0" err="1"/>
              <a:t>salary</a:t>
            </a:r>
            <a:r>
              <a:rPr lang="da-DK" sz="1400" dirty="0"/>
              <a:t>! </a:t>
            </a:r>
          </a:p>
          <a:p>
            <a:endParaRPr lang="da-DK" sz="1400" dirty="0"/>
          </a:p>
          <a:p>
            <a:r>
              <a:rPr lang="da-DK" sz="1400" dirty="0" err="1"/>
              <a:t>However</a:t>
            </a:r>
            <a:r>
              <a:rPr lang="da-DK" sz="1400" dirty="0"/>
              <a:t> ; </a:t>
            </a:r>
          </a:p>
          <a:p>
            <a:r>
              <a:rPr lang="da-DK" sz="1400" dirty="0" err="1"/>
              <a:t>incentive</a:t>
            </a:r>
            <a:r>
              <a:rPr lang="da-DK" sz="1400" dirty="0"/>
              <a:t> problem! Se igen planche 8, 9 og 10.</a:t>
            </a:r>
          </a:p>
        </p:txBody>
      </p:sp>
    </p:spTree>
    <p:extLst>
      <p:ext uri="{BB962C8B-B14F-4D97-AF65-F5344CB8AC3E}">
        <p14:creationId xmlns:p14="http://schemas.microsoft.com/office/powerpoint/2010/main" val="18045686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a:xfrm>
            <a:off x="952500" y="234395"/>
            <a:ext cx="8229600" cy="1143000"/>
          </a:xfrm>
        </p:spPr>
        <p:txBody>
          <a:bodyPr>
            <a:normAutofit fontScale="90000"/>
          </a:bodyPr>
          <a:lstStyle/>
          <a:p>
            <a:pPr eaLnBrk="1" hangingPunct="1"/>
            <a:r>
              <a:rPr lang="en-US" dirty="0">
                <a:solidFill>
                  <a:srgbClr val="960000"/>
                </a:solidFill>
              </a:rPr>
              <a:t>Employee’s</a:t>
            </a:r>
            <a:r>
              <a:rPr lang="en-US" dirty="0"/>
              <a:t> Effort Problem</a:t>
            </a:r>
            <a:br>
              <a:rPr lang="en-US" dirty="0"/>
            </a:br>
            <a:r>
              <a:rPr lang="en-US" sz="3600" dirty="0"/>
              <a:t>Erica again!</a:t>
            </a:r>
            <a:endParaRPr lang="en-US" dirty="0"/>
          </a:p>
        </p:txBody>
      </p:sp>
      <p:sp>
        <p:nvSpPr>
          <p:cNvPr id="2052" name="Rectangle 3"/>
          <p:cNvSpPr>
            <a:spLocks noGrp="1" noChangeArrowheads="1"/>
          </p:cNvSpPr>
          <p:nvPr>
            <p:ph idx="1"/>
          </p:nvPr>
        </p:nvSpPr>
        <p:spPr>
          <a:xfrm>
            <a:off x="1306286" y="1893888"/>
            <a:ext cx="8904514" cy="4525962"/>
          </a:xfrm>
        </p:spPr>
        <p:txBody>
          <a:bodyPr>
            <a:normAutofit/>
          </a:bodyPr>
          <a:lstStyle/>
          <a:p>
            <a:pPr eaLnBrk="1" hangingPunct="1">
              <a:buClr>
                <a:srgbClr val="000066"/>
              </a:buClr>
            </a:pPr>
            <a:r>
              <a:rPr lang="en-US" sz="3200" dirty="0"/>
              <a:t>Suppose</a:t>
            </a:r>
          </a:p>
          <a:p>
            <a:pPr eaLnBrk="1" hangingPunct="1">
              <a:buClr>
                <a:srgbClr val="000066"/>
              </a:buClr>
            </a:pPr>
            <a:endParaRPr lang="en-US" sz="3200" dirty="0"/>
          </a:p>
          <a:p>
            <a:pPr eaLnBrk="1" hangingPunct="1">
              <a:buClr>
                <a:srgbClr val="000066"/>
              </a:buClr>
            </a:pPr>
            <a:r>
              <a:rPr lang="en-US" sz="3200" dirty="0"/>
              <a:t>Then W = 1000 + 0,2 (100</a:t>
            </a:r>
            <a:r>
              <a:rPr lang="en-US" sz="3200" i="1" dirty="0"/>
              <a:t>e </a:t>
            </a:r>
            <a:r>
              <a:rPr lang="en-US" sz="3200" dirty="0"/>
              <a:t>+ </a:t>
            </a:r>
            <a:r>
              <a:rPr lang="en-US" sz="3200" i="1" dirty="0">
                <a:cs typeface="Times New Roman" pitchFamily="18" charset="0"/>
              </a:rPr>
              <a:t>μ</a:t>
            </a:r>
            <a:r>
              <a:rPr lang="en-US" sz="3200" dirty="0">
                <a:cs typeface="Times New Roman" pitchFamily="18" charset="0"/>
              </a:rPr>
              <a:t>)</a:t>
            </a:r>
            <a:r>
              <a:rPr lang="en-US" sz="3200" dirty="0"/>
              <a:t> </a:t>
            </a:r>
          </a:p>
          <a:p>
            <a:pPr eaLnBrk="1" hangingPunct="1">
              <a:buClr>
                <a:srgbClr val="000066"/>
              </a:buClr>
            </a:pPr>
            <a:endParaRPr lang="en-US" sz="3200" dirty="0"/>
          </a:p>
          <a:p>
            <a:pPr eaLnBrk="1" hangingPunct="1">
              <a:buClr>
                <a:srgbClr val="000066"/>
              </a:buClr>
            </a:pPr>
            <a:r>
              <a:rPr lang="en-US" sz="3200" dirty="0"/>
              <a:t>Random shocks </a:t>
            </a:r>
            <a:r>
              <a:rPr lang="en-US" sz="3200" i="1" dirty="0">
                <a:cs typeface="Times New Roman" pitchFamily="18" charset="0"/>
              </a:rPr>
              <a:t>μ</a:t>
            </a:r>
            <a:r>
              <a:rPr lang="en-US" sz="3200" dirty="0"/>
              <a:t> affect total compensation but not the benefit of extra effort =&gt; </a:t>
            </a:r>
          </a:p>
          <a:p>
            <a:pPr eaLnBrk="1" hangingPunct="1">
              <a:buClr>
                <a:srgbClr val="000066"/>
              </a:buClr>
            </a:pPr>
            <a:r>
              <a:rPr lang="en-US" sz="3200" dirty="0"/>
              <a:t>Erica ignores </a:t>
            </a:r>
            <a:r>
              <a:rPr lang="en-US" sz="3200" i="1" dirty="0"/>
              <a:t>µ, but not e </a:t>
            </a:r>
            <a:r>
              <a:rPr lang="en-US" sz="3200" dirty="0">
                <a:solidFill>
                  <a:srgbClr val="960000"/>
                </a:solidFill>
              </a:rPr>
              <a:t>(brilliant!)</a:t>
            </a:r>
          </a:p>
        </p:txBody>
      </p:sp>
      <mc:AlternateContent xmlns:mc="http://schemas.openxmlformats.org/markup-compatibility/2006" xmlns:a14="http://schemas.microsoft.com/office/drawing/2010/main">
        <mc:Choice Requires="a14">
          <p:sp>
            <p:nvSpPr>
              <p:cNvPr id="2050" name="Object 4"/>
              <p:cNvSpPr txBox="1"/>
              <p:nvPr/>
            </p:nvSpPr>
            <p:spPr bwMode="auto">
              <a:xfrm>
                <a:off x="3352800" y="2484438"/>
                <a:ext cx="5029200" cy="473075"/>
              </a:xfrm>
              <a:prstGeom prst="rect">
                <a:avLst/>
              </a:prstGeom>
              <a:noFill/>
              <a:ln>
                <a:solidFill>
                  <a:srgbClr val="002060"/>
                </a:solidFill>
              </a:ln>
            </p:spPr>
            <p:txBody>
              <a:bodyPr>
                <a:noAutofit/>
              </a:bodyPr>
              <a:lstStyle/>
              <a:p>
                <a:pPr/>
                <a14:m>
                  <m:oMathPara xmlns:m="http://schemas.openxmlformats.org/officeDocument/2006/math">
                    <m:oMathParaPr>
                      <m:jc m:val="center"/>
                    </m:oMathParaPr>
                    <m:oMath xmlns:m="http://schemas.openxmlformats.org/officeDocument/2006/math">
                      <m:r>
                        <m:rPr>
                          <m:sty m:val="p"/>
                        </m:rPr>
                        <a:rPr lang="da-DK" sz="2400" i="0" smtClean="0">
                          <a:solidFill>
                            <a:srgbClr val="960000"/>
                          </a:solidFill>
                          <a:latin typeface="Cambria Math" panose="02040503050406030204" pitchFamily="18" charset="0"/>
                        </a:rPr>
                        <m:t>W</m:t>
                      </m:r>
                      <m:r>
                        <a:rPr lang="da-DK" sz="2400" i="1">
                          <a:solidFill>
                            <a:srgbClr val="960000"/>
                          </a:solidFill>
                          <a:latin typeface="Cambria Math" panose="02040503050406030204" pitchFamily="18" charset="0"/>
                        </a:rPr>
                        <m:t>=</m:t>
                      </m:r>
                      <m:r>
                        <m:rPr>
                          <m:nor/>
                        </m:rPr>
                        <a:rPr lang="da-DK" sz="2400" i="0">
                          <a:solidFill>
                            <a:srgbClr val="960000"/>
                          </a:solidFill>
                        </a:rPr>
                        <m:t>1000</m:t>
                      </m:r>
                      <m:r>
                        <a:rPr lang="da-DK" sz="2400" i="1">
                          <a:solidFill>
                            <a:srgbClr val="960000"/>
                          </a:solidFill>
                          <a:latin typeface="Cambria Math" panose="02040503050406030204" pitchFamily="18" charset="0"/>
                        </a:rPr>
                        <m:t>+</m:t>
                      </m:r>
                      <m:r>
                        <m:rPr>
                          <m:nor/>
                        </m:rPr>
                        <a:rPr lang="da-DK" sz="2400" i="0">
                          <a:solidFill>
                            <a:srgbClr val="960000"/>
                          </a:solidFill>
                        </a:rPr>
                        <m:t>.2</m:t>
                      </m:r>
                      <m:r>
                        <m:rPr>
                          <m:nor/>
                        </m:rPr>
                        <a:rPr lang="da-DK" sz="2400" i="0">
                          <a:solidFill>
                            <a:srgbClr val="960000"/>
                          </a:solidFill>
                        </a:rPr>
                        <m:t>Q</m:t>
                      </m:r>
                      <m:r>
                        <m:rPr>
                          <m:nor/>
                        </m:rPr>
                        <a:rPr lang="da-DK" sz="2400" i="0">
                          <a:solidFill>
                            <a:srgbClr val="960000"/>
                          </a:solidFill>
                        </a:rPr>
                        <m:t> </m:t>
                      </m:r>
                      <m:r>
                        <m:rPr>
                          <m:nor/>
                        </m:rPr>
                        <a:rPr lang="da-DK" sz="2400" i="0">
                          <a:solidFill>
                            <a:srgbClr val="960000"/>
                          </a:solidFill>
                        </a:rPr>
                        <m:t>and</m:t>
                      </m:r>
                      <m:r>
                        <m:rPr>
                          <m:nor/>
                        </m:rPr>
                        <a:rPr lang="da-DK" sz="2400" i="0">
                          <a:solidFill>
                            <a:srgbClr val="960000"/>
                          </a:solidFill>
                        </a:rPr>
                        <m:t> </m:t>
                      </m:r>
                      <m:r>
                        <m:rPr>
                          <m:nor/>
                        </m:rPr>
                        <a:rPr lang="da-DK" sz="2400" i="0">
                          <a:solidFill>
                            <a:srgbClr val="960000"/>
                          </a:solidFill>
                        </a:rPr>
                        <m:t>Q</m:t>
                      </m:r>
                      <m:r>
                        <a:rPr lang="da-DK" sz="2400" i="1">
                          <a:solidFill>
                            <a:srgbClr val="960000"/>
                          </a:solidFill>
                          <a:latin typeface="Cambria Math" panose="02040503050406030204" pitchFamily="18" charset="0"/>
                        </a:rPr>
                        <m:t>=</m:t>
                      </m:r>
                      <m:r>
                        <m:rPr>
                          <m:nor/>
                        </m:rPr>
                        <a:rPr lang="da-DK" sz="2400" i="0">
                          <a:solidFill>
                            <a:srgbClr val="960000"/>
                          </a:solidFill>
                        </a:rPr>
                        <m:t>100</m:t>
                      </m:r>
                      <m:r>
                        <m:rPr>
                          <m:nor/>
                        </m:rPr>
                        <a:rPr lang="da-DK" sz="2400" i="0">
                          <a:solidFill>
                            <a:srgbClr val="960000"/>
                          </a:solidFill>
                        </a:rPr>
                        <m:t>e</m:t>
                      </m:r>
                      <m:r>
                        <a:rPr lang="da-DK" sz="2400" i="1">
                          <a:solidFill>
                            <a:srgbClr val="960000"/>
                          </a:solidFill>
                          <a:latin typeface="Cambria Math" panose="02040503050406030204" pitchFamily="18" charset="0"/>
                        </a:rPr>
                        <m:t>+</m:t>
                      </m:r>
                      <m:r>
                        <m:rPr>
                          <m:sty m:val="p"/>
                        </m:rPr>
                        <a:rPr lang="da-DK" sz="2400" i="0">
                          <a:solidFill>
                            <a:srgbClr val="960000"/>
                          </a:solidFill>
                          <a:latin typeface="Cambria Math" panose="02040503050406030204" pitchFamily="18" charset="0"/>
                        </a:rPr>
                        <m:t>μ</m:t>
                      </m:r>
                    </m:oMath>
                  </m:oMathPara>
                </a14:m>
                <a:endParaRPr lang="da-DK" sz="2400" dirty="0">
                  <a:solidFill>
                    <a:srgbClr val="960000"/>
                  </a:solidFill>
                </a:endParaRPr>
              </a:p>
            </p:txBody>
          </p:sp>
        </mc:Choice>
        <mc:Fallback xmlns="">
          <p:sp>
            <p:nvSpPr>
              <p:cNvPr id="2050" name="Object 4"/>
              <p:cNvSpPr txBox="1">
                <a:spLocks noRot="1" noChangeAspect="1" noMove="1" noResize="1" noEditPoints="1" noAdjustHandles="1" noChangeArrowheads="1" noChangeShapeType="1" noTextEdit="1"/>
              </p:cNvSpPr>
              <p:nvPr/>
            </p:nvSpPr>
            <p:spPr bwMode="auto">
              <a:xfrm>
                <a:off x="3352800" y="2484438"/>
                <a:ext cx="5029200" cy="473075"/>
              </a:xfrm>
              <a:prstGeom prst="rect">
                <a:avLst/>
              </a:prstGeom>
              <a:blipFill>
                <a:blip r:embed="rId2"/>
                <a:stretch>
                  <a:fillRect b="-10127"/>
                </a:stretch>
              </a:blipFill>
              <a:ln>
                <a:solidFill>
                  <a:srgbClr val="002060"/>
                </a:solidFill>
              </a:ln>
            </p:spPr>
            <p:txBody>
              <a:bodyPr/>
              <a:lstStyle/>
              <a:p>
                <a:r>
                  <a:rPr lang="da-DK">
                    <a:noFill/>
                  </a:rPr>
                  <a:t> </a:t>
                </a:r>
              </a:p>
            </p:txBody>
          </p:sp>
        </mc:Fallback>
      </mc:AlternateContent>
      <p:sp>
        <p:nvSpPr>
          <p:cNvPr id="2054" name="Rectangle 6"/>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fld id="{77674A62-7079-4174-9D03-AFA7186311B3}" type="slidenum">
              <a:rPr lang="en-US" sz="1200" smtClean="0"/>
              <a:pPr algn="r"/>
              <a:t>14</a:t>
            </a:fld>
            <a:endParaRPr lang="en-US" sz="1200" dirty="0"/>
          </a:p>
        </p:txBody>
      </p:sp>
      <p:sp>
        <p:nvSpPr>
          <p:cNvPr id="6" name="Tekstboks 5"/>
          <p:cNvSpPr txBox="1"/>
          <p:nvPr/>
        </p:nvSpPr>
        <p:spPr>
          <a:xfrm>
            <a:off x="8229600" y="1504950"/>
            <a:ext cx="2438400" cy="369332"/>
          </a:xfrm>
          <a:prstGeom prst="rect">
            <a:avLst/>
          </a:prstGeom>
          <a:solidFill>
            <a:srgbClr val="000066"/>
          </a:solidFill>
          <a:ln>
            <a:solidFill>
              <a:schemeClr val="bg1"/>
            </a:solidFill>
          </a:ln>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da-DK" dirty="0"/>
              <a:t>Bemærk note 13 &amp; 14.</a:t>
            </a:r>
          </a:p>
        </p:txBody>
      </p:sp>
      <p:sp>
        <p:nvSpPr>
          <p:cNvPr id="7" name="Tekstboks 6"/>
          <p:cNvSpPr txBox="1"/>
          <p:nvPr/>
        </p:nvSpPr>
        <p:spPr>
          <a:xfrm>
            <a:off x="9008423" y="5881689"/>
            <a:ext cx="1659577" cy="369332"/>
          </a:xfrm>
          <a:prstGeom prst="rect">
            <a:avLst/>
          </a:prstGeom>
          <a:solidFill>
            <a:srgbClr val="000066"/>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r>
              <a:rPr lang="da-DK" dirty="0"/>
              <a:t>Ramme 473m. </a:t>
            </a:r>
          </a:p>
        </p:txBody>
      </p:sp>
    </p:spTree>
    <p:extLst>
      <p:ext uri="{BB962C8B-B14F-4D97-AF65-F5344CB8AC3E}">
        <p14:creationId xmlns:p14="http://schemas.microsoft.com/office/powerpoint/2010/main" val="1834008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85466" y="312738"/>
            <a:ext cx="8229600" cy="990600"/>
          </a:xfrm>
        </p:spPr>
        <p:txBody>
          <a:bodyPr>
            <a:normAutofit/>
          </a:bodyPr>
          <a:lstStyle/>
          <a:p>
            <a:pPr eaLnBrk="1" hangingPunct="1"/>
            <a:r>
              <a:rPr lang="en-US" dirty="0"/>
              <a:t>The </a:t>
            </a:r>
            <a:r>
              <a:rPr lang="en-US" dirty="0">
                <a:solidFill>
                  <a:srgbClr val="960000"/>
                </a:solidFill>
              </a:rPr>
              <a:t>Employee’s</a:t>
            </a:r>
            <a:r>
              <a:rPr lang="en-US" dirty="0">
                <a:solidFill>
                  <a:srgbClr val="FF6600"/>
                </a:solidFill>
              </a:rPr>
              <a:t> </a:t>
            </a:r>
            <a:r>
              <a:rPr lang="en-US" dirty="0"/>
              <a:t>Effort Choice</a:t>
            </a:r>
          </a:p>
        </p:txBody>
      </p:sp>
      <p:sp>
        <p:nvSpPr>
          <p:cNvPr id="11271" name="Line 7"/>
          <p:cNvSpPr>
            <a:spLocks noChangeShapeType="1"/>
          </p:cNvSpPr>
          <p:nvPr/>
        </p:nvSpPr>
        <p:spPr bwMode="auto">
          <a:xfrm>
            <a:off x="3409950" y="2041526"/>
            <a:ext cx="0" cy="3679825"/>
          </a:xfrm>
          <a:prstGeom prst="line">
            <a:avLst/>
          </a:prstGeom>
          <a:noFill/>
          <a:ln w="9525">
            <a:solidFill>
              <a:schemeClr val="tx1"/>
            </a:solidFill>
            <a:round/>
            <a:headEnd type="triangle"/>
            <a:tailEnd type="none"/>
          </a:ln>
          <a:effectLst/>
        </p:spPr>
        <p:txBody>
          <a:bodyPr/>
          <a:lstStyle/>
          <a:p>
            <a:endParaRPr lang="da-DK"/>
          </a:p>
        </p:txBody>
      </p:sp>
      <p:sp>
        <p:nvSpPr>
          <p:cNvPr id="11272" name="Line 8"/>
          <p:cNvSpPr>
            <a:spLocks noChangeShapeType="1"/>
          </p:cNvSpPr>
          <p:nvPr/>
        </p:nvSpPr>
        <p:spPr bwMode="auto">
          <a:xfrm>
            <a:off x="3411539" y="5721350"/>
            <a:ext cx="4090987" cy="0"/>
          </a:xfrm>
          <a:prstGeom prst="line">
            <a:avLst/>
          </a:prstGeom>
          <a:noFill/>
          <a:ln w="9525">
            <a:solidFill>
              <a:schemeClr val="tx1"/>
            </a:solidFill>
            <a:round/>
            <a:headEnd/>
            <a:tailEnd type="triangle"/>
          </a:ln>
          <a:effectLst/>
        </p:spPr>
        <p:txBody>
          <a:bodyPr/>
          <a:lstStyle/>
          <a:p>
            <a:endParaRPr lang="da-DK"/>
          </a:p>
        </p:txBody>
      </p:sp>
      <p:sp>
        <p:nvSpPr>
          <p:cNvPr id="11273" name="Line 9"/>
          <p:cNvSpPr>
            <a:spLocks noChangeShapeType="1"/>
          </p:cNvSpPr>
          <p:nvPr/>
        </p:nvSpPr>
        <p:spPr bwMode="auto">
          <a:xfrm flipV="1">
            <a:off x="3398838" y="2552700"/>
            <a:ext cx="4513262" cy="1841500"/>
          </a:xfrm>
          <a:prstGeom prst="line">
            <a:avLst/>
          </a:prstGeom>
          <a:noFill/>
          <a:ln w="28575">
            <a:solidFill>
              <a:srgbClr val="000066"/>
            </a:solidFill>
            <a:round/>
            <a:headEnd/>
            <a:tailEnd/>
          </a:ln>
          <a:effectLst/>
        </p:spPr>
        <p:txBody>
          <a:bodyPr/>
          <a:lstStyle/>
          <a:p>
            <a:endParaRPr lang="da-DK"/>
          </a:p>
        </p:txBody>
      </p:sp>
      <p:sp>
        <p:nvSpPr>
          <p:cNvPr id="11274" name="Line 10"/>
          <p:cNvSpPr>
            <a:spLocks noChangeShapeType="1"/>
          </p:cNvSpPr>
          <p:nvPr/>
        </p:nvSpPr>
        <p:spPr bwMode="auto">
          <a:xfrm>
            <a:off x="3448050" y="3773488"/>
            <a:ext cx="1512888" cy="0"/>
          </a:xfrm>
          <a:prstGeom prst="line">
            <a:avLst/>
          </a:prstGeom>
          <a:noFill/>
          <a:ln w="9525">
            <a:solidFill>
              <a:srgbClr val="5F5F5F"/>
            </a:solidFill>
            <a:prstDash val="dash"/>
            <a:round/>
            <a:headEnd/>
            <a:tailEnd/>
          </a:ln>
          <a:effectLst/>
        </p:spPr>
        <p:txBody>
          <a:bodyPr/>
          <a:lstStyle/>
          <a:p>
            <a:endParaRPr lang="da-DK"/>
          </a:p>
        </p:txBody>
      </p:sp>
      <p:sp>
        <p:nvSpPr>
          <p:cNvPr id="11275" name="Line 11"/>
          <p:cNvSpPr>
            <a:spLocks noChangeShapeType="1"/>
          </p:cNvSpPr>
          <p:nvPr/>
        </p:nvSpPr>
        <p:spPr bwMode="auto">
          <a:xfrm>
            <a:off x="4959350" y="3786188"/>
            <a:ext cx="0" cy="1911350"/>
          </a:xfrm>
          <a:prstGeom prst="line">
            <a:avLst/>
          </a:prstGeom>
          <a:noFill/>
          <a:ln w="9525">
            <a:solidFill>
              <a:srgbClr val="5F5F5F"/>
            </a:solidFill>
            <a:prstDash val="dash"/>
            <a:round/>
            <a:headEnd/>
            <a:tailEnd/>
          </a:ln>
          <a:effectLst/>
        </p:spPr>
        <p:txBody>
          <a:bodyPr/>
          <a:lstStyle/>
          <a:p>
            <a:endParaRPr lang="da-DK"/>
          </a:p>
        </p:txBody>
      </p:sp>
      <p:sp>
        <p:nvSpPr>
          <p:cNvPr id="11276" name="Freeform 12"/>
          <p:cNvSpPr>
            <a:spLocks/>
          </p:cNvSpPr>
          <p:nvPr/>
        </p:nvSpPr>
        <p:spPr bwMode="auto">
          <a:xfrm>
            <a:off x="3411538" y="2192338"/>
            <a:ext cx="3986212" cy="3505200"/>
          </a:xfrm>
          <a:custGeom>
            <a:avLst/>
            <a:gdLst/>
            <a:ahLst/>
            <a:cxnLst>
              <a:cxn ang="0">
                <a:pos x="0" y="2208"/>
              </a:cxn>
              <a:cxn ang="0">
                <a:pos x="436" y="2149"/>
              </a:cxn>
              <a:cxn ang="0">
                <a:pos x="1085" y="1949"/>
              </a:cxn>
              <a:cxn ang="0">
                <a:pos x="1610" y="1632"/>
              </a:cxn>
              <a:cxn ang="0">
                <a:pos x="1964" y="1277"/>
              </a:cxn>
              <a:cxn ang="0">
                <a:pos x="2297" y="753"/>
              </a:cxn>
              <a:cxn ang="0">
                <a:pos x="2437" y="391"/>
              </a:cxn>
              <a:cxn ang="0">
                <a:pos x="2511" y="0"/>
              </a:cxn>
            </a:cxnLst>
            <a:rect l="0" t="0" r="r" b="b"/>
            <a:pathLst>
              <a:path w="2511" h="2208">
                <a:moveTo>
                  <a:pt x="0" y="2208"/>
                </a:moveTo>
                <a:cubicBezTo>
                  <a:pt x="127" y="2200"/>
                  <a:pt x="255" y="2192"/>
                  <a:pt x="436" y="2149"/>
                </a:cubicBezTo>
                <a:cubicBezTo>
                  <a:pt x="617" y="2106"/>
                  <a:pt x="889" y="2035"/>
                  <a:pt x="1085" y="1949"/>
                </a:cubicBezTo>
                <a:cubicBezTo>
                  <a:pt x="1281" y="1863"/>
                  <a:pt x="1463" y="1744"/>
                  <a:pt x="1610" y="1632"/>
                </a:cubicBezTo>
                <a:cubicBezTo>
                  <a:pt x="1757" y="1520"/>
                  <a:pt x="1849" y="1424"/>
                  <a:pt x="1964" y="1277"/>
                </a:cubicBezTo>
                <a:cubicBezTo>
                  <a:pt x="2079" y="1130"/>
                  <a:pt x="2218" y="901"/>
                  <a:pt x="2297" y="753"/>
                </a:cubicBezTo>
                <a:cubicBezTo>
                  <a:pt x="2376" y="605"/>
                  <a:pt x="2401" y="517"/>
                  <a:pt x="2437" y="391"/>
                </a:cubicBezTo>
                <a:cubicBezTo>
                  <a:pt x="2473" y="265"/>
                  <a:pt x="2492" y="132"/>
                  <a:pt x="2511" y="0"/>
                </a:cubicBezTo>
              </a:path>
            </a:pathLst>
          </a:custGeom>
          <a:noFill/>
          <a:ln w="28575" cmpd="sng">
            <a:solidFill>
              <a:srgbClr val="960000"/>
            </a:solidFill>
            <a:round/>
            <a:headEnd/>
            <a:tailEnd/>
          </a:ln>
          <a:effectLst/>
        </p:spPr>
        <p:txBody>
          <a:bodyPr/>
          <a:lstStyle/>
          <a:p>
            <a:endParaRPr lang="da-DK"/>
          </a:p>
        </p:txBody>
      </p:sp>
      <p:sp>
        <p:nvSpPr>
          <p:cNvPr id="11277" name="Line 13"/>
          <p:cNvSpPr>
            <a:spLocks noChangeShapeType="1"/>
          </p:cNvSpPr>
          <p:nvPr/>
        </p:nvSpPr>
        <p:spPr bwMode="auto">
          <a:xfrm flipV="1">
            <a:off x="4138614" y="4935538"/>
            <a:ext cx="1781175" cy="773112"/>
          </a:xfrm>
          <a:prstGeom prst="line">
            <a:avLst/>
          </a:prstGeom>
          <a:noFill/>
          <a:ln w="19050">
            <a:solidFill>
              <a:srgbClr val="000066"/>
            </a:solidFill>
            <a:prstDash val="dash"/>
            <a:round/>
            <a:headEnd/>
            <a:tailEnd/>
          </a:ln>
          <a:effectLst/>
        </p:spPr>
        <p:txBody>
          <a:bodyPr/>
          <a:lstStyle/>
          <a:p>
            <a:endParaRPr lang="da-DK"/>
          </a:p>
        </p:txBody>
      </p:sp>
      <p:sp>
        <p:nvSpPr>
          <p:cNvPr id="11278" name="Text Box 14"/>
          <p:cNvSpPr txBox="1">
            <a:spLocks noChangeArrowheads="1"/>
          </p:cNvSpPr>
          <p:nvPr/>
        </p:nvSpPr>
        <p:spPr bwMode="auto">
          <a:xfrm>
            <a:off x="2736851" y="3609975"/>
            <a:ext cx="676275" cy="304800"/>
          </a:xfrm>
          <a:prstGeom prst="rect">
            <a:avLst/>
          </a:prstGeom>
          <a:noFill/>
          <a:ln w="9525">
            <a:noFill/>
            <a:miter lim="800000"/>
            <a:headEnd/>
            <a:tailEnd/>
          </a:ln>
          <a:effectLst/>
        </p:spPr>
        <p:txBody>
          <a:bodyPr>
            <a:spAutoFit/>
          </a:bodyPr>
          <a:lstStyle/>
          <a:p>
            <a:pPr>
              <a:spcBef>
                <a:spcPct val="50000"/>
              </a:spcBef>
            </a:pPr>
            <a:r>
              <a:rPr lang="en-US" sz="1400" dirty="0"/>
              <a:t>1,200</a:t>
            </a:r>
          </a:p>
        </p:txBody>
      </p:sp>
      <p:sp>
        <p:nvSpPr>
          <p:cNvPr id="11279" name="Text Box 15"/>
          <p:cNvSpPr txBox="1">
            <a:spLocks noChangeArrowheads="1"/>
          </p:cNvSpPr>
          <p:nvPr/>
        </p:nvSpPr>
        <p:spPr bwMode="auto">
          <a:xfrm>
            <a:off x="4462464" y="5718175"/>
            <a:ext cx="974725" cy="304800"/>
          </a:xfrm>
          <a:prstGeom prst="rect">
            <a:avLst/>
          </a:prstGeom>
          <a:noFill/>
          <a:ln w="9525">
            <a:noFill/>
            <a:miter lim="800000"/>
            <a:headEnd/>
            <a:tailEnd/>
          </a:ln>
          <a:effectLst/>
        </p:spPr>
        <p:txBody>
          <a:bodyPr>
            <a:spAutoFit/>
          </a:bodyPr>
          <a:lstStyle/>
          <a:p>
            <a:pPr>
              <a:spcBef>
                <a:spcPct val="50000"/>
              </a:spcBef>
            </a:pPr>
            <a:r>
              <a:rPr lang="en-US" sz="1400" dirty="0"/>
              <a:t>e* = 10</a:t>
            </a:r>
          </a:p>
        </p:txBody>
      </p:sp>
      <p:sp>
        <p:nvSpPr>
          <p:cNvPr id="11280" name="Text Box 16"/>
          <p:cNvSpPr txBox="1">
            <a:spLocks noChangeArrowheads="1"/>
          </p:cNvSpPr>
          <p:nvPr/>
        </p:nvSpPr>
        <p:spPr bwMode="auto">
          <a:xfrm>
            <a:off x="5253039" y="6024563"/>
            <a:ext cx="1495425" cy="304800"/>
          </a:xfrm>
          <a:prstGeom prst="rect">
            <a:avLst/>
          </a:prstGeom>
          <a:noFill/>
          <a:ln w="9525">
            <a:noFill/>
            <a:miter lim="800000"/>
            <a:headEnd/>
            <a:tailEnd/>
          </a:ln>
          <a:effectLst/>
        </p:spPr>
        <p:txBody>
          <a:bodyPr>
            <a:spAutoFit/>
          </a:bodyPr>
          <a:lstStyle/>
          <a:p>
            <a:pPr>
              <a:spcBef>
                <a:spcPct val="50000"/>
              </a:spcBef>
            </a:pPr>
            <a:r>
              <a:rPr lang="en-US" sz="1400" dirty="0"/>
              <a:t>Level of effort</a:t>
            </a:r>
          </a:p>
        </p:txBody>
      </p:sp>
      <p:sp>
        <p:nvSpPr>
          <p:cNvPr id="11281" name="Text Box 17"/>
          <p:cNvSpPr txBox="1">
            <a:spLocks noChangeArrowheads="1"/>
          </p:cNvSpPr>
          <p:nvPr/>
        </p:nvSpPr>
        <p:spPr bwMode="auto">
          <a:xfrm>
            <a:off x="7510464" y="5522913"/>
            <a:ext cx="390525" cy="304800"/>
          </a:xfrm>
          <a:prstGeom prst="rect">
            <a:avLst/>
          </a:prstGeom>
          <a:noFill/>
          <a:ln w="9525">
            <a:noFill/>
            <a:miter lim="800000"/>
            <a:headEnd/>
            <a:tailEnd/>
          </a:ln>
          <a:effectLst/>
        </p:spPr>
        <p:txBody>
          <a:bodyPr>
            <a:spAutoFit/>
          </a:bodyPr>
          <a:lstStyle/>
          <a:p>
            <a:pPr>
              <a:spcBef>
                <a:spcPct val="50000"/>
              </a:spcBef>
            </a:pPr>
            <a:r>
              <a:rPr lang="en-US" sz="1400" i="1" dirty="0"/>
              <a:t>e</a:t>
            </a:r>
          </a:p>
        </p:txBody>
      </p:sp>
      <p:sp>
        <p:nvSpPr>
          <p:cNvPr id="11282" name="Text Box 18"/>
          <p:cNvSpPr txBox="1">
            <a:spLocks noChangeArrowheads="1"/>
          </p:cNvSpPr>
          <p:nvPr/>
        </p:nvSpPr>
        <p:spPr bwMode="auto">
          <a:xfrm>
            <a:off x="7937501" y="2279650"/>
            <a:ext cx="1827213" cy="523220"/>
          </a:xfrm>
          <a:prstGeom prst="rect">
            <a:avLst/>
          </a:prstGeom>
          <a:noFill/>
          <a:ln w="9525">
            <a:noFill/>
            <a:miter lim="800000"/>
            <a:headEnd/>
            <a:tailEnd/>
          </a:ln>
          <a:effectLst/>
        </p:spPr>
        <p:txBody>
          <a:bodyPr>
            <a:spAutoFit/>
          </a:bodyPr>
          <a:lstStyle/>
          <a:p>
            <a:pPr>
              <a:spcBef>
                <a:spcPct val="50000"/>
              </a:spcBef>
            </a:pPr>
            <a:r>
              <a:rPr lang="en-US" sz="1400" dirty="0">
                <a:solidFill>
                  <a:srgbClr val="000066"/>
                </a:solidFill>
              </a:rPr>
              <a:t>Compensation: $1,000 + $20</a:t>
            </a:r>
            <a:r>
              <a:rPr lang="en-US" sz="1400" i="1" dirty="0">
                <a:solidFill>
                  <a:srgbClr val="000066"/>
                </a:solidFill>
              </a:rPr>
              <a:t>e</a:t>
            </a:r>
          </a:p>
        </p:txBody>
      </p:sp>
      <p:sp>
        <p:nvSpPr>
          <p:cNvPr id="11283" name="Text Box 19"/>
          <p:cNvSpPr txBox="1">
            <a:spLocks noChangeArrowheads="1"/>
          </p:cNvSpPr>
          <p:nvPr/>
        </p:nvSpPr>
        <p:spPr bwMode="auto">
          <a:xfrm>
            <a:off x="6316663" y="2327275"/>
            <a:ext cx="958850" cy="304800"/>
          </a:xfrm>
          <a:prstGeom prst="rect">
            <a:avLst/>
          </a:prstGeom>
          <a:noFill/>
          <a:ln w="9525">
            <a:noFill/>
            <a:miter lim="800000"/>
            <a:headEnd/>
            <a:tailEnd/>
          </a:ln>
          <a:effectLst/>
        </p:spPr>
        <p:txBody>
          <a:bodyPr>
            <a:spAutoFit/>
          </a:bodyPr>
          <a:lstStyle/>
          <a:p>
            <a:pPr>
              <a:spcBef>
                <a:spcPct val="50000"/>
              </a:spcBef>
            </a:pPr>
            <a:r>
              <a:rPr lang="en-US" sz="1400" dirty="0">
                <a:solidFill>
                  <a:srgbClr val="960000"/>
                </a:solidFill>
              </a:rPr>
              <a:t>Costs: </a:t>
            </a:r>
            <a:r>
              <a:rPr lang="en-US" sz="1400" i="1" dirty="0">
                <a:solidFill>
                  <a:srgbClr val="960000"/>
                </a:solidFill>
              </a:rPr>
              <a:t>e</a:t>
            </a:r>
            <a:r>
              <a:rPr lang="en-US" sz="1400" baseline="30000" dirty="0">
                <a:solidFill>
                  <a:srgbClr val="960000"/>
                </a:solidFill>
              </a:rPr>
              <a:t>2</a:t>
            </a:r>
          </a:p>
        </p:txBody>
      </p:sp>
      <p:sp>
        <p:nvSpPr>
          <p:cNvPr id="11284" name="Text Box 20"/>
          <p:cNvSpPr txBox="1">
            <a:spLocks noChangeArrowheads="1"/>
          </p:cNvSpPr>
          <p:nvPr/>
        </p:nvSpPr>
        <p:spPr bwMode="auto">
          <a:xfrm rot="16200000">
            <a:off x="1225551" y="3376613"/>
            <a:ext cx="2060575" cy="304800"/>
          </a:xfrm>
          <a:prstGeom prst="rect">
            <a:avLst/>
          </a:prstGeom>
          <a:noFill/>
          <a:ln w="9525">
            <a:noFill/>
            <a:miter lim="800000"/>
            <a:headEnd/>
            <a:tailEnd/>
          </a:ln>
          <a:effectLst/>
        </p:spPr>
        <p:txBody>
          <a:bodyPr>
            <a:spAutoFit/>
          </a:bodyPr>
          <a:lstStyle/>
          <a:p>
            <a:pPr>
              <a:spcBef>
                <a:spcPct val="50000"/>
              </a:spcBef>
            </a:pPr>
            <a:r>
              <a:rPr lang="en-US" sz="1400" dirty="0"/>
              <a:t>Costs (in dollars)</a:t>
            </a:r>
          </a:p>
        </p:txBody>
      </p:sp>
      <p:sp>
        <p:nvSpPr>
          <p:cNvPr id="11285" name="Rectangle 21"/>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fld id="{B0816F52-69C2-4BC2-AF3C-CABB6E9DB772}" type="slidenum">
              <a:rPr lang="en-US" sz="1200" smtClean="0"/>
              <a:pPr algn="r"/>
              <a:t>15</a:t>
            </a:fld>
            <a:endParaRPr lang="en-US" sz="1200" dirty="0"/>
          </a:p>
        </p:txBody>
      </p:sp>
      <p:sp>
        <p:nvSpPr>
          <p:cNvPr id="18" name="Tekstboks 17"/>
          <p:cNvSpPr txBox="1"/>
          <p:nvPr/>
        </p:nvSpPr>
        <p:spPr>
          <a:xfrm>
            <a:off x="8988423" y="1835190"/>
            <a:ext cx="1866900" cy="369332"/>
          </a:xfrm>
          <a:prstGeom prst="rect">
            <a:avLst/>
          </a:prstGeom>
          <a:solidFill>
            <a:srgbClr val="000066"/>
          </a:solidFill>
          <a:ln w="3175">
            <a:solidFill>
              <a:schemeClr val="bg1"/>
            </a:solid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da-DK" dirty="0"/>
              <a:t>Totalfunktioner!</a:t>
            </a:r>
          </a:p>
        </p:txBody>
      </p:sp>
      <p:sp>
        <p:nvSpPr>
          <p:cNvPr id="19" name="Tekstboks 18"/>
          <p:cNvSpPr txBox="1"/>
          <p:nvPr/>
        </p:nvSpPr>
        <p:spPr>
          <a:xfrm>
            <a:off x="9163050" y="4721930"/>
            <a:ext cx="1517650" cy="1200329"/>
          </a:xfrm>
          <a:prstGeom prst="rect">
            <a:avLst/>
          </a:prstGeom>
          <a:solidFill>
            <a:srgbClr val="000066"/>
          </a:solidFill>
          <a:ln w="3175">
            <a:solidFill>
              <a:schemeClr val="bg1"/>
            </a:solidFill>
          </a:ln>
        </p:spPr>
        <p:style>
          <a:lnRef idx="3">
            <a:schemeClr val="lt1"/>
          </a:lnRef>
          <a:fillRef idx="1">
            <a:schemeClr val="accent2"/>
          </a:fillRef>
          <a:effectRef idx="1">
            <a:schemeClr val="accent2"/>
          </a:effectRef>
          <a:fontRef idx="minor">
            <a:schemeClr val="lt1"/>
          </a:fontRef>
        </p:style>
        <p:txBody>
          <a:bodyPr wrap="square" rtlCol="0">
            <a:spAutoFit/>
          </a:bodyPr>
          <a:lstStyle/>
          <a:p>
            <a:pPr algn="just"/>
            <a:r>
              <a:rPr lang="da-DK" dirty="0"/>
              <a:t>MR = MC =&gt; </a:t>
            </a:r>
          </a:p>
          <a:p>
            <a:pPr algn="just"/>
            <a:r>
              <a:rPr lang="da-DK" dirty="0"/>
              <a:t>20 = 2e =&gt; </a:t>
            </a:r>
          </a:p>
          <a:p>
            <a:pPr algn="just"/>
            <a:r>
              <a:rPr lang="da-DK" dirty="0"/>
              <a:t>e = 10 =&gt; </a:t>
            </a:r>
          </a:p>
          <a:p>
            <a:pPr algn="just"/>
            <a:r>
              <a:rPr lang="da-DK" dirty="0"/>
              <a:t>C = 1.200</a:t>
            </a:r>
          </a:p>
        </p:txBody>
      </p:sp>
      <p:sp>
        <p:nvSpPr>
          <p:cNvPr id="2" name="Højrepil 1"/>
          <p:cNvSpPr/>
          <p:nvPr/>
        </p:nvSpPr>
        <p:spPr>
          <a:xfrm rot="5400000">
            <a:off x="8974136" y="3200074"/>
            <a:ext cx="1895475" cy="492779"/>
          </a:xfrm>
          <a:prstGeom prst="rightArrow">
            <a:avLst/>
          </a:prstGeom>
          <a:solidFill>
            <a:srgbClr val="000066"/>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11290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197428" y="458789"/>
            <a:ext cx="8229600" cy="1143000"/>
          </a:xfrm>
        </p:spPr>
        <p:txBody>
          <a:bodyPr/>
          <a:lstStyle/>
          <a:p>
            <a:r>
              <a:rPr lang="en-US" dirty="0"/>
              <a:t>Changes in Compensation</a:t>
            </a:r>
          </a:p>
        </p:txBody>
      </p:sp>
      <p:sp>
        <p:nvSpPr>
          <p:cNvPr id="38915" name="Rectangle 3"/>
          <p:cNvSpPr>
            <a:spLocks noGrp="1" noChangeArrowheads="1"/>
          </p:cNvSpPr>
          <p:nvPr>
            <p:ph idx="1"/>
          </p:nvPr>
        </p:nvSpPr>
        <p:spPr>
          <a:xfrm>
            <a:off x="1981200" y="2138136"/>
            <a:ext cx="8229600" cy="4525963"/>
          </a:xfrm>
        </p:spPr>
        <p:txBody>
          <a:bodyPr/>
          <a:lstStyle/>
          <a:p>
            <a:endParaRPr lang="en-US" dirty="0"/>
          </a:p>
          <a:p>
            <a:r>
              <a:rPr lang="en-US" sz="3600" i="1" dirty="0">
                <a:solidFill>
                  <a:srgbClr val="960000"/>
                </a:solidFill>
              </a:rPr>
              <a:t>If the fixed wage is increased, Erica’s effort does not change</a:t>
            </a:r>
          </a:p>
          <a:p>
            <a:r>
              <a:rPr lang="en-US" sz="3600" i="1" dirty="0">
                <a:solidFill>
                  <a:srgbClr val="960000"/>
                </a:solidFill>
              </a:rPr>
              <a:t>If the </a:t>
            </a:r>
            <a:r>
              <a:rPr lang="en-US" sz="3600" i="1" u="sng" dirty="0">
                <a:solidFill>
                  <a:srgbClr val="960000"/>
                </a:solidFill>
              </a:rPr>
              <a:t>incentive coefficient </a:t>
            </a:r>
            <a:r>
              <a:rPr lang="en-US" sz="3600" i="1" dirty="0">
                <a:solidFill>
                  <a:srgbClr val="960000"/>
                </a:solidFill>
              </a:rPr>
              <a:t>increases, her effort will increase</a:t>
            </a:r>
          </a:p>
        </p:txBody>
      </p:sp>
      <p:sp>
        <p:nvSpPr>
          <p:cNvPr id="38916" name="Rectangle 4"/>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fld id="{B88EC6F3-F93E-4A9E-AB67-CF4E7B72246D}" type="slidenum">
              <a:rPr lang="en-US" sz="1200" smtClean="0"/>
              <a:pPr algn="r"/>
              <a:t>16</a:t>
            </a:fld>
            <a:endParaRPr lang="en-US" sz="1200" dirty="0"/>
          </a:p>
        </p:txBody>
      </p:sp>
      <p:sp>
        <p:nvSpPr>
          <p:cNvPr id="5" name="Tekstboks 4"/>
          <p:cNvSpPr txBox="1"/>
          <p:nvPr/>
        </p:nvSpPr>
        <p:spPr>
          <a:xfrm>
            <a:off x="10744448" y="4982196"/>
            <a:ext cx="1209675" cy="1015663"/>
          </a:xfrm>
          <a:prstGeom prst="rect">
            <a:avLst/>
          </a:prstGeom>
          <a:solidFill>
            <a:srgbClr val="000066"/>
          </a:solidFill>
          <a:ln>
            <a:solidFill>
              <a:schemeClr val="bg1"/>
            </a:solidFill>
          </a:ln>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da-DK" sz="6000" dirty="0"/>
              <a:t>=&gt;</a:t>
            </a:r>
          </a:p>
        </p:txBody>
      </p:sp>
    </p:spTree>
    <p:extLst>
      <p:ext uri="{BB962C8B-B14F-4D97-AF65-F5344CB8AC3E}">
        <p14:creationId xmlns:p14="http://schemas.microsoft.com/office/powerpoint/2010/main" val="723539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89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91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5"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1325562" y="360363"/>
            <a:ext cx="9342438" cy="1693862"/>
          </a:xfrm>
        </p:spPr>
        <p:txBody>
          <a:bodyPr/>
          <a:lstStyle/>
          <a:p>
            <a:pPr eaLnBrk="1" hangingPunct="1"/>
            <a:r>
              <a:rPr lang="en-US" sz="2700" dirty="0"/>
              <a:t>Choice of </a:t>
            </a:r>
            <a:r>
              <a:rPr lang="en-US" sz="2700" u="sng" dirty="0">
                <a:solidFill>
                  <a:schemeClr val="tx1"/>
                </a:solidFill>
              </a:rPr>
              <a:t>effort </a:t>
            </a:r>
            <a:r>
              <a:rPr lang="en-US" sz="2700" dirty="0">
                <a:solidFill>
                  <a:schemeClr val="tx1"/>
                </a:solidFill>
              </a:rPr>
              <a:t>level </a:t>
            </a:r>
            <a:r>
              <a:rPr lang="en-US" sz="2700" dirty="0"/>
              <a:t>Changes with Changes in Incentive Coefficient Compensation – not with change in fixed wage!</a:t>
            </a:r>
          </a:p>
        </p:txBody>
      </p:sp>
      <p:sp>
        <p:nvSpPr>
          <p:cNvPr id="12295" name="Line 7"/>
          <p:cNvSpPr>
            <a:spLocks noChangeShapeType="1"/>
          </p:cNvSpPr>
          <p:nvPr/>
        </p:nvSpPr>
        <p:spPr bwMode="auto">
          <a:xfrm>
            <a:off x="3916363" y="2743200"/>
            <a:ext cx="0" cy="3200400"/>
          </a:xfrm>
          <a:prstGeom prst="line">
            <a:avLst/>
          </a:prstGeom>
          <a:noFill/>
          <a:ln w="9525">
            <a:solidFill>
              <a:schemeClr val="tx1"/>
            </a:solidFill>
            <a:round/>
            <a:headEnd type="triangle"/>
            <a:tailEnd/>
          </a:ln>
          <a:effectLst/>
        </p:spPr>
        <p:txBody>
          <a:bodyPr/>
          <a:lstStyle/>
          <a:p>
            <a:endParaRPr lang="da-DK"/>
          </a:p>
        </p:txBody>
      </p:sp>
      <p:sp>
        <p:nvSpPr>
          <p:cNvPr id="12296" name="Line 8"/>
          <p:cNvSpPr>
            <a:spLocks noChangeShapeType="1"/>
          </p:cNvSpPr>
          <p:nvPr/>
        </p:nvSpPr>
        <p:spPr bwMode="auto">
          <a:xfrm>
            <a:off x="3914775" y="5943601"/>
            <a:ext cx="3587750" cy="11113"/>
          </a:xfrm>
          <a:prstGeom prst="line">
            <a:avLst/>
          </a:prstGeom>
          <a:noFill/>
          <a:ln w="9525">
            <a:solidFill>
              <a:schemeClr val="tx1"/>
            </a:solidFill>
            <a:round/>
            <a:headEnd/>
            <a:tailEnd type="triangle"/>
          </a:ln>
          <a:effectLst/>
        </p:spPr>
        <p:txBody>
          <a:bodyPr/>
          <a:lstStyle/>
          <a:p>
            <a:endParaRPr lang="da-DK"/>
          </a:p>
        </p:txBody>
      </p:sp>
      <p:sp>
        <p:nvSpPr>
          <p:cNvPr id="12297" name="Line 9"/>
          <p:cNvSpPr>
            <a:spLocks noChangeShapeType="1"/>
          </p:cNvSpPr>
          <p:nvPr/>
        </p:nvSpPr>
        <p:spPr bwMode="auto">
          <a:xfrm flipV="1">
            <a:off x="3914776" y="2414589"/>
            <a:ext cx="3154363" cy="1747837"/>
          </a:xfrm>
          <a:prstGeom prst="line">
            <a:avLst/>
          </a:prstGeom>
          <a:noFill/>
          <a:ln w="28575">
            <a:solidFill>
              <a:srgbClr val="000066"/>
            </a:solidFill>
            <a:round/>
            <a:headEnd/>
            <a:tailEnd/>
          </a:ln>
          <a:effectLst/>
        </p:spPr>
        <p:txBody>
          <a:bodyPr/>
          <a:lstStyle/>
          <a:p>
            <a:endParaRPr lang="da-DK"/>
          </a:p>
        </p:txBody>
      </p:sp>
      <p:sp>
        <p:nvSpPr>
          <p:cNvPr id="12298" name="Line 10"/>
          <p:cNvSpPr>
            <a:spLocks noChangeShapeType="1"/>
          </p:cNvSpPr>
          <p:nvPr/>
        </p:nvSpPr>
        <p:spPr bwMode="auto">
          <a:xfrm flipV="1">
            <a:off x="3903663" y="3211514"/>
            <a:ext cx="3211512" cy="1946275"/>
          </a:xfrm>
          <a:prstGeom prst="line">
            <a:avLst/>
          </a:prstGeom>
          <a:noFill/>
          <a:ln w="28575">
            <a:solidFill>
              <a:srgbClr val="0070C0"/>
            </a:solidFill>
            <a:round/>
            <a:headEnd/>
            <a:tailEnd/>
          </a:ln>
          <a:effectLst/>
        </p:spPr>
        <p:txBody>
          <a:bodyPr/>
          <a:lstStyle/>
          <a:p>
            <a:endParaRPr lang="da-DK"/>
          </a:p>
        </p:txBody>
      </p:sp>
      <p:sp>
        <p:nvSpPr>
          <p:cNvPr id="12299" name="Line 11"/>
          <p:cNvSpPr>
            <a:spLocks noChangeShapeType="1"/>
          </p:cNvSpPr>
          <p:nvPr/>
        </p:nvSpPr>
        <p:spPr bwMode="auto">
          <a:xfrm flipV="1">
            <a:off x="3938589" y="2732088"/>
            <a:ext cx="3165475" cy="2425700"/>
          </a:xfrm>
          <a:prstGeom prst="line">
            <a:avLst/>
          </a:prstGeom>
          <a:noFill/>
          <a:ln w="28575">
            <a:solidFill>
              <a:srgbClr val="00B0F0"/>
            </a:solidFill>
            <a:prstDash val="dash"/>
            <a:round/>
            <a:headEnd/>
            <a:tailEnd/>
          </a:ln>
          <a:effectLst/>
        </p:spPr>
        <p:txBody>
          <a:bodyPr/>
          <a:lstStyle/>
          <a:p>
            <a:endParaRPr lang="da-DK"/>
          </a:p>
        </p:txBody>
      </p:sp>
      <p:sp>
        <p:nvSpPr>
          <p:cNvPr id="12300" name="Line 12"/>
          <p:cNvSpPr>
            <a:spLocks noChangeShapeType="1"/>
          </p:cNvSpPr>
          <p:nvPr/>
        </p:nvSpPr>
        <p:spPr bwMode="auto">
          <a:xfrm>
            <a:off x="5310188" y="3409950"/>
            <a:ext cx="0" cy="2533650"/>
          </a:xfrm>
          <a:prstGeom prst="line">
            <a:avLst/>
          </a:prstGeom>
          <a:noFill/>
          <a:ln w="12700">
            <a:solidFill>
              <a:srgbClr val="FF0000"/>
            </a:solidFill>
            <a:prstDash val="dash"/>
            <a:round/>
            <a:headEnd/>
            <a:tailEnd/>
          </a:ln>
          <a:effectLst/>
        </p:spPr>
        <p:txBody>
          <a:bodyPr/>
          <a:lstStyle/>
          <a:p>
            <a:endParaRPr lang="da-DK"/>
          </a:p>
        </p:txBody>
      </p:sp>
      <p:sp>
        <p:nvSpPr>
          <p:cNvPr id="12301" name="Line 13"/>
          <p:cNvSpPr>
            <a:spLocks noChangeShapeType="1"/>
          </p:cNvSpPr>
          <p:nvPr/>
        </p:nvSpPr>
        <p:spPr bwMode="auto">
          <a:xfrm flipH="1">
            <a:off x="5791201" y="3740150"/>
            <a:ext cx="11113" cy="2203450"/>
          </a:xfrm>
          <a:prstGeom prst="line">
            <a:avLst/>
          </a:prstGeom>
          <a:noFill/>
          <a:ln w="12700">
            <a:solidFill>
              <a:srgbClr val="008000"/>
            </a:solidFill>
            <a:prstDash val="dash"/>
            <a:round/>
            <a:headEnd/>
            <a:tailEnd/>
          </a:ln>
          <a:effectLst/>
        </p:spPr>
        <p:txBody>
          <a:bodyPr/>
          <a:lstStyle/>
          <a:p>
            <a:endParaRPr lang="da-DK"/>
          </a:p>
        </p:txBody>
      </p:sp>
      <p:sp>
        <p:nvSpPr>
          <p:cNvPr id="12302" name="Freeform 14"/>
          <p:cNvSpPr>
            <a:spLocks/>
          </p:cNvSpPr>
          <p:nvPr/>
        </p:nvSpPr>
        <p:spPr bwMode="auto">
          <a:xfrm>
            <a:off x="3927476" y="2462213"/>
            <a:ext cx="3038475" cy="3492500"/>
          </a:xfrm>
          <a:custGeom>
            <a:avLst/>
            <a:gdLst/>
            <a:ahLst/>
            <a:cxnLst>
              <a:cxn ang="0">
                <a:pos x="0" y="2201"/>
              </a:cxn>
              <a:cxn ang="0">
                <a:pos x="170" y="2201"/>
              </a:cxn>
              <a:cxn ang="0">
                <a:pos x="495" y="2119"/>
              </a:cxn>
              <a:cxn ang="0">
                <a:pos x="975" y="1846"/>
              </a:cxn>
              <a:cxn ang="0">
                <a:pos x="1359" y="1499"/>
              </a:cxn>
              <a:cxn ang="0">
                <a:pos x="1647" y="1122"/>
              </a:cxn>
              <a:cxn ang="0">
                <a:pos x="1816" y="702"/>
              </a:cxn>
              <a:cxn ang="0">
                <a:pos x="1898" y="281"/>
              </a:cxn>
              <a:cxn ang="0">
                <a:pos x="1912" y="0"/>
              </a:cxn>
            </a:cxnLst>
            <a:rect l="0" t="0" r="r" b="b"/>
            <a:pathLst>
              <a:path w="1914" h="2215">
                <a:moveTo>
                  <a:pt x="0" y="2201"/>
                </a:moveTo>
                <a:cubicBezTo>
                  <a:pt x="44" y="2208"/>
                  <a:pt x="88" y="2215"/>
                  <a:pt x="170" y="2201"/>
                </a:cubicBezTo>
                <a:cubicBezTo>
                  <a:pt x="252" y="2187"/>
                  <a:pt x="361" y="2178"/>
                  <a:pt x="495" y="2119"/>
                </a:cubicBezTo>
                <a:cubicBezTo>
                  <a:pt x="629" y="2060"/>
                  <a:pt x="831" y="1949"/>
                  <a:pt x="975" y="1846"/>
                </a:cubicBezTo>
                <a:cubicBezTo>
                  <a:pt x="1119" y="1743"/>
                  <a:pt x="1247" y="1620"/>
                  <a:pt x="1359" y="1499"/>
                </a:cubicBezTo>
                <a:cubicBezTo>
                  <a:pt x="1471" y="1378"/>
                  <a:pt x="1571" y="1255"/>
                  <a:pt x="1647" y="1122"/>
                </a:cubicBezTo>
                <a:cubicBezTo>
                  <a:pt x="1723" y="989"/>
                  <a:pt x="1774" y="842"/>
                  <a:pt x="1816" y="702"/>
                </a:cubicBezTo>
                <a:cubicBezTo>
                  <a:pt x="1858" y="562"/>
                  <a:pt x="1882" y="398"/>
                  <a:pt x="1898" y="281"/>
                </a:cubicBezTo>
                <a:cubicBezTo>
                  <a:pt x="1914" y="164"/>
                  <a:pt x="1913" y="82"/>
                  <a:pt x="1912" y="0"/>
                </a:cubicBezTo>
              </a:path>
            </a:pathLst>
          </a:custGeom>
          <a:noFill/>
          <a:ln w="28575" cmpd="sng">
            <a:solidFill>
              <a:srgbClr val="960000"/>
            </a:solidFill>
            <a:round/>
            <a:headEnd/>
            <a:tailEnd/>
          </a:ln>
          <a:effectLst/>
        </p:spPr>
        <p:txBody>
          <a:bodyPr/>
          <a:lstStyle/>
          <a:p>
            <a:endParaRPr lang="da-DK"/>
          </a:p>
        </p:txBody>
      </p:sp>
      <p:sp>
        <p:nvSpPr>
          <p:cNvPr id="12303" name="Text Box 15"/>
          <p:cNvSpPr txBox="1">
            <a:spLocks noChangeArrowheads="1"/>
          </p:cNvSpPr>
          <p:nvPr/>
        </p:nvSpPr>
        <p:spPr bwMode="auto">
          <a:xfrm>
            <a:off x="3273426" y="4962525"/>
            <a:ext cx="652463" cy="304800"/>
          </a:xfrm>
          <a:prstGeom prst="rect">
            <a:avLst/>
          </a:prstGeom>
          <a:noFill/>
          <a:ln w="9525">
            <a:noFill/>
            <a:miter lim="800000"/>
            <a:headEnd/>
            <a:tailEnd/>
          </a:ln>
          <a:effectLst/>
        </p:spPr>
        <p:txBody>
          <a:bodyPr>
            <a:spAutoFit/>
          </a:bodyPr>
          <a:lstStyle/>
          <a:p>
            <a:pPr>
              <a:spcBef>
                <a:spcPct val="50000"/>
              </a:spcBef>
            </a:pPr>
            <a:r>
              <a:rPr lang="en-US" sz="1400" dirty="0"/>
              <a:t>1,000</a:t>
            </a:r>
          </a:p>
        </p:txBody>
      </p:sp>
      <p:sp>
        <p:nvSpPr>
          <p:cNvPr id="12304" name="Text Box 16"/>
          <p:cNvSpPr txBox="1">
            <a:spLocks noChangeArrowheads="1"/>
          </p:cNvSpPr>
          <p:nvPr/>
        </p:nvSpPr>
        <p:spPr bwMode="auto">
          <a:xfrm>
            <a:off x="3290889" y="3989389"/>
            <a:ext cx="652743" cy="307777"/>
          </a:xfrm>
          <a:prstGeom prst="rect">
            <a:avLst/>
          </a:prstGeom>
          <a:noFill/>
          <a:ln w="9525">
            <a:noFill/>
            <a:miter lim="800000"/>
            <a:headEnd/>
            <a:tailEnd/>
          </a:ln>
          <a:effectLst/>
        </p:spPr>
        <p:txBody>
          <a:bodyPr wrap="none">
            <a:spAutoFit/>
          </a:bodyPr>
          <a:lstStyle/>
          <a:p>
            <a:r>
              <a:rPr lang="en-US" sz="1400" dirty="0"/>
              <a:t>2,000</a:t>
            </a:r>
          </a:p>
        </p:txBody>
      </p:sp>
      <p:sp>
        <p:nvSpPr>
          <p:cNvPr id="12305" name="Text Box 17"/>
          <p:cNvSpPr txBox="1">
            <a:spLocks noChangeArrowheads="1"/>
          </p:cNvSpPr>
          <p:nvPr/>
        </p:nvSpPr>
        <p:spPr bwMode="auto">
          <a:xfrm rot="16200000">
            <a:off x="2115608" y="3632301"/>
            <a:ext cx="1448858" cy="307777"/>
          </a:xfrm>
          <a:prstGeom prst="rect">
            <a:avLst/>
          </a:prstGeom>
          <a:noFill/>
          <a:ln w="9525">
            <a:noFill/>
            <a:miter lim="800000"/>
            <a:headEnd/>
            <a:tailEnd/>
          </a:ln>
          <a:effectLst/>
        </p:spPr>
        <p:txBody>
          <a:bodyPr wrap="none">
            <a:spAutoFit/>
          </a:bodyPr>
          <a:lstStyle/>
          <a:p>
            <a:r>
              <a:rPr lang="en-US" sz="1400" dirty="0"/>
              <a:t>Costs (in dollars)</a:t>
            </a:r>
          </a:p>
        </p:txBody>
      </p:sp>
      <p:sp>
        <p:nvSpPr>
          <p:cNvPr id="12306" name="Text Box 18"/>
          <p:cNvSpPr txBox="1">
            <a:spLocks noChangeArrowheads="1"/>
          </p:cNvSpPr>
          <p:nvPr/>
        </p:nvSpPr>
        <p:spPr bwMode="auto">
          <a:xfrm>
            <a:off x="5248276" y="6267451"/>
            <a:ext cx="1227131" cy="307777"/>
          </a:xfrm>
          <a:prstGeom prst="rect">
            <a:avLst/>
          </a:prstGeom>
          <a:noFill/>
          <a:ln w="9525">
            <a:noFill/>
            <a:miter lim="800000"/>
            <a:headEnd/>
            <a:tailEnd/>
          </a:ln>
          <a:effectLst/>
        </p:spPr>
        <p:txBody>
          <a:bodyPr wrap="none">
            <a:spAutoFit/>
          </a:bodyPr>
          <a:lstStyle/>
          <a:p>
            <a:r>
              <a:rPr lang="en-US" sz="1400" dirty="0"/>
              <a:t>Level of effort</a:t>
            </a:r>
          </a:p>
        </p:txBody>
      </p:sp>
      <p:sp>
        <p:nvSpPr>
          <p:cNvPr id="12307" name="Text Box 19"/>
          <p:cNvSpPr txBox="1">
            <a:spLocks noChangeArrowheads="1"/>
          </p:cNvSpPr>
          <p:nvPr/>
        </p:nvSpPr>
        <p:spPr bwMode="auto">
          <a:xfrm>
            <a:off x="5053013" y="5964238"/>
            <a:ext cx="390492" cy="307777"/>
          </a:xfrm>
          <a:prstGeom prst="rect">
            <a:avLst/>
          </a:prstGeom>
          <a:noFill/>
          <a:ln w="9525">
            <a:noFill/>
            <a:miter lim="800000"/>
            <a:headEnd/>
            <a:tailEnd/>
          </a:ln>
          <a:effectLst/>
        </p:spPr>
        <p:txBody>
          <a:bodyPr wrap="none">
            <a:spAutoFit/>
          </a:bodyPr>
          <a:lstStyle/>
          <a:p>
            <a:r>
              <a:rPr lang="en-US" sz="1400" dirty="0"/>
              <a:t>10</a:t>
            </a:r>
          </a:p>
        </p:txBody>
      </p:sp>
      <p:sp>
        <p:nvSpPr>
          <p:cNvPr id="12308" name="Text Box 20"/>
          <p:cNvSpPr txBox="1">
            <a:spLocks noChangeArrowheads="1"/>
          </p:cNvSpPr>
          <p:nvPr/>
        </p:nvSpPr>
        <p:spPr bwMode="auto">
          <a:xfrm>
            <a:off x="5589588" y="5976938"/>
            <a:ext cx="393698" cy="307777"/>
          </a:xfrm>
          <a:prstGeom prst="rect">
            <a:avLst/>
          </a:prstGeom>
          <a:noFill/>
          <a:ln w="9525">
            <a:noFill/>
            <a:miter lim="800000"/>
            <a:headEnd/>
            <a:tailEnd/>
          </a:ln>
          <a:effectLst/>
        </p:spPr>
        <p:txBody>
          <a:bodyPr wrap="none">
            <a:spAutoFit/>
          </a:bodyPr>
          <a:lstStyle/>
          <a:p>
            <a:r>
              <a:rPr lang="en-US" sz="1400" dirty="0"/>
              <a:t>15</a:t>
            </a:r>
          </a:p>
        </p:txBody>
      </p:sp>
      <p:sp>
        <p:nvSpPr>
          <p:cNvPr id="12309" name="Text Box 21"/>
          <p:cNvSpPr txBox="1">
            <a:spLocks noChangeArrowheads="1"/>
          </p:cNvSpPr>
          <p:nvPr/>
        </p:nvSpPr>
        <p:spPr bwMode="auto">
          <a:xfrm>
            <a:off x="3784601" y="2403475"/>
            <a:ext cx="290464" cy="307777"/>
          </a:xfrm>
          <a:prstGeom prst="rect">
            <a:avLst/>
          </a:prstGeom>
          <a:noFill/>
          <a:ln w="9525">
            <a:noFill/>
            <a:miter lim="800000"/>
            <a:headEnd/>
            <a:tailEnd/>
          </a:ln>
          <a:effectLst/>
        </p:spPr>
        <p:txBody>
          <a:bodyPr wrap="none">
            <a:spAutoFit/>
          </a:bodyPr>
          <a:lstStyle/>
          <a:p>
            <a:r>
              <a:rPr lang="en-US" sz="1400" dirty="0"/>
              <a:t>$</a:t>
            </a:r>
          </a:p>
        </p:txBody>
      </p:sp>
      <p:sp>
        <p:nvSpPr>
          <p:cNvPr id="12310" name="Text Box 22"/>
          <p:cNvSpPr txBox="1">
            <a:spLocks noChangeArrowheads="1"/>
          </p:cNvSpPr>
          <p:nvPr/>
        </p:nvSpPr>
        <p:spPr bwMode="auto">
          <a:xfrm>
            <a:off x="7504113" y="5805489"/>
            <a:ext cx="277640" cy="307777"/>
          </a:xfrm>
          <a:prstGeom prst="rect">
            <a:avLst/>
          </a:prstGeom>
          <a:noFill/>
          <a:ln w="9525">
            <a:noFill/>
            <a:miter lim="800000"/>
            <a:headEnd/>
            <a:tailEnd/>
          </a:ln>
          <a:effectLst/>
        </p:spPr>
        <p:txBody>
          <a:bodyPr wrap="none">
            <a:spAutoFit/>
          </a:bodyPr>
          <a:lstStyle/>
          <a:p>
            <a:r>
              <a:rPr lang="en-US" sz="1400" i="1" dirty="0"/>
              <a:t>e</a:t>
            </a:r>
          </a:p>
        </p:txBody>
      </p:sp>
      <p:sp>
        <p:nvSpPr>
          <p:cNvPr id="12311" name="Text Box 23"/>
          <p:cNvSpPr txBox="1">
            <a:spLocks noChangeArrowheads="1"/>
          </p:cNvSpPr>
          <p:nvPr/>
        </p:nvSpPr>
        <p:spPr bwMode="auto">
          <a:xfrm>
            <a:off x="7137401" y="2147889"/>
            <a:ext cx="2046394" cy="307777"/>
          </a:xfrm>
          <a:prstGeom prst="rect">
            <a:avLst/>
          </a:prstGeom>
          <a:noFill/>
          <a:ln w="9525">
            <a:noFill/>
            <a:miter lim="800000"/>
            <a:headEnd/>
            <a:tailEnd/>
          </a:ln>
          <a:effectLst/>
        </p:spPr>
        <p:txBody>
          <a:bodyPr wrap="none">
            <a:spAutoFit/>
          </a:bodyPr>
          <a:lstStyle/>
          <a:p>
            <a:r>
              <a:rPr lang="el-GR" sz="1400" dirty="0">
                <a:solidFill>
                  <a:srgbClr val="002060"/>
                </a:solidFill>
              </a:rPr>
              <a:t>β</a:t>
            </a:r>
            <a:r>
              <a:rPr lang="en-US" sz="1400" dirty="0">
                <a:solidFill>
                  <a:srgbClr val="002060"/>
                </a:solidFill>
              </a:rPr>
              <a:t> = .2 (Intercept change)</a:t>
            </a:r>
            <a:endParaRPr lang="el-GR" sz="1400" dirty="0">
              <a:solidFill>
                <a:srgbClr val="002060"/>
              </a:solidFill>
            </a:endParaRPr>
          </a:p>
        </p:txBody>
      </p:sp>
      <p:sp>
        <p:nvSpPr>
          <p:cNvPr id="12312" name="Text Box 24"/>
          <p:cNvSpPr txBox="1">
            <a:spLocks noChangeArrowheads="1"/>
          </p:cNvSpPr>
          <p:nvPr/>
        </p:nvSpPr>
        <p:spPr bwMode="auto">
          <a:xfrm>
            <a:off x="7167563" y="2603501"/>
            <a:ext cx="1802096" cy="307777"/>
          </a:xfrm>
          <a:prstGeom prst="rect">
            <a:avLst/>
          </a:prstGeom>
          <a:noFill/>
          <a:ln w="9525">
            <a:noFill/>
            <a:miter lim="800000"/>
            <a:headEnd/>
            <a:tailEnd/>
          </a:ln>
          <a:effectLst/>
        </p:spPr>
        <p:txBody>
          <a:bodyPr wrap="none">
            <a:spAutoFit/>
          </a:bodyPr>
          <a:lstStyle/>
          <a:p>
            <a:r>
              <a:rPr lang="el-GR" sz="1400" dirty="0">
                <a:solidFill>
                  <a:srgbClr val="00B0F0"/>
                </a:solidFill>
              </a:rPr>
              <a:t>β</a:t>
            </a:r>
            <a:r>
              <a:rPr lang="en-US" sz="1400" dirty="0">
                <a:solidFill>
                  <a:srgbClr val="00B0F0"/>
                </a:solidFill>
              </a:rPr>
              <a:t> = .3 (Slope change)</a:t>
            </a:r>
            <a:endParaRPr lang="el-GR" sz="1400" dirty="0">
              <a:solidFill>
                <a:srgbClr val="00B0F0"/>
              </a:solidFill>
            </a:endParaRPr>
          </a:p>
        </p:txBody>
      </p:sp>
      <p:sp>
        <p:nvSpPr>
          <p:cNvPr id="12313" name="Text Box 25"/>
          <p:cNvSpPr txBox="1">
            <a:spLocks noChangeArrowheads="1"/>
          </p:cNvSpPr>
          <p:nvPr/>
        </p:nvSpPr>
        <p:spPr bwMode="auto">
          <a:xfrm>
            <a:off x="7167563" y="3044826"/>
            <a:ext cx="2021707" cy="307777"/>
          </a:xfrm>
          <a:prstGeom prst="rect">
            <a:avLst/>
          </a:prstGeom>
          <a:noFill/>
          <a:ln w="9525">
            <a:noFill/>
            <a:miter lim="800000"/>
            <a:headEnd/>
            <a:tailEnd/>
          </a:ln>
          <a:effectLst/>
        </p:spPr>
        <p:txBody>
          <a:bodyPr wrap="none">
            <a:spAutoFit/>
          </a:bodyPr>
          <a:lstStyle/>
          <a:p>
            <a:r>
              <a:rPr lang="el-GR" sz="1400" dirty="0">
                <a:solidFill>
                  <a:srgbClr val="0070C0"/>
                </a:solidFill>
              </a:rPr>
              <a:t>β</a:t>
            </a:r>
            <a:r>
              <a:rPr lang="en-US" sz="1400" dirty="0">
                <a:solidFill>
                  <a:srgbClr val="0070C0"/>
                </a:solidFill>
              </a:rPr>
              <a:t> = .2 (Original contract</a:t>
            </a:r>
            <a:r>
              <a:rPr lang="en-US" sz="1400" dirty="0">
                <a:solidFill>
                  <a:srgbClr val="5F5F5F"/>
                </a:solidFill>
              </a:rPr>
              <a:t>)</a:t>
            </a:r>
            <a:endParaRPr lang="el-GR" sz="1400" dirty="0">
              <a:solidFill>
                <a:srgbClr val="5F5F5F"/>
              </a:solidFill>
            </a:endParaRPr>
          </a:p>
        </p:txBody>
      </p:sp>
      <p:sp>
        <p:nvSpPr>
          <p:cNvPr id="12314" name="Rectangle 26"/>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fld id="{0B35F6C0-9C5B-4174-BCC4-FD40B5E2A634}" type="slidenum">
              <a:rPr lang="en-US" sz="1200" smtClean="0"/>
              <a:pPr algn="r"/>
              <a:t>17</a:t>
            </a:fld>
            <a:endParaRPr lang="en-US" sz="1200" dirty="0"/>
          </a:p>
        </p:txBody>
      </p:sp>
    </p:spTree>
    <p:extLst>
      <p:ext uri="{BB962C8B-B14F-4D97-AF65-F5344CB8AC3E}">
        <p14:creationId xmlns:p14="http://schemas.microsoft.com/office/powerpoint/2010/main" val="2872141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Text Box 5"/>
          <p:cNvSpPr txBox="1">
            <a:spLocks noChangeArrowheads="1"/>
          </p:cNvSpPr>
          <p:nvPr/>
        </p:nvSpPr>
        <p:spPr bwMode="auto">
          <a:xfrm>
            <a:off x="365123" y="126275"/>
            <a:ext cx="10437859" cy="707886"/>
          </a:xfrm>
          <a:prstGeom prst="rect">
            <a:avLst/>
          </a:prstGeom>
          <a:noFill/>
          <a:ln w="9525">
            <a:noFill/>
            <a:miter lim="800000"/>
            <a:headEnd/>
            <a:tailEnd/>
          </a:ln>
          <a:effectLst/>
        </p:spPr>
        <p:txBody>
          <a:bodyPr wrap="square">
            <a:spAutoFit/>
          </a:bodyPr>
          <a:lstStyle/>
          <a:p>
            <a:pPr algn="ctr">
              <a:spcBef>
                <a:spcPct val="50000"/>
              </a:spcBef>
            </a:pPr>
            <a:r>
              <a:rPr lang="en-US" sz="4000" dirty="0">
                <a:solidFill>
                  <a:schemeClr val="tx2"/>
                </a:solidFill>
              </a:rPr>
              <a:t>Factors That Favor High Incentive Pay</a:t>
            </a:r>
            <a:endParaRPr lang="en-US" sz="2800" dirty="0">
              <a:solidFill>
                <a:schemeClr val="tx2"/>
              </a:solidFill>
            </a:endParaRPr>
          </a:p>
        </p:txBody>
      </p:sp>
      <p:sp>
        <p:nvSpPr>
          <p:cNvPr id="13318" name="Text Box 6"/>
          <p:cNvSpPr txBox="1">
            <a:spLocks noChangeArrowheads="1"/>
          </p:cNvSpPr>
          <p:nvPr/>
        </p:nvSpPr>
        <p:spPr bwMode="auto">
          <a:xfrm>
            <a:off x="1617756" y="1306097"/>
            <a:ext cx="6912095" cy="5262979"/>
          </a:xfrm>
          <a:prstGeom prst="rect">
            <a:avLst/>
          </a:prstGeom>
          <a:noFill/>
          <a:ln w="9525">
            <a:noFill/>
            <a:miter lim="800000"/>
            <a:headEnd/>
            <a:tailEnd/>
          </a:ln>
          <a:effectLst/>
        </p:spPr>
        <p:txBody>
          <a:bodyPr wrap="square">
            <a:spAutoFit/>
          </a:bodyPr>
          <a:lstStyle/>
          <a:p>
            <a:pPr marL="342900" indent="-342900">
              <a:spcBef>
                <a:spcPct val="50000"/>
              </a:spcBef>
              <a:buFontTx/>
              <a:buAutoNum type="arabicPeriod"/>
            </a:pPr>
            <a:r>
              <a:rPr lang="en-US" sz="2800" dirty="0">
                <a:solidFill>
                  <a:schemeClr val="tx2"/>
                </a:solidFill>
              </a:rPr>
              <a:t>The value of output is sensitive to the employee’s effort!</a:t>
            </a:r>
          </a:p>
          <a:p>
            <a:pPr marL="342900" indent="-342900">
              <a:spcBef>
                <a:spcPct val="50000"/>
              </a:spcBef>
              <a:buFontTx/>
              <a:buAutoNum type="arabicPeriod"/>
            </a:pPr>
            <a:r>
              <a:rPr lang="en-US" sz="2800" dirty="0">
                <a:solidFill>
                  <a:schemeClr val="tx2"/>
                </a:solidFill>
              </a:rPr>
              <a:t>The employee is not very risk-averse!</a:t>
            </a:r>
          </a:p>
          <a:p>
            <a:pPr marL="342900" indent="-342900">
              <a:spcBef>
                <a:spcPct val="50000"/>
              </a:spcBef>
              <a:buFontTx/>
              <a:buAutoNum type="arabicPeriod"/>
            </a:pPr>
            <a:r>
              <a:rPr lang="en-US" sz="2800" dirty="0">
                <a:solidFill>
                  <a:schemeClr val="tx2"/>
                </a:solidFill>
              </a:rPr>
              <a:t>The level of risk that is beyond the employee’s control is low!</a:t>
            </a:r>
          </a:p>
          <a:p>
            <a:pPr marL="342900" indent="-342900">
              <a:spcBef>
                <a:spcPct val="50000"/>
              </a:spcBef>
              <a:buFontTx/>
              <a:buAutoNum type="arabicPeriod"/>
            </a:pPr>
            <a:r>
              <a:rPr lang="en-US" sz="2800" dirty="0">
                <a:solidFill>
                  <a:schemeClr val="tx2"/>
                </a:solidFill>
              </a:rPr>
              <a:t>The employee’s response to increased incentives is high (the employee exerts substantially more effort)!</a:t>
            </a:r>
          </a:p>
          <a:p>
            <a:pPr marL="342900" indent="-342900">
              <a:spcBef>
                <a:spcPct val="50000"/>
              </a:spcBef>
              <a:buFontTx/>
              <a:buAutoNum type="arabicPeriod"/>
            </a:pPr>
            <a:r>
              <a:rPr lang="en-US" sz="2800" dirty="0">
                <a:solidFill>
                  <a:schemeClr val="tx2"/>
                </a:solidFill>
              </a:rPr>
              <a:t>The employee’s output can be measured at low (or no) cost!</a:t>
            </a:r>
          </a:p>
        </p:txBody>
      </p:sp>
      <p:sp>
        <p:nvSpPr>
          <p:cNvPr id="13319" name="Rectangle 7"/>
          <p:cNvSpPr>
            <a:spLocks noChangeArrowheads="1"/>
          </p:cNvSpPr>
          <p:nvPr/>
        </p:nvSpPr>
        <p:spPr bwMode="auto">
          <a:xfrm>
            <a:off x="9384476" y="6277100"/>
            <a:ext cx="2133600" cy="244475"/>
          </a:xfrm>
          <a:prstGeom prst="rect">
            <a:avLst/>
          </a:prstGeom>
          <a:noFill/>
          <a:ln w="9525">
            <a:noFill/>
            <a:miter lim="800000"/>
            <a:headEnd/>
            <a:tailEnd/>
          </a:ln>
          <a:effectLst/>
        </p:spPr>
        <p:txBody>
          <a:bodyPr/>
          <a:lstStyle/>
          <a:p>
            <a:pPr algn="r"/>
            <a:fld id="{6B5E9229-D4F9-4768-B184-F289BB61BAEC}" type="slidenum">
              <a:rPr lang="en-US" sz="1200" smtClean="0"/>
              <a:pPr algn="r"/>
              <a:t>18</a:t>
            </a:fld>
            <a:endParaRPr lang="en-US" sz="1200" dirty="0"/>
          </a:p>
        </p:txBody>
      </p:sp>
      <p:pic>
        <p:nvPicPr>
          <p:cNvPr id="3076" name="Picture 4" descr="What is Incentive Pay and How Does it Differ from Merit Pay?">
            <a:extLst>
              <a:ext uri="{FF2B5EF4-FFF2-40B4-BE49-F238E27FC236}">
                <a16:creationId xmlns:a16="http://schemas.microsoft.com/office/drawing/2014/main" id="{4C76450F-84F3-8A6B-A864-096AC3927B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228" t="13801" r="13516" b="10185"/>
          <a:stretch>
            <a:fillRect/>
          </a:stretch>
        </p:blipFill>
        <p:spPr bwMode="auto">
          <a:xfrm>
            <a:off x="8407021" y="2470245"/>
            <a:ext cx="3384646" cy="22791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719F217-614E-44DD-99AB-C85A3B8AF43E}"/>
              </a:ext>
            </a:extLst>
          </p:cNvPr>
          <p:cNvSpPr txBox="1"/>
          <p:nvPr/>
        </p:nvSpPr>
        <p:spPr>
          <a:xfrm>
            <a:off x="8361869" y="4749421"/>
            <a:ext cx="1798890" cy="169277"/>
          </a:xfrm>
          <a:prstGeom prst="rect">
            <a:avLst/>
          </a:prstGeom>
          <a:noFill/>
        </p:spPr>
        <p:txBody>
          <a:bodyPr wrap="none" rtlCol="0">
            <a:spAutoFit/>
          </a:bodyPr>
          <a:lstStyle/>
          <a:p>
            <a:r>
              <a:rPr lang="en-US" sz="500" dirty="0">
                <a:solidFill>
                  <a:schemeClr val="bg2">
                    <a:lumMod val="75000"/>
                  </a:schemeClr>
                </a:solidFill>
              </a:rPr>
              <a:t>Kilde: https://</a:t>
            </a:r>
            <a:r>
              <a:rPr lang="en-US" sz="500" dirty="0" err="1">
                <a:solidFill>
                  <a:schemeClr val="bg2">
                    <a:lumMod val="75000"/>
                  </a:schemeClr>
                </a:solidFill>
              </a:rPr>
              <a:t>corecommissions.com</a:t>
            </a:r>
            <a:r>
              <a:rPr lang="en-US" sz="500" dirty="0">
                <a:solidFill>
                  <a:schemeClr val="bg2">
                    <a:lumMod val="75000"/>
                  </a:schemeClr>
                </a:solidFill>
              </a:rPr>
              <a:t>/what-is-incentive-pay/</a:t>
            </a:r>
          </a:p>
        </p:txBody>
      </p:sp>
    </p:spTree>
    <p:extLst>
      <p:ext uri="{BB962C8B-B14F-4D97-AF65-F5344CB8AC3E}">
        <p14:creationId xmlns:p14="http://schemas.microsoft.com/office/powerpoint/2010/main" val="3942560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897799" y="193675"/>
            <a:ext cx="7915275" cy="1143000"/>
          </a:xfrm>
        </p:spPr>
        <p:txBody>
          <a:bodyPr/>
          <a:lstStyle/>
          <a:p>
            <a:pPr eaLnBrk="1" hangingPunct="1"/>
            <a:r>
              <a:rPr lang="en-US" dirty="0" err="1"/>
              <a:t>Informativeness</a:t>
            </a:r>
            <a:r>
              <a:rPr lang="en-US" dirty="0"/>
              <a:t> Principle</a:t>
            </a:r>
            <a:endParaRPr lang="en-US" dirty="0">
              <a:solidFill>
                <a:schemeClr val="bg1"/>
              </a:solidFill>
            </a:endParaRPr>
          </a:p>
        </p:txBody>
      </p:sp>
      <p:sp>
        <p:nvSpPr>
          <p:cNvPr id="14339" name="Rectangle 3"/>
          <p:cNvSpPr>
            <a:spLocks noGrp="1" noChangeArrowheads="1"/>
          </p:cNvSpPr>
          <p:nvPr>
            <p:ph idx="1"/>
          </p:nvPr>
        </p:nvSpPr>
        <p:spPr>
          <a:xfrm>
            <a:off x="1619794" y="1581150"/>
            <a:ext cx="8972006" cy="4743451"/>
          </a:xfrm>
          <a:ln>
            <a:noFill/>
          </a:ln>
        </p:spPr>
        <p:txBody>
          <a:bodyPr>
            <a:normAutofit fontScale="85000" lnSpcReduction="10000"/>
          </a:bodyPr>
          <a:lstStyle/>
          <a:p>
            <a:pPr eaLnBrk="1" hangingPunct="1">
              <a:lnSpc>
                <a:spcPct val="90000"/>
              </a:lnSpc>
              <a:buClr>
                <a:srgbClr val="000066"/>
              </a:buClr>
            </a:pPr>
            <a:r>
              <a:rPr lang="en-US" sz="2800" dirty="0"/>
              <a:t>Use </a:t>
            </a:r>
            <a:r>
              <a:rPr lang="en-US" sz="2800" dirty="0">
                <a:solidFill>
                  <a:srgbClr val="960000"/>
                </a:solidFill>
              </a:rPr>
              <a:t>all</a:t>
            </a:r>
            <a:r>
              <a:rPr lang="en-US" sz="2800" dirty="0"/>
              <a:t> appropriate information when evaluating performance (</a:t>
            </a:r>
            <a:r>
              <a:rPr lang="en-US" sz="2800" u="sng" dirty="0"/>
              <a:t>assuming low costs</a:t>
            </a:r>
            <a:r>
              <a:rPr lang="en-US" sz="2800" dirty="0"/>
              <a:t>).</a:t>
            </a:r>
          </a:p>
          <a:p>
            <a:pPr eaLnBrk="1" hangingPunct="1">
              <a:lnSpc>
                <a:spcPct val="90000"/>
              </a:lnSpc>
              <a:buClr>
                <a:srgbClr val="000066"/>
              </a:buClr>
            </a:pPr>
            <a:r>
              <a:rPr lang="en-US" sz="2800" dirty="0"/>
              <a:t>Consider </a:t>
            </a:r>
            <a:r>
              <a:rPr lang="en-US" sz="2800" i="1" dirty="0">
                <a:solidFill>
                  <a:srgbClr val="960000"/>
                </a:solidFill>
              </a:rPr>
              <a:t>uncontrollable</a:t>
            </a:r>
            <a:r>
              <a:rPr lang="en-US" sz="2800" dirty="0">
                <a:solidFill>
                  <a:srgbClr val="FF0000"/>
                </a:solidFill>
              </a:rPr>
              <a:t> </a:t>
            </a:r>
            <a:r>
              <a:rPr lang="en-US" sz="2800" dirty="0"/>
              <a:t>factors (such as market conditions)</a:t>
            </a:r>
          </a:p>
          <a:p>
            <a:pPr eaLnBrk="1" hangingPunct="1">
              <a:lnSpc>
                <a:spcPct val="90000"/>
              </a:lnSpc>
              <a:buClr>
                <a:srgbClr val="000066"/>
              </a:buClr>
            </a:pPr>
            <a:r>
              <a:rPr lang="en-US" sz="2800" dirty="0"/>
              <a:t>Select benchmarks to support </a:t>
            </a:r>
            <a:r>
              <a:rPr lang="en-US" sz="2800" i="1" dirty="0">
                <a:solidFill>
                  <a:srgbClr val="960000"/>
                </a:solidFill>
              </a:rPr>
              <a:t>relative</a:t>
            </a:r>
            <a:r>
              <a:rPr lang="en-US" sz="2800" dirty="0">
                <a:solidFill>
                  <a:srgbClr val="FF0000"/>
                </a:solidFill>
              </a:rPr>
              <a:t> </a:t>
            </a:r>
            <a:r>
              <a:rPr lang="en-US" sz="2800" dirty="0"/>
              <a:t>performance measurement (</a:t>
            </a:r>
            <a:r>
              <a:rPr lang="en-US" sz="2800" dirty="0" err="1"/>
              <a:t>uddybes</a:t>
            </a:r>
            <a:r>
              <a:rPr lang="en-US" sz="2800" dirty="0"/>
              <a:t> </a:t>
            </a:r>
            <a:r>
              <a:rPr lang="en-US" sz="2800" dirty="0" err="1"/>
              <a:t>snart</a:t>
            </a:r>
            <a:r>
              <a:rPr lang="en-US" sz="2800" dirty="0"/>
              <a:t>)</a:t>
            </a:r>
          </a:p>
          <a:p>
            <a:pPr>
              <a:lnSpc>
                <a:spcPct val="90000"/>
              </a:lnSpc>
              <a:buClr>
                <a:srgbClr val="000066"/>
              </a:buClr>
            </a:pPr>
            <a:r>
              <a:rPr lang="en-US" sz="2800" dirty="0"/>
              <a:t>By measuring employee effort with more </a:t>
            </a:r>
            <a:r>
              <a:rPr lang="en-US" sz="2800" dirty="0">
                <a:solidFill>
                  <a:srgbClr val="960000"/>
                </a:solidFill>
              </a:rPr>
              <a:t>precision</a:t>
            </a:r>
            <a:r>
              <a:rPr lang="en-US" sz="2800" dirty="0"/>
              <a:t>,</a:t>
            </a:r>
            <a:r>
              <a:rPr lang="en-US" sz="2800" dirty="0">
                <a:solidFill>
                  <a:schemeClr val="bg1"/>
                </a:solidFill>
              </a:rPr>
              <a:t> </a:t>
            </a:r>
            <a:r>
              <a:rPr lang="en-US" sz="2800" dirty="0"/>
              <a:t>the costs of inefficient risk bearing is reduced leading to more efficient effort choice.</a:t>
            </a:r>
          </a:p>
          <a:p>
            <a:pPr marL="0" indent="0" algn="ctr">
              <a:lnSpc>
                <a:spcPct val="90000"/>
              </a:lnSpc>
              <a:buClr>
                <a:srgbClr val="000066"/>
              </a:buClr>
              <a:buNone/>
            </a:pPr>
            <a:endParaRPr lang="en-US" sz="2800" dirty="0">
              <a:solidFill>
                <a:srgbClr val="960000"/>
              </a:solidFill>
            </a:endParaRPr>
          </a:p>
          <a:p>
            <a:pPr marL="0" indent="0" algn="ctr">
              <a:lnSpc>
                <a:spcPct val="90000"/>
              </a:lnSpc>
              <a:buClr>
                <a:srgbClr val="000066"/>
              </a:buClr>
              <a:buNone/>
            </a:pPr>
            <a:r>
              <a:rPr lang="en-US" sz="2800" dirty="0">
                <a:solidFill>
                  <a:srgbClr val="960000"/>
                </a:solidFill>
              </a:rPr>
              <a:t>The value-maximizing firm will go to the point where the incremental cost of increasing the precision of its performance measurement equals the incremental benefits (ex. including the reduction in the risk premium that must be paid to employees).</a:t>
            </a:r>
          </a:p>
          <a:p>
            <a:pPr>
              <a:lnSpc>
                <a:spcPct val="90000"/>
              </a:lnSpc>
              <a:buClr>
                <a:srgbClr val="000066"/>
              </a:buClr>
            </a:pPr>
            <a:endParaRPr lang="en-US" sz="2800" dirty="0"/>
          </a:p>
        </p:txBody>
      </p:sp>
      <p:sp>
        <p:nvSpPr>
          <p:cNvPr id="14341" name="Rectangle 5"/>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fld id="{80DEBDDC-885E-487A-B68A-C60FCBC561DD}" type="slidenum">
              <a:rPr lang="en-US" sz="1200" smtClean="0"/>
              <a:pPr algn="r"/>
              <a:t>19</a:t>
            </a:fld>
            <a:endParaRPr lang="en-US" sz="1200" dirty="0"/>
          </a:p>
        </p:txBody>
      </p:sp>
      <p:sp>
        <p:nvSpPr>
          <p:cNvPr id="5" name="5-takket stjerne 1"/>
          <p:cNvSpPr/>
          <p:nvPr/>
        </p:nvSpPr>
        <p:spPr>
          <a:xfrm>
            <a:off x="10766219" y="434975"/>
            <a:ext cx="1181100" cy="901700"/>
          </a:xfrm>
          <a:prstGeom prst="star5">
            <a:avLst/>
          </a:prstGeom>
          <a:solidFill>
            <a:srgbClr val="FFFF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da-DK"/>
          </a:p>
        </p:txBody>
      </p:sp>
      <p:sp>
        <p:nvSpPr>
          <p:cNvPr id="2" name="Rektangel 1">
            <a:extLst>
              <a:ext uri="{FF2B5EF4-FFF2-40B4-BE49-F238E27FC236}">
                <a16:creationId xmlns:a16="http://schemas.microsoft.com/office/drawing/2014/main" id="{203CFD78-C7C9-E1AB-DF5F-B4B799FAFA06}"/>
              </a:ext>
            </a:extLst>
          </p:cNvPr>
          <p:cNvSpPr/>
          <p:nvPr/>
        </p:nvSpPr>
        <p:spPr>
          <a:xfrm>
            <a:off x="1600201" y="4732564"/>
            <a:ext cx="9166018" cy="1515836"/>
          </a:xfrm>
          <a:prstGeom prst="rect">
            <a:avLst/>
          </a:prstGeom>
          <a:noFill/>
          <a:ln>
            <a:solidFill>
              <a:srgbClr val="96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2181289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3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33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33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33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9"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147128" y="333376"/>
            <a:ext cx="8229600" cy="1143000"/>
          </a:xfrm>
        </p:spPr>
        <p:txBody>
          <a:bodyPr/>
          <a:lstStyle/>
          <a:p>
            <a:pPr eaLnBrk="1" hangingPunct="1">
              <a:buClr>
                <a:srgbClr val="990033"/>
              </a:buClr>
            </a:pPr>
            <a:r>
              <a:rPr lang="en-US" dirty="0"/>
              <a:t>Group Incentive Pay</a:t>
            </a:r>
          </a:p>
        </p:txBody>
      </p:sp>
      <p:sp>
        <p:nvSpPr>
          <p:cNvPr id="40963" name="Rectangle 3"/>
          <p:cNvSpPr>
            <a:spLocks noGrp="1" noChangeArrowheads="1"/>
          </p:cNvSpPr>
          <p:nvPr>
            <p:ph idx="1"/>
          </p:nvPr>
        </p:nvSpPr>
        <p:spPr>
          <a:xfrm>
            <a:off x="1147128" y="1004887"/>
            <a:ext cx="6507480" cy="5750755"/>
          </a:xfrm>
        </p:spPr>
        <p:txBody>
          <a:bodyPr>
            <a:normAutofit/>
          </a:bodyPr>
          <a:lstStyle/>
          <a:p>
            <a:pPr eaLnBrk="1" hangingPunct="1">
              <a:buClr>
                <a:srgbClr val="000066"/>
              </a:buClr>
            </a:pPr>
            <a:endParaRPr lang="en-US" dirty="0"/>
          </a:p>
          <a:p>
            <a:pPr eaLnBrk="1" hangingPunct="1">
              <a:buClr>
                <a:srgbClr val="000066"/>
              </a:buClr>
            </a:pPr>
            <a:r>
              <a:rPr lang="en-US" sz="3600" dirty="0"/>
              <a:t>Use group pay, when individual performance is difficult to measure.</a:t>
            </a:r>
          </a:p>
          <a:p>
            <a:pPr eaLnBrk="1" hangingPunct="1">
              <a:buClr>
                <a:srgbClr val="000066"/>
              </a:buClr>
            </a:pPr>
            <a:r>
              <a:rPr lang="en-US" sz="3600" dirty="0"/>
              <a:t>Group pay encourages teamwork and cooperation.</a:t>
            </a:r>
          </a:p>
          <a:p>
            <a:pPr eaLnBrk="1" hangingPunct="1">
              <a:buClr>
                <a:srgbClr val="000066"/>
              </a:buClr>
            </a:pPr>
            <a:r>
              <a:rPr lang="en-US" sz="3600" dirty="0"/>
              <a:t>Employees have incentives to monitor each other.</a:t>
            </a:r>
          </a:p>
          <a:p>
            <a:pPr eaLnBrk="1" hangingPunct="1">
              <a:buClr>
                <a:srgbClr val="000066"/>
              </a:buClr>
              <a:buNone/>
            </a:pPr>
            <a:r>
              <a:rPr lang="en-US" sz="3600" dirty="0"/>
              <a:t>    BUT RECALL; FREE-RIDER PROBLEMS</a:t>
            </a:r>
          </a:p>
        </p:txBody>
      </p:sp>
      <p:sp>
        <p:nvSpPr>
          <p:cNvPr id="40964" name="Rectangle 4"/>
          <p:cNvSpPr>
            <a:spLocks noChangeArrowheads="1"/>
          </p:cNvSpPr>
          <p:nvPr/>
        </p:nvSpPr>
        <p:spPr bwMode="auto">
          <a:xfrm>
            <a:off x="8458200" y="6324601"/>
            <a:ext cx="2133600" cy="244475"/>
          </a:xfrm>
          <a:prstGeom prst="rect">
            <a:avLst/>
          </a:prstGeom>
          <a:noFill/>
          <a:ln w="9525">
            <a:noFill/>
            <a:miter lim="800000"/>
            <a:headEnd/>
            <a:tailEnd/>
          </a:ln>
          <a:effectLst/>
        </p:spPr>
        <p:txBody>
          <a:bodyPr/>
          <a:lstStyle/>
          <a:p>
            <a:pPr algn="r"/>
            <a:fld id="{283C4254-3141-4850-A81D-EB9A400A3D64}" type="slidenum">
              <a:rPr lang="en-US" sz="1200" smtClean="0"/>
              <a:pPr algn="r"/>
              <a:t>20</a:t>
            </a:fld>
            <a:endParaRPr lang="en-US" sz="1200" dirty="0"/>
          </a:p>
        </p:txBody>
      </p:sp>
      <p:pic>
        <p:nvPicPr>
          <p:cNvPr id="4098" name="Picture 2" descr="Planning for effective, skills-building group projects - University Affairs">
            <a:extLst>
              <a:ext uri="{FF2B5EF4-FFF2-40B4-BE49-F238E27FC236}">
                <a16:creationId xmlns:a16="http://schemas.microsoft.com/office/drawing/2014/main" id="{9E354F52-BB33-90AD-50B9-E3B44D5BCB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553" t="-2072" r="11898"/>
          <a:stretch>
            <a:fillRect/>
          </a:stretch>
        </p:blipFill>
        <p:spPr bwMode="auto">
          <a:xfrm>
            <a:off x="8215622" y="2254880"/>
            <a:ext cx="3416820" cy="275384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0BDC7F4-1619-7A7C-5C7D-7384107D760E}"/>
              </a:ext>
            </a:extLst>
          </p:cNvPr>
          <p:cNvSpPr txBox="1"/>
          <p:nvPr/>
        </p:nvSpPr>
        <p:spPr>
          <a:xfrm>
            <a:off x="8155940" y="5008729"/>
            <a:ext cx="2888932" cy="169277"/>
          </a:xfrm>
          <a:prstGeom prst="rect">
            <a:avLst/>
          </a:prstGeom>
          <a:noFill/>
        </p:spPr>
        <p:txBody>
          <a:bodyPr wrap="none" rtlCol="0">
            <a:spAutoFit/>
          </a:bodyPr>
          <a:lstStyle/>
          <a:p>
            <a:r>
              <a:rPr lang="en-US" sz="500" dirty="0">
                <a:solidFill>
                  <a:schemeClr val="bg2">
                    <a:lumMod val="75000"/>
                  </a:schemeClr>
                </a:solidFill>
              </a:rPr>
              <a:t>Kilde: https://</a:t>
            </a:r>
            <a:r>
              <a:rPr lang="en-US" sz="500" dirty="0" err="1">
                <a:solidFill>
                  <a:schemeClr val="bg2">
                    <a:lumMod val="75000"/>
                  </a:schemeClr>
                </a:solidFill>
              </a:rPr>
              <a:t>universityaffairs.ca</a:t>
            </a:r>
            <a:r>
              <a:rPr lang="en-US" sz="500" dirty="0">
                <a:solidFill>
                  <a:schemeClr val="bg2">
                    <a:lumMod val="75000"/>
                  </a:schemeClr>
                </a:solidFill>
              </a:rPr>
              <a:t>/career-advice/planning-for-effective-skills-building-group-projects/</a:t>
            </a:r>
          </a:p>
        </p:txBody>
      </p:sp>
    </p:spTree>
    <p:extLst>
      <p:ext uri="{BB962C8B-B14F-4D97-AF65-F5344CB8AC3E}">
        <p14:creationId xmlns:p14="http://schemas.microsoft.com/office/powerpoint/2010/main" val="81184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6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6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1068751" y="192269"/>
            <a:ext cx="8229600" cy="1143000"/>
          </a:xfrm>
        </p:spPr>
        <p:txBody>
          <a:bodyPr/>
          <a:lstStyle/>
          <a:p>
            <a:pPr eaLnBrk="1" hangingPunct="1">
              <a:buClr>
                <a:srgbClr val="990033"/>
              </a:buClr>
            </a:pPr>
            <a:r>
              <a:rPr lang="en-US" dirty="0"/>
              <a:t>Forms of Incentive Pay</a:t>
            </a:r>
          </a:p>
        </p:txBody>
      </p:sp>
      <p:sp>
        <p:nvSpPr>
          <p:cNvPr id="43011" name="Rectangle 3"/>
          <p:cNvSpPr>
            <a:spLocks noGrp="1" noChangeArrowheads="1"/>
          </p:cNvSpPr>
          <p:nvPr>
            <p:ph idx="1"/>
          </p:nvPr>
        </p:nvSpPr>
        <p:spPr>
          <a:xfrm>
            <a:off x="1981199" y="1447800"/>
            <a:ext cx="8908473" cy="5121276"/>
          </a:xfrm>
        </p:spPr>
        <p:txBody>
          <a:bodyPr>
            <a:normAutofit/>
          </a:bodyPr>
          <a:lstStyle/>
          <a:p>
            <a:pPr eaLnBrk="1" hangingPunct="1">
              <a:lnSpc>
                <a:spcPct val="90000"/>
              </a:lnSpc>
              <a:buClr>
                <a:srgbClr val="000066"/>
              </a:buClr>
            </a:pPr>
            <a:r>
              <a:rPr lang="en-US" sz="3000" dirty="0"/>
              <a:t>Piece rates </a:t>
            </a:r>
          </a:p>
          <a:p>
            <a:pPr eaLnBrk="1" hangingPunct="1">
              <a:lnSpc>
                <a:spcPct val="90000"/>
              </a:lnSpc>
              <a:buClr>
                <a:srgbClr val="000066"/>
              </a:buClr>
            </a:pPr>
            <a:r>
              <a:rPr lang="en-US" sz="3000" dirty="0"/>
              <a:t>Bonuses for good performance</a:t>
            </a:r>
          </a:p>
          <a:p>
            <a:pPr eaLnBrk="1" hangingPunct="1">
              <a:lnSpc>
                <a:spcPct val="90000"/>
              </a:lnSpc>
              <a:buClr>
                <a:srgbClr val="000066"/>
              </a:buClr>
            </a:pPr>
            <a:r>
              <a:rPr lang="en-US" sz="3000" dirty="0"/>
              <a:t>Prizes for winning contests</a:t>
            </a:r>
          </a:p>
          <a:p>
            <a:pPr eaLnBrk="1" hangingPunct="1">
              <a:lnSpc>
                <a:spcPct val="90000"/>
              </a:lnSpc>
              <a:buClr>
                <a:srgbClr val="000066"/>
              </a:buClr>
            </a:pPr>
            <a:r>
              <a:rPr lang="en-US" sz="3000" dirty="0"/>
              <a:t>Salary revisions based on performance</a:t>
            </a:r>
          </a:p>
          <a:p>
            <a:pPr eaLnBrk="1" hangingPunct="1">
              <a:lnSpc>
                <a:spcPct val="90000"/>
              </a:lnSpc>
              <a:buClr>
                <a:srgbClr val="000066"/>
              </a:buClr>
            </a:pPr>
            <a:r>
              <a:rPr lang="en-US" sz="3000" dirty="0"/>
              <a:t>Promotions (demotions)</a:t>
            </a:r>
          </a:p>
          <a:p>
            <a:pPr eaLnBrk="1" hangingPunct="1">
              <a:lnSpc>
                <a:spcPct val="90000"/>
              </a:lnSpc>
              <a:buClr>
                <a:srgbClr val="000066"/>
              </a:buClr>
            </a:pPr>
            <a:r>
              <a:rPr lang="en-US" sz="3000" dirty="0"/>
              <a:t>Preferred office assignment</a:t>
            </a:r>
          </a:p>
          <a:p>
            <a:pPr eaLnBrk="1" hangingPunct="1">
              <a:lnSpc>
                <a:spcPct val="90000"/>
              </a:lnSpc>
              <a:buClr>
                <a:srgbClr val="000066"/>
              </a:buClr>
            </a:pPr>
            <a:r>
              <a:rPr lang="en-US" sz="3000" dirty="0"/>
              <a:t>Stock and profit-sharing plans</a:t>
            </a:r>
          </a:p>
          <a:p>
            <a:pPr eaLnBrk="1" hangingPunct="1">
              <a:lnSpc>
                <a:spcPct val="90000"/>
              </a:lnSpc>
              <a:buClr>
                <a:srgbClr val="000066"/>
              </a:buClr>
            </a:pPr>
            <a:r>
              <a:rPr lang="en-US" sz="3000" dirty="0"/>
              <a:t>Firings for poor performance</a:t>
            </a:r>
          </a:p>
          <a:p>
            <a:pPr eaLnBrk="1" hangingPunct="1">
              <a:lnSpc>
                <a:spcPct val="90000"/>
              </a:lnSpc>
              <a:buClr>
                <a:srgbClr val="000066"/>
              </a:buClr>
              <a:buNone/>
            </a:pPr>
            <a:r>
              <a:rPr lang="en-US" sz="3000" dirty="0"/>
              <a:t>    =&gt; </a:t>
            </a:r>
            <a:r>
              <a:rPr lang="en-US" sz="3200" dirty="0"/>
              <a:t>REWARDS DO NOT HAVE TO BE MONETARY!</a:t>
            </a:r>
          </a:p>
        </p:txBody>
      </p:sp>
      <p:sp>
        <p:nvSpPr>
          <p:cNvPr id="43012" name="Rectangle 4"/>
          <p:cNvSpPr>
            <a:spLocks noChangeArrowheads="1"/>
          </p:cNvSpPr>
          <p:nvPr/>
        </p:nvSpPr>
        <p:spPr bwMode="auto">
          <a:xfrm>
            <a:off x="9408226" y="6437132"/>
            <a:ext cx="2133600" cy="244475"/>
          </a:xfrm>
          <a:prstGeom prst="rect">
            <a:avLst/>
          </a:prstGeom>
          <a:noFill/>
          <a:ln w="9525">
            <a:noFill/>
            <a:miter lim="800000"/>
            <a:headEnd/>
            <a:tailEnd/>
          </a:ln>
          <a:effectLst/>
        </p:spPr>
        <p:txBody>
          <a:bodyPr/>
          <a:lstStyle/>
          <a:p>
            <a:pPr algn="r"/>
            <a:fld id="{24E74758-F2F1-4E00-A3CE-78A656197DEB}" type="slidenum">
              <a:rPr lang="en-US" sz="1200" smtClean="0"/>
              <a:pPr algn="r"/>
              <a:t>21</a:t>
            </a:fld>
            <a:endParaRPr lang="en-US" sz="1200" dirty="0"/>
          </a:p>
        </p:txBody>
      </p:sp>
      <p:sp>
        <p:nvSpPr>
          <p:cNvPr id="2" name="TextBox 1"/>
          <p:cNvSpPr txBox="1"/>
          <p:nvPr/>
        </p:nvSpPr>
        <p:spPr>
          <a:xfrm>
            <a:off x="9422858" y="1186498"/>
            <a:ext cx="1999015" cy="646331"/>
          </a:xfrm>
          <a:prstGeom prst="rect">
            <a:avLst/>
          </a:prstGeom>
          <a:solidFill>
            <a:srgbClr val="960000"/>
          </a:solidFill>
          <a:ln>
            <a:solidFill>
              <a:schemeClr val="bg1"/>
            </a:solidFill>
          </a:ln>
        </p:spPr>
        <p:txBody>
          <a:bodyPr wrap="square" rtlCol="0">
            <a:spAutoFit/>
          </a:bodyPr>
          <a:lstStyle/>
          <a:p>
            <a:r>
              <a:rPr lang="da-DK" dirty="0">
                <a:solidFill>
                  <a:schemeClr val="bg1"/>
                </a:solidFill>
              </a:rPr>
              <a:t>P. 482 er vigtig – herunder note 28!</a:t>
            </a:r>
          </a:p>
        </p:txBody>
      </p:sp>
      <p:sp>
        <p:nvSpPr>
          <p:cNvPr id="5" name="TextBox 4">
            <a:extLst>
              <a:ext uri="{FF2B5EF4-FFF2-40B4-BE49-F238E27FC236}">
                <a16:creationId xmlns:a16="http://schemas.microsoft.com/office/drawing/2014/main" id="{B09562B8-27FE-42C1-A10B-CC0D28D6B636}"/>
              </a:ext>
            </a:extLst>
          </p:cNvPr>
          <p:cNvSpPr txBox="1"/>
          <p:nvPr/>
        </p:nvSpPr>
        <p:spPr>
          <a:xfrm rot="19787295">
            <a:off x="9308513" y="2105344"/>
            <a:ext cx="1673194" cy="1938992"/>
          </a:xfrm>
          <a:prstGeom prst="rect">
            <a:avLst/>
          </a:prstGeom>
          <a:noFill/>
        </p:spPr>
        <p:txBody>
          <a:bodyPr wrap="square" rtlCol="0">
            <a:spAutoFit/>
          </a:bodyPr>
          <a:lstStyle/>
          <a:p>
            <a:r>
              <a:rPr lang="en-US" sz="12000" dirty="0"/>
              <a:t>💵</a:t>
            </a:r>
          </a:p>
        </p:txBody>
      </p:sp>
      <p:sp>
        <p:nvSpPr>
          <p:cNvPr id="6" name="TextBox 5">
            <a:extLst>
              <a:ext uri="{FF2B5EF4-FFF2-40B4-BE49-F238E27FC236}">
                <a16:creationId xmlns:a16="http://schemas.microsoft.com/office/drawing/2014/main" id="{66C585F3-1E4C-1F24-151F-5C9A325CA224}"/>
              </a:ext>
            </a:extLst>
          </p:cNvPr>
          <p:cNvSpPr txBox="1"/>
          <p:nvPr/>
        </p:nvSpPr>
        <p:spPr>
          <a:xfrm rot="564063">
            <a:off x="10045375" y="2897508"/>
            <a:ext cx="1210588" cy="1323439"/>
          </a:xfrm>
          <a:prstGeom prst="rect">
            <a:avLst/>
          </a:prstGeom>
          <a:noFill/>
        </p:spPr>
        <p:txBody>
          <a:bodyPr wrap="none" rtlCol="0">
            <a:spAutoFit/>
          </a:bodyPr>
          <a:lstStyle/>
          <a:p>
            <a:r>
              <a:rPr lang="en-US" sz="8000" dirty="0"/>
              <a:t>💵</a:t>
            </a:r>
          </a:p>
        </p:txBody>
      </p:sp>
      <p:sp>
        <p:nvSpPr>
          <p:cNvPr id="9" name="TextBox 8">
            <a:extLst>
              <a:ext uri="{FF2B5EF4-FFF2-40B4-BE49-F238E27FC236}">
                <a16:creationId xmlns:a16="http://schemas.microsoft.com/office/drawing/2014/main" id="{DC90E7E3-F87F-8496-376C-574373E34C77}"/>
              </a:ext>
            </a:extLst>
          </p:cNvPr>
          <p:cNvSpPr txBox="1"/>
          <p:nvPr/>
        </p:nvSpPr>
        <p:spPr>
          <a:xfrm rot="20295774">
            <a:off x="10940583" y="2343271"/>
            <a:ext cx="1338828" cy="1477328"/>
          </a:xfrm>
          <a:prstGeom prst="rect">
            <a:avLst/>
          </a:prstGeom>
          <a:noFill/>
        </p:spPr>
        <p:txBody>
          <a:bodyPr wrap="none" rtlCol="0">
            <a:spAutoFit/>
          </a:bodyPr>
          <a:lstStyle/>
          <a:p>
            <a:r>
              <a:rPr lang="en-US" sz="9000" dirty="0"/>
              <a:t>💵</a:t>
            </a:r>
          </a:p>
        </p:txBody>
      </p:sp>
      <p:sp>
        <p:nvSpPr>
          <p:cNvPr id="10" name="TextBox 9">
            <a:extLst>
              <a:ext uri="{FF2B5EF4-FFF2-40B4-BE49-F238E27FC236}">
                <a16:creationId xmlns:a16="http://schemas.microsoft.com/office/drawing/2014/main" id="{7681E5A4-4B30-7D30-0B2B-013EF879C8AC}"/>
              </a:ext>
            </a:extLst>
          </p:cNvPr>
          <p:cNvSpPr txBox="1"/>
          <p:nvPr/>
        </p:nvSpPr>
        <p:spPr>
          <a:xfrm rot="477598">
            <a:off x="10693293" y="3861650"/>
            <a:ext cx="1338828" cy="1477328"/>
          </a:xfrm>
          <a:prstGeom prst="rect">
            <a:avLst/>
          </a:prstGeom>
          <a:noFill/>
        </p:spPr>
        <p:txBody>
          <a:bodyPr wrap="none" rtlCol="0">
            <a:spAutoFit/>
          </a:bodyPr>
          <a:lstStyle/>
          <a:p>
            <a:r>
              <a:rPr lang="en-US" sz="9000" dirty="0"/>
              <a:t>💵</a:t>
            </a:r>
          </a:p>
        </p:txBody>
      </p:sp>
      <p:sp>
        <p:nvSpPr>
          <p:cNvPr id="11" name="TextBox 10">
            <a:extLst>
              <a:ext uri="{FF2B5EF4-FFF2-40B4-BE49-F238E27FC236}">
                <a16:creationId xmlns:a16="http://schemas.microsoft.com/office/drawing/2014/main" id="{572A8700-6A65-7428-8B48-7416952E3389}"/>
              </a:ext>
            </a:extLst>
          </p:cNvPr>
          <p:cNvSpPr txBox="1"/>
          <p:nvPr/>
        </p:nvSpPr>
        <p:spPr>
          <a:xfrm rot="20733909">
            <a:off x="11060884" y="5534561"/>
            <a:ext cx="1210588" cy="1323439"/>
          </a:xfrm>
          <a:prstGeom prst="rect">
            <a:avLst/>
          </a:prstGeom>
          <a:noFill/>
        </p:spPr>
        <p:txBody>
          <a:bodyPr wrap="none" rtlCol="0">
            <a:spAutoFit/>
          </a:bodyPr>
          <a:lstStyle/>
          <a:p>
            <a:r>
              <a:rPr lang="en-US" sz="8000" dirty="0"/>
              <a:t>💵</a:t>
            </a:r>
          </a:p>
        </p:txBody>
      </p:sp>
      <p:sp>
        <p:nvSpPr>
          <p:cNvPr id="12" name="TextBox 11">
            <a:extLst>
              <a:ext uri="{FF2B5EF4-FFF2-40B4-BE49-F238E27FC236}">
                <a16:creationId xmlns:a16="http://schemas.microsoft.com/office/drawing/2014/main" id="{5FE2A127-FB39-CC80-8AEF-4FA4629AD3EF}"/>
              </a:ext>
            </a:extLst>
          </p:cNvPr>
          <p:cNvSpPr txBox="1"/>
          <p:nvPr/>
        </p:nvSpPr>
        <p:spPr>
          <a:xfrm rot="21118704">
            <a:off x="9179651" y="3632306"/>
            <a:ext cx="1210588" cy="1631216"/>
          </a:xfrm>
          <a:prstGeom prst="rect">
            <a:avLst/>
          </a:prstGeom>
          <a:noFill/>
        </p:spPr>
        <p:txBody>
          <a:bodyPr wrap="square" rtlCol="0">
            <a:spAutoFit/>
          </a:bodyPr>
          <a:lstStyle/>
          <a:p>
            <a:r>
              <a:rPr lang="en-US" sz="10000" dirty="0"/>
              <a:t>💵</a:t>
            </a:r>
          </a:p>
        </p:txBody>
      </p:sp>
      <p:sp>
        <p:nvSpPr>
          <p:cNvPr id="13" name="TextBox 12">
            <a:extLst>
              <a:ext uri="{FF2B5EF4-FFF2-40B4-BE49-F238E27FC236}">
                <a16:creationId xmlns:a16="http://schemas.microsoft.com/office/drawing/2014/main" id="{7AD041A4-80E4-9892-5B10-6AE9C5BE83C8}"/>
              </a:ext>
            </a:extLst>
          </p:cNvPr>
          <p:cNvSpPr txBox="1"/>
          <p:nvPr/>
        </p:nvSpPr>
        <p:spPr>
          <a:xfrm rot="21182675">
            <a:off x="9801302" y="4752714"/>
            <a:ext cx="1210588" cy="1323439"/>
          </a:xfrm>
          <a:prstGeom prst="rect">
            <a:avLst/>
          </a:prstGeom>
          <a:noFill/>
        </p:spPr>
        <p:txBody>
          <a:bodyPr wrap="none" rtlCol="0">
            <a:spAutoFit/>
          </a:bodyPr>
          <a:lstStyle/>
          <a:p>
            <a:r>
              <a:rPr lang="en-US" sz="8000" dirty="0"/>
              <a:t>💵</a:t>
            </a:r>
          </a:p>
        </p:txBody>
      </p:sp>
      <p:sp>
        <p:nvSpPr>
          <p:cNvPr id="16" name="TextBox 15">
            <a:extLst>
              <a:ext uri="{FF2B5EF4-FFF2-40B4-BE49-F238E27FC236}">
                <a16:creationId xmlns:a16="http://schemas.microsoft.com/office/drawing/2014/main" id="{84C6F9B8-6220-60D3-B0FA-E7A1C4252C71}"/>
              </a:ext>
            </a:extLst>
          </p:cNvPr>
          <p:cNvSpPr txBox="1"/>
          <p:nvPr/>
        </p:nvSpPr>
        <p:spPr>
          <a:xfrm>
            <a:off x="11362707" y="6329410"/>
            <a:ext cx="6646458" cy="215444"/>
          </a:xfrm>
          <a:prstGeom prst="rect">
            <a:avLst/>
          </a:prstGeom>
          <a:noFill/>
        </p:spPr>
        <p:txBody>
          <a:bodyPr wrap="square">
            <a:spAutoFit/>
          </a:bodyPr>
          <a:lstStyle/>
          <a:p>
            <a:r>
              <a:rPr lang="en-US" sz="800" dirty="0">
                <a:solidFill>
                  <a:schemeClr val="bg2">
                    <a:lumMod val="75000"/>
                  </a:schemeClr>
                </a:solidFill>
              </a:rPr>
              <a:t>Kilde: Apple emoji</a:t>
            </a:r>
          </a:p>
        </p:txBody>
      </p:sp>
    </p:spTree>
    <p:extLst>
      <p:ext uri="{BB962C8B-B14F-4D97-AF65-F5344CB8AC3E}">
        <p14:creationId xmlns:p14="http://schemas.microsoft.com/office/powerpoint/2010/main" val="345141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818605" y="97474"/>
            <a:ext cx="8229600" cy="1143000"/>
          </a:xfrm>
        </p:spPr>
        <p:txBody>
          <a:bodyPr/>
          <a:lstStyle/>
          <a:p>
            <a:pPr eaLnBrk="1" hangingPunct="1">
              <a:buClr>
                <a:srgbClr val="990033"/>
              </a:buClr>
            </a:pPr>
            <a:r>
              <a:rPr lang="en-US" dirty="0"/>
              <a:t>Does Incentive Pay Work?</a:t>
            </a:r>
          </a:p>
        </p:txBody>
      </p:sp>
      <p:sp>
        <p:nvSpPr>
          <p:cNvPr id="45059" name="Rectangle 3"/>
          <p:cNvSpPr>
            <a:spLocks noGrp="1" noChangeArrowheads="1"/>
          </p:cNvSpPr>
          <p:nvPr>
            <p:ph idx="1"/>
          </p:nvPr>
        </p:nvSpPr>
        <p:spPr>
          <a:xfrm>
            <a:off x="1358537" y="1240474"/>
            <a:ext cx="10014858" cy="5328602"/>
          </a:xfrm>
        </p:spPr>
        <p:txBody>
          <a:bodyPr>
            <a:normAutofit/>
          </a:bodyPr>
          <a:lstStyle/>
          <a:p>
            <a:pPr eaLnBrk="1" hangingPunct="1">
              <a:buClr>
                <a:srgbClr val="000066"/>
              </a:buClr>
              <a:buNone/>
            </a:pPr>
            <a:r>
              <a:rPr lang="en-US" sz="2800" dirty="0">
                <a:solidFill>
                  <a:srgbClr val="960000"/>
                </a:solidFill>
              </a:rPr>
              <a:t>RAMME 484n. – 485!</a:t>
            </a:r>
          </a:p>
          <a:p>
            <a:pPr marL="514350" indent="-514350">
              <a:buClr>
                <a:srgbClr val="000066"/>
              </a:buClr>
              <a:buFont typeface="+mj-lt"/>
              <a:buAutoNum type="arabicPeriod"/>
            </a:pPr>
            <a:r>
              <a:rPr lang="en-US" sz="2800" dirty="0">
                <a:solidFill>
                  <a:srgbClr val="960000"/>
                </a:solidFill>
              </a:rPr>
              <a:t>Critics argue that money does not motivate (ex. Deming, Kohn, se note 31).</a:t>
            </a:r>
          </a:p>
          <a:p>
            <a:pPr marL="514350" indent="-514350">
              <a:buClr>
                <a:srgbClr val="000066"/>
              </a:buClr>
              <a:buFont typeface="+mj-lt"/>
              <a:buAutoNum type="arabicPeriod"/>
            </a:pPr>
            <a:r>
              <a:rPr lang="en-US" sz="2800" dirty="0">
                <a:solidFill>
                  <a:srgbClr val="960000"/>
                </a:solidFill>
              </a:rPr>
              <a:t>Also, they argue it is difficult to design an ‘effective’ compensation plan (a plan without unintended acts/effects...)</a:t>
            </a:r>
          </a:p>
          <a:p>
            <a:pPr marL="514350" indent="-514350">
              <a:buClr>
                <a:srgbClr val="000066"/>
              </a:buClr>
              <a:buFont typeface="+mj-lt"/>
              <a:buAutoNum type="arabicPeriod"/>
            </a:pPr>
            <a:r>
              <a:rPr lang="en-US" sz="2800" dirty="0" err="1">
                <a:solidFill>
                  <a:srgbClr val="960000"/>
                </a:solidFill>
              </a:rPr>
              <a:t>Hvordan</a:t>
            </a:r>
            <a:r>
              <a:rPr lang="en-US" sz="2800" dirty="0">
                <a:solidFill>
                  <a:srgbClr val="960000"/>
                </a:solidFill>
              </a:rPr>
              <a:t> </a:t>
            </a:r>
            <a:r>
              <a:rPr lang="en-US" sz="2800" dirty="0" err="1">
                <a:solidFill>
                  <a:srgbClr val="960000"/>
                </a:solidFill>
              </a:rPr>
              <a:t>hænger</a:t>
            </a:r>
            <a:r>
              <a:rPr lang="en-US" sz="2800" dirty="0">
                <a:solidFill>
                  <a:srgbClr val="960000"/>
                </a:solidFill>
              </a:rPr>
              <a:t> 1. </a:t>
            </a:r>
            <a:r>
              <a:rPr lang="en-US" sz="2800" dirty="0" err="1">
                <a:solidFill>
                  <a:srgbClr val="960000"/>
                </a:solidFill>
              </a:rPr>
              <a:t>og</a:t>
            </a:r>
            <a:r>
              <a:rPr lang="en-US" sz="2800" dirty="0">
                <a:solidFill>
                  <a:srgbClr val="960000"/>
                </a:solidFill>
              </a:rPr>
              <a:t> 2. (</a:t>
            </a:r>
            <a:r>
              <a:rPr lang="en-US" sz="2800" dirty="0" err="1">
                <a:solidFill>
                  <a:srgbClr val="960000"/>
                </a:solidFill>
              </a:rPr>
              <a:t>lige</a:t>
            </a:r>
            <a:r>
              <a:rPr lang="en-US" sz="2800" dirty="0">
                <a:solidFill>
                  <a:srgbClr val="960000"/>
                </a:solidFill>
              </a:rPr>
              <a:t>) </a:t>
            </a:r>
            <a:r>
              <a:rPr lang="en-US" sz="2800" dirty="0" err="1">
                <a:solidFill>
                  <a:srgbClr val="960000"/>
                </a:solidFill>
              </a:rPr>
              <a:t>sammen</a:t>
            </a:r>
            <a:r>
              <a:rPr lang="en-US" sz="2800" dirty="0">
                <a:solidFill>
                  <a:srgbClr val="960000"/>
                </a:solidFill>
              </a:rPr>
              <a:t>?</a:t>
            </a:r>
          </a:p>
          <a:p>
            <a:pPr marL="514350" indent="-514350">
              <a:buClr>
                <a:srgbClr val="000066"/>
              </a:buClr>
              <a:buFont typeface="+mj-lt"/>
              <a:buAutoNum type="arabicPeriod"/>
            </a:pPr>
            <a:r>
              <a:rPr lang="en-US" sz="2800" dirty="0">
                <a:solidFill>
                  <a:srgbClr val="960000"/>
                </a:solidFill>
              </a:rPr>
              <a:t>“Evidence supports that agents do respond to incentives” (BSZ, p. 485) (</a:t>
            </a:r>
            <a:r>
              <a:rPr lang="en-US" sz="2800" dirty="0" err="1">
                <a:solidFill>
                  <a:srgbClr val="960000"/>
                </a:solidFill>
              </a:rPr>
              <a:t>henvisning</a:t>
            </a:r>
            <a:r>
              <a:rPr lang="en-US" sz="2800" dirty="0">
                <a:solidFill>
                  <a:srgbClr val="960000"/>
                </a:solidFill>
              </a:rPr>
              <a:t> </a:t>
            </a:r>
            <a:r>
              <a:rPr lang="en-US" sz="2800" dirty="0" err="1">
                <a:solidFill>
                  <a:srgbClr val="960000"/>
                </a:solidFill>
              </a:rPr>
              <a:t>til</a:t>
            </a:r>
            <a:r>
              <a:rPr lang="en-US" sz="2800" dirty="0">
                <a:solidFill>
                  <a:srgbClr val="960000"/>
                </a:solidFill>
              </a:rPr>
              <a:t> Prendergast (1999)).</a:t>
            </a:r>
          </a:p>
          <a:p>
            <a:pPr marL="514350" indent="-514350">
              <a:buClr>
                <a:srgbClr val="000066"/>
              </a:buClr>
              <a:buFont typeface="+mj-lt"/>
              <a:buAutoNum type="arabicPeriod"/>
            </a:pPr>
            <a:r>
              <a:rPr lang="en-US" sz="2800" dirty="0">
                <a:solidFill>
                  <a:srgbClr val="960000"/>
                </a:solidFill>
              </a:rPr>
              <a:t>Baker (1993): “The problem is not that incentives can’t work but that they work all too well.”</a:t>
            </a:r>
          </a:p>
          <a:p>
            <a:pPr eaLnBrk="1" hangingPunct="1">
              <a:buClr>
                <a:srgbClr val="000066"/>
              </a:buClr>
            </a:pPr>
            <a:endParaRPr lang="en-US" dirty="0"/>
          </a:p>
        </p:txBody>
      </p:sp>
      <p:sp>
        <p:nvSpPr>
          <p:cNvPr id="45060" name="Rectangle 4"/>
          <p:cNvSpPr>
            <a:spLocks noChangeArrowheads="1"/>
          </p:cNvSpPr>
          <p:nvPr/>
        </p:nvSpPr>
        <p:spPr bwMode="auto">
          <a:xfrm>
            <a:off x="9784080" y="6324601"/>
            <a:ext cx="2133600" cy="244475"/>
          </a:xfrm>
          <a:prstGeom prst="rect">
            <a:avLst/>
          </a:prstGeom>
          <a:noFill/>
          <a:ln w="9525">
            <a:noFill/>
            <a:miter lim="800000"/>
            <a:headEnd/>
            <a:tailEnd/>
          </a:ln>
          <a:effectLst/>
        </p:spPr>
        <p:txBody>
          <a:bodyPr/>
          <a:lstStyle/>
          <a:p>
            <a:pPr algn="r"/>
            <a:fld id="{FB3BBA00-CA32-450D-9EE5-F0EE7EA5B2E2}" type="slidenum">
              <a:rPr lang="en-US" sz="1200" smtClean="0"/>
              <a:pPr algn="r"/>
              <a:t>22</a:t>
            </a:fld>
            <a:endParaRPr lang="en-US" sz="1200" dirty="0"/>
          </a:p>
        </p:txBody>
      </p:sp>
      <p:cxnSp>
        <p:nvCxnSpPr>
          <p:cNvPr id="3" name="Straight Arrow Connector 2"/>
          <p:cNvCxnSpPr/>
          <p:nvPr/>
        </p:nvCxnSpPr>
        <p:spPr>
          <a:xfrm>
            <a:off x="11635640" y="2024544"/>
            <a:ext cx="26126" cy="1489166"/>
          </a:xfrm>
          <a:prstGeom prst="straightConnector1">
            <a:avLst/>
          </a:prstGeom>
          <a:ln w="5715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279035"/>
      </p:ext>
    </p:extLst>
  </p:cSld>
  <p:clrMapOvr>
    <a:masterClrMapping/>
  </p:clrMapOvr>
</p:sld>
</file>

<file path=ppt/theme/theme1.xml><?xml version="1.0" encoding="utf-8"?>
<a:theme xmlns:a="http://schemas.openxmlformats.org/drawingml/2006/main" name="Crop">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D7AA1D6E-F3E9-4763-A3BC-84DF2E02F60F}"/>
    </a:ext>
  </a:extLst>
</a:theme>
</file>

<file path=ppt/theme/theme2.xml><?xml version="1.0" encoding="utf-8"?>
<a:theme xmlns:a="http://schemas.openxmlformats.org/drawingml/2006/main" name="1_Crop">
  <a:themeElements>
    <a:clrScheme name="Red">
      <a:dk1>
        <a:sysClr val="windowText" lastClr="000000"/>
      </a:dk1>
      <a:lt1>
        <a:sysClr val="window" lastClr="FFFFFF"/>
      </a:lt1>
      <a:dk2>
        <a:srgbClr val="323232"/>
      </a:dk2>
      <a:lt2>
        <a:srgbClr val="E5C243"/>
      </a:lt2>
      <a:accent1>
        <a:srgbClr val="A5300F"/>
      </a:accent1>
      <a:accent2>
        <a:srgbClr val="D55816"/>
      </a:accent2>
      <a:accent3>
        <a:srgbClr val="E19825"/>
      </a:accent3>
      <a:accent4>
        <a:srgbClr val="B19C7D"/>
      </a:accent4>
      <a:accent5>
        <a:srgbClr val="7F5F52"/>
      </a:accent5>
      <a:accent6>
        <a:srgbClr val="B27D49"/>
      </a:accent6>
      <a:hlink>
        <a:srgbClr val="6B9F25"/>
      </a:hlink>
      <a:folHlink>
        <a:srgbClr val="B26B02"/>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D7AA1D6E-F3E9-4763-A3BC-84DF2E02F60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Crop</Template>
  <TotalTime>1947</TotalTime>
  <Words>1595</Words>
  <Application>Microsoft Macintosh PowerPoint</Application>
  <PresentationFormat>Widescreen</PresentationFormat>
  <Paragraphs>244</Paragraphs>
  <Slides>22</Slides>
  <Notes>1</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32" baseType="lpstr">
      <vt:lpstr>Arial</vt:lpstr>
      <vt:lpstr>Calibri</vt:lpstr>
      <vt:lpstr>Cambria Math</vt:lpstr>
      <vt:lpstr>Franklin Gothic Book</vt:lpstr>
      <vt:lpstr>Symbol</vt:lpstr>
      <vt:lpstr>Tahoma</vt:lpstr>
      <vt:lpstr>Times New Roman</vt:lpstr>
      <vt:lpstr>Crop</vt:lpstr>
      <vt:lpstr>1_Crop</vt:lpstr>
      <vt:lpstr>Ligning</vt:lpstr>
      <vt:lpstr>PowerPoint Presentation</vt:lpstr>
      <vt:lpstr>Incentives</vt:lpstr>
      <vt:lpstr>The Incentive Problem Ian McLeod – employee at AssemCo</vt:lpstr>
      <vt:lpstr>Optimal Effort Choice at AssemCo</vt:lpstr>
      <vt:lpstr>Results</vt:lpstr>
      <vt:lpstr>Incentive Problems</vt:lpstr>
      <vt:lpstr>Incentives from Ownership</vt:lpstr>
      <vt:lpstr>Optimal Risk Sharing </vt:lpstr>
      <vt:lpstr>Table 15.1</vt:lpstr>
      <vt:lpstr>Effective Incentive Contracts</vt:lpstr>
      <vt:lpstr>Agency Relationships/theory</vt:lpstr>
      <vt:lpstr>The Basic Principal-Agent Model!</vt:lpstr>
      <vt:lpstr>Basic Principal - Agent Model Erica Olsson of DNAcorp – ESSENTIELT!</vt:lpstr>
      <vt:lpstr>Employee’s Effort Problem Erica again!</vt:lpstr>
      <vt:lpstr>The Employee’s Effort Choice</vt:lpstr>
      <vt:lpstr>Changes in Compensation</vt:lpstr>
      <vt:lpstr>Choice of effort level Changes with Changes in Incentive Coefficient Compensation – not with change in fixed wage!</vt:lpstr>
      <vt:lpstr>PowerPoint Presentation</vt:lpstr>
      <vt:lpstr>Informativeness Principle</vt:lpstr>
      <vt:lpstr>Group Incentive Pay</vt:lpstr>
      <vt:lpstr>Forms of Incentive Pay</vt:lpstr>
      <vt:lpstr>Does Incentive Pay Work?</vt:lpstr>
    </vt:vector>
  </TitlesOfParts>
  <Company>CBS - Copenhagen Business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Tamas Vamosi</dc:creator>
  <cp:lastModifiedBy>Kai Inga Liehr Storm</cp:lastModifiedBy>
  <cp:revision>66</cp:revision>
  <dcterms:created xsi:type="dcterms:W3CDTF">2020-03-26T08:59:44Z</dcterms:created>
  <dcterms:modified xsi:type="dcterms:W3CDTF">2026-01-30T09:49:29Z</dcterms:modified>
</cp:coreProperties>
</file>