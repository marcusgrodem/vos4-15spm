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7" r:id="rId2"/>
    <p:sldId id="258" r:id="rId3"/>
    <p:sldId id="259" r:id="rId4"/>
    <p:sldId id="260" r:id="rId5"/>
    <p:sldId id="261" r:id="rId6"/>
    <p:sldId id="262" r:id="rId7"/>
    <p:sldId id="383"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00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606512-5FFC-495D-8CF2-F08E52AB4570}" v="13" dt="2025-01-30T07:36:44.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23" autoAdjust="0"/>
    <p:restoredTop sz="94660"/>
  </p:normalViewPr>
  <p:slideViewPr>
    <p:cSldViewPr snapToGrid="0">
      <p:cViewPr varScale="1">
        <p:scale>
          <a:sx n="193" d="100"/>
          <a:sy n="193" d="100"/>
        </p:scale>
        <p:origin x="240"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s Vamosi" userId="d29b3f17-2c73-4e3f-a1f7-7beee2a70eaf" providerId="ADAL" clId="{C6606512-5FFC-495D-8CF2-F08E52AB4570}"/>
    <pc:docChg chg="custSel modSld">
      <pc:chgData name="Tamas Vamosi" userId="d29b3f17-2c73-4e3f-a1f7-7beee2a70eaf" providerId="ADAL" clId="{C6606512-5FFC-495D-8CF2-F08E52AB4570}" dt="2025-01-30T07:37:02.536" v="93" actId="207"/>
      <pc:docMkLst>
        <pc:docMk/>
      </pc:docMkLst>
      <pc:sldChg chg="modSp mod">
        <pc:chgData name="Tamas Vamosi" userId="d29b3f17-2c73-4e3f-a1f7-7beee2a70eaf" providerId="ADAL" clId="{C6606512-5FFC-495D-8CF2-F08E52AB4570}" dt="2025-01-30T07:22:46.778" v="1" actId="207"/>
        <pc:sldMkLst>
          <pc:docMk/>
          <pc:sldMk cId="302891114" sldId="258"/>
        </pc:sldMkLst>
        <pc:spChg chg="mod">
          <ac:chgData name="Tamas Vamosi" userId="d29b3f17-2c73-4e3f-a1f7-7beee2a70eaf" providerId="ADAL" clId="{C6606512-5FFC-495D-8CF2-F08E52AB4570}" dt="2025-01-30T07:22:41.094" v="0" actId="207"/>
          <ac:spMkLst>
            <pc:docMk/>
            <pc:sldMk cId="302891114" sldId="258"/>
            <ac:spMk id="7170" creationId="{00000000-0000-0000-0000-000000000000}"/>
          </ac:spMkLst>
        </pc:spChg>
        <pc:spChg chg="mod">
          <ac:chgData name="Tamas Vamosi" userId="d29b3f17-2c73-4e3f-a1f7-7beee2a70eaf" providerId="ADAL" clId="{C6606512-5FFC-495D-8CF2-F08E52AB4570}" dt="2025-01-30T07:22:46.778" v="1" actId="207"/>
          <ac:spMkLst>
            <pc:docMk/>
            <pc:sldMk cId="302891114" sldId="258"/>
            <ac:spMk id="15363" creationId="{00000000-0000-0000-0000-000000000000}"/>
          </ac:spMkLst>
        </pc:spChg>
      </pc:sldChg>
      <pc:sldChg chg="modSp mod">
        <pc:chgData name="Tamas Vamosi" userId="d29b3f17-2c73-4e3f-a1f7-7beee2a70eaf" providerId="ADAL" clId="{C6606512-5FFC-495D-8CF2-F08E52AB4570}" dt="2025-01-30T07:23:03.668" v="3" actId="207"/>
        <pc:sldMkLst>
          <pc:docMk/>
          <pc:sldMk cId="3423612320" sldId="259"/>
        </pc:sldMkLst>
        <pc:spChg chg="mod">
          <ac:chgData name="Tamas Vamosi" userId="d29b3f17-2c73-4e3f-a1f7-7beee2a70eaf" providerId="ADAL" clId="{C6606512-5FFC-495D-8CF2-F08E52AB4570}" dt="2025-01-30T07:22:56.756" v="2" actId="207"/>
          <ac:spMkLst>
            <pc:docMk/>
            <pc:sldMk cId="3423612320" sldId="259"/>
            <ac:spMk id="8194" creationId="{00000000-0000-0000-0000-000000000000}"/>
          </ac:spMkLst>
        </pc:spChg>
        <pc:spChg chg="mod">
          <ac:chgData name="Tamas Vamosi" userId="d29b3f17-2c73-4e3f-a1f7-7beee2a70eaf" providerId="ADAL" clId="{C6606512-5FFC-495D-8CF2-F08E52AB4570}" dt="2025-01-30T07:23:03.668" v="3" actId="207"/>
          <ac:spMkLst>
            <pc:docMk/>
            <pc:sldMk cId="3423612320" sldId="259"/>
            <ac:spMk id="18435" creationId="{00000000-0000-0000-0000-000000000000}"/>
          </ac:spMkLst>
        </pc:spChg>
      </pc:sldChg>
      <pc:sldChg chg="modSp mod">
        <pc:chgData name="Tamas Vamosi" userId="d29b3f17-2c73-4e3f-a1f7-7beee2a70eaf" providerId="ADAL" clId="{C6606512-5FFC-495D-8CF2-F08E52AB4570}" dt="2025-01-30T07:23:22.221" v="5" actId="207"/>
        <pc:sldMkLst>
          <pc:docMk/>
          <pc:sldMk cId="2224256326" sldId="260"/>
        </pc:sldMkLst>
        <pc:spChg chg="mod">
          <ac:chgData name="Tamas Vamosi" userId="d29b3f17-2c73-4e3f-a1f7-7beee2a70eaf" providerId="ADAL" clId="{C6606512-5FFC-495D-8CF2-F08E52AB4570}" dt="2025-01-30T07:23:12.904" v="4" actId="207"/>
          <ac:spMkLst>
            <pc:docMk/>
            <pc:sldMk cId="2224256326" sldId="260"/>
            <ac:spMk id="9218" creationId="{00000000-0000-0000-0000-000000000000}"/>
          </ac:spMkLst>
        </pc:spChg>
        <pc:spChg chg="mod">
          <ac:chgData name="Tamas Vamosi" userId="d29b3f17-2c73-4e3f-a1f7-7beee2a70eaf" providerId="ADAL" clId="{C6606512-5FFC-495D-8CF2-F08E52AB4570}" dt="2025-01-30T07:23:22.221" v="5" actId="207"/>
          <ac:spMkLst>
            <pc:docMk/>
            <pc:sldMk cId="2224256326" sldId="260"/>
            <ac:spMk id="20483" creationId="{00000000-0000-0000-0000-000000000000}"/>
          </ac:spMkLst>
        </pc:spChg>
      </pc:sldChg>
      <pc:sldChg chg="modSp mod">
        <pc:chgData name="Tamas Vamosi" userId="d29b3f17-2c73-4e3f-a1f7-7beee2a70eaf" providerId="ADAL" clId="{C6606512-5FFC-495D-8CF2-F08E52AB4570}" dt="2025-01-30T07:24:06.469" v="8" actId="207"/>
        <pc:sldMkLst>
          <pc:docMk/>
          <pc:sldMk cId="1238859274" sldId="261"/>
        </pc:sldMkLst>
        <pc:spChg chg="mod">
          <ac:chgData name="Tamas Vamosi" userId="d29b3f17-2c73-4e3f-a1f7-7beee2a70eaf" providerId="ADAL" clId="{C6606512-5FFC-495D-8CF2-F08E52AB4570}" dt="2025-01-30T07:23:33.308" v="6" actId="207"/>
          <ac:spMkLst>
            <pc:docMk/>
            <pc:sldMk cId="1238859274" sldId="261"/>
            <ac:spMk id="10242" creationId="{00000000-0000-0000-0000-000000000000}"/>
          </ac:spMkLst>
        </pc:spChg>
        <pc:spChg chg="mod">
          <ac:chgData name="Tamas Vamosi" userId="d29b3f17-2c73-4e3f-a1f7-7beee2a70eaf" providerId="ADAL" clId="{C6606512-5FFC-495D-8CF2-F08E52AB4570}" dt="2025-01-30T07:24:06.469" v="8" actId="207"/>
          <ac:spMkLst>
            <pc:docMk/>
            <pc:sldMk cId="1238859274" sldId="261"/>
            <ac:spMk id="10243" creationId="{00000000-0000-0000-0000-000000000000}"/>
          </ac:spMkLst>
        </pc:spChg>
      </pc:sldChg>
      <pc:sldChg chg="modSp mod">
        <pc:chgData name="Tamas Vamosi" userId="d29b3f17-2c73-4e3f-a1f7-7beee2a70eaf" providerId="ADAL" clId="{C6606512-5FFC-495D-8CF2-F08E52AB4570}" dt="2025-01-30T07:24:17.844" v="10" actId="207"/>
        <pc:sldMkLst>
          <pc:docMk/>
          <pc:sldMk cId="95794196" sldId="262"/>
        </pc:sldMkLst>
        <pc:spChg chg="mod">
          <ac:chgData name="Tamas Vamosi" userId="d29b3f17-2c73-4e3f-a1f7-7beee2a70eaf" providerId="ADAL" clId="{C6606512-5FFC-495D-8CF2-F08E52AB4570}" dt="2025-01-30T07:24:12.279" v="9" actId="207"/>
          <ac:spMkLst>
            <pc:docMk/>
            <pc:sldMk cId="95794196" sldId="262"/>
            <ac:spMk id="11266" creationId="{00000000-0000-0000-0000-000000000000}"/>
          </ac:spMkLst>
        </pc:spChg>
        <pc:spChg chg="mod">
          <ac:chgData name="Tamas Vamosi" userId="d29b3f17-2c73-4e3f-a1f7-7beee2a70eaf" providerId="ADAL" clId="{C6606512-5FFC-495D-8CF2-F08E52AB4570}" dt="2025-01-30T07:24:17.844" v="10" actId="207"/>
          <ac:spMkLst>
            <pc:docMk/>
            <pc:sldMk cId="95794196" sldId="262"/>
            <ac:spMk id="21507" creationId="{00000000-0000-0000-0000-000000000000}"/>
          </ac:spMkLst>
        </pc:spChg>
      </pc:sldChg>
      <pc:sldChg chg="modSp">
        <pc:chgData name="Tamas Vamosi" userId="d29b3f17-2c73-4e3f-a1f7-7beee2a70eaf" providerId="ADAL" clId="{C6606512-5FFC-495D-8CF2-F08E52AB4570}" dt="2025-01-30T07:26:59.707" v="17" actId="115"/>
        <pc:sldMkLst>
          <pc:docMk/>
          <pc:sldMk cId="3752995258" sldId="263"/>
        </pc:sldMkLst>
        <pc:spChg chg="mod">
          <ac:chgData name="Tamas Vamosi" userId="d29b3f17-2c73-4e3f-a1f7-7beee2a70eaf" providerId="ADAL" clId="{C6606512-5FFC-495D-8CF2-F08E52AB4570}" dt="2025-01-30T07:26:59.707" v="17" actId="115"/>
          <ac:spMkLst>
            <pc:docMk/>
            <pc:sldMk cId="3752995258" sldId="263"/>
            <ac:spMk id="50179" creationId="{00000000-0000-0000-0000-000000000000}"/>
          </ac:spMkLst>
        </pc:spChg>
      </pc:sldChg>
      <pc:sldChg chg="modSp mod">
        <pc:chgData name="Tamas Vamosi" userId="d29b3f17-2c73-4e3f-a1f7-7beee2a70eaf" providerId="ADAL" clId="{C6606512-5FFC-495D-8CF2-F08E52AB4570}" dt="2025-01-30T07:27:20.501" v="19" actId="207"/>
        <pc:sldMkLst>
          <pc:docMk/>
          <pc:sldMk cId="3844028352" sldId="264"/>
        </pc:sldMkLst>
        <pc:spChg chg="mod">
          <ac:chgData name="Tamas Vamosi" userId="d29b3f17-2c73-4e3f-a1f7-7beee2a70eaf" providerId="ADAL" clId="{C6606512-5FFC-495D-8CF2-F08E52AB4570}" dt="2025-01-30T07:27:09.134" v="18" actId="207"/>
          <ac:spMkLst>
            <pc:docMk/>
            <pc:sldMk cId="3844028352" sldId="264"/>
            <ac:spMk id="13314" creationId="{00000000-0000-0000-0000-000000000000}"/>
          </ac:spMkLst>
        </pc:spChg>
        <pc:spChg chg="mod">
          <ac:chgData name="Tamas Vamosi" userId="d29b3f17-2c73-4e3f-a1f7-7beee2a70eaf" providerId="ADAL" clId="{C6606512-5FFC-495D-8CF2-F08E52AB4570}" dt="2025-01-30T07:27:20.501" v="19" actId="207"/>
          <ac:spMkLst>
            <pc:docMk/>
            <pc:sldMk cId="3844028352" sldId="264"/>
            <ac:spMk id="23555" creationId="{00000000-0000-0000-0000-000000000000}"/>
          </ac:spMkLst>
        </pc:spChg>
      </pc:sldChg>
      <pc:sldChg chg="modSp mod">
        <pc:chgData name="Tamas Vamosi" userId="d29b3f17-2c73-4e3f-a1f7-7beee2a70eaf" providerId="ADAL" clId="{C6606512-5FFC-495D-8CF2-F08E52AB4570}" dt="2025-01-30T07:27:45.480" v="22" actId="207"/>
        <pc:sldMkLst>
          <pc:docMk/>
          <pc:sldMk cId="2086064370" sldId="265"/>
        </pc:sldMkLst>
        <pc:spChg chg="mod">
          <ac:chgData name="Tamas Vamosi" userId="d29b3f17-2c73-4e3f-a1f7-7beee2a70eaf" providerId="ADAL" clId="{C6606512-5FFC-495D-8CF2-F08E52AB4570}" dt="2025-01-30T07:27:28.499" v="20" actId="207"/>
          <ac:spMkLst>
            <pc:docMk/>
            <pc:sldMk cId="2086064370" sldId="265"/>
            <ac:spMk id="14338" creationId="{00000000-0000-0000-0000-000000000000}"/>
          </ac:spMkLst>
        </pc:spChg>
        <pc:spChg chg="mod">
          <ac:chgData name="Tamas Vamosi" userId="d29b3f17-2c73-4e3f-a1f7-7beee2a70eaf" providerId="ADAL" clId="{C6606512-5FFC-495D-8CF2-F08E52AB4570}" dt="2025-01-30T07:27:45.480" v="22" actId="207"/>
          <ac:spMkLst>
            <pc:docMk/>
            <pc:sldMk cId="2086064370" sldId="265"/>
            <ac:spMk id="24579" creationId="{00000000-0000-0000-0000-000000000000}"/>
          </ac:spMkLst>
        </pc:spChg>
      </pc:sldChg>
      <pc:sldChg chg="modSp mod">
        <pc:chgData name="Tamas Vamosi" userId="d29b3f17-2c73-4e3f-a1f7-7beee2a70eaf" providerId="ADAL" clId="{C6606512-5FFC-495D-8CF2-F08E52AB4570}" dt="2025-01-30T07:28:28.438" v="24" actId="207"/>
        <pc:sldMkLst>
          <pc:docMk/>
          <pc:sldMk cId="2044825947" sldId="267"/>
        </pc:sldMkLst>
        <pc:spChg chg="mod">
          <ac:chgData name="Tamas Vamosi" userId="d29b3f17-2c73-4e3f-a1f7-7beee2a70eaf" providerId="ADAL" clId="{C6606512-5FFC-495D-8CF2-F08E52AB4570}" dt="2025-01-30T07:28:19.808" v="23" actId="207"/>
          <ac:spMkLst>
            <pc:docMk/>
            <pc:sldMk cId="2044825947" sldId="267"/>
            <ac:spMk id="16386" creationId="{00000000-0000-0000-0000-000000000000}"/>
          </ac:spMkLst>
        </pc:spChg>
        <pc:spChg chg="mod">
          <ac:chgData name="Tamas Vamosi" userId="d29b3f17-2c73-4e3f-a1f7-7beee2a70eaf" providerId="ADAL" clId="{C6606512-5FFC-495D-8CF2-F08E52AB4570}" dt="2025-01-30T07:28:28.438" v="24" actId="207"/>
          <ac:spMkLst>
            <pc:docMk/>
            <pc:sldMk cId="2044825947" sldId="267"/>
            <ac:spMk id="16387" creationId="{00000000-0000-0000-0000-000000000000}"/>
          </ac:spMkLst>
        </pc:spChg>
      </pc:sldChg>
      <pc:sldChg chg="modSp mod">
        <pc:chgData name="Tamas Vamosi" userId="d29b3f17-2c73-4e3f-a1f7-7beee2a70eaf" providerId="ADAL" clId="{C6606512-5FFC-495D-8CF2-F08E52AB4570}" dt="2025-01-30T07:28:51.179" v="25" actId="207"/>
        <pc:sldMkLst>
          <pc:docMk/>
          <pc:sldMk cId="2196476403" sldId="268"/>
        </pc:sldMkLst>
        <pc:spChg chg="mod">
          <ac:chgData name="Tamas Vamosi" userId="d29b3f17-2c73-4e3f-a1f7-7beee2a70eaf" providerId="ADAL" clId="{C6606512-5FFC-495D-8CF2-F08E52AB4570}" dt="2025-01-30T07:28:51.179" v="25" actId="207"/>
          <ac:spMkLst>
            <pc:docMk/>
            <pc:sldMk cId="2196476403" sldId="268"/>
            <ac:spMk id="29706" creationId="{00000000-0000-0000-0000-000000000000}"/>
          </ac:spMkLst>
        </pc:spChg>
      </pc:sldChg>
      <pc:sldChg chg="modSp mod">
        <pc:chgData name="Tamas Vamosi" userId="d29b3f17-2c73-4e3f-a1f7-7beee2a70eaf" providerId="ADAL" clId="{C6606512-5FFC-495D-8CF2-F08E52AB4570}" dt="2025-01-30T07:29:30.364" v="29" actId="20577"/>
        <pc:sldMkLst>
          <pc:docMk/>
          <pc:sldMk cId="313595382" sldId="270"/>
        </pc:sldMkLst>
        <pc:spChg chg="mod">
          <ac:chgData name="Tamas Vamosi" userId="d29b3f17-2c73-4e3f-a1f7-7beee2a70eaf" providerId="ADAL" clId="{C6606512-5FFC-495D-8CF2-F08E52AB4570}" dt="2025-01-30T07:29:30.364" v="29" actId="20577"/>
          <ac:spMkLst>
            <pc:docMk/>
            <pc:sldMk cId="313595382" sldId="270"/>
            <ac:spMk id="3095" creationId="{00000000-0000-0000-0000-000000000000}"/>
          </ac:spMkLst>
        </pc:spChg>
      </pc:sldChg>
      <pc:sldChg chg="modSp mod">
        <pc:chgData name="Tamas Vamosi" userId="d29b3f17-2c73-4e3f-a1f7-7beee2a70eaf" providerId="ADAL" clId="{C6606512-5FFC-495D-8CF2-F08E52AB4570}" dt="2025-01-30T07:29:52.730" v="31" actId="207"/>
        <pc:sldMkLst>
          <pc:docMk/>
          <pc:sldMk cId="3604142969" sldId="271"/>
        </pc:sldMkLst>
        <pc:spChg chg="mod">
          <ac:chgData name="Tamas Vamosi" userId="d29b3f17-2c73-4e3f-a1f7-7beee2a70eaf" providerId="ADAL" clId="{C6606512-5FFC-495D-8CF2-F08E52AB4570}" dt="2025-01-30T07:29:43.360" v="30" actId="207"/>
          <ac:spMkLst>
            <pc:docMk/>
            <pc:sldMk cId="3604142969" sldId="271"/>
            <ac:spMk id="17410" creationId="{00000000-0000-0000-0000-000000000000}"/>
          </ac:spMkLst>
        </pc:spChg>
        <pc:spChg chg="mod">
          <ac:chgData name="Tamas Vamosi" userId="d29b3f17-2c73-4e3f-a1f7-7beee2a70eaf" providerId="ADAL" clId="{C6606512-5FFC-495D-8CF2-F08E52AB4570}" dt="2025-01-30T07:29:52.730" v="31" actId="207"/>
          <ac:spMkLst>
            <pc:docMk/>
            <pc:sldMk cId="3604142969" sldId="271"/>
            <ac:spMk id="33795" creationId="{00000000-0000-0000-0000-000000000000}"/>
          </ac:spMkLst>
        </pc:spChg>
      </pc:sldChg>
      <pc:sldChg chg="modSp mod">
        <pc:chgData name="Tamas Vamosi" userId="d29b3f17-2c73-4e3f-a1f7-7beee2a70eaf" providerId="ADAL" clId="{C6606512-5FFC-495D-8CF2-F08E52AB4570}" dt="2025-01-30T07:30:21.358" v="32" actId="207"/>
        <pc:sldMkLst>
          <pc:docMk/>
          <pc:sldMk cId="556707060" sldId="272"/>
        </pc:sldMkLst>
        <pc:spChg chg="mod">
          <ac:chgData name="Tamas Vamosi" userId="d29b3f17-2c73-4e3f-a1f7-7beee2a70eaf" providerId="ADAL" clId="{C6606512-5FFC-495D-8CF2-F08E52AB4570}" dt="2025-01-30T07:30:21.358" v="32" actId="207"/>
          <ac:spMkLst>
            <pc:docMk/>
            <pc:sldMk cId="556707060" sldId="272"/>
            <ac:spMk id="18456" creationId="{00000000-0000-0000-0000-000000000000}"/>
          </ac:spMkLst>
        </pc:spChg>
      </pc:sldChg>
      <pc:sldChg chg="modSp mod">
        <pc:chgData name="Tamas Vamosi" userId="d29b3f17-2c73-4e3f-a1f7-7beee2a70eaf" providerId="ADAL" clId="{C6606512-5FFC-495D-8CF2-F08E52AB4570}" dt="2025-01-30T07:30:55.123" v="34" actId="207"/>
        <pc:sldMkLst>
          <pc:docMk/>
          <pc:sldMk cId="3156917649" sldId="273"/>
        </pc:sldMkLst>
        <pc:spChg chg="mod">
          <ac:chgData name="Tamas Vamosi" userId="d29b3f17-2c73-4e3f-a1f7-7beee2a70eaf" providerId="ADAL" clId="{C6606512-5FFC-495D-8CF2-F08E52AB4570}" dt="2025-01-30T07:30:31.779" v="33" actId="207"/>
          <ac:spMkLst>
            <pc:docMk/>
            <pc:sldMk cId="3156917649" sldId="273"/>
            <ac:spMk id="19458" creationId="{00000000-0000-0000-0000-000000000000}"/>
          </ac:spMkLst>
        </pc:spChg>
        <pc:spChg chg="mod">
          <ac:chgData name="Tamas Vamosi" userId="d29b3f17-2c73-4e3f-a1f7-7beee2a70eaf" providerId="ADAL" clId="{C6606512-5FFC-495D-8CF2-F08E52AB4570}" dt="2025-01-30T07:30:55.123" v="34" actId="207"/>
          <ac:spMkLst>
            <pc:docMk/>
            <pc:sldMk cId="3156917649" sldId="273"/>
            <ac:spMk id="54275" creationId="{00000000-0000-0000-0000-000000000000}"/>
          </ac:spMkLst>
        </pc:spChg>
      </pc:sldChg>
      <pc:sldChg chg="modSp mod">
        <pc:chgData name="Tamas Vamosi" userId="d29b3f17-2c73-4e3f-a1f7-7beee2a70eaf" providerId="ADAL" clId="{C6606512-5FFC-495D-8CF2-F08E52AB4570}" dt="2025-01-30T07:31:11.291" v="36" actId="207"/>
        <pc:sldMkLst>
          <pc:docMk/>
          <pc:sldMk cId="3212344670" sldId="274"/>
        </pc:sldMkLst>
        <pc:spChg chg="mod">
          <ac:chgData name="Tamas Vamosi" userId="d29b3f17-2c73-4e3f-a1f7-7beee2a70eaf" providerId="ADAL" clId="{C6606512-5FFC-495D-8CF2-F08E52AB4570}" dt="2025-01-30T07:31:01.234" v="35" actId="207"/>
          <ac:spMkLst>
            <pc:docMk/>
            <pc:sldMk cId="3212344670" sldId="274"/>
            <ac:spMk id="20482" creationId="{00000000-0000-0000-0000-000000000000}"/>
          </ac:spMkLst>
        </pc:spChg>
        <pc:spChg chg="mod">
          <ac:chgData name="Tamas Vamosi" userId="d29b3f17-2c73-4e3f-a1f7-7beee2a70eaf" providerId="ADAL" clId="{C6606512-5FFC-495D-8CF2-F08E52AB4570}" dt="2025-01-30T07:31:11.291" v="36" actId="207"/>
          <ac:spMkLst>
            <pc:docMk/>
            <pc:sldMk cId="3212344670" sldId="274"/>
            <ac:spMk id="20483" creationId="{00000000-0000-0000-0000-000000000000}"/>
          </ac:spMkLst>
        </pc:spChg>
      </pc:sldChg>
      <pc:sldChg chg="modSp mod">
        <pc:chgData name="Tamas Vamosi" userId="d29b3f17-2c73-4e3f-a1f7-7beee2a70eaf" providerId="ADAL" clId="{C6606512-5FFC-495D-8CF2-F08E52AB4570}" dt="2025-01-30T07:31:41.950" v="39" actId="207"/>
        <pc:sldMkLst>
          <pc:docMk/>
          <pc:sldMk cId="1837071167" sldId="275"/>
        </pc:sldMkLst>
        <pc:spChg chg="mod">
          <ac:chgData name="Tamas Vamosi" userId="d29b3f17-2c73-4e3f-a1f7-7beee2a70eaf" providerId="ADAL" clId="{C6606512-5FFC-495D-8CF2-F08E52AB4570}" dt="2025-01-30T07:31:23.621" v="37" actId="207"/>
          <ac:spMkLst>
            <pc:docMk/>
            <pc:sldMk cId="1837071167" sldId="275"/>
            <ac:spMk id="21506" creationId="{00000000-0000-0000-0000-000000000000}"/>
          </ac:spMkLst>
        </pc:spChg>
        <pc:spChg chg="mod">
          <ac:chgData name="Tamas Vamosi" userId="d29b3f17-2c73-4e3f-a1f7-7beee2a70eaf" providerId="ADAL" clId="{C6606512-5FFC-495D-8CF2-F08E52AB4570}" dt="2025-01-30T07:31:41.950" v="39" actId="207"/>
          <ac:spMkLst>
            <pc:docMk/>
            <pc:sldMk cId="1837071167" sldId="275"/>
            <ac:spMk id="21507" creationId="{00000000-0000-0000-0000-000000000000}"/>
          </ac:spMkLst>
        </pc:spChg>
      </pc:sldChg>
      <pc:sldChg chg="addSp modSp mod">
        <pc:chgData name="Tamas Vamosi" userId="d29b3f17-2c73-4e3f-a1f7-7beee2a70eaf" providerId="ADAL" clId="{C6606512-5FFC-495D-8CF2-F08E52AB4570}" dt="2025-01-30T07:32:47.927" v="43" actId="207"/>
        <pc:sldMkLst>
          <pc:docMk/>
          <pc:sldMk cId="131928747" sldId="276"/>
        </pc:sldMkLst>
        <pc:spChg chg="add mod">
          <ac:chgData name="Tamas Vamosi" userId="d29b3f17-2c73-4e3f-a1f7-7beee2a70eaf" providerId="ADAL" clId="{C6606512-5FFC-495D-8CF2-F08E52AB4570}" dt="2025-01-30T07:32:47.927" v="43" actId="207"/>
          <ac:spMkLst>
            <pc:docMk/>
            <pc:sldMk cId="131928747" sldId="276"/>
            <ac:spMk id="2" creationId="{E0B5E096-BC09-8A69-4FFE-022B6DBAA042}"/>
          </ac:spMkLst>
        </pc:spChg>
        <pc:spChg chg="mod">
          <ac:chgData name="Tamas Vamosi" userId="d29b3f17-2c73-4e3f-a1f7-7beee2a70eaf" providerId="ADAL" clId="{C6606512-5FFC-495D-8CF2-F08E52AB4570}" dt="2025-01-30T07:32:00.421" v="40" actId="207"/>
          <ac:spMkLst>
            <pc:docMk/>
            <pc:sldMk cId="131928747" sldId="276"/>
            <ac:spMk id="22530" creationId="{00000000-0000-0000-0000-000000000000}"/>
          </ac:spMkLst>
        </pc:spChg>
        <pc:spChg chg="mod">
          <ac:chgData name="Tamas Vamosi" userId="d29b3f17-2c73-4e3f-a1f7-7beee2a70eaf" providerId="ADAL" clId="{C6606512-5FFC-495D-8CF2-F08E52AB4570}" dt="2025-01-30T07:32:08.181" v="41" actId="207"/>
          <ac:spMkLst>
            <pc:docMk/>
            <pc:sldMk cId="131928747" sldId="276"/>
            <ac:spMk id="22531" creationId="{00000000-0000-0000-0000-000000000000}"/>
          </ac:spMkLst>
        </pc:spChg>
      </pc:sldChg>
      <pc:sldChg chg="modSp mod">
        <pc:chgData name="Tamas Vamosi" userId="d29b3f17-2c73-4e3f-a1f7-7beee2a70eaf" providerId="ADAL" clId="{C6606512-5FFC-495D-8CF2-F08E52AB4570}" dt="2025-01-30T07:33:46.527" v="54" actId="692"/>
        <pc:sldMkLst>
          <pc:docMk/>
          <pc:sldMk cId="1614622294" sldId="277"/>
        </pc:sldMkLst>
        <pc:spChg chg="mod">
          <ac:chgData name="Tamas Vamosi" userId="d29b3f17-2c73-4e3f-a1f7-7beee2a70eaf" providerId="ADAL" clId="{C6606512-5FFC-495D-8CF2-F08E52AB4570}" dt="2025-01-30T07:33:46.527" v="54" actId="692"/>
          <ac:spMkLst>
            <pc:docMk/>
            <pc:sldMk cId="1614622294" sldId="277"/>
            <ac:spMk id="7" creationId="{00000000-0000-0000-0000-000000000000}"/>
          </ac:spMkLst>
        </pc:spChg>
        <pc:spChg chg="mod">
          <ac:chgData name="Tamas Vamosi" userId="d29b3f17-2c73-4e3f-a1f7-7beee2a70eaf" providerId="ADAL" clId="{C6606512-5FFC-495D-8CF2-F08E52AB4570}" dt="2025-01-30T07:33:05.222" v="44" actId="207"/>
          <ac:spMkLst>
            <pc:docMk/>
            <pc:sldMk cId="1614622294" sldId="277"/>
            <ac:spMk id="4100" creationId="{00000000-0000-0000-0000-000000000000}"/>
          </ac:spMkLst>
        </pc:spChg>
        <pc:spChg chg="mod">
          <ac:chgData name="Tamas Vamosi" userId="d29b3f17-2c73-4e3f-a1f7-7beee2a70eaf" providerId="ADAL" clId="{C6606512-5FFC-495D-8CF2-F08E52AB4570}" dt="2025-01-30T07:33:22.470" v="47" actId="207"/>
          <ac:spMkLst>
            <pc:docMk/>
            <pc:sldMk cId="1614622294" sldId="277"/>
            <ac:spMk id="4101" creationId="{00000000-0000-0000-0000-000000000000}"/>
          </ac:spMkLst>
        </pc:spChg>
      </pc:sldChg>
      <pc:sldChg chg="modSp mod">
        <pc:chgData name="Tamas Vamosi" userId="d29b3f17-2c73-4e3f-a1f7-7beee2a70eaf" providerId="ADAL" clId="{C6606512-5FFC-495D-8CF2-F08E52AB4570}" dt="2025-01-30T07:34:37.416" v="60" actId="207"/>
        <pc:sldMkLst>
          <pc:docMk/>
          <pc:sldMk cId="2415509403" sldId="278"/>
        </pc:sldMkLst>
        <pc:spChg chg="mod">
          <ac:chgData name="Tamas Vamosi" userId="d29b3f17-2c73-4e3f-a1f7-7beee2a70eaf" providerId="ADAL" clId="{C6606512-5FFC-495D-8CF2-F08E52AB4570}" dt="2025-01-30T07:33:58.449" v="55" actId="207"/>
          <ac:spMkLst>
            <pc:docMk/>
            <pc:sldMk cId="2415509403" sldId="278"/>
            <ac:spMk id="23554" creationId="{00000000-0000-0000-0000-000000000000}"/>
          </ac:spMkLst>
        </pc:spChg>
        <pc:spChg chg="mod">
          <ac:chgData name="Tamas Vamosi" userId="d29b3f17-2c73-4e3f-a1f7-7beee2a70eaf" providerId="ADAL" clId="{C6606512-5FFC-495D-8CF2-F08E52AB4570}" dt="2025-01-30T07:34:37.416" v="60" actId="207"/>
          <ac:spMkLst>
            <pc:docMk/>
            <pc:sldMk cId="2415509403" sldId="278"/>
            <ac:spMk id="23555" creationId="{00000000-0000-0000-0000-000000000000}"/>
          </ac:spMkLst>
        </pc:spChg>
        <pc:spChg chg="mod">
          <ac:chgData name="Tamas Vamosi" userId="d29b3f17-2c73-4e3f-a1f7-7beee2a70eaf" providerId="ADAL" clId="{C6606512-5FFC-495D-8CF2-F08E52AB4570}" dt="2025-01-30T07:34:25.953" v="59" actId="207"/>
          <ac:spMkLst>
            <pc:docMk/>
            <pc:sldMk cId="2415509403" sldId="278"/>
            <ac:spMk id="23579" creationId="{00000000-0000-0000-0000-000000000000}"/>
          </ac:spMkLst>
        </pc:spChg>
        <pc:spChg chg="mod">
          <ac:chgData name="Tamas Vamosi" userId="d29b3f17-2c73-4e3f-a1f7-7beee2a70eaf" providerId="ADAL" clId="{C6606512-5FFC-495D-8CF2-F08E52AB4570}" dt="2025-01-30T07:34:21.944" v="58" actId="692"/>
          <ac:spMkLst>
            <pc:docMk/>
            <pc:sldMk cId="2415509403" sldId="278"/>
            <ac:spMk id="23580" creationId="{00000000-0000-0000-0000-000000000000}"/>
          </ac:spMkLst>
        </pc:spChg>
        <pc:spChg chg="mod">
          <ac:chgData name="Tamas Vamosi" userId="d29b3f17-2c73-4e3f-a1f7-7beee2a70eaf" providerId="ADAL" clId="{C6606512-5FFC-495D-8CF2-F08E52AB4570}" dt="2025-01-30T07:34:14.793" v="57" actId="692"/>
          <ac:spMkLst>
            <pc:docMk/>
            <pc:sldMk cId="2415509403" sldId="278"/>
            <ac:spMk id="23581" creationId="{00000000-0000-0000-0000-000000000000}"/>
          </ac:spMkLst>
        </pc:spChg>
        <pc:cxnChg chg="mod">
          <ac:chgData name="Tamas Vamosi" userId="d29b3f17-2c73-4e3f-a1f7-7beee2a70eaf" providerId="ADAL" clId="{C6606512-5FFC-495D-8CF2-F08E52AB4570}" dt="2025-01-30T07:34:06.142" v="56" actId="692"/>
          <ac:cxnSpMkLst>
            <pc:docMk/>
            <pc:sldMk cId="2415509403" sldId="278"/>
            <ac:cxnSpMk id="33" creationId="{00000000-0000-0000-0000-000000000000}"/>
          </ac:cxnSpMkLst>
        </pc:cxnChg>
      </pc:sldChg>
      <pc:sldChg chg="modSp mod">
        <pc:chgData name="Tamas Vamosi" userId="d29b3f17-2c73-4e3f-a1f7-7beee2a70eaf" providerId="ADAL" clId="{C6606512-5FFC-495D-8CF2-F08E52AB4570}" dt="2025-01-30T07:34:47.281" v="61" actId="207"/>
        <pc:sldMkLst>
          <pc:docMk/>
          <pc:sldMk cId="1478538125" sldId="279"/>
        </pc:sldMkLst>
        <pc:spChg chg="mod">
          <ac:chgData name="Tamas Vamosi" userId="d29b3f17-2c73-4e3f-a1f7-7beee2a70eaf" providerId="ADAL" clId="{C6606512-5FFC-495D-8CF2-F08E52AB4570}" dt="2025-01-30T07:34:47.281" v="61" actId="207"/>
          <ac:spMkLst>
            <pc:docMk/>
            <pc:sldMk cId="1478538125" sldId="279"/>
            <ac:spMk id="24578" creationId="{00000000-0000-0000-0000-000000000000}"/>
          </ac:spMkLst>
        </pc:spChg>
      </pc:sldChg>
      <pc:sldChg chg="modSp mod">
        <pc:chgData name="Tamas Vamosi" userId="d29b3f17-2c73-4e3f-a1f7-7beee2a70eaf" providerId="ADAL" clId="{C6606512-5FFC-495D-8CF2-F08E52AB4570}" dt="2025-01-30T07:36:17.210" v="89" actId="207"/>
        <pc:sldMkLst>
          <pc:docMk/>
          <pc:sldMk cId="1065247281" sldId="280"/>
        </pc:sldMkLst>
        <pc:spChg chg="mod">
          <ac:chgData name="Tamas Vamosi" userId="d29b3f17-2c73-4e3f-a1f7-7beee2a70eaf" providerId="ADAL" clId="{C6606512-5FFC-495D-8CF2-F08E52AB4570}" dt="2025-01-30T07:36:17.210" v="89" actId="207"/>
          <ac:spMkLst>
            <pc:docMk/>
            <pc:sldMk cId="1065247281" sldId="280"/>
            <ac:spMk id="26627" creationId="{00000000-0000-0000-0000-000000000000}"/>
          </ac:spMkLst>
        </pc:spChg>
        <pc:spChg chg="mod">
          <ac:chgData name="Tamas Vamosi" userId="d29b3f17-2c73-4e3f-a1f7-7beee2a70eaf" providerId="ADAL" clId="{C6606512-5FFC-495D-8CF2-F08E52AB4570}" dt="2025-01-30T07:36:04.454" v="87" actId="207"/>
          <ac:spMkLst>
            <pc:docMk/>
            <pc:sldMk cId="1065247281" sldId="280"/>
            <ac:spMk id="26628" creationId="{00000000-0000-0000-0000-000000000000}"/>
          </ac:spMkLst>
        </pc:spChg>
        <pc:spChg chg="mod">
          <ac:chgData name="Tamas Vamosi" userId="d29b3f17-2c73-4e3f-a1f7-7beee2a70eaf" providerId="ADAL" clId="{C6606512-5FFC-495D-8CF2-F08E52AB4570}" dt="2025-01-30T07:36:08.210" v="88" actId="207"/>
          <ac:spMkLst>
            <pc:docMk/>
            <pc:sldMk cId="1065247281" sldId="280"/>
            <ac:spMk id="26629" creationId="{00000000-0000-0000-0000-000000000000}"/>
          </ac:spMkLst>
        </pc:spChg>
      </pc:sldChg>
      <pc:sldChg chg="modSp mod">
        <pc:chgData name="Tamas Vamosi" userId="d29b3f17-2c73-4e3f-a1f7-7beee2a70eaf" providerId="ADAL" clId="{C6606512-5FFC-495D-8CF2-F08E52AB4570}" dt="2025-01-30T07:36:44.816" v="91" actId="207"/>
        <pc:sldMkLst>
          <pc:docMk/>
          <pc:sldMk cId="610946933" sldId="281"/>
        </pc:sldMkLst>
        <pc:spChg chg="mod">
          <ac:chgData name="Tamas Vamosi" userId="d29b3f17-2c73-4e3f-a1f7-7beee2a70eaf" providerId="ADAL" clId="{C6606512-5FFC-495D-8CF2-F08E52AB4570}" dt="2025-01-30T07:36:29.203" v="90" actId="207"/>
          <ac:spMkLst>
            <pc:docMk/>
            <pc:sldMk cId="610946933" sldId="281"/>
            <ac:spMk id="27650" creationId="{00000000-0000-0000-0000-000000000000}"/>
          </ac:spMkLst>
        </pc:spChg>
        <pc:spChg chg="mod">
          <ac:chgData name="Tamas Vamosi" userId="d29b3f17-2c73-4e3f-a1f7-7beee2a70eaf" providerId="ADAL" clId="{C6606512-5FFC-495D-8CF2-F08E52AB4570}" dt="2025-01-30T07:36:44.816" v="91" actId="207"/>
          <ac:spMkLst>
            <pc:docMk/>
            <pc:sldMk cId="610946933" sldId="281"/>
            <ac:spMk id="45059" creationId="{00000000-0000-0000-0000-000000000000}"/>
          </ac:spMkLst>
        </pc:spChg>
      </pc:sldChg>
      <pc:sldChg chg="modSp mod">
        <pc:chgData name="Tamas Vamosi" userId="d29b3f17-2c73-4e3f-a1f7-7beee2a70eaf" providerId="ADAL" clId="{C6606512-5FFC-495D-8CF2-F08E52AB4570}" dt="2025-01-30T07:37:02.536" v="93" actId="207"/>
        <pc:sldMkLst>
          <pc:docMk/>
          <pc:sldMk cId="3481855313" sldId="282"/>
        </pc:sldMkLst>
        <pc:spChg chg="mod">
          <ac:chgData name="Tamas Vamosi" userId="d29b3f17-2c73-4e3f-a1f7-7beee2a70eaf" providerId="ADAL" clId="{C6606512-5FFC-495D-8CF2-F08E52AB4570}" dt="2025-01-30T07:36:51.045" v="92" actId="207"/>
          <ac:spMkLst>
            <pc:docMk/>
            <pc:sldMk cId="3481855313" sldId="282"/>
            <ac:spMk id="28674" creationId="{00000000-0000-0000-0000-000000000000}"/>
          </ac:spMkLst>
        </pc:spChg>
        <pc:spChg chg="mod">
          <ac:chgData name="Tamas Vamosi" userId="d29b3f17-2c73-4e3f-a1f7-7beee2a70eaf" providerId="ADAL" clId="{C6606512-5FFC-495D-8CF2-F08E52AB4570}" dt="2025-01-30T07:37:02.536" v="93" actId="207"/>
          <ac:spMkLst>
            <pc:docMk/>
            <pc:sldMk cId="3481855313" sldId="282"/>
            <ac:spMk id="28675" creationId="{00000000-0000-0000-0000-000000000000}"/>
          </ac:spMkLst>
        </pc:spChg>
      </pc:sldChg>
      <pc:sldChg chg="delSp modSp mod">
        <pc:chgData name="Tamas Vamosi" userId="d29b3f17-2c73-4e3f-a1f7-7beee2a70eaf" providerId="ADAL" clId="{C6606512-5FFC-495D-8CF2-F08E52AB4570}" dt="2025-01-30T07:26:32.979" v="15" actId="207"/>
        <pc:sldMkLst>
          <pc:docMk/>
          <pc:sldMk cId="2852339526" sldId="383"/>
        </pc:sldMkLst>
        <pc:spChg chg="del">
          <ac:chgData name="Tamas Vamosi" userId="d29b3f17-2c73-4e3f-a1f7-7beee2a70eaf" providerId="ADAL" clId="{C6606512-5FFC-495D-8CF2-F08E52AB4570}" dt="2025-01-30T07:25:37.308" v="13" actId="478"/>
          <ac:spMkLst>
            <pc:docMk/>
            <pc:sldMk cId="2852339526" sldId="383"/>
            <ac:spMk id="3" creationId="{16EED77F-480F-4CF8-B96E-6CAC7C74E0EA}"/>
          </ac:spMkLst>
        </pc:spChg>
        <pc:spChg chg="mod">
          <ac:chgData name="Tamas Vamosi" userId="d29b3f17-2c73-4e3f-a1f7-7beee2a70eaf" providerId="ADAL" clId="{C6606512-5FFC-495D-8CF2-F08E52AB4570}" dt="2025-01-30T07:26:32.979" v="15" actId="207"/>
          <ac:spMkLst>
            <pc:docMk/>
            <pc:sldMk cId="2852339526" sldId="383"/>
            <ac:spMk id="5" creationId="{38DC5508-F64E-8FC5-DB2A-94353739C932}"/>
          </ac:spMkLst>
        </pc:spChg>
        <pc:spChg chg="mod">
          <ac:chgData name="Tamas Vamosi" userId="d29b3f17-2c73-4e3f-a1f7-7beee2a70eaf" providerId="ADAL" clId="{C6606512-5FFC-495D-8CF2-F08E52AB4570}" dt="2025-01-30T07:26:11.692" v="14" actId="207"/>
          <ac:spMkLst>
            <pc:docMk/>
            <pc:sldMk cId="2852339526" sldId="383"/>
            <ac:spMk id="6" creationId="{258EDB34-674F-4CAD-B23E-284E70F0E3FC}"/>
          </ac:spMkLst>
        </pc:spChg>
        <pc:spChg chg="mod">
          <ac:chgData name="Tamas Vamosi" userId="d29b3f17-2c73-4e3f-a1f7-7beee2a70eaf" providerId="ADAL" clId="{C6606512-5FFC-495D-8CF2-F08E52AB4570}" dt="2025-01-30T07:24:58.236" v="11" actId="207"/>
          <ac:spMkLst>
            <pc:docMk/>
            <pc:sldMk cId="2852339526" sldId="383"/>
            <ac:spMk id="7" creationId="{9ABEB0F0-99AF-4A2E-8BDC-D2B63137BFB7}"/>
          </ac:spMkLst>
        </pc:spChg>
        <pc:spChg chg="del">
          <ac:chgData name="Tamas Vamosi" userId="d29b3f17-2c73-4e3f-a1f7-7beee2a70eaf" providerId="ADAL" clId="{C6606512-5FFC-495D-8CF2-F08E52AB4570}" dt="2025-01-30T07:25:32.768" v="12" actId="478"/>
          <ac:spMkLst>
            <pc:docMk/>
            <pc:sldMk cId="2852339526" sldId="383"/>
            <ac:spMk id="10" creationId="{DF1C2194-1396-F1EA-1E4C-C7EE3B4856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E00E6F-877A-46E2-962C-724CB2B659E0}" type="datetimeFigureOut">
              <a:rPr lang="da-DK" smtClean="0"/>
              <a:t>26.01.2026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81EE9-BDEE-4D72-80D2-8F8003083770}" type="slidenum">
              <a:rPr lang="da-DK" smtClean="0"/>
              <a:t>‹#›</a:t>
            </a:fld>
            <a:endParaRPr lang="da-DK"/>
          </a:p>
        </p:txBody>
      </p:sp>
    </p:spTree>
    <p:extLst>
      <p:ext uri="{BB962C8B-B14F-4D97-AF65-F5344CB8AC3E}">
        <p14:creationId xmlns:p14="http://schemas.microsoft.com/office/powerpoint/2010/main" val="2424532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a:t>Kapitel 2</a:t>
            </a:r>
          </a:p>
          <a:p>
            <a:endParaRPr lang="en-US" dirty="0"/>
          </a:p>
        </p:txBody>
      </p:sp>
      <p:sp>
        <p:nvSpPr>
          <p:cNvPr id="4" name="Slide Number Placeholder 3"/>
          <p:cNvSpPr>
            <a:spLocks noGrp="1"/>
          </p:cNvSpPr>
          <p:nvPr>
            <p:ph type="sldNum" sz="quarter" idx="5"/>
          </p:nvPr>
        </p:nvSpPr>
        <p:spPr/>
        <p:txBody>
          <a:bodyPr/>
          <a:lstStyle/>
          <a:p>
            <a:fld id="{86A2E134-9825-475F-945C-DBB00711B650}" type="slidenum">
              <a:rPr lang="da-DK" smtClean="0"/>
              <a:pPr/>
              <a:t>7</a:t>
            </a:fld>
            <a:endParaRPr lang="da-DK"/>
          </a:p>
        </p:txBody>
      </p:sp>
    </p:spTree>
    <p:extLst>
      <p:ext uri="{BB962C8B-B14F-4D97-AF65-F5344CB8AC3E}">
        <p14:creationId xmlns:p14="http://schemas.microsoft.com/office/powerpoint/2010/main" val="199913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da-DK"/>
              <a:t>Klik for at redigere i master</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1/26/26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i master</a:t>
            </a:r>
            <a:endParaRPr lang="en-US" dirty="0"/>
          </a:p>
        </p:txBody>
      </p:sp>
      <p:sp>
        <p:nvSpPr>
          <p:cNvPr id="3" name="Content Placeholder 2"/>
          <p:cNvSpPr>
            <a:spLocks noGrp="1"/>
          </p:cNvSpPr>
          <p:nvPr>
            <p:ph idx="1"/>
          </p:nvPr>
        </p:nvSpPr>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fsnitsoverskrif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da-DK"/>
              <a:t>Klik for at redigere i master</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a:t>Rediger typografien i masterens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1/26/26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da-DK"/>
              <a:t>Klik for at redigere i master</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da-DK"/>
              <a:t>Klik for at redigere i master</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Rediger typografien i masterens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Rediger typografien i masterens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1/26/26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i master</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1/26/26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1/26/26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dhold med billedtekst">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da-DK"/>
              <a:t>Klik for at redigere i master</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Rediger typografien i masterens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1/26/26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lede med billedtekst">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da-DK"/>
              <a:t>Klik for at redigere i master</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a:t>Klik på ikonet for at tilføje et billede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Rediger typografien i masterens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1/26/26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i master</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da-DK"/>
              <a:t>Klik for at redigere i master</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r>
              <a:rPr lang="en-US"/>
              <a:t>                        1-&lt;#&gt;</a:t>
            </a:r>
          </a:p>
        </p:txBody>
      </p:sp>
    </p:spTree>
    <p:extLst>
      <p:ext uri="{BB962C8B-B14F-4D97-AF65-F5344CB8AC3E}">
        <p14:creationId xmlns:p14="http://schemas.microsoft.com/office/powerpoint/2010/main" val="1777425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10972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3938589"/>
            <a:ext cx="10972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r>
              <a:rPr lang="en-US"/>
              <a:t>                        1-&lt;#&gt;</a:t>
            </a:r>
          </a:p>
        </p:txBody>
      </p:sp>
    </p:spTree>
    <p:extLst>
      <p:ext uri="{BB962C8B-B14F-4D97-AF65-F5344CB8AC3E}">
        <p14:creationId xmlns:p14="http://schemas.microsoft.com/office/powerpoint/2010/main" val="4160638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da-DK"/>
              <a:t>Klik for at redigere i master</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1/26/26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9.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oleObject" Target="../embeddings/oleObject6.bin"/><Relationship Id="rId5" Type="http://schemas.openxmlformats.org/officeDocument/2006/relationships/image" Target="../media/image12.wmf"/><Relationship Id="rId4" Type="http://schemas.openxmlformats.org/officeDocument/2006/relationships/oleObject" Target="../embeddings/oleObject5.bin"/><Relationship Id="rId9" Type="http://schemas.openxmlformats.org/officeDocument/2006/relationships/image" Target="../media/image14.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2286000" y="1447800"/>
            <a:ext cx="7772400" cy="2819400"/>
          </a:xfrm>
          <a:prstGeom prst="rect">
            <a:avLst/>
          </a:prstGeom>
          <a:noFill/>
          <a:ln w="9525">
            <a:noFill/>
            <a:miter lim="800000"/>
            <a:headEnd/>
            <a:tailEnd/>
          </a:ln>
        </p:spPr>
        <p:txBody>
          <a:bodyPr anchor="ctr"/>
          <a:lstStyle/>
          <a:p>
            <a:pPr algn="ctr" eaLnBrk="0" hangingPunct="0"/>
            <a:r>
              <a:rPr lang="en-US" sz="3200" i="1" dirty="0">
                <a:solidFill>
                  <a:srgbClr val="C00000"/>
                </a:solidFill>
              </a:rPr>
              <a:t>Managerial Economics and </a:t>
            </a:r>
          </a:p>
          <a:p>
            <a:pPr algn="ctr" eaLnBrk="0" hangingPunct="0"/>
            <a:r>
              <a:rPr lang="en-US" sz="3200" i="1" dirty="0">
                <a:solidFill>
                  <a:srgbClr val="C00000"/>
                </a:solidFill>
              </a:rPr>
              <a:t>Organizational Architecture</a:t>
            </a:r>
            <a:r>
              <a:rPr lang="en-US" sz="3200" dirty="0">
                <a:solidFill>
                  <a:srgbClr val="C00000"/>
                </a:solidFill>
              </a:rPr>
              <a:t>, 7E</a:t>
            </a:r>
            <a:br>
              <a:rPr lang="en-US" sz="3200" dirty="0">
                <a:solidFill>
                  <a:srgbClr val="C00000"/>
                </a:solidFill>
              </a:rPr>
            </a:br>
            <a:br>
              <a:rPr lang="en-US" sz="4400" dirty="0">
                <a:solidFill>
                  <a:srgbClr val="000066"/>
                </a:solidFill>
              </a:rPr>
            </a:br>
            <a:r>
              <a:rPr lang="en-US" sz="4800" dirty="0"/>
              <a:t>Chapter 2:  Economists’ View of Behavior</a:t>
            </a:r>
          </a:p>
        </p:txBody>
      </p:sp>
    </p:spTree>
    <p:extLst>
      <p:ext uri="{BB962C8B-B14F-4D97-AF65-F5344CB8AC3E}">
        <p14:creationId xmlns:p14="http://schemas.microsoft.com/office/powerpoint/2010/main" val="869768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93887" y="731521"/>
            <a:ext cx="8229600" cy="540657"/>
          </a:xfrm>
        </p:spPr>
        <p:txBody>
          <a:bodyPr>
            <a:normAutofit fontScale="90000"/>
          </a:bodyPr>
          <a:lstStyle/>
          <a:p>
            <a:pPr eaLnBrk="1" hangingPunct="1"/>
            <a:r>
              <a:rPr lang="en-US" dirty="0">
                <a:solidFill>
                  <a:srgbClr val="960000"/>
                </a:solidFill>
              </a:rPr>
              <a:t>Economic Behavior</a:t>
            </a:r>
          </a:p>
        </p:txBody>
      </p:sp>
      <p:sp>
        <p:nvSpPr>
          <p:cNvPr id="15363" name="Rectangle 3"/>
          <p:cNvSpPr>
            <a:spLocks noGrp="1" noChangeArrowheads="1"/>
          </p:cNvSpPr>
          <p:nvPr>
            <p:ph idx="1"/>
          </p:nvPr>
        </p:nvSpPr>
        <p:spPr>
          <a:xfrm>
            <a:off x="1981200" y="2362200"/>
            <a:ext cx="4608195" cy="3276600"/>
          </a:xfrm>
        </p:spPr>
        <p:txBody>
          <a:bodyPr>
            <a:normAutofit fontScale="92500" lnSpcReduction="10000"/>
          </a:bodyPr>
          <a:lstStyle/>
          <a:p>
            <a:pPr eaLnBrk="1" hangingPunct="1"/>
            <a:r>
              <a:rPr lang="en-US" sz="3200" dirty="0">
                <a:solidFill>
                  <a:srgbClr val="960000"/>
                </a:solidFill>
              </a:rPr>
              <a:t>People have unlimited wants!</a:t>
            </a:r>
          </a:p>
          <a:p>
            <a:pPr eaLnBrk="1" hangingPunct="1"/>
            <a:r>
              <a:rPr lang="en-US" sz="3200" dirty="0">
                <a:solidFill>
                  <a:srgbClr val="960000"/>
                </a:solidFill>
              </a:rPr>
              <a:t>Resources are limited!</a:t>
            </a:r>
          </a:p>
          <a:p>
            <a:pPr eaLnBrk="1" hangingPunct="1"/>
            <a:r>
              <a:rPr lang="en-US" sz="3200" dirty="0">
                <a:solidFill>
                  <a:srgbClr val="960000"/>
                </a:solidFill>
              </a:rPr>
              <a:t>Choices must be made on how to allocate these scarce resources among the unlimited wants!</a:t>
            </a:r>
          </a:p>
        </p:txBody>
      </p:sp>
      <p:sp>
        <p:nvSpPr>
          <p:cNvPr id="7172" name="Rectangle 4"/>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FEA6B121-8E4C-4A9F-942E-49779E95ED94}" type="slidenum">
              <a:rPr lang="en-US" sz="1200"/>
              <a:pPr/>
              <a:t>2</a:t>
            </a:fld>
            <a:endParaRPr lang="en-US" sz="1200" dirty="0"/>
          </a:p>
        </p:txBody>
      </p:sp>
      <p:pic>
        <p:nvPicPr>
          <p:cNvPr id="1026" name="Picture 2" descr="Principals of Economics-Resource Utilization Diagram | Quizlet">
            <a:extLst>
              <a:ext uri="{FF2B5EF4-FFF2-40B4-BE49-F238E27FC236}">
                <a16:creationId xmlns:a16="http://schemas.microsoft.com/office/drawing/2014/main" id="{1728F2D2-75AC-4E9B-7BE7-E8B0DB586C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6705" y="1948792"/>
            <a:ext cx="3234690" cy="37449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2903918-B5F8-3514-9E31-B31BCDF79F6F}"/>
              </a:ext>
            </a:extLst>
          </p:cNvPr>
          <p:cNvSpPr txBox="1"/>
          <p:nvPr/>
        </p:nvSpPr>
        <p:spPr>
          <a:xfrm>
            <a:off x="7840980" y="5693716"/>
            <a:ext cx="2707793" cy="169277"/>
          </a:xfrm>
          <a:prstGeom prst="rect">
            <a:avLst/>
          </a:prstGeom>
          <a:noFill/>
        </p:spPr>
        <p:txBody>
          <a:bodyPr wrap="none" rtlCol="0">
            <a:spAutoFit/>
          </a:bodyPr>
          <a:lstStyle/>
          <a:p>
            <a:r>
              <a:rPr lang="en-US" sz="500" dirty="0">
                <a:solidFill>
                  <a:schemeClr val="bg2">
                    <a:lumMod val="50000"/>
                  </a:schemeClr>
                </a:solidFill>
              </a:rPr>
              <a:t>Kilde: https://</a:t>
            </a:r>
            <a:r>
              <a:rPr lang="en-US" sz="500" dirty="0" err="1">
                <a:solidFill>
                  <a:schemeClr val="bg2">
                    <a:lumMod val="50000"/>
                  </a:schemeClr>
                </a:solidFill>
              </a:rPr>
              <a:t>quizlet.com</a:t>
            </a:r>
            <a:r>
              <a:rPr lang="en-US" sz="500" dirty="0">
                <a:solidFill>
                  <a:schemeClr val="bg2">
                    <a:lumMod val="50000"/>
                  </a:schemeClr>
                </a:solidFill>
              </a:rPr>
              <a:t>/517081129/principals-of-economics-resource-utilization-diagram/</a:t>
            </a:r>
          </a:p>
        </p:txBody>
      </p:sp>
    </p:spTree>
    <p:extLst>
      <p:ext uri="{BB962C8B-B14F-4D97-AF65-F5344CB8AC3E}">
        <p14:creationId xmlns:p14="http://schemas.microsoft.com/office/powerpoint/2010/main" val="30289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81200" y="838201"/>
            <a:ext cx="8229600" cy="540657"/>
          </a:xfrm>
        </p:spPr>
        <p:txBody>
          <a:bodyPr>
            <a:normAutofit fontScale="90000"/>
          </a:bodyPr>
          <a:lstStyle/>
          <a:p>
            <a:pPr eaLnBrk="1" hangingPunct="1"/>
            <a:r>
              <a:rPr lang="en-US" dirty="0">
                <a:solidFill>
                  <a:srgbClr val="960000"/>
                </a:solidFill>
              </a:rPr>
              <a:t>The Nature of Economic Choice</a:t>
            </a:r>
          </a:p>
        </p:txBody>
      </p:sp>
      <p:sp>
        <p:nvSpPr>
          <p:cNvPr id="18435" name="Rectangle 3"/>
          <p:cNvSpPr>
            <a:spLocks noGrp="1" noChangeArrowheads="1"/>
          </p:cNvSpPr>
          <p:nvPr>
            <p:ph idx="1"/>
          </p:nvPr>
        </p:nvSpPr>
        <p:spPr>
          <a:xfrm>
            <a:off x="1981200" y="2295144"/>
            <a:ext cx="8229600" cy="4133088"/>
          </a:xfrm>
        </p:spPr>
        <p:txBody>
          <a:bodyPr/>
          <a:lstStyle/>
          <a:p>
            <a:pPr eaLnBrk="1" hangingPunct="1"/>
            <a:r>
              <a:rPr lang="en-US" sz="3200" dirty="0">
                <a:solidFill>
                  <a:srgbClr val="960000"/>
                </a:solidFill>
              </a:rPr>
              <a:t>Individuals choose the preferred option, subject to constraints of:</a:t>
            </a:r>
          </a:p>
          <a:p>
            <a:pPr lvl="1" eaLnBrk="1" hangingPunct="1">
              <a:buFontTx/>
              <a:buChar char="•"/>
            </a:pPr>
            <a:r>
              <a:rPr lang="en-US" sz="3200" i="1" dirty="0">
                <a:solidFill>
                  <a:srgbClr val="960000"/>
                </a:solidFill>
              </a:rPr>
              <a:t>limited resources </a:t>
            </a:r>
            <a:r>
              <a:rPr lang="en-US" sz="3200" i="0" dirty="0">
                <a:solidFill>
                  <a:srgbClr val="960000"/>
                </a:solidFill>
              </a:rPr>
              <a:t>(knowledge) </a:t>
            </a:r>
            <a:r>
              <a:rPr lang="en-US" sz="3200" i="1" dirty="0">
                <a:solidFill>
                  <a:srgbClr val="960000"/>
                </a:solidFill>
              </a:rPr>
              <a:t>and</a:t>
            </a:r>
          </a:p>
          <a:p>
            <a:pPr lvl="1" eaLnBrk="1" hangingPunct="1">
              <a:buFontTx/>
              <a:buChar char="•"/>
            </a:pPr>
            <a:r>
              <a:rPr lang="en-US" sz="3200" i="1" dirty="0">
                <a:solidFill>
                  <a:srgbClr val="960000"/>
                </a:solidFill>
              </a:rPr>
              <a:t>costly and imperfect information</a:t>
            </a:r>
          </a:p>
          <a:p>
            <a:pPr eaLnBrk="1" hangingPunct="1"/>
            <a:r>
              <a:rPr lang="en-US" sz="3200" dirty="0">
                <a:solidFill>
                  <a:srgbClr val="960000"/>
                </a:solidFill>
              </a:rPr>
              <a:t>Individuals learn from their mistakes </a:t>
            </a:r>
          </a:p>
          <a:p>
            <a:pPr marL="0" indent="0">
              <a:buNone/>
            </a:pPr>
            <a:r>
              <a:rPr lang="en-US" sz="1400" dirty="0"/>
              <a:t>	</a:t>
            </a:r>
            <a:endParaRPr lang="en-US" dirty="0"/>
          </a:p>
        </p:txBody>
      </p:sp>
      <p:sp>
        <p:nvSpPr>
          <p:cNvPr id="8196"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F4AF1437-C880-468D-9D8C-6A91E0BDC168}" type="slidenum">
              <a:rPr lang="en-US" sz="1200"/>
              <a:pPr/>
              <a:t>3</a:t>
            </a:fld>
            <a:endParaRPr lang="en-US" sz="1200" dirty="0"/>
          </a:p>
        </p:txBody>
      </p:sp>
    </p:spTree>
    <p:extLst>
      <p:ext uri="{BB962C8B-B14F-4D97-AF65-F5344CB8AC3E}">
        <p14:creationId xmlns:p14="http://schemas.microsoft.com/office/powerpoint/2010/main" val="3423612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1200" y="685801"/>
            <a:ext cx="8229600" cy="678543"/>
          </a:xfrm>
        </p:spPr>
        <p:txBody>
          <a:bodyPr>
            <a:normAutofit fontScale="90000"/>
          </a:bodyPr>
          <a:lstStyle/>
          <a:p>
            <a:pPr eaLnBrk="1" hangingPunct="1"/>
            <a:r>
              <a:rPr lang="en-US" dirty="0">
                <a:solidFill>
                  <a:srgbClr val="960000"/>
                </a:solidFill>
              </a:rPr>
              <a:t>Thinking at the Margin</a:t>
            </a:r>
          </a:p>
        </p:txBody>
      </p:sp>
      <p:sp>
        <p:nvSpPr>
          <p:cNvPr id="20483" name="Rectangle 3"/>
          <p:cNvSpPr>
            <a:spLocks noGrp="1" noChangeArrowheads="1"/>
          </p:cNvSpPr>
          <p:nvPr>
            <p:ph idx="1"/>
          </p:nvPr>
        </p:nvSpPr>
        <p:spPr>
          <a:xfrm>
            <a:off x="2067116" y="1542923"/>
            <a:ext cx="5929281" cy="4525963"/>
          </a:xfrm>
        </p:spPr>
        <p:txBody>
          <a:bodyPr>
            <a:noAutofit/>
          </a:bodyPr>
          <a:lstStyle/>
          <a:p>
            <a:pPr eaLnBrk="1" hangingPunct="1"/>
            <a:r>
              <a:rPr lang="en-US" sz="2500" dirty="0">
                <a:solidFill>
                  <a:srgbClr val="960000"/>
                </a:solidFill>
              </a:rPr>
              <a:t>When choices are made, people think at the margin.</a:t>
            </a:r>
          </a:p>
          <a:p>
            <a:pPr eaLnBrk="1" hangingPunct="1"/>
            <a:r>
              <a:rPr lang="en-US" sz="2500" dirty="0">
                <a:solidFill>
                  <a:srgbClr val="960000"/>
                </a:solidFill>
              </a:rPr>
              <a:t>Marginal benefits are the ‘additional benefits’ obtained if the choice is made.</a:t>
            </a:r>
          </a:p>
          <a:p>
            <a:pPr eaLnBrk="1" hangingPunct="1"/>
            <a:r>
              <a:rPr lang="en-US" sz="2500" dirty="0">
                <a:solidFill>
                  <a:srgbClr val="960000"/>
                </a:solidFill>
              </a:rPr>
              <a:t>Marginal costs are the ‘additional costs incurred’ if the choice is made.</a:t>
            </a:r>
          </a:p>
          <a:p>
            <a:pPr eaLnBrk="1" hangingPunct="1"/>
            <a:r>
              <a:rPr lang="en-US" sz="2500" dirty="0">
                <a:solidFill>
                  <a:srgbClr val="960000"/>
                </a:solidFill>
              </a:rPr>
              <a:t>Take action if </a:t>
            </a:r>
            <a:r>
              <a:rPr lang="en-US" sz="2500" i="1" dirty="0">
                <a:solidFill>
                  <a:srgbClr val="960000"/>
                </a:solidFill>
              </a:rPr>
              <a:t>marginal benefits</a:t>
            </a:r>
            <a:r>
              <a:rPr lang="en-US" sz="2500" dirty="0">
                <a:solidFill>
                  <a:srgbClr val="960000"/>
                </a:solidFill>
              </a:rPr>
              <a:t> are greater than the </a:t>
            </a:r>
            <a:r>
              <a:rPr lang="en-US" sz="2500" i="1" dirty="0">
                <a:solidFill>
                  <a:srgbClr val="960000"/>
                </a:solidFill>
              </a:rPr>
              <a:t>marginal costs!!!</a:t>
            </a:r>
            <a:r>
              <a:rPr lang="en-US" sz="2500" dirty="0">
                <a:solidFill>
                  <a:srgbClr val="960000"/>
                </a:solidFill>
              </a:rPr>
              <a:t> MR&gt;MC</a:t>
            </a:r>
            <a:endParaRPr lang="en-US" sz="2500" i="1" dirty="0">
              <a:solidFill>
                <a:srgbClr val="960000"/>
              </a:solidFill>
            </a:endParaRPr>
          </a:p>
          <a:p>
            <a:pPr eaLnBrk="1" hangingPunct="1"/>
            <a:r>
              <a:rPr lang="en-US" sz="2500" dirty="0" err="1">
                <a:solidFill>
                  <a:srgbClr val="960000"/>
                </a:solidFill>
              </a:rPr>
              <a:t>Bemærk</a:t>
            </a:r>
            <a:r>
              <a:rPr lang="en-US" sz="2500" dirty="0">
                <a:solidFill>
                  <a:srgbClr val="960000"/>
                </a:solidFill>
              </a:rPr>
              <a:t> </a:t>
            </a:r>
            <a:r>
              <a:rPr lang="en-US" sz="2500" dirty="0" err="1">
                <a:solidFill>
                  <a:srgbClr val="960000"/>
                </a:solidFill>
              </a:rPr>
              <a:t>og</a:t>
            </a:r>
            <a:r>
              <a:rPr lang="en-US" sz="2500" dirty="0">
                <a:solidFill>
                  <a:srgbClr val="960000"/>
                </a:solidFill>
              </a:rPr>
              <a:t> </a:t>
            </a:r>
            <a:r>
              <a:rPr lang="en-US" sz="2500" dirty="0" err="1">
                <a:solidFill>
                  <a:srgbClr val="960000"/>
                </a:solidFill>
              </a:rPr>
              <a:t>indram</a:t>
            </a:r>
            <a:r>
              <a:rPr lang="en-US" sz="2500" dirty="0">
                <a:solidFill>
                  <a:srgbClr val="960000"/>
                </a:solidFill>
              </a:rPr>
              <a:t> note 4 (p. 14) om </a:t>
            </a:r>
            <a:r>
              <a:rPr lang="en-US" sz="2500" dirty="0" err="1">
                <a:solidFill>
                  <a:srgbClr val="960000"/>
                </a:solidFill>
              </a:rPr>
              <a:t>specielt</a:t>
            </a:r>
            <a:r>
              <a:rPr lang="en-US" sz="2500" dirty="0">
                <a:solidFill>
                  <a:srgbClr val="960000"/>
                </a:solidFill>
              </a:rPr>
              <a:t> </a:t>
            </a:r>
            <a:r>
              <a:rPr lang="en-US" sz="2500" dirty="0" err="1">
                <a:solidFill>
                  <a:srgbClr val="960000"/>
                </a:solidFill>
              </a:rPr>
              <a:t>begrebet</a:t>
            </a:r>
            <a:r>
              <a:rPr lang="en-US" sz="2500" dirty="0">
                <a:solidFill>
                  <a:srgbClr val="960000"/>
                </a:solidFill>
              </a:rPr>
              <a:t> ‘Incremental’!</a:t>
            </a:r>
          </a:p>
        </p:txBody>
      </p:sp>
      <p:sp>
        <p:nvSpPr>
          <p:cNvPr id="9220"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6B106A5C-45E9-4199-9D49-EA214B46713F}" type="slidenum">
              <a:rPr lang="en-US" sz="1200"/>
              <a:pPr/>
              <a:t>4</a:t>
            </a:fld>
            <a:endParaRPr lang="en-US" sz="1200" dirty="0"/>
          </a:p>
        </p:txBody>
      </p:sp>
      <p:sp>
        <p:nvSpPr>
          <p:cNvPr id="4" name="Rectangle 3">
            <a:extLst>
              <a:ext uri="{FF2B5EF4-FFF2-40B4-BE49-F238E27FC236}">
                <a16:creationId xmlns:a16="http://schemas.microsoft.com/office/drawing/2014/main" id="{95D8DCC1-792E-025B-EEFA-F0C660536DD9}"/>
              </a:ext>
            </a:extLst>
          </p:cNvPr>
          <p:cNvSpPr/>
          <p:nvPr/>
        </p:nvSpPr>
        <p:spPr>
          <a:xfrm>
            <a:off x="8183216" y="3466998"/>
            <a:ext cx="3613647" cy="2362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9400C2F1-D0DB-FC3C-1867-B5FF7C62261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555" t="33686" r="24339"/>
          <a:stretch>
            <a:fillRect/>
          </a:stretch>
        </p:blipFill>
        <p:spPr bwMode="auto">
          <a:xfrm>
            <a:off x="9037981" y="4335014"/>
            <a:ext cx="1888435" cy="149487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02E495CD-E44C-254B-E5A7-FEB5FA8A16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521"/>
          <a:stretch>
            <a:fillRect/>
          </a:stretch>
        </p:blipFill>
        <p:spPr bwMode="auto">
          <a:xfrm>
            <a:off x="10926416" y="3575637"/>
            <a:ext cx="870448" cy="22542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2497FEB-CFC4-C62F-52E1-C0DFA1A2F5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9264" r="77444"/>
          <a:stretch>
            <a:fillRect/>
          </a:stretch>
        </p:blipFill>
        <p:spPr bwMode="auto">
          <a:xfrm>
            <a:off x="8235919" y="4911585"/>
            <a:ext cx="802062" cy="918302"/>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8FDB4D74-1163-B836-BFDE-BDB7157E39BC}"/>
              </a:ext>
            </a:extLst>
          </p:cNvPr>
          <p:cNvSpPr/>
          <p:nvPr/>
        </p:nvSpPr>
        <p:spPr>
          <a:xfrm rot="19886031">
            <a:off x="10371371" y="3911445"/>
            <a:ext cx="616460" cy="29408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5C640D1-C592-3CD5-EF6F-DF5CFE5714E2}"/>
              </a:ext>
            </a:extLst>
          </p:cNvPr>
          <p:cNvSpPr txBox="1"/>
          <p:nvPr/>
        </p:nvSpPr>
        <p:spPr>
          <a:xfrm>
            <a:off x="8097077" y="5829887"/>
            <a:ext cx="3395481" cy="169277"/>
          </a:xfrm>
          <a:prstGeom prst="rect">
            <a:avLst/>
          </a:prstGeom>
          <a:noFill/>
        </p:spPr>
        <p:txBody>
          <a:bodyPr wrap="none" rtlCol="0">
            <a:spAutoFit/>
          </a:bodyPr>
          <a:lstStyle/>
          <a:p>
            <a:r>
              <a:rPr lang="en-US" sz="500" dirty="0" err="1">
                <a:solidFill>
                  <a:schemeClr val="bg2">
                    <a:lumMod val="50000"/>
                  </a:schemeClr>
                </a:solidFill>
              </a:rPr>
              <a:t>Adaptered</a:t>
            </a:r>
            <a:r>
              <a:rPr lang="en-US" sz="500" dirty="0">
                <a:solidFill>
                  <a:schemeClr val="bg2">
                    <a:lumMod val="50000"/>
                  </a:schemeClr>
                </a:solidFill>
              </a:rPr>
              <a:t> </a:t>
            </a:r>
            <a:r>
              <a:rPr lang="en-US" sz="500" dirty="0" err="1">
                <a:solidFill>
                  <a:schemeClr val="bg2">
                    <a:lumMod val="50000"/>
                  </a:schemeClr>
                </a:solidFill>
              </a:rPr>
              <a:t>fra</a:t>
            </a:r>
            <a:r>
              <a:rPr lang="en-US" sz="500" dirty="0">
                <a:solidFill>
                  <a:schemeClr val="bg2">
                    <a:lumMod val="50000"/>
                  </a:schemeClr>
                </a:solidFill>
              </a:rPr>
              <a:t> </a:t>
            </a:r>
            <a:r>
              <a:rPr lang="en-US" sz="500" dirty="0" err="1">
                <a:solidFill>
                  <a:schemeClr val="bg2">
                    <a:lumMod val="50000"/>
                  </a:schemeClr>
                </a:solidFill>
              </a:rPr>
              <a:t>kilde</a:t>
            </a:r>
            <a:r>
              <a:rPr lang="en-US" sz="500" dirty="0">
                <a:solidFill>
                  <a:schemeClr val="bg2">
                    <a:lumMod val="50000"/>
                  </a:schemeClr>
                </a:solidFill>
              </a:rPr>
              <a:t>: https://</a:t>
            </a:r>
            <a:r>
              <a:rPr lang="en-US" sz="500" dirty="0" err="1">
                <a:solidFill>
                  <a:schemeClr val="bg2">
                    <a:lumMod val="50000"/>
                  </a:schemeClr>
                </a:solidFill>
              </a:rPr>
              <a:t>reformedperspective.ca</a:t>
            </a:r>
            <a:r>
              <a:rPr lang="en-US" sz="500" dirty="0">
                <a:solidFill>
                  <a:schemeClr val="bg2">
                    <a:lumMod val="50000"/>
                  </a:schemeClr>
                </a:solidFill>
              </a:rPr>
              <a:t>/thinking-on-the-margin-or-why-some-pollution-is-better-than-none/</a:t>
            </a:r>
          </a:p>
        </p:txBody>
      </p:sp>
      <p:sp>
        <p:nvSpPr>
          <p:cNvPr id="8" name="TextBox 7">
            <a:extLst>
              <a:ext uri="{FF2B5EF4-FFF2-40B4-BE49-F238E27FC236}">
                <a16:creationId xmlns:a16="http://schemas.microsoft.com/office/drawing/2014/main" id="{90AFB751-D640-3B58-D66F-824CA83118FC}"/>
              </a:ext>
            </a:extLst>
          </p:cNvPr>
          <p:cNvSpPr txBox="1"/>
          <p:nvPr/>
        </p:nvSpPr>
        <p:spPr>
          <a:xfrm>
            <a:off x="10338581" y="3457851"/>
            <a:ext cx="444352" cy="707886"/>
          </a:xfrm>
          <a:prstGeom prst="rect">
            <a:avLst/>
          </a:prstGeom>
          <a:noFill/>
        </p:spPr>
        <p:txBody>
          <a:bodyPr wrap="none" rtlCol="0">
            <a:spAutoFit/>
          </a:bodyPr>
          <a:lstStyle/>
          <a:p>
            <a:r>
              <a:rPr lang="en-US" sz="4000" dirty="0">
                <a:solidFill>
                  <a:srgbClr val="960000"/>
                </a:solidFill>
              </a:rPr>
              <a:t>?</a:t>
            </a:r>
          </a:p>
        </p:txBody>
      </p:sp>
      <p:sp>
        <p:nvSpPr>
          <p:cNvPr id="9" name="TextBox 8">
            <a:extLst>
              <a:ext uri="{FF2B5EF4-FFF2-40B4-BE49-F238E27FC236}">
                <a16:creationId xmlns:a16="http://schemas.microsoft.com/office/drawing/2014/main" id="{7B586118-6361-C4F3-6DD9-386D3620FE29}"/>
              </a:ext>
            </a:extLst>
          </p:cNvPr>
          <p:cNvSpPr txBox="1"/>
          <p:nvPr/>
        </p:nvSpPr>
        <p:spPr>
          <a:xfrm>
            <a:off x="11604750" y="3558759"/>
            <a:ext cx="527709" cy="707886"/>
          </a:xfrm>
          <a:prstGeom prst="rect">
            <a:avLst/>
          </a:prstGeom>
          <a:noFill/>
        </p:spPr>
        <p:txBody>
          <a:bodyPr wrap="none" rtlCol="0">
            <a:spAutoFit/>
          </a:bodyPr>
          <a:lstStyle/>
          <a:p>
            <a:r>
              <a:rPr lang="en-US" sz="2000" dirty="0">
                <a:solidFill>
                  <a:srgbClr val="960000"/>
                </a:solidFill>
              </a:rPr>
              <a:t>+...</a:t>
            </a:r>
          </a:p>
          <a:p>
            <a:r>
              <a:rPr lang="en-US" sz="2000" dirty="0">
                <a:solidFill>
                  <a:srgbClr val="960000"/>
                </a:solidFill>
              </a:rPr>
              <a:t>- …</a:t>
            </a:r>
          </a:p>
        </p:txBody>
      </p:sp>
      <p:pic>
        <p:nvPicPr>
          <p:cNvPr id="5124" name="Picture 4">
            <a:extLst>
              <a:ext uri="{FF2B5EF4-FFF2-40B4-BE49-F238E27FC236}">
                <a16:creationId xmlns:a16="http://schemas.microsoft.com/office/drawing/2014/main" id="{9BDDA1F7-6849-5D87-A7F8-0C1D961552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881"/>
          <a:stretch>
            <a:fillRect/>
          </a:stretch>
        </p:blipFill>
        <p:spPr bwMode="auto">
          <a:xfrm>
            <a:off x="8183216" y="1186070"/>
            <a:ext cx="3613646" cy="207306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09205D8-3380-3B1D-3880-FA50698EC63B}"/>
              </a:ext>
            </a:extLst>
          </p:cNvPr>
          <p:cNvSpPr txBox="1"/>
          <p:nvPr/>
        </p:nvSpPr>
        <p:spPr>
          <a:xfrm>
            <a:off x="8097077" y="3204644"/>
            <a:ext cx="3515706" cy="169277"/>
          </a:xfrm>
          <a:prstGeom prst="rect">
            <a:avLst/>
          </a:prstGeom>
          <a:noFill/>
        </p:spPr>
        <p:txBody>
          <a:bodyPr wrap="none" rtlCol="0">
            <a:spAutoFit/>
          </a:bodyPr>
          <a:lstStyle/>
          <a:p>
            <a:r>
              <a:rPr lang="en-US" sz="500" dirty="0">
                <a:solidFill>
                  <a:schemeClr val="bg2">
                    <a:lumMod val="50000"/>
                  </a:schemeClr>
                </a:solidFill>
              </a:rPr>
              <a:t>Kilde: https://</a:t>
            </a:r>
            <a:r>
              <a:rPr lang="en-US" sz="500" dirty="0" err="1">
                <a:solidFill>
                  <a:schemeClr val="bg2">
                    <a:lumMod val="50000"/>
                  </a:schemeClr>
                </a:solidFill>
              </a:rPr>
              <a:t>www.accuweather.com</a:t>
            </a:r>
            <a:r>
              <a:rPr lang="en-US" sz="500" dirty="0">
                <a:solidFill>
                  <a:schemeClr val="bg2">
                    <a:lumMod val="50000"/>
                  </a:schemeClr>
                </a:solidFill>
              </a:rPr>
              <a:t>/</a:t>
            </a:r>
            <a:r>
              <a:rPr lang="en-US" sz="500" dirty="0" err="1">
                <a:solidFill>
                  <a:schemeClr val="bg2">
                    <a:lumMod val="50000"/>
                  </a:schemeClr>
                </a:solidFill>
              </a:rPr>
              <a:t>en</a:t>
            </a:r>
            <a:r>
              <a:rPr lang="en-US" sz="500" dirty="0">
                <a:solidFill>
                  <a:schemeClr val="bg2">
                    <a:lumMod val="50000"/>
                  </a:schemeClr>
                </a:solidFill>
              </a:rPr>
              <a:t>/leisure-recreation/the-truth-about-eating-ice-cream-in-the-summertime/1217266</a:t>
            </a:r>
          </a:p>
        </p:txBody>
      </p:sp>
    </p:spTree>
    <p:extLst>
      <p:ext uri="{BB962C8B-B14F-4D97-AF65-F5344CB8AC3E}">
        <p14:creationId xmlns:p14="http://schemas.microsoft.com/office/powerpoint/2010/main" val="222425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81200" y="762000"/>
            <a:ext cx="8229600" cy="674914"/>
          </a:xfrm>
        </p:spPr>
        <p:txBody>
          <a:bodyPr>
            <a:normAutofit fontScale="90000"/>
          </a:bodyPr>
          <a:lstStyle/>
          <a:p>
            <a:pPr eaLnBrk="1" hangingPunct="1"/>
            <a:r>
              <a:rPr lang="en-US" dirty="0">
                <a:solidFill>
                  <a:srgbClr val="960000"/>
                </a:solidFill>
              </a:rPr>
              <a:t>Sunk Costs</a:t>
            </a:r>
          </a:p>
        </p:txBody>
      </p:sp>
      <p:sp>
        <p:nvSpPr>
          <p:cNvPr id="10243" name="Rectangle 3"/>
          <p:cNvSpPr>
            <a:spLocks noGrp="1" noChangeArrowheads="1"/>
          </p:cNvSpPr>
          <p:nvPr>
            <p:ph idx="1"/>
          </p:nvPr>
        </p:nvSpPr>
        <p:spPr>
          <a:xfrm>
            <a:off x="1478280" y="2059624"/>
            <a:ext cx="5328285" cy="3939540"/>
          </a:xfrm>
        </p:spPr>
        <p:txBody>
          <a:bodyPr>
            <a:normAutofit fontScale="70000" lnSpcReduction="20000"/>
          </a:bodyPr>
          <a:lstStyle/>
          <a:p>
            <a:pPr marL="384048" lvl="1">
              <a:lnSpc>
                <a:spcPct val="114000"/>
              </a:lnSpc>
              <a:spcBef>
                <a:spcPts val="1000"/>
              </a:spcBef>
              <a:buFont typeface="Franklin Gothic Book" panose="020B0503020102020204" pitchFamily="34" charset="0"/>
              <a:buChar char="■"/>
            </a:pPr>
            <a:r>
              <a:rPr lang="en-US" sz="3600" dirty="0">
                <a:solidFill>
                  <a:srgbClr val="960000"/>
                </a:solidFill>
              </a:rPr>
              <a:t>Benefits and costs that have </a:t>
            </a:r>
            <a:r>
              <a:rPr lang="en-US" sz="3600" b="1" dirty="0">
                <a:solidFill>
                  <a:srgbClr val="960000"/>
                </a:solidFill>
              </a:rPr>
              <a:t>preceded</a:t>
            </a:r>
            <a:r>
              <a:rPr lang="en-US" sz="3600" dirty="0">
                <a:solidFill>
                  <a:srgbClr val="960000"/>
                </a:solidFill>
              </a:rPr>
              <a:t> the decision are sunk and therefore </a:t>
            </a:r>
            <a:r>
              <a:rPr lang="en-US" sz="3600" b="1" dirty="0">
                <a:solidFill>
                  <a:srgbClr val="960000"/>
                </a:solidFill>
              </a:rPr>
              <a:t>irrelevant</a:t>
            </a:r>
            <a:r>
              <a:rPr lang="en-US" sz="3600" dirty="0">
                <a:solidFill>
                  <a:srgbClr val="960000"/>
                </a:solidFill>
              </a:rPr>
              <a:t> to the present decision – but remember; people can still learn!</a:t>
            </a:r>
          </a:p>
          <a:p>
            <a:pPr lvl="1">
              <a:lnSpc>
                <a:spcPct val="90000"/>
              </a:lnSpc>
              <a:buFont typeface="Wingdings" panose="05000000000000000000" pitchFamily="2" charset="2"/>
              <a:buChar char="§"/>
            </a:pPr>
            <a:r>
              <a:rPr lang="en-US" sz="2800" dirty="0">
                <a:solidFill>
                  <a:srgbClr val="960000"/>
                </a:solidFill>
              </a:rPr>
              <a:t>“Bygones are forever bygones”/let the past rest!</a:t>
            </a:r>
          </a:p>
          <a:p>
            <a:pPr lvl="1">
              <a:lnSpc>
                <a:spcPct val="90000"/>
              </a:lnSpc>
              <a:buFont typeface="Wingdings" panose="05000000000000000000" pitchFamily="2" charset="2"/>
              <a:buChar char="§"/>
            </a:pPr>
            <a:r>
              <a:rPr lang="en-US" sz="2800" dirty="0">
                <a:solidFill>
                  <a:srgbClr val="960000"/>
                </a:solidFill>
              </a:rPr>
              <a:t>If you drive three hours to the Post Malone concert in Hamburg and realize when you get to the entrance that you left your tickets at home (printer and cell phone are not accessible), what should you do?</a:t>
            </a:r>
          </a:p>
        </p:txBody>
      </p:sp>
      <p:sp>
        <p:nvSpPr>
          <p:cNvPr id="10244"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55C0DD8D-9AEE-4307-A352-808E51DF9247}" type="slidenum">
              <a:rPr lang="en-US" sz="1200"/>
              <a:pPr/>
              <a:t>5</a:t>
            </a:fld>
            <a:endParaRPr lang="en-US" sz="1200" dirty="0"/>
          </a:p>
        </p:txBody>
      </p:sp>
      <p:pic>
        <p:nvPicPr>
          <p:cNvPr id="2050" name="Picture 2" descr="What Are Sunk Costs? 4 Tips to Avoid the Sunk Cost Trap">
            <a:extLst>
              <a:ext uri="{FF2B5EF4-FFF2-40B4-BE49-F238E27FC236}">
                <a16:creationId xmlns:a16="http://schemas.microsoft.com/office/drawing/2014/main" id="{FCD7DC41-EAA2-2441-1D46-50639BAFED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645" y="2361026"/>
            <a:ext cx="4288460" cy="28567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FB82EEE-BFA3-DBE9-F864-438550489479}"/>
              </a:ext>
            </a:extLst>
          </p:cNvPr>
          <p:cNvSpPr txBox="1"/>
          <p:nvPr/>
        </p:nvSpPr>
        <p:spPr>
          <a:xfrm>
            <a:off x="7360920" y="5177058"/>
            <a:ext cx="1361270" cy="169277"/>
          </a:xfrm>
          <a:prstGeom prst="rect">
            <a:avLst/>
          </a:prstGeom>
          <a:noFill/>
        </p:spPr>
        <p:txBody>
          <a:bodyPr wrap="none" rtlCol="0">
            <a:spAutoFit/>
          </a:bodyPr>
          <a:lstStyle/>
          <a:p>
            <a:r>
              <a:rPr lang="en-US" sz="500" dirty="0">
                <a:solidFill>
                  <a:schemeClr val="bg2">
                    <a:lumMod val="50000"/>
                  </a:schemeClr>
                </a:solidFill>
              </a:rPr>
              <a:t>Kilde: https://</a:t>
            </a:r>
            <a:r>
              <a:rPr lang="en-US" sz="500" dirty="0" err="1">
                <a:solidFill>
                  <a:schemeClr val="bg2">
                    <a:lumMod val="50000"/>
                  </a:schemeClr>
                </a:solidFill>
              </a:rPr>
              <a:t>bizzi.vn</a:t>
            </a:r>
            <a:r>
              <a:rPr lang="en-US" sz="500" dirty="0">
                <a:solidFill>
                  <a:schemeClr val="bg2">
                    <a:lumMod val="50000"/>
                  </a:schemeClr>
                </a:solidFill>
              </a:rPr>
              <a:t>/</a:t>
            </a:r>
            <a:r>
              <a:rPr lang="en-US" sz="500" dirty="0" err="1">
                <a:solidFill>
                  <a:schemeClr val="bg2">
                    <a:lumMod val="50000"/>
                  </a:schemeClr>
                </a:solidFill>
              </a:rPr>
              <a:t>en</a:t>
            </a:r>
            <a:r>
              <a:rPr lang="en-US" sz="500" dirty="0">
                <a:solidFill>
                  <a:schemeClr val="bg2">
                    <a:lumMod val="50000"/>
                  </a:schemeClr>
                </a:solidFill>
              </a:rPr>
              <a:t>/what-is-bird-cost/</a:t>
            </a:r>
          </a:p>
        </p:txBody>
      </p:sp>
    </p:spTree>
    <p:extLst>
      <p:ext uri="{BB962C8B-B14F-4D97-AF65-F5344CB8AC3E}">
        <p14:creationId xmlns:p14="http://schemas.microsoft.com/office/powerpoint/2010/main" val="1238859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05000" y="914401"/>
            <a:ext cx="8204200" cy="551543"/>
          </a:xfrm>
        </p:spPr>
        <p:txBody>
          <a:bodyPr>
            <a:normAutofit fontScale="90000"/>
          </a:bodyPr>
          <a:lstStyle/>
          <a:p>
            <a:pPr eaLnBrk="1" hangingPunct="1"/>
            <a:r>
              <a:rPr lang="en-US" sz="4000" dirty="0">
                <a:solidFill>
                  <a:srgbClr val="960000"/>
                </a:solidFill>
                <a:latin typeface="Arial" pitchFamily="34" charset="0"/>
                <a:cs typeface="Arial" pitchFamily="34" charset="0"/>
              </a:rPr>
              <a:t>The Nature of Opportunity Costs</a:t>
            </a:r>
          </a:p>
        </p:txBody>
      </p:sp>
      <p:sp>
        <p:nvSpPr>
          <p:cNvPr id="21507" name="Rectangle 3"/>
          <p:cNvSpPr>
            <a:spLocks noGrp="1" noChangeArrowheads="1"/>
          </p:cNvSpPr>
          <p:nvPr>
            <p:ph idx="1"/>
          </p:nvPr>
        </p:nvSpPr>
        <p:spPr>
          <a:xfrm>
            <a:off x="2082971" y="1731334"/>
            <a:ext cx="5717046" cy="4736972"/>
          </a:xfrm>
        </p:spPr>
        <p:txBody>
          <a:bodyPr>
            <a:normAutofit/>
          </a:bodyPr>
          <a:lstStyle/>
          <a:p>
            <a:pPr eaLnBrk="1" hangingPunct="1"/>
            <a:r>
              <a:rPr lang="en-US" sz="2800" dirty="0">
                <a:solidFill>
                  <a:srgbClr val="960000"/>
                </a:solidFill>
              </a:rPr>
              <a:t>Choices involve trade-offs</a:t>
            </a:r>
          </a:p>
          <a:p>
            <a:pPr lvl="1" eaLnBrk="1" hangingPunct="1">
              <a:buFontTx/>
              <a:buChar char="•"/>
            </a:pPr>
            <a:r>
              <a:rPr lang="en-US" sz="2800" dirty="0">
                <a:solidFill>
                  <a:srgbClr val="960000"/>
                </a:solidFill>
              </a:rPr>
              <a:t>Burger or pizza for dinner?</a:t>
            </a:r>
          </a:p>
          <a:p>
            <a:pPr lvl="1" eaLnBrk="1" hangingPunct="1">
              <a:buFontTx/>
              <a:buChar char="•"/>
            </a:pPr>
            <a:r>
              <a:rPr lang="en-US" sz="2800" dirty="0">
                <a:solidFill>
                  <a:srgbClr val="960000"/>
                </a:solidFill>
              </a:rPr>
              <a:t>Go for lessons at CBS/VØS (4) or go to work/the gym, …?</a:t>
            </a:r>
          </a:p>
          <a:p>
            <a:pPr lvl="1" eaLnBrk="1" hangingPunct="1">
              <a:buFontTx/>
              <a:buChar char="•"/>
            </a:pPr>
            <a:r>
              <a:rPr lang="en-US" sz="2800" dirty="0">
                <a:solidFill>
                  <a:srgbClr val="960000"/>
                </a:solidFill>
              </a:rPr>
              <a:t>Stay home or go on a nice trip?</a:t>
            </a:r>
          </a:p>
          <a:p>
            <a:pPr eaLnBrk="1" hangingPunct="1"/>
            <a:r>
              <a:rPr lang="en-US" sz="2800" b="1" i="1" u="sng" dirty="0">
                <a:solidFill>
                  <a:srgbClr val="960000"/>
                </a:solidFill>
              </a:rPr>
              <a:t>Opportunity cost (of the selected option): The value of the foregone </a:t>
            </a:r>
            <a:r>
              <a:rPr lang="en-US" sz="2800" b="1" u="sng" dirty="0">
                <a:solidFill>
                  <a:srgbClr val="960000"/>
                </a:solidFill>
              </a:rPr>
              <a:t>(</a:t>
            </a:r>
            <a:r>
              <a:rPr lang="en-US" sz="2800" b="1" u="sng" dirty="0" err="1">
                <a:solidFill>
                  <a:srgbClr val="960000"/>
                </a:solidFill>
              </a:rPr>
              <a:t>forbigåede</a:t>
            </a:r>
            <a:r>
              <a:rPr lang="en-US" sz="2800" b="1" u="sng" dirty="0">
                <a:solidFill>
                  <a:srgbClr val="960000"/>
                </a:solidFill>
              </a:rPr>
              <a:t>, </a:t>
            </a:r>
            <a:r>
              <a:rPr lang="en-US" sz="2800" b="1" u="sng" dirty="0" err="1">
                <a:solidFill>
                  <a:srgbClr val="960000"/>
                </a:solidFill>
              </a:rPr>
              <a:t>bedste</a:t>
            </a:r>
            <a:r>
              <a:rPr lang="en-US" sz="2800" b="1" u="sng" dirty="0">
                <a:solidFill>
                  <a:srgbClr val="960000"/>
                </a:solidFill>
              </a:rPr>
              <a:t> </a:t>
            </a:r>
            <a:r>
              <a:rPr lang="en-US" sz="2800" b="1" u="sng" dirty="0" err="1">
                <a:solidFill>
                  <a:srgbClr val="960000"/>
                </a:solidFill>
              </a:rPr>
              <a:t>ikke</a:t>
            </a:r>
            <a:r>
              <a:rPr lang="en-US" sz="2800" b="1" u="sng" dirty="0">
                <a:solidFill>
                  <a:srgbClr val="960000"/>
                </a:solidFill>
              </a:rPr>
              <a:t> </a:t>
            </a:r>
            <a:r>
              <a:rPr lang="en-US" sz="2800" b="1" u="sng" dirty="0" err="1">
                <a:solidFill>
                  <a:srgbClr val="960000"/>
                </a:solidFill>
              </a:rPr>
              <a:t>valgte</a:t>
            </a:r>
            <a:r>
              <a:rPr lang="en-US" sz="2800" b="1" u="sng" dirty="0">
                <a:solidFill>
                  <a:srgbClr val="960000"/>
                </a:solidFill>
              </a:rPr>
              <a:t>) </a:t>
            </a:r>
            <a:r>
              <a:rPr lang="en-US" sz="2800" b="1" i="1" u="sng" dirty="0">
                <a:solidFill>
                  <a:srgbClr val="960000"/>
                </a:solidFill>
              </a:rPr>
              <a:t>option</a:t>
            </a:r>
          </a:p>
        </p:txBody>
      </p:sp>
      <p:sp>
        <p:nvSpPr>
          <p:cNvPr id="11268"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55D10EC5-48A7-4C4A-A4DA-1185054E5EF4}" type="slidenum">
              <a:rPr lang="en-US" sz="1200"/>
              <a:pPr/>
              <a:t>6</a:t>
            </a:fld>
            <a:endParaRPr lang="en-US" sz="1200" dirty="0"/>
          </a:p>
        </p:txBody>
      </p:sp>
      <p:pic>
        <p:nvPicPr>
          <p:cNvPr id="3074" name="Picture 2" descr="Negative Opportunity Cost">
            <a:extLst>
              <a:ext uri="{FF2B5EF4-FFF2-40B4-BE49-F238E27FC236}">
                <a16:creationId xmlns:a16="http://schemas.microsoft.com/office/drawing/2014/main" id="{373B46D6-D263-302B-208E-CF32ABE35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2731" y="2429045"/>
            <a:ext cx="3973351" cy="2235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9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258EDB34-674F-4CAD-B23E-284E70F0E3FC}"/>
              </a:ext>
            </a:extLst>
          </p:cNvPr>
          <p:cNvSpPr>
            <a:spLocks noGrp="1"/>
          </p:cNvSpPr>
          <p:nvPr>
            <p:ph type="title"/>
          </p:nvPr>
        </p:nvSpPr>
        <p:spPr/>
        <p:txBody>
          <a:bodyPr/>
          <a:lstStyle/>
          <a:p>
            <a:r>
              <a:rPr lang="da-DK" dirty="0">
                <a:solidFill>
                  <a:srgbClr val="002060"/>
                </a:solidFill>
              </a:rPr>
              <a:t>Opgave: SE-problem 2-3</a:t>
            </a:r>
            <a:endParaRPr lang="en-US" dirty="0">
              <a:solidFill>
                <a:srgbClr val="002060"/>
              </a:solidFill>
            </a:endParaRPr>
          </a:p>
        </p:txBody>
      </p:sp>
      <p:sp>
        <p:nvSpPr>
          <p:cNvPr id="7" name="Pladsholder til indhold 6">
            <a:extLst>
              <a:ext uri="{FF2B5EF4-FFF2-40B4-BE49-F238E27FC236}">
                <a16:creationId xmlns:a16="http://schemas.microsoft.com/office/drawing/2014/main" id="{9ABEB0F0-99AF-4A2E-8BDC-D2B63137BFB7}"/>
              </a:ext>
            </a:extLst>
          </p:cNvPr>
          <p:cNvSpPr>
            <a:spLocks noGrp="1"/>
          </p:cNvSpPr>
          <p:nvPr>
            <p:ph idx="1"/>
          </p:nvPr>
        </p:nvSpPr>
        <p:spPr>
          <a:xfrm>
            <a:off x="2063553" y="1467762"/>
            <a:ext cx="8064330" cy="5136330"/>
          </a:xfrm>
        </p:spPr>
        <p:txBody>
          <a:bodyPr vert="horz" lIns="91440" tIns="45720" rIns="91440" bIns="45720" rtlCol="0" anchor="t">
            <a:normAutofit/>
          </a:bodyPr>
          <a:lstStyle/>
          <a:p>
            <a:pPr marL="0" indent="0">
              <a:buNone/>
            </a:pPr>
            <a:r>
              <a:rPr lang="da-DK" sz="2400" dirty="0">
                <a:solidFill>
                  <a:srgbClr val="960000"/>
                </a:solidFill>
              </a:rPr>
              <a:t>Du har vundet en billet til en Lady Gaga koncert. Billetten har ingen videresalgsværdi. Bob Dylan giver koncert samme aften og er dit handlingsalternativ. Billetten til Bob Dylan koster $40. Du vil til enhver tid være villig til at give $50 for at se Bob Dylan. </a:t>
            </a:r>
          </a:p>
          <a:p>
            <a:pPr marL="0" indent="0">
              <a:buNone/>
            </a:pPr>
            <a:endParaRPr lang="da-DK" sz="2400" dirty="0"/>
          </a:p>
          <a:p>
            <a:pPr marL="0" indent="0">
              <a:spcAft>
                <a:spcPts val="0"/>
              </a:spcAft>
              <a:buNone/>
            </a:pPr>
            <a:endParaRPr lang="en-US" sz="2400" b="1" dirty="0">
              <a:ea typeface="Calibri" panose="020F0502020204030204" pitchFamily="34" charset="0"/>
            </a:endParaRPr>
          </a:p>
        </p:txBody>
      </p:sp>
      <p:sp>
        <p:nvSpPr>
          <p:cNvPr id="5" name="TextBox 4">
            <a:extLst>
              <a:ext uri="{FF2B5EF4-FFF2-40B4-BE49-F238E27FC236}">
                <a16:creationId xmlns:a16="http://schemas.microsoft.com/office/drawing/2014/main" id="{38DC5508-F64E-8FC5-DB2A-94353739C932}"/>
              </a:ext>
            </a:extLst>
          </p:cNvPr>
          <p:cNvSpPr txBox="1"/>
          <p:nvPr/>
        </p:nvSpPr>
        <p:spPr>
          <a:xfrm>
            <a:off x="2063553" y="3525052"/>
            <a:ext cx="763190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a-DK" sz="2400" dirty="0">
                <a:solidFill>
                  <a:srgbClr val="003300"/>
                </a:solidFill>
                <a:latin typeface="Times New Roman"/>
                <a:cs typeface="Segoe UI"/>
              </a:rPr>
              <a:t>Hvad er offeromkostningen ved at se Lady Gaga koncerten?</a:t>
            </a:r>
            <a:r>
              <a:rPr lang="en-US" sz="2400" dirty="0">
                <a:solidFill>
                  <a:srgbClr val="003300"/>
                </a:solidFill>
                <a:latin typeface="Times New Roman"/>
                <a:cs typeface="Segoe UI"/>
              </a:rPr>
              <a:t>​</a:t>
            </a:r>
          </a:p>
          <a:p>
            <a:pPr lvl="1">
              <a:buAutoNum type="arabicPeriod"/>
            </a:pPr>
            <a:r>
              <a:rPr lang="da-DK" sz="2400" dirty="0">
                <a:solidFill>
                  <a:srgbClr val="003300"/>
                </a:solidFill>
                <a:latin typeface="Times New Roman"/>
                <a:cs typeface="Arial"/>
              </a:rPr>
              <a:t>$0</a:t>
            </a:r>
            <a:r>
              <a:rPr lang="en-US" sz="2400" dirty="0">
                <a:solidFill>
                  <a:srgbClr val="003300"/>
                </a:solidFill>
                <a:latin typeface="Times New Roman"/>
                <a:cs typeface="Arial"/>
              </a:rPr>
              <a:t>​</a:t>
            </a:r>
          </a:p>
          <a:p>
            <a:pPr lvl="1">
              <a:buAutoNum type="arabicPeriod"/>
            </a:pPr>
            <a:r>
              <a:rPr lang="da-DK" sz="2400" dirty="0">
                <a:solidFill>
                  <a:srgbClr val="003300"/>
                </a:solidFill>
                <a:latin typeface="Times New Roman"/>
                <a:cs typeface="Arial"/>
              </a:rPr>
              <a:t>$10</a:t>
            </a:r>
            <a:r>
              <a:rPr lang="en-US" sz="2400" dirty="0">
                <a:solidFill>
                  <a:srgbClr val="003300"/>
                </a:solidFill>
                <a:latin typeface="Times New Roman"/>
                <a:cs typeface="Arial"/>
              </a:rPr>
              <a:t>​</a:t>
            </a:r>
          </a:p>
          <a:p>
            <a:pPr lvl="1">
              <a:buAutoNum type="arabicPeriod"/>
            </a:pPr>
            <a:r>
              <a:rPr lang="da-DK" sz="2400" dirty="0">
                <a:solidFill>
                  <a:srgbClr val="003300"/>
                </a:solidFill>
                <a:latin typeface="Times New Roman"/>
                <a:cs typeface="Arial"/>
              </a:rPr>
              <a:t>$40</a:t>
            </a:r>
            <a:r>
              <a:rPr lang="en-US" sz="2400" dirty="0">
                <a:solidFill>
                  <a:srgbClr val="003300"/>
                </a:solidFill>
                <a:latin typeface="Times New Roman"/>
                <a:cs typeface="Arial"/>
              </a:rPr>
              <a:t>​</a:t>
            </a:r>
          </a:p>
          <a:p>
            <a:pPr lvl="1">
              <a:buAutoNum type="arabicPeriod"/>
            </a:pPr>
            <a:r>
              <a:rPr lang="da-DK" sz="2400" dirty="0">
                <a:solidFill>
                  <a:srgbClr val="003300"/>
                </a:solidFill>
                <a:latin typeface="Times New Roman"/>
                <a:cs typeface="Arial"/>
              </a:rPr>
              <a:t>$50</a:t>
            </a:r>
          </a:p>
          <a:p>
            <a:r>
              <a:rPr lang="da-DK" sz="2400" dirty="0">
                <a:solidFill>
                  <a:srgbClr val="003300"/>
                </a:solidFill>
                <a:latin typeface="Times New Roman"/>
                <a:cs typeface="Arial"/>
              </a:rPr>
              <a:t>Hvor stor skal nytten være for dig ved at </a:t>
            </a:r>
          </a:p>
          <a:p>
            <a:r>
              <a:rPr lang="da-DK" sz="2400" dirty="0">
                <a:solidFill>
                  <a:srgbClr val="003300"/>
                </a:solidFill>
                <a:latin typeface="Times New Roman"/>
                <a:cs typeface="Arial"/>
              </a:rPr>
              <a:t>ved at se Lady Gaga koncerten,</a:t>
            </a:r>
          </a:p>
          <a:p>
            <a:r>
              <a:rPr lang="da-DK" sz="2400" dirty="0">
                <a:solidFill>
                  <a:srgbClr val="003300"/>
                </a:solidFill>
                <a:latin typeface="Times New Roman"/>
                <a:cs typeface="Arial"/>
              </a:rPr>
              <a:t>for at det er et rationelt valg at se denne?  </a:t>
            </a:r>
          </a:p>
        </p:txBody>
      </p:sp>
      <p:pic>
        <p:nvPicPr>
          <p:cNvPr id="4098" name="Picture 2" descr="Lady Gaga Announces Return of Jazz Residency in Las Vegas">
            <a:extLst>
              <a:ext uri="{FF2B5EF4-FFF2-40B4-BE49-F238E27FC236}">
                <a16:creationId xmlns:a16="http://schemas.microsoft.com/office/drawing/2014/main" id="{231D4A26-3C3A-0C1E-2E5C-B9B7C6B6E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373" y="4190888"/>
            <a:ext cx="3093463" cy="20623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339B59F-AB7D-4239-96A9-C9B827C88864}"/>
              </a:ext>
            </a:extLst>
          </p:cNvPr>
          <p:cNvSpPr txBox="1"/>
          <p:nvPr/>
        </p:nvSpPr>
        <p:spPr>
          <a:xfrm>
            <a:off x="7640570" y="6243341"/>
            <a:ext cx="2909771" cy="169277"/>
          </a:xfrm>
          <a:prstGeom prst="rect">
            <a:avLst/>
          </a:prstGeom>
          <a:noFill/>
        </p:spPr>
        <p:txBody>
          <a:bodyPr wrap="none" rtlCol="0">
            <a:spAutoFit/>
          </a:bodyPr>
          <a:lstStyle/>
          <a:p>
            <a:r>
              <a:rPr lang="en-US" sz="500" dirty="0">
                <a:solidFill>
                  <a:schemeClr val="bg2">
                    <a:lumMod val="50000"/>
                  </a:schemeClr>
                </a:solidFill>
              </a:rPr>
              <a:t>Kilde: https://</a:t>
            </a:r>
            <a:r>
              <a:rPr lang="en-US" sz="500" dirty="0" err="1">
                <a:solidFill>
                  <a:schemeClr val="bg2">
                    <a:lumMod val="50000"/>
                  </a:schemeClr>
                </a:solidFill>
              </a:rPr>
              <a:t>people.com</a:t>
            </a:r>
            <a:r>
              <a:rPr lang="en-US" sz="500" dirty="0">
                <a:solidFill>
                  <a:schemeClr val="bg2">
                    <a:lumMod val="50000"/>
                  </a:schemeClr>
                </a:solidFill>
              </a:rPr>
              <a:t>/lady-gaga-announces-return-of-jazz-piano-residency-in-las-vegas-7567729</a:t>
            </a:r>
          </a:p>
        </p:txBody>
      </p:sp>
    </p:spTree>
    <p:extLst>
      <p:ext uri="{BB962C8B-B14F-4D97-AF65-F5344CB8AC3E}">
        <p14:creationId xmlns:p14="http://schemas.microsoft.com/office/powerpoint/2010/main" val="2852339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1905000" y="2307772"/>
            <a:ext cx="8229600" cy="4211900"/>
          </a:xfrm>
        </p:spPr>
        <p:txBody>
          <a:bodyPr>
            <a:normAutofit lnSpcReduction="10000"/>
          </a:bodyPr>
          <a:lstStyle/>
          <a:p>
            <a:pPr eaLnBrk="1" hangingPunct="1"/>
            <a:r>
              <a:rPr lang="en-US" sz="2800" dirty="0">
                <a:solidFill>
                  <a:srgbClr val="960000"/>
                </a:solidFill>
              </a:rPr>
              <a:t>Explicit costs are direct dollar/</a:t>
            </a:r>
            <a:r>
              <a:rPr lang="en-US" sz="2800" dirty="0" err="1">
                <a:solidFill>
                  <a:srgbClr val="960000"/>
                </a:solidFill>
              </a:rPr>
              <a:t>kr</a:t>
            </a:r>
            <a:r>
              <a:rPr lang="en-US" sz="2800" dirty="0">
                <a:solidFill>
                  <a:srgbClr val="960000"/>
                </a:solidFill>
              </a:rPr>
              <a:t>/euro expenditures.</a:t>
            </a:r>
          </a:p>
          <a:p>
            <a:pPr eaLnBrk="1" hangingPunct="1"/>
            <a:r>
              <a:rPr lang="en-US" sz="2800" dirty="0">
                <a:solidFill>
                  <a:srgbClr val="960000"/>
                </a:solidFill>
              </a:rPr>
              <a:t>Implicit costs reflect opportunity costs that are not direct dollar expenditures</a:t>
            </a:r>
          </a:p>
          <a:p>
            <a:pPr lvl="1" eaLnBrk="1" hangingPunct="1">
              <a:buFontTx/>
              <a:buChar char="•"/>
            </a:pPr>
            <a:r>
              <a:rPr lang="en-US" sz="2800" dirty="0">
                <a:solidFill>
                  <a:srgbClr val="960000"/>
                </a:solidFill>
              </a:rPr>
              <a:t>using your time to run a business</a:t>
            </a:r>
          </a:p>
          <a:p>
            <a:pPr lvl="1" eaLnBrk="1" hangingPunct="1">
              <a:buFontTx/>
              <a:buChar char="•"/>
            </a:pPr>
            <a:r>
              <a:rPr lang="en-US" sz="2800" dirty="0">
                <a:solidFill>
                  <a:srgbClr val="960000"/>
                </a:solidFill>
              </a:rPr>
              <a:t>the hours </a:t>
            </a:r>
            <a:r>
              <a:rPr lang="en-US" sz="2800" u="sng" dirty="0">
                <a:solidFill>
                  <a:srgbClr val="960000"/>
                </a:solidFill>
              </a:rPr>
              <a:t>not</a:t>
            </a:r>
            <a:r>
              <a:rPr lang="en-US" sz="2800" dirty="0">
                <a:solidFill>
                  <a:srgbClr val="960000"/>
                </a:solidFill>
              </a:rPr>
              <a:t> used with friends or family</a:t>
            </a:r>
          </a:p>
          <a:p>
            <a:pPr lvl="1" eaLnBrk="1" hangingPunct="1">
              <a:buFontTx/>
              <a:buChar char="•"/>
            </a:pPr>
            <a:r>
              <a:rPr lang="en-US" sz="2800" dirty="0">
                <a:solidFill>
                  <a:srgbClr val="960000"/>
                </a:solidFill>
              </a:rPr>
              <a:t>search for information</a:t>
            </a:r>
          </a:p>
          <a:p>
            <a:pPr lvl="1" eaLnBrk="1" hangingPunct="1">
              <a:buFontTx/>
              <a:buChar char="•"/>
            </a:pPr>
            <a:r>
              <a:rPr lang="en-US" sz="2800" dirty="0">
                <a:solidFill>
                  <a:srgbClr val="960000"/>
                </a:solidFill>
              </a:rPr>
              <a:t>slack</a:t>
            </a:r>
          </a:p>
          <a:p>
            <a:pPr lvl="1" eaLnBrk="1" hangingPunct="1">
              <a:buFontTx/>
              <a:buChar char="•"/>
            </a:pPr>
            <a:r>
              <a:rPr lang="en-US" sz="2800" dirty="0">
                <a:solidFill>
                  <a:srgbClr val="960000"/>
                </a:solidFill>
              </a:rPr>
              <a:t>…..</a:t>
            </a:r>
          </a:p>
          <a:p>
            <a:pPr lvl="1" eaLnBrk="1" hangingPunct="1">
              <a:buFontTx/>
              <a:buChar char="•"/>
            </a:pPr>
            <a:endParaRPr lang="en-US" dirty="0"/>
          </a:p>
        </p:txBody>
      </p:sp>
      <p:sp>
        <p:nvSpPr>
          <p:cNvPr id="12291" name="Rectangle 2"/>
          <p:cNvSpPr>
            <a:spLocks noChangeArrowheads="1"/>
          </p:cNvSpPr>
          <p:nvPr/>
        </p:nvSpPr>
        <p:spPr bwMode="auto">
          <a:xfrm>
            <a:off x="1981200" y="914401"/>
            <a:ext cx="8204200" cy="580571"/>
          </a:xfrm>
          <a:prstGeom prst="rect">
            <a:avLst/>
          </a:prstGeom>
          <a:noFill/>
          <a:ln w="9525">
            <a:noFill/>
            <a:miter lim="800000"/>
            <a:headEnd/>
            <a:tailEnd/>
          </a:ln>
        </p:spPr>
        <p:txBody>
          <a:bodyPr anchor="ctr"/>
          <a:lstStyle/>
          <a:p>
            <a:pPr algn="ctr"/>
            <a:r>
              <a:rPr lang="en-US" sz="3600" dirty="0">
                <a:solidFill>
                  <a:schemeClr val="tx2">
                    <a:lumMod val="75000"/>
                  </a:schemeClr>
                </a:solidFill>
              </a:rPr>
              <a:t>The Nature of Opportunity Costs (2)</a:t>
            </a:r>
          </a:p>
        </p:txBody>
      </p:sp>
      <p:sp>
        <p:nvSpPr>
          <p:cNvPr id="12292" name="Rectangle 6"/>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8DAB8B4F-8B89-4F79-AEC3-EA502650A814}" type="slidenum">
              <a:rPr lang="en-US" sz="1200"/>
              <a:pPr/>
              <a:t>8</a:t>
            </a:fld>
            <a:endParaRPr lang="en-US" sz="1200" dirty="0"/>
          </a:p>
        </p:txBody>
      </p:sp>
    </p:spTree>
    <p:extLst>
      <p:ext uri="{BB962C8B-B14F-4D97-AF65-F5344CB8AC3E}">
        <p14:creationId xmlns:p14="http://schemas.microsoft.com/office/powerpoint/2010/main" val="375299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1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bldLvl="2"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81200" y="762000"/>
            <a:ext cx="8229600" cy="660400"/>
          </a:xfrm>
        </p:spPr>
        <p:txBody>
          <a:bodyPr>
            <a:normAutofit fontScale="90000"/>
          </a:bodyPr>
          <a:lstStyle/>
          <a:p>
            <a:pPr eaLnBrk="1" hangingPunct="1"/>
            <a:r>
              <a:rPr lang="en-US" dirty="0">
                <a:solidFill>
                  <a:srgbClr val="960000"/>
                </a:solidFill>
              </a:rPr>
              <a:t>The Use of Graphical Tools</a:t>
            </a:r>
          </a:p>
        </p:txBody>
      </p:sp>
      <p:sp>
        <p:nvSpPr>
          <p:cNvPr id="23555" name="Rectangle 3"/>
          <p:cNvSpPr>
            <a:spLocks noGrp="1" noChangeArrowheads="1"/>
          </p:cNvSpPr>
          <p:nvPr>
            <p:ph idx="1"/>
          </p:nvPr>
        </p:nvSpPr>
        <p:spPr>
          <a:xfrm>
            <a:off x="1981200" y="2286000"/>
            <a:ext cx="8229600" cy="3276600"/>
          </a:xfrm>
        </p:spPr>
        <p:txBody>
          <a:bodyPr>
            <a:normAutofit/>
          </a:bodyPr>
          <a:lstStyle/>
          <a:p>
            <a:pPr eaLnBrk="1" hangingPunct="1"/>
            <a:r>
              <a:rPr lang="en-US" sz="2400" dirty="0">
                <a:solidFill>
                  <a:srgbClr val="960000"/>
                </a:solidFill>
              </a:rPr>
              <a:t>Desired goal: Maximize utility</a:t>
            </a:r>
          </a:p>
          <a:p>
            <a:pPr marL="0" indent="0" eaLnBrk="1" hangingPunct="1">
              <a:buNone/>
            </a:pPr>
            <a:r>
              <a:rPr lang="en-US" sz="2400" dirty="0">
                <a:solidFill>
                  <a:srgbClr val="960000"/>
                </a:solidFill>
              </a:rPr>
              <a:t>		Utility = f(Food, Clothing),</a:t>
            </a:r>
          </a:p>
          <a:p>
            <a:pPr eaLnBrk="1" hangingPunct="1">
              <a:buFontTx/>
              <a:buNone/>
            </a:pPr>
            <a:r>
              <a:rPr lang="en-US" sz="2400" dirty="0">
                <a:solidFill>
                  <a:srgbClr val="960000"/>
                </a:solidFill>
              </a:rPr>
              <a:t>			subject to a budget constraint</a:t>
            </a:r>
          </a:p>
          <a:p>
            <a:pPr eaLnBrk="1" hangingPunct="1">
              <a:buFontTx/>
              <a:buNone/>
            </a:pPr>
            <a:endParaRPr lang="en-US" sz="2400" dirty="0">
              <a:solidFill>
                <a:srgbClr val="960000"/>
              </a:solidFill>
            </a:endParaRPr>
          </a:p>
          <a:p>
            <a:pPr eaLnBrk="1" hangingPunct="1"/>
            <a:r>
              <a:rPr lang="en-US" sz="2400" dirty="0">
                <a:solidFill>
                  <a:srgbClr val="960000"/>
                </a:solidFill>
              </a:rPr>
              <a:t>This can be shown graphically with indifference curves and budget constraints</a:t>
            </a:r>
            <a:endParaRPr lang="en-US" sz="2400" dirty="0">
              <a:solidFill>
                <a:srgbClr val="960000"/>
              </a:solidFill>
              <a:sym typeface="Monotype Sorts" pitchFamily="2" charset="2"/>
            </a:endParaRPr>
          </a:p>
        </p:txBody>
      </p:sp>
      <p:sp>
        <p:nvSpPr>
          <p:cNvPr id="13316"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3C6FF942-4A4E-403A-80D4-8DA829849B54}" type="slidenum">
              <a:rPr lang="en-US" sz="1200"/>
              <a:pPr/>
              <a:t>9</a:t>
            </a:fld>
            <a:endParaRPr lang="en-US" sz="1200" dirty="0"/>
          </a:p>
        </p:txBody>
      </p:sp>
    </p:spTree>
    <p:extLst>
      <p:ext uri="{BB962C8B-B14F-4D97-AF65-F5344CB8AC3E}">
        <p14:creationId xmlns:p14="http://schemas.microsoft.com/office/powerpoint/2010/main" val="384402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5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81200" y="762001"/>
            <a:ext cx="8229600" cy="616857"/>
          </a:xfrm>
        </p:spPr>
        <p:txBody>
          <a:bodyPr>
            <a:normAutofit fontScale="90000"/>
          </a:bodyPr>
          <a:lstStyle/>
          <a:p>
            <a:pPr eaLnBrk="1" hangingPunct="1"/>
            <a:r>
              <a:rPr lang="en-US" dirty="0">
                <a:solidFill>
                  <a:srgbClr val="960000"/>
                </a:solidFill>
              </a:rPr>
              <a:t>Indifference Curves</a:t>
            </a:r>
          </a:p>
        </p:txBody>
      </p:sp>
      <p:sp>
        <p:nvSpPr>
          <p:cNvPr id="24579" name="Rectangle 3"/>
          <p:cNvSpPr>
            <a:spLocks noGrp="1" noChangeArrowheads="1"/>
          </p:cNvSpPr>
          <p:nvPr>
            <p:ph idx="1"/>
          </p:nvPr>
        </p:nvSpPr>
        <p:spPr>
          <a:xfrm>
            <a:off x="1962150" y="2095501"/>
            <a:ext cx="8229600" cy="3811523"/>
          </a:xfrm>
        </p:spPr>
        <p:txBody>
          <a:bodyPr/>
          <a:lstStyle/>
          <a:p>
            <a:pPr eaLnBrk="1" hangingPunct="1"/>
            <a:endParaRPr lang="en-US" dirty="0"/>
          </a:p>
          <a:p>
            <a:pPr eaLnBrk="1" hangingPunct="1"/>
            <a:r>
              <a:rPr lang="en-US" sz="2800" dirty="0">
                <a:solidFill>
                  <a:srgbClr val="960000"/>
                </a:solidFill>
              </a:rPr>
              <a:t>For a utility function U = f(Food, Clothing)</a:t>
            </a:r>
          </a:p>
          <a:p>
            <a:pPr lvl="1"/>
            <a:r>
              <a:rPr lang="en-US" sz="2800" dirty="0">
                <a:solidFill>
                  <a:srgbClr val="960000"/>
                </a:solidFill>
              </a:rPr>
              <a:t>Indifference curves show all combinations of food and clothing that yield the </a:t>
            </a:r>
            <a:r>
              <a:rPr lang="en-US" sz="2800" u="sng" dirty="0">
                <a:solidFill>
                  <a:srgbClr val="960000"/>
                </a:solidFill>
              </a:rPr>
              <a:t>same</a:t>
            </a:r>
            <a:r>
              <a:rPr lang="en-US" sz="2800" dirty="0">
                <a:solidFill>
                  <a:srgbClr val="960000"/>
                </a:solidFill>
              </a:rPr>
              <a:t> level of utility</a:t>
            </a:r>
          </a:p>
          <a:p>
            <a:pPr lvl="1"/>
            <a:r>
              <a:rPr lang="en-US" sz="2800" dirty="0">
                <a:solidFill>
                  <a:srgbClr val="960000"/>
                </a:solidFill>
              </a:rPr>
              <a:t>Indifference curves have negative slopes – this indicates a </a:t>
            </a:r>
            <a:r>
              <a:rPr lang="en-US" sz="2800" i="1" dirty="0">
                <a:solidFill>
                  <a:srgbClr val="960000"/>
                </a:solidFill>
              </a:rPr>
              <a:t>tradeoff </a:t>
            </a:r>
            <a:r>
              <a:rPr lang="en-US" sz="2800" dirty="0">
                <a:solidFill>
                  <a:srgbClr val="960000"/>
                </a:solidFill>
              </a:rPr>
              <a:t>between food and clothing</a:t>
            </a:r>
          </a:p>
        </p:txBody>
      </p:sp>
      <p:sp>
        <p:nvSpPr>
          <p:cNvPr id="14340"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5026E1C1-246A-47C5-A855-D0FB56142D90}" type="slidenum">
              <a:rPr lang="en-US" sz="1200"/>
              <a:pPr/>
              <a:t>10</a:t>
            </a:fld>
            <a:endParaRPr lang="en-US" sz="1200" dirty="0"/>
          </a:p>
        </p:txBody>
      </p:sp>
    </p:spTree>
    <p:extLst>
      <p:ext uri="{BB962C8B-B14F-4D97-AF65-F5344CB8AC3E}">
        <p14:creationId xmlns:p14="http://schemas.microsoft.com/office/powerpoint/2010/main" val="208606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524000" y="577850"/>
            <a:ext cx="8229600" cy="1143000"/>
          </a:xfrm>
        </p:spPr>
        <p:txBody>
          <a:bodyPr/>
          <a:lstStyle/>
          <a:p>
            <a:pPr eaLnBrk="1" hangingPunct="1"/>
            <a:r>
              <a:rPr lang="en-US"/>
              <a:t>Indifference Curves Diagram</a:t>
            </a:r>
          </a:p>
        </p:txBody>
      </p:sp>
      <p:sp>
        <p:nvSpPr>
          <p:cNvPr id="15363" name="Line 3"/>
          <p:cNvSpPr>
            <a:spLocks noChangeShapeType="1"/>
          </p:cNvSpPr>
          <p:nvPr/>
        </p:nvSpPr>
        <p:spPr bwMode="auto">
          <a:xfrm>
            <a:off x="3886200" y="2057400"/>
            <a:ext cx="0" cy="3810000"/>
          </a:xfrm>
          <a:prstGeom prst="line">
            <a:avLst/>
          </a:prstGeom>
          <a:noFill/>
          <a:ln w="12700">
            <a:solidFill>
              <a:schemeClr val="tx1"/>
            </a:solidFill>
            <a:round/>
            <a:headEnd type="triangle" w="sm" len="sm"/>
            <a:tailEnd type="none" w="sm" len="sm"/>
          </a:ln>
        </p:spPr>
        <p:txBody>
          <a:bodyPr/>
          <a:lstStyle/>
          <a:p>
            <a:endParaRPr lang="da-DK"/>
          </a:p>
        </p:txBody>
      </p:sp>
      <p:sp>
        <p:nvSpPr>
          <p:cNvPr id="15364" name="Line 4"/>
          <p:cNvSpPr>
            <a:spLocks noChangeShapeType="1"/>
          </p:cNvSpPr>
          <p:nvPr/>
        </p:nvSpPr>
        <p:spPr bwMode="auto">
          <a:xfrm>
            <a:off x="3886200" y="5867400"/>
            <a:ext cx="4343400" cy="0"/>
          </a:xfrm>
          <a:prstGeom prst="line">
            <a:avLst/>
          </a:prstGeom>
          <a:noFill/>
          <a:ln w="12700">
            <a:solidFill>
              <a:schemeClr val="tx1"/>
            </a:solidFill>
            <a:round/>
            <a:headEnd type="none" w="sm" len="sm"/>
            <a:tailEnd type="triangle" w="sm" len="sm"/>
          </a:ln>
        </p:spPr>
        <p:txBody>
          <a:bodyPr/>
          <a:lstStyle/>
          <a:p>
            <a:endParaRPr lang="da-DK"/>
          </a:p>
        </p:txBody>
      </p:sp>
      <p:sp>
        <p:nvSpPr>
          <p:cNvPr id="26629" name="Text Box 5"/>
          <p:cNvSpPr txBox="1">
            <a:spLocks noChangeArrowheads="1"/>
          </p:cNvSpPr>
          <p:nvPr/>
        </p:nvSpPr>
        <p:spPr bwMode="auto">
          <a:xfrm>
            <a:off x="3460801" y="2678509"/>
            <a:ext cx="453970" cy="369332"/>
          </a:xfrm>
          <a:prstGeom prst="rect">
            <a:avLst/>
          </a:prstGeom>
          <a:noFill/>
          <a:ln w="12700">
            <a:noFill/>
            <a:miter lim="800000"/>
            <a:headEnd type="none" w="sm" len="sm"/>
            <a:tailEnd type="none" w="sm" len="sm"/>
          </a:ln>
        </p:spPr>
        <p:txBody>
          <a:bodyPr wrap="none">
            <a:spAutoFit/>
          </a:bodyPr>
          <a:lstStyle/>
          <a:p>
            <a:r>
              <a:rPr lang="en-US" dirty="0"/>
              <a:t>25</a:t>
            </a:r>
          </a:p>
        </p:txBody>
      </p:sp>
      <p:sp>
        <p:nvSpPr>
          <p:cNvPr id="26630" name="Text Box 6"/>
          <p:cNvSpPr txBox="1">
            <a:spLocks noChangeArrowheads="1"/>
          </p:cNvSpPr>
          <p:nvPr/>
        </p:nvSpPr>
        <p:spPr bwMode="auto">
          <a:xfrm>
            <a:off x="3429000" y="3519488"/>
            <a:ext cx="446084" cy="369332"/>
          </a:xfrm>
          <a:prstGeom prst="rect">
            <a:avLst/>
          </a:prstGeom>
          <a:noFill/>
          <a:ln w="12700">
            <a:noFill/>
            <a:miter lim="800000"/>
            <a:headEnd type="none" w="sm" len="sm"/>
            <a:tailEnd type="none" w="sm" len="sm"/>
          </a:ln>
        </p:spPr>
        <p:txBody>
          <a:bodyPr wrap="none">
            <a:spAutoFit/>
          </a:bodyPr>
          <a:lstStyle/>
          <a:p>
            <a:r>
              <a:rPr lang="en-US" dirty="0"/>
              <a:t>16</a:t>
            </a:r>
          </a:p>
        </p:txBody>
      </p:sp>
      <p:sp>
        <p:nvSpPr>
          <p:cNvPr id="26631" name="Text Box 7"/>
          <p:cNvSpPr txBox="1">
            <a:spLocks noChangeArrowheads="1"/>
          </p:cNvSpPr>
          <p:nvPr/>
        </p:nvSpPr>
        <p:spPr bwMode="auto">
          <a:xfrm>
            <a:off x="3429000" y="4662488"/>
            <a:ext cx="374650" cy="366712"/>
          </a:xfrm>
          <a:prstGeom prst="rect">
            <a:avLst/>
          </a:prstGeom>
          <a:noFill/>
          <a:ln w="12700">
            <a:noFill/>
            <a:miter lim="800000"/>
            <a:headEnd type="none" w="sm" len="sm"/>
            <a:tailEnd type="none" w="sm" len="sm"/>
          </a:ln>
        </p:spPr>
        <p:txBody>
          <a:bodyPr wrap="none">
            <a:spAutoFit/>
          </a:bodyPr>
          <a:lstStyle/>
          <a:p>
            <a:r>
              <a:rPr lang="en-US" dirty="0"/>
              <a:t> 4</a:t>
            </a:r>
          </a:p>
        </p:txBody>
      </p:sp>
      <p:sp>
        <p:nvSpPr>
          <p:cNvPr id="26632" name="Text Box 8"/>
          <p:cNvSpPr txBox="1">
            <a:spLocks noChangeArrowheads="1"/>
          </p:cNvSpPr>
          <p:nvPr/>
        </p:nvSpPr>
        <p:spPr bwMode="auto">
          <a:xfrm>
            <a:off x="4197350" y="5867401"/>
            <a:ext cx="374650" cy="366713"/>
          </a:xfrm>
          <a:prstGeom prst="rect">
            <a:avLst/>
          </a:prstGeom>
          <a:noFill/>
          <a:ln w="12700">
            <a:noFill/>
            <a:miter lim="800000"/>
            <a:headEnd type="none" w="sm" len="sm"/>
            <a:tailEnd type="none" w="sm" len="sm"/>
          </a:ln>
        </p:spPr>
        <p:txBody>
          <a:bodyPr wrap="none">
            <a:spAutoFit/>
          </a:bodyPr>
          <a:lstStyle/>
          <a:p>
            <a:r>
              <a:rPr lang="en-US" dirty="0"/>
              <a:t> 4</a:t>
            </a:r>
          </a:p>
        </p:txBody>
      </p:sp>
      <p:sp>
        <p:nvSpPr>
          <p:cNvPr id="26633" name="Text Box 9"/>
          <p:cNvSpPr txBox="1">
            <a:spLocks noChangeArrowheads="1"/>
          </p:cNvSpPr>
          <p:nvPr/>
        </p:nvSpPr>
        <p:spPr bwMode="auto">
          <a:xfrm>
            <a:off x="5297413" y="5867401"/>
            <a:ext cx="554112" cy="369332"/>
          </a:xfrm>
          <a:prstGeom prst="rect">
            <a:avLst/>
          </a:prstGeom>
          <a:noFill/>
          <a:ln w="12700">
            <a:noFill/>
            <a:miter lim="800000"/>
            <a:headEnd type="none" w="sm" len="sm"/>
            <a:tailEnd type="none" w="sm" len="sm"/>
          </a:ln>
        </p:spPr>
        <p:txBody>
          <a:bodyPr wrap="square">
            <a:spAutoFit/>
          </a:bodyPr>
          <a:lstStyle/>
          <a:p>
            <a:r>
              <a:rPr lang="en-US" dirty="0"/>
              <a:t>16</a:t>
            </a:r>
          </a:p>
        </p:txBody>
      </p:sp>
      <p:sp>
        <p:nvSpPr>
          <p:cNvPr id="26634" name="Text Box 10"/>
          <p:cNvSpPr txBox="1">
            <a:spLocks noChangeArrowheads="1"/>
          </p:cNvSpPr>
          <p:nvPr/>
        </p:nvSpPr>
        <p:spPr bwMode="auto">
          <a:xfrm>
            <a:off x="5960988" y="5867401"/>
            <a:ext cx="506487" cy="369332"/>
          </a:xfrm>
          <a:prstGeom prst="rect">
            <a:avLst/>
          </a:prstGeom>
          <a:noFill/>
          <a:ln w="12700">
            <a:noFill/>
            <a:miter lim="800000"/>
            <a:headEnd type="none" w="sm" len="sm"/>
            <a:tailEnd type="none" w="sm" len="sm"/>
          </a:ln>
        </p:spPr>
        <p:txBody>
          <a:bodyPr wrap="square">
            <a:spAutoFit/>
          </a:bodyPr>
          <a:lstStyle/>
          <a:p>
            <a:r>
              <a:rPr lang="en-US" dirty="0"/>
              <a:t>25</a:t>
            </a:r>
          </a:p>
        </p:txBody>
      </p:sp>
      <p:sp>
        <p:nvSpPr>
          <p:cNvPr id="15371" name="Text Box 11"/>
          <p:cNvSpPr txBox="1">
            <a:spLocks noChangeArrowheads="1"/>
          </p:cNvSpPr>
          <p:nvPr/>
        </p:nvSpPr>
        <p:spPr bwMode="auto">
          <a:xfrm>
            <a:off x="6401817" y="6140348"/>
            <a:ext cx="1666034" cy="307777"/>
          </a:xfrm>
          <a:prstGeom prst="rect">
            <a:avLst/>
          </a:prstGeom>
          <a:noFill/>
          <a:ln w="12700">
            <a:noFill/>
            <a:miter lim="800000"/>
            <a:headEnd type="none" w="sm" len="sm"/>
            <a:tailEnd type="none" w="sm" len="sm"/>
          </a:ln>
        </p:spPr>
        <p:txBody>
          <a:bodyPr wrap="none">
            <a:spAutoFit/>
          </a:bodyPr>
          <a:lstStyle/>
          <a:p>
            <a:r>
              <a:rPr lang="en-US" sz="1400" dirty="0"/>
              <a:t>Quantity of Clothing</a:t>
            </a:r>
          </a:p>
        </p:txBody>
      </p:sp>
      <p:sp>
        <p:nvSpPr>
          <p:cNvPr id="15372" name="Text Box 12"/>
          <p:cNvSpPr txBox="1">
            <a:spLocks noChangeArrowheads="1"/>
          </p:cNvSpPr>
          <p:nvPr/>
        </p:nvSpPr>
        <p:spPr bwMode="auto">
          <a:xfrm rot="-5400000">
            <a:off x="2566406" y="3812482"/>
            <a:ext cx="1420389" cy="307777"/>
          </a:xfrm>
          <a:prstGeom prst="rect">
            <a:avLst/>
          </a:prstGeom>
          <a:noFill/>
          <a:ln w="12700">
            <a:noFill/>
            <a:miter lim="800000"/>
            <a:headEnd type="none" w="sm" len="sm"/>
            <a:tailEnd type="none" w="sm" len="sm"/>
          </a:ln>
        </p:spPr>
        <p:txBody>
          <a:bodyPr wrap="none">
            <a:spAutoFit/>
          </a:bodyPr>
          <a:lstStyle/>
          <a:p>
            <a:r>
              <a:rPr lang="en-US" sz="1400" dirty="0"/>
              <a:t>Quantity of Food</a:t>
            </a:r>
          </a:p>
        </p:txBody>
      </p:sp>
      <p:sp>
        <p:nvSpPr>
          <p:cNvPr id="26637" name="Arc 13"/>
          <p:cNvSpPr>
            <a:spLocks/>
          </p:cNvSpPr>
          <p:nvPr/>
        </p:nvSpPr>
        <p:spPr bwMode="auto">
          <a:xfrm rot="10800000">
            <a:off x="4343400" y="2971800"/>
            <a:ext cx="1828800" cy="1981200"/>
          </a:xfrm>
          <a:custGeom>
            <a:avLst/>
            <a:gdLst>
              <a:gd name="T0" fmla="*/ 0 w 21600"/>
              <a:gd name="T1" fmla="*/ 0 h 21600"/>
              <a:gd name="T2" fmla="*/ 154838386 w 21600"/>
              <a:gd name="T3" fmla="*/ 181720047 h 21600"/>
              <a:gd name="T4" fmla="*/ 0 w 21600"/>
              <a:gd name="T5" fmla="*/ 1817200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26638" name="Arc 14"/>
          <p:cNvSpPr>
            <a:spLocks/>
          </p:cNvSpPr>
          <p:nvPr/>
        </p:nvSpPr>
        <p:spPr bwMode="auto">
          <a:xfrm rot="10238756">
            <a:off x="5413376" y="2132014"/>
            <a:ext cx="1839913" cy="1830387"/>
          </a:xfrm>
          <a:custGeom>
            <a:avLst/>
            <a:gdLst>
              <a:gd name="T0" fmla="*/ 32747417 w 21597"/>
              <a:gd name="T1" fmla="*/ 0 h 21123"/>
              <a:gd name="T2" fmla="*/ 156747675 w 21597"/>
              <a:gd name="T3" fmla="*/ 155936688 h 21123"/>
              <a:gd name="T4" fmla="*/ 0 w 21597"/>
              <a:gd name="T5" fmla="*/ 158609868 h 21123"/>
              <a:gd name="T6" fmla="*/ 0 60000 65536"/>
              <a:gd name="T7" fmla="*/ 0 60000 65536"/>
              <a:gd name="T8" fmla="*/ 0 60000 65536"/>
              <a:gd name="T9" fmla="*/ 0 w 21597"/>
              <a:gd name="T10" fmla="*/ 0 h 21123"/>
              <a:gd name="T11" fmla="*/ 21597 w 21597"/>
              <a:gd name="T12" fmla="*/ 21123 h 21123"/>
            </a:gdLst>
            <a:ahLst/>
            <a:cxnLst>
              <a:cxn ang="T6">
                <a:pos x="T0" y="T1"/>
              </a:cxn>
              <a:cxn ang="T7">
                <a:pos x="T2" y="T3"/>
              </a:cxn>
              <a:cxn ang="T8">
                <a:pos x="T4" y="T5"/>
              </a:cxn>
            </a:cxnLst>
            <a:rect l="T9" t="T10" r="T11" b="T12"/>
            <a:pathLst>
              <a:path w="21597" h="21123" fill="none" extrusionOk="0">
                <a:moveTo>
                  <a:pt x="4512" y="-1"/>
                </a:moveTo>
                <a:cubicBezTo>
                  <a:pt x="14347" y="2100"/>
                  <a:pt x="21431" y="10711"/>
                  <a:pt x="21597" y="20766"/>
                </a:cubicBezTo>
              </a:path>
              <a:path w="21597" h="21123" stroke="0" extrusionOk="0">
                <a:moveTo>
                  <a:pt x="4512" y="-1"/>
                </a:moveTo>
                <a:cubicBezTo>
                  <a:pt x="14347" y="2100"/>
                  <a:pt x="21431" y="10711"/>
                  <a:pt x="21597" y="20766"/>
                </a:cubicBezTo>
                <a:lnTo>
                  <a:pt x="0" y="21123"/>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26639" name="Line 15"/>
          <p:cNvSpPr>
            <a:spLocks noChangeShapeType="1"/>
          </p:cNvSpPr>
          <p:nvPr/>
        </p:nvSpPr>
        <p:spPr bwMode="auto">
          <a:xfrm flipV="1">
            <a:off x="3886200" y="2836447"/>
            <a:ext cx="1622778" cy="1682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26640" name="Line 16"/>
          <p:cNvSpPr>
            <a:spLocks noChangeShapeType="1"/>
          </p:cNvSpPr>
          <p:nvPr/>
        </p:nvSpPr>
        <p:spPr bwMode="auto">
          <a:xfrm flipV="1">
            <a:off x="3867095" y="3657600"/>
            <a:ext cx="2381305" cy="20082"/>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26641" name="Line 17"/>
          <p:cNvSpPr>
            <a:spLocks noChangeShapeType="1"/>
          </p:cNvSpPr>
          <p:nvPr/>
        </p:nvSpPr>
        <p:spPr bwMode="auto">
          <a:xfrm flipV="1">
            <a:off x="3886200" y="4876800"/>
            <a:ext cx="1752600" cy="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26642" name="Line 18"/>
          <p:cNvSpPr>
            <a:spLocks noChangeShapeType="1"/>
          </p:cNvSpPr>
          <p:nvPr/>
        </p:nvSpPr>
        <p:spPr bwMode="auto">
          <a:xfrm flipH="1" flipV="1">
            <a:off x="5638800" y="4876800"/>
            <a:ext cx="0" cy="990600"/>
          </a:xfrm>
          <a:prstGeom prst="line">
            <a:avLst/>
          </a:prstGeom>
          <a:noFill/>
          <a:ln w="12700">
            <a:solidFill>
              <a:schemeClr val="bg2"/>
            </a:solidFill>
            <a:prstDash val="dash"/>
            <a:round/>
            <a:headEnd type="none" w="sm" len="sm"/>
            <a:tailEnd type="none" w="sm" len="sm"/>
          </a:ln>
        </p:spPr>
        <p:txBody>
          <a:bodyPr/>
          <a:lstStyle/>
          <a:p>
            <a:endParaRPr lang="da-DK"/>
          </a:p>
        </p:txBody>
      </p:sp>
      <p:sp>
        <p:nvSpPr>
          <p:cNvPr id="26643" name="Line 19"/>
          <p:cNvSpPr>
            <a:spLocks noChangeShapeType="1"/>
          </p:cNvSpPr>
          <p:nvPr/>
        </p:nvSpPr>
        <p:spPr bwMode="auto">
          <a:xfrm flipH="1" flipV="1">
            <a:off x="6248400" y="3657600"/>
            <a:ext cx="0" cy="220980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26644" name="Line 20"/>
          <p:cNvSpPr>
            <a:spLocks noChangeShapeType="1"/>
          </p:cNvSpPr>
          <p:nvPr/>
        </p:nvSpPr>
        <p:spPr bwMode="auto">
          <a:xfrm flipH="1" flipV="1">
            <a:off x="4419600" y="3657600"/>
            <a:ext cx="0" cy="220980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15381" name="Text Box 21"/>
          <p:cNvSpPr txBox="1">
            <a:spLocks noChangeArrowheads="1"/>
          </p:cNvSpPr>
          <p:nvPr/>
        </p:nvSpPr>
        <p:spPr bwMode="auto">
          <a:xfrm>
            <a:off x="3717925" y="1720850"/>
            <a:ext cx="288862" cy="338554"/>
          </a:xfrm>
          <a:prstGeom prst="rect">
            <a:avLst/>
          </a:prstGeom>
          <a:noFill/>
          <a:ln w="12700">
            <a:noFill/>
            <a:miter lim="800000"/>
            <a:headEnd type="none" w="sm" len="sm"/>
            <a:tailEnd type="none" w="sm" len="sm"/>
          </a:ln>
        </p:spPr>
        <p:txBody>
          <a:bodyPr wrap="none">
            <a:spAutoFit/>
          </a:bodyPr>
          <a:lstStyle/>
          <a:p>
            <a:r>
              <a:rPr lang="en-US" sz="1600" i="1">
                <a:solidFill>
                  <a:srgbClr val="5F5F5F"/>
                </a:solidFill>
              </a:rPr>
              <a:t>F</a:t>
            </a:r>
          </a:p>
        </p:txBody>
      </p:sp>
      <p:sp>
        <p:nvSpPr>
          <p:cNvPr id="15382" name="Text Box 22"/>
          <p:cNvSpPr txBox="1">
            <a:spLocks noChangeArrowheads="1"/>
          </p:cNvSpPr>
          <p:nvPr/>
        </p:nvSpPr>
        <p:spPr bwMode="auto">
          <a:xfrm>
            <a:off x="8229600" y="5683250"/>
            <a:ext cx="303288" cy="338554"/>
          </a:xfrm>
          <a:prstGeom prst="rect">
            <a:avLst/>
          </a:prstGeom>
          <a:noFill/>
          <a:ln w="12700">
            <a:noFill/>
            <a:miter lim="800000"/>
            <a:headEnd type="none" w="sm" len="sm"/>
            <a:tailEnd type="none" w="sm" len="sm"/>
          </a:ln>
        </p:spPr>
        <p:txBody>
          <a:bodyPr wrap="none">
            <a:spAutoFit/>
          </a:bodyPr>
          <a:lstStyle/>
          <a:p>
            <a:r>
              <a:rPr lang="en-US" sz="1600" i="1">
                <a:solidFill>
                  <a:srgbClr val="5F5F5F"/>
                </a:solidFill>
              </a:rPr>
              <a:t>C</a:t>
            </a:r>
          </a:p>
        </p:txBody>
      </p:sp>
      <p:sp>
        <p:nvSpPr>
          <p:cNvPr id="26647" name="Line 23"/>
          <p:cNvSpPr>
            <a:spLocks noChangeShapeType="1"/>
          </p:cNvSpPr>
          <p:nvPr/>
        </p:nvSpPr>
        <p:spPr bwMode="auto">
          <a:xfrm flipV="1">
            <a:off x="3886200" y="3657600"/>
            <a:ext cx="533400" cy="0"/>
          </a:xfrm>
          <a:prstGeom prst="line">
            <a:avLst/>
          </a:prstGeom>
          <a:noFill/>
          <a:ln w="12700">
            <a:solidFill>
              <a:schemeClr val="bg2"/>
            </a:solidFill>
            <a:prstDash val="dash"/>
            <a:round/>
            <a:headEnd type="none" w="sm" len="sm"/>
            <a:tailEnd type="none" w="sm" len="sm"/>
          </a:ln>
        </p:spPr>
        <p:txBody>
          <a:bodyPr/>
          <a:lstStyle/>
          <a:p>
            <a:endParaRPr lang="da-DK"/>
          </a:p>
        </p:txBody>
      </p:sp>
      <p:sp>
        <p:nvSpPr>
          <p:cNvPr id="26648" name="Line 24"/>
          <p:cNvSpPr>
            <a:spLocks noChangeShapeType="1"/>
          </p:cNvSpPr>
          <p:nvPr/>
        </p:nvSpPr>
        <p:spPr bwMode="auto">
          <a:xfrm flipV="1">
            <a:off x="5492044" y="2853267"/>
            <a:ext cx="16581" cy="299926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26649" name="Text Box 25"/>
          <p:cNvSpPr txBox="1">
            <a:spLocks noChangeArrowheads="1"/>
          </p:cNvSpPr>
          <p:nvPr/>
        </p:nvSpPr>
        <p:spPr bwMode="auto">
          <a:xfrm>
            <a:off x="6172201" y="4845050"/>
            <a:ext cx="739775" cy="336550"/>
          </a:xfrm>
          <a:prstGeom prst="rect">
            <a:avLst/>
          </a:prstGeom>
          <a:noFill/>
          <a:ln w="12700">
            <a:noFill/>
            <a:miter lim="800000"/>
            <a:headEnd type="none" w="sm" len="sm"/>
            <a:tailEnd type="none" w="sm" len="sm"/>
          </a:ln>
        </p:spPr>
        <p:txBody>
          <a:bodyPr>
            <a:spAutoFit/>
          </a:bodyPr>
          <a:lstStyle/>
          <a:p>
            <a:pPr>
              <a:spcBef>
                <a:spcPct val="50000"/>
              </a:spcBef>
            </a:pPr>
            <a:r>
              <a:rPr lang="en-US" sz="1600" i="1" dirty="0"/>
              <a:t>U</a:t>
            </a:r>
            <a:r>
              <a:rPr lang="en-US" sz="1600" dirty="0"/>
              <a:t>=8</a:t>
            </a:r>
          </a:p>
        </p:txBody>
      </p:sp>
      <p:sp>
        <p:nvSpPr>
          <p:cNvPr id="26650" name="Text Box 26"/>
          <p:cNvSpPr txBox="1">
            <a:spLocks noChangeArrowheads="1"/>
          </p:cNvSpPr>
          <p:nvPr/>
        </p:nvSpPr>
        <p:spPr bwMode="auto">
          <a:xfrm>
            <a:off x="6956426" y="3702050"/>
            <a:ext cx="739775" cy="336550"/>
          </a:xfrm>
          <a:prstGeom prst="rect">
            <a:avLst/>
          </a:prstGeom>
          <a:noFill/>
          <a:ln w="12700">
            <a:noFill/>
            <a:miter lim="800000"/>
            <a:headEnd type="none" w="sm" len="sm"/>
            <a:tailEnd type="none" w="sm" len="sm"/>
          </a:ln>
        </p:spPr>
        <p:txBody>
          <a:bodyPr>
            <a:spAutoFit/>
          </a:bodyPr>
          <a:lstStyle/>
          <a:p>
            <a:pPr>
              <a:spcBef>
                <a:spcPct val="50000"/>
              </a:spcBef>
            </a:pPr>
            <a:r>
              <a:rPr lang="en-US" sz="1600" i="1" dirty="0"/>
              <a:t>U</a:t>
            </a:r>
            <a:r>
              <a:rPr lang="en-US" sz="1600" dirty="0"/>
              <a:t>=20</a:t>
            </a:r>
          </a:p>
        </p:txBody>
      </p:sp>
      <p:sp>
        <p:nvSpPr>
          <p:cNvPr id="15387" name="Rectangle 28"/>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D797645A-D659-4686-9B9D-0CC822D5748E}" type="slidenum">
              <a:rPr lang="en-US" sz="1200"/>
              <a:pPr/>
              <a:t>11</a:t>
            </a:fld>
            <a:endParaRPr lang="en-US" sz="1200" dirty="0"/>
          </a:p>
        </p:txBody>
      </p:sp>
    </p:spTree>
    <p:extLst>
      <p:ext uri="{BB962C8B-B14F-4D97-AF65-F5344CB8AC3E}">
        <p14:creationId xmlns:p14="http://schemas.microsoft.com/office/powerpoint/2010/main" val="234099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637"/>
                                        </p:tgtEl>
                                        <p:attrNameLst>
                                          <p:attrName>style.visibility</p:attrName>
                                        </p:attrNameLst>
                                      </p:cBhvr>
                                      <p:to>
                                        <p:strVal val="visible"/>
                                      </p:to>
                                    </p:set>
                                    <p:animEffect transition="in" filter="wipe(up)">
                                      <p:cBhvr>
                                        <p:cTn id="7" dur="500"/>
                                        <p:tgtEl>
                                          <p:spTgt spid="2663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6649"/>
                                        </p:tgtEl>
                                        <p:attrNameLst>
                                          <p:attrName>style.visibility</p:attrName>
                                        </p:attrNameLst>
                                      </p:cBhvr>
                                      <p:to>
                                        <p:strVal val="visible"/>
                                      </p:to>
                                    </p:se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6630"/>
                                        </p:tgtEl>
                                        <p:attrNameLst>
                                          <p:attrName>style.visibility</p:attrName>
                                        </p:attrNameLst>
                                      </p:cBhvr>
                                      <p:to>
                                        <p:strVal val="visible"/>
                                      </p:to>
                                    </p:set>
                                    <p:animEffect transition="in" filter="wipe(left)">
                                      <p:cBhvr>
                                        <p:cTn id="14" dur="500"/>
                                        <p:tgtEl>
                                          <p:spTgt spid="2663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6647"/>
                                        </p:tgtEl>
                                        <p:attrNameLst>
                                          <p:attrName>style.visibility</p:attrName>
                                        </p:attrNameLst>
                                      </p:cBhvr>
                                      <p:to>
                                        <p:strVal val="visible"/>
                                      </p:to>
                                    </p:set>
                                    <p:animEffect transition="in" filter="wipe(left)">
                                      <p:cBhvr>
                                        <p:cTn id="18" dur="500"/>
                                        <p:tgtEl>
                                          <p:spTgt spid="26647"/>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26644"/>
                                        </p:tgtEl>
                                        <p:attrNameLst>
                                          <p:attrName>style.visibility</p:attrName>
                                        </p:attrNameLst>
                                      </p:cBhvr>
                                      <p:to>
                                        <p:strVal val="visible"/>
                                      </p:to>
                                    </p:set>
                                    <p:animEffect transition="in" filter="wipe(up)">
                                      <p:cBhvr>
                                        <p:cTn id="22" dur="500"/>
                                        <p:tgtEl>
                                          <p:spTgt spid="26644"/>
                                        </p:tgtEl>
                                      </p:cBhvr>
                                    </p:animEffect>
                                  </p:childTnLst>
                                </p:cTn>
                              </p:par>
                            </p:childTnLst>
                          </p:cTn>
                        </p:par>
                        <p:par>
                          <p:cTn id="23" fill="hold">
                            <p:stCondLst>
                              <p:cond delay="2000"/>
                            </p:stCondLst>
                            <p:childTnLst>
                              <p:par>
                                <p:cTn id="24" presetID="1" presetClass="entr" presetSubtype="0" fill="hold" grpId="0" nodeType="afterEffect">
                                  <p:stCondLst>
                                    <p:cond delay="0"/>
                                  </p:stCondLst>
                                  <p:childTnLst>
                                    <p:set>
                                      <p:cBhvr>
                                        <p:cTn id="25" dur="1" fill="hold">
                                          <p:stCondLst>
                                            <p:cond delay="0"/>
                                          </p:stCondLst>
                                        </p:cTn>
                                        <p:tgtEl>
                                          <p:spTgt spid="26632"/>
                                        </p:tgtEl>
                                        <p:attrNameLst>
                                          <p:attrName>style.visibility</p:attrName>
                                        </p:attrNameLst>
                                      </p:cBhvr>
                                      <p:to>
                                        <p:strVal val="visible"/>
                                      </p:to>
                                    </p:set>
                                  </p:childTnLst>
                                </p:cTn>
                              </p:par>
                            </p:childTnLst>
                          </p:cTn>
                        </p:par>
                        <p:par>
                          <p:cTn id="26" fill="hold">
                            <p:stCondLst>
                              <p:cond delay="2000"/>
                            </p:stCondLst>
                            <p:childTnLst>
                              <p:par>
                                <p:cTn id="27" presetID="1" presetClass="entr" presetSubtype="0" fill="hold" grpId="0" nodeType="afterEffect">
                                  <p:stCondLst>
                                    <p:cond delay="0"/>
                                  </p:stCondLst>
                                  <p:childTnLst>
                                    <p:set>
                                      <p:cBhvr>
                                        <p:cTn id="28" dur="1" fill="hold">
                                          <p:stCondLst>
                                            <p:cond delay="0"/>
                                          </p:stCondLst>
                                        </p:cTn>
                                        <p:tgtEl>
                                          <p:spTgt spid="26631"/>
                                        </p:tgtEl>
                                        <p:attrNameLst>
                                          <p:attrName>style.visibility</p:attrName>
                                        </p:attrNameLst>
                                      </p:cBhvr>
                                      <p:to>
                                        <p:strVal val="visible"/>
                                      </p:to>
                                    </p:se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26641"/>
                                        </p:tgtEl>
                                        <p:attrNameLst>
                                          <p:attrName>style.visibility</p:attrName>
                                        </p:attrNameLst>
                                      </p:cBhvr>
                                      <p:to>
                                        <p:strVal val="visible"/>
                                      </p:to>
                                    </p:set>
                                    <p:animEffect transition="in" filter="wipe(left)">
                                      <p:cBhvr>
                                        <p:cTn id="32" dur="500"/>
                                        <p:tgtEl>
                                          <p:spTgt spid="26641"/>
                                        </p:tgtEl>
                                      </p:cBhvr>
                                    </p:animEffect>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26642"/>
                                        </p:tgtEl>
                                        <p:attrNameLst>
                                          <p:attrName>style.visibility</p:attrName>
                                        </p:attrNameLst>
                                      </p:cBhvr>
                                      <p:to>
                                        <p:strVal val="visible"/>
                                      </p:to>
                                    </p:set>
                                    <p:animEffect transition="in" filter="wipe(up)">
                                      <p:cBhvr>
                                        <p:cTn id="36" dur="500"/>
                                        <p:tgtEl>
                                          <p:spTgt spid="26642"/>
                                        </p:tgtEl>
                                      </p:cBhvr>
                                    </p:animEffect>
                                  </p:childTnLst>
                                </p:cTn>
                              </p:par>
                            </p:childTnLst>
                          </p:cTn>
                        </p:par>
                        <p:par>
                          <p:cTn id="37" fill="hold">
                            <p:stCondLst>
                              <p:cond delay="3000"/>
                            </p:stCondLst>
                            <p:childTnLst>
                              <p:par>
                                <p:cTn id="38" presetID="1" presetClass="entr" presetSubtype="0" fill="hold" grpId="0" nodeType="afterEffect">
                                  <p:stCondLst>
                                    <p:cond delay="0"/>
                                  </p:stCondLst>
                                  <p:childTnLst>
                                    <p:set>
                                      <p:cBhvr>
                                        <p:cTn id="39" dur="1" fill="hold">
                                          <p:stCondLst>
                                            <p:cond delay="0"/>
                                          </p:stCondLst>
                                        </p:cTn>
                                        <p:tgtEl>
                                          <p:spTgt spid="2663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6638"/>
                                        </p:tgtEl>
                                        <p:attrNameLst>
                                          <p:attrName>style.visibility</p:attrName>
                                        </p:attrNameLst>
                                      </p:cBhvr>
                                      <p:to>
                                        <p:strVal val="visible"/>
                                      </p:to>
                                    </p:set>
                                    <p:animEffect transition="in" filter="wipe(up)">
                                      <p:cBhvr>
                                        <p:cTn id="44" dur="500"/>
                                        <p:tgtEl>
                                          <p:spTgt spid="26638"/>
                                        </p:tgtEl>
                                      </p:cBhvr>
                                    </p:animEffect>
                                  </p:childTnLst>
                                </p:cTn>
                              </p:par>
                            </p:childTnLst>
                          </p:cTn>
                        </p:par>
                        <p:par>
                          <p:cTn id="45" fill="hold">
                            <p:stCondLst>
                              <p:cond delay="500"/>
                            </p:stCondLst>
                            <p:childTnLst>
                              <p:par>
                                <p:cTn id="46" presetID="1" presetClass="entr" presetSubtype="0" fill="hold" grpId="0" nodeType="afterEffect">
                                  <p:stCondLst>
                                    <p:cond delay="0"/>
                                  </p:stCondLst>
                                  <p:childTnLst>
                                    <p:set>
                                      <p:cBhvr>
                                        <p:cTn id="47" dur="1" fill="hold">
                                          <p:stCondLst>
                                            <p:cond delay="0"/>
                                          </p:stCondLst>
                                        </p:cTn>
                                        <p:tgtEl>
                                          <p:spTgt spid="26650"/>
                                        </p:tgtEl>
                                        <p:attrNameLst>
                                          <p:attrName>style.visibility</p:attrName>
                                        </p:attrNameLst>
                                      </p:cBhvr>
                                      <p:to>
                                        <p:strVal val="visible"/>
                                      </p:to>
                                    </p:se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26648"/>
                                        </p:tgtEl>
                                        <p:attrNameLst>
                                          <p:attrName>style.visibility</p:attrName>
                                        </p:attrNameLst>
                                      </p:cBhvr>
                                      <p:to>
                                        <p:strVal val="visible"/>
                                      </p:to>
                                    </p:set>
                                    <p:animEffect transition="in" filter="wipe(down)">
                                      <p:cBhvr>
                                        <p:cTn id="51" dur="500"/>
                                        <p:tgtEl>
                                          <p:spTgt spid="26648"/>
                                        </p:tgtEl>
                                      </p:cBhvr>
                                    </p:animEffect>
                                  </p:childTnLst>
                                </p:cTn>
                              </p:par>
                            </p:childTnLst>
                          </p:cTn>
                        </p:par>
                        <p:par>
                          <p:cTn id="52" fill="hold">
                            <p:stCondLst>
                              <p:cond delay="1000"/>
                            </p:stCondLst>
                            <p:childTnLst>
                              <p:par>
                                <p:cTn id="53" presetID="22" presetClass="entr" presetSubtype="2" fill="hold" grpId="0" nodeType="afterEffect">
                                  <p:stCondLst>
                                    <p:cond delay="0"/>
                                  </p:stCondLst>
                                  <p:childTnLst>
                                    <p:set>
                                      <p:cBhvr>
                                        <p:cTn id="54" dur="1" fill="hold">
                                          <p:stCondLst>
                                            <p:cond delay="0"/>
                                          </p:stCondLst>
                                        </p:cTn>
                                        <p:tgtEl>
                                          <p:spTgt spid="26639"/>
                                        </p:tgtEl>
                                        <p:attrNameLst>
                                          <p:attrName>style.visibility</p:attrName>
                                        </p:attrNameLst>
                                      </p:cBhvr>
                                      <p:to>
                                        <p:strVal val="visible"/>
                                      </p:to>
                                    </p:set>
                                    <p:animEffect transition="in" filter="wipe(right)">
                                      <p:cBhvr>
                                        <p:cTn id="55" dur="500"/>
                                        <p:tgtEl>
                                          <p:spTgt spid="26639"/>
                                        </p:tgtEl>
                                      </p:cBhvr>
                                    </p:animEffect>
                                  </p:childTnLst>
                                </p:cTn>
                              </p:par>
                            </p:childTnLst>
                          </p:cTn>
                        </p:par>
                        <p:par>
                          <p:cTn id="56" fill="hold">
                            <p:stCondLst>
                              <p:cond delay="1500"/>
                            </p:stCondLst>
                            <p:childTnLst>
                              <p:par>
                                <p:cTn id="57" presetID="1" presetClass="entr" presetSubtype="0" fill="hold" grpId="0" nodeType="afterEffect">
                                  <p:stCondLst>
                                    <p:cond delay="0"/>
                                  </p:stCondLst>
                                  <p:childTnLst>
                                    <p:set>
                                      <p:cBhvr>
                                        <p:cTn id="58" dur="1" fill="hold">
                                          <p:stCondLst>
                                            <p:cond delay="0"/>
                                          </p:stCondLst>
                                        </p:cTn>
                                        <p:tgtEl>
                                          <p:spTgt spid="26629"/>
                                        </p:tgtEl>
                                        <p:attrNameLst>
                                          <p:attrName>style.visibility</p:attrName>
                                        </p:attrNameLst>
                                      </p:cBhvr>
                                      <p:to>
                                        <p:strVal val="visible"/>
                                      </p:to>
                                    </p:set>
                                  </p:childTnLst>
                                </p:cTn>
                              </p:par>
                            </p:childTnLst>
                          </p:cTn>
                        </p:par>
                        <p:par>
                          <p:cTn id="59" fill="hold">
                            <p:stCondLst>
                              <p:cond delay="1500"/>
                            </p:stCondLst>
                            <p:childTnLst>
                              <p:par>
                                <p:cTn id="60" presetID="1" presetClass="entr" presetSubtype="0" fill="hold" grpId="0" nodeType="afterEffect">
                                  <p:stCondLst>
                                    <p:cond delay="0"/>
                                  </p:stCondLst>
                                  <p:childTnLst>
                                    <p:set>
                                      <p:cBhvr>
                                        <p:cTn id="61" dur="1" fill="hold">
                                          <p:stCondLst>
                                            <p:cond delay="0"/>
                                          </p:stCondLst>
                                        </p:cTn>
                                        <p:tgtEl>
                                          <p:spTgt spid="26634"/>
                                        </p:tgtEl>
                                        <p:attrNameLst>
                                          <p:attrName>style.visibility</p:attrName>
                                        </p:attrNameLst>
                                      </p:cBhvr>
                                      <p:to>
                                        <p:strVal val="visible"/>
                                      </p:to>
                                    </p:set>
                                  </p:childTnLst>
                                </p:cTn>
                              </p:par>
                            </p:childTnLst>
                          </p:cTn>
                        </p:par>
                        <p:par>
                          <p:cTn id="62" fill="hold">
                            <p:stCondLst>
                              <p:cond delay="1500"/>
                            </p:stCondLst>
                            <p:childTnLst>
                              <p:par>
                                <p:cTn id="63" presetID="22" presetClass="entr" presetSubtype="4" fill="hold" grpId="0" nodeType="afterEffect">
                                  <p:stCondLst>
                                    <p:cond delay="0"/>
                                  </p:stCondLst>
                                  <p:childTnLst>
                                    <p:set>
                                      <p:cBhvr>
                                        <p:cTn id="64" dur="1" fill="hold">
                                          <p:stCondLst>
                                            <p:cond delay="0"/>
                                          </p:stCondLst>
                                        </p:cTn>
                                        <p:tgtEl>
                                          <p:spTgt spid="26643"/>
                                        </p:tgtEl>
                                        <p:attrNameLst>
                                          <p:attrName>style.visibility</p:attrName>
                                        </p:attrNameLst>
                                      </p:cBhvr>
                                      <p:to>
                                        <p:strVal val="visible"/>
                                      </p:to>
                                    </p:set>
                                    <p:animEffect transition="in" filter="wipe(down)">
                                      <p:cBhvr>
                                        <p:cTn id="65" dur="500"/>
                                        <p:tgtEl>
                                          <p:spTgt spid="26643"/>
                                        </p:tgtEl>
                                      </p:cBhvr>
                                    </p:animEffect>
                                  </p:childTnLst>
                                </p:cTn>
                              </p:par>
                            </p:childTnLst>
                          </p:cTn>
                        </p:par>
                        <p:par>
                          <p:cTn id="66" fill="hold">
                            <p:stCondLst>
                              <p:cond delay="2000"/>
                            </p:stCondLst>
                            <p:childTnLst>
                              <p:par>
                                <p:cTn id="67" presetID="22" presetClass="entr" presetSubtype="2" fill="hold" grpId="0" nodeType="afterEffect">
                                  <p:stCondLst>
                                    <p:cond delay="0"/>
                                  </p:stCondLst>
                                  <p:childTnLst>
                                    <p:set>
                                      <p:cBhvr>
                                        <p:cTn id="68" dur="1" fill="hold">
                                          <p:stCondLst>
                                            <p:cond delay="0"/>
                                          </p:stCondLst>
                                        </p:cTn>
                                        <p:tgtEl>
                                          <p:spTgt spid="26640"/>
                                        </p:tgtEl>
                                        <p:attrNameLst>
                                          <p:attrName>style.visibility</p:attrName>
                                        </p:attrNameLst>
                                      </p:cBhvr>
                                      <p:to>
                                        <p:strVal val="visible"/>
                                      </p:to>
                                    </p:set>
                                    <p:animEffect transition="in" filter="wipe(right)">
                                      <p:cBhvr>
                                        <p:cTn id="69" dur="500"/>
                                        <p:tgtEl>
                                          <p:spTgt spid="26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P spid="26630" grpId="0"/>
      <p:bldP spid="26631" grpId="0"/>
      <p:bldP spid="26632" grpId="0"/>
      <p:bldP spid="26633" grpId="0"/>
      <p:bldP spid="26634" grpId="0"/>
      <p:bldP spid="26637" grpId="0" animBg="1"/>
      <p:bldP spid="26638" grpId="0" animBg="1"/>
      <p:bldP spid="26639" grpId="0" animBg="1"/>
      <p:bldP spid="26640" grpId="0" animBg="1"/>
      <p:bldP spid="26641" grpId="0" animBg="1"/>
      <p:bldP spid="26642" grpId="0" animBg="1"/>
      <p:bldP spid="26643" grpId="0" animBg="1"/>
      <p:bldP spid="26644" grpId="0" animBg="1"/>
      <p:bldP spid="26647" grpId="0" animBg="1"/>
      <p:bldP spid="26648" grpId="0" animBg="1"/>
      <p:bldP spid="26649" grpId="0"/>
      <p:bldP spid="2665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81200" y="914401"/>
            <a:ext cx="8229600" cy="551543"/>
          </a:xfrm>
        </p:spPr>
        <p:txBody>
          <a:bodyPr>
            <a:normAutofit fontScale="90000"/>
          </a:bodyPr>
          <a:lstStyle/>
          <a:p>
            <a:pPr eaLnBrk="1" hangingPunct="1"/>
            <a:r>
              <a:rPr lang="en-US" dirty="0">
                <a:solidFill>
                  <a:srgbClr val="960000"/>
                </a:solidFill>
              </a:rPr>
              <a:t>The Budget Constraint</a:t>
            </a:r>
          </a:p>
        </p:txBody>
      </p:sp>
      <p:sp>
        <p:nvSpPr>
          <p:cNvPr id="16387" name="Rectangle 3"/>
          <p:cNvSpPr>
            <a:spLocks noGrp="1" noChangeArrowheads="1"/>
          </p:cNvSpPr>
          <p:nvPr>
            <p:ph idx="1"/>
          </p:nvPr>
        </p:nvSpPr>
        <p:spPr>
          <a:xfrm>
            <a:off x="5459895" y="2269434"/>
            <a:ext cx="6016487" cy="3581400"/>
          </a:xfrm>
        </p:spPr>
        <p:txBody>
          <a:bodyPr/>
          <a:lstStyle/>
          <a:p>
            <a:pPr algn="ctr" eaLnBrk="1" hangingPunct="1">
              <a:buFontTx/>
              <a:buNone/>
            </a:pPr>
            <a:r>
              <a:rPr lang="en-US" dirty="0">
                <a:solidFill>
                  <a:srgbClr val="960000"/>
                </a:solidFill>
              </a:rPr>
              <a:t>I (</a:t>
            </a:r>
            <a:r>
              <a:rPr lang="en-US" dirty="0" err="1">
                <a:solidFill>
                  <a:srgbClr val="960000"/>
                </a:solidFill>
              </a:rPr>
              <a:t>ncome</a:t>
            </a:r>
            <a:r>
              <a:rPr lang="en-US" dirty="0">
                <a:solidFill>
                  <a:srgbClr val="960000"/>
                </a:solidFill>
              </a:rPr>
              <a:t>) </a:t>
            </a:r>
            <a:r>
              <a:rPr lang="en-US" dirty="0">
                <a:solidFill>
                  <a:srgbClr val="960000"/>
                </a:solidFill>
                <a:sym typeface="Symbol" pitchFamily="18" charset="2"/>
              </a:rPr>
              <a:t> </a:t>
            </a:r>
            <a:r>
              <a:rPr lang="en-US" dirty="0" err="1">
                <a:solidFill>
                  <a:srgbClr val="960000"/>
                </a:solidFill>
                <a:sym typeface="Symbol" pitchFamily="18" charset="2"/>
              </a:rPr>
              <a:t>P</a:t>
            </a:r>
            <a:r>
              <a:rPr lang="en-US" baseline="-25000" dirty="0" err="1">
                <a:solidFill>
                  <a:srgbClr val="960000"/>
                </a:solidFill>
                <a:sym typeface="Symbol" pitchFamily="18" charset="2"/>
              </a:rPr>
              <a:t>f</a:t>
            </a:r>
            <a:r>
              <a:rPr lang="en-US" dirty="0" err="1">
                <a:solidFill>
                  <a:srgbClr val="960000"/>
                </a:solidFill>
                <a:sym typeface="Symbol" pitchFamily="18" charset="2"/>
              </a:rPr>
              <a:t>F</a:t>
            </a:r>
            <a:r>
              <a:rPr lang="en-US" dirty="0">
                <a:solidFill>
                  <a:srgbClr val="960000"/>
                </a:solidFill>
                <a:sym typeface="Symbol" pitchFamily="18" charset="2"/>
              </a:rPr>
              <a:t> + </a:t>
            </a:r>
            <a:r>
              <a:rPr lang="en-US" dirty="0" err="1">
                <a:solidFill>
                  <a:srgbClr val="960000"/>
                </a:solidFill>
                <a:sym typeface="Symbol" pitchFamily="18" charset="2"/>
              </a:rPr>
              <a:t>P</a:t>
            </a:r>
            <a:r>
              <a:rPr lang="en-US" baseline="-25000" dirty="0" err="1">
                <a:solidFill>
                  <a:srgbClr val="960000"/>
                </a:solidFill>
                <a:sym typeface="Symbol" pitchFamily="18" charset="2"/>
              </a:rPr>
              <a:t>c</a:t>
            </a:r>
            <a:r>
              <a:rPr lang="en-US" dirty="0" err="1">
                <a:solidFill>
                  <a:srgbClr val="960000"/>
                </a:solidFill>
                <a:sym typeface="Symbol" pitchFamily="18" charset="2"/>
              </a:rPr>
              <a:t>C</a:t>
            </a:r>
            <a:endParaRPr lang="en-US" dirty="0">
              <a:solidFill>
                <a:srgbClr val="960000"/>
              </a:solidFill>
              <a:sym typeface="Symbol" pitchFamily="18" charset="2"/>
            </a:endParaRPr>
          </a:p>
          <a:p>
            <a:pPr algn="ctr" eaLnBrk="1" hangingPunct="1">
              <a:buFontTx/>
              <a:buNone/>
            </a:pPr>
            <a:endParaRPr lang="en-US" dirty="0">
              <a:solidFill>
                <a:srgbClr val="960000"/>
              </a:solidFill>
              <a:sym typeface="Symbol" pitchFamily="18" charset="2"/>
            </a:endParaRPr>
          </a:p>
          <a:p>
            <a:pPr algn="ctr" eaLnBrk="1" hangingPunct="1">
              <a:buFontTx/>
              <a:buNone/>
            </a:pPr>
            <a:r>
              <a:rPr lang="en-US" dirty="0">
                <a:solidFill>
                  <a:srgbClr val="960000"/>
                </a:solidFill>
              </a:rPr>
              <a:t>which can be rearranged as</a:t>
            </a:r>
          </a:p>
          <a:p>
            <a:pPr algn="ctr" eaLnBrk="1" hangingPunct="1">
              <a:buFontTx/>
              <a:buNone/>
            </a:pPr>
            <a:r>
              <a:rPr lang="en-US" dirty="0">
                <a:solidFill>
                  <a:srgbClr val="960000"/>
                </a:solidFill>
              </a:rPr>
              <a:t>F </a:t>
            </a:r>
            <a:r>
              <a:rPr lang="en-US" dirty="0">
                <a:solidFill>
                  <a:srgbClr val="960000"/>
                </a:solidFill>
                <a:sym typeface="Symbol" pitchFamily="18" charset="2"/>
              </a:rPr>
              <a:t> I/P</a:t>
            </a:r>
            <a:r>
              <a:rPr lang="en-US" baseline="-25000" dirty="0">
                <a:solidFill>
                  <a:srgbClr val="960000"/>
                </a:solidFill>
                <a:sym typeface="Symbol" pitchFamily="18" charset="2"/>
              </a:rPr>
              <a:t>f</a:t>
            </a:r>
            <a:r>
              <a:rPr lang="en-US" dirty="0">
                <a:solidFill>
                  <a:srgbClr val="960000"/>
                </a:solidFill>
                <a:sym typeface="Symbol" pitchFamily="18" charset="2"/>
              </a:rPr>
              <a:t> - (P</a:t>
            </a:r>
            <a:r>
              <a:rPr lang="en-US" baseline="-25000" dirty="0">
                <a:solidFill>
                  <a:srgbClr val="960000"/>
                </a:solidFill>
                <a:sym typeface="Symbol" pitchFamily="18" charset="2"/>
              </a:rPr>
              <a:t>c</a:t>
            </a:r>
            <a:r>
              <a:rPr lang="en-US" dirty="0">
                <a:solidFill>
                  <a:srgbClr val="960000"/>
                </a:solidFill>
                <a:sym typeface="Symbol" pitchFamily="18" charset="2"/>
              </a:rPr>
              <a:t>/P</a:t>
            </a:r>
            <a:r>
              <a:rPr lang="en-US" baseline="-25000" dirty="0">
                <a:solidFill>
                  <a:srgbClr val="960000"/>
                </a:solidFill>
                <a:sym typeface="Symbol" pitchFamily="18" charset="2"/>
              </a:rPr>
              <a:t>f</a:t>
            </a:r>
            <a:r>
              <a:rPr lang="en-US" dirty="0">
                <a:solidFill>
                  <a:srgbClr val="960000"/>
                </a:solidFill>
                <a:sym typeface="Symbol" pitchFamily="18" charset="2"/>
              </a:rPr>
              <a:t>)C</a:t>
            </a:r>
          </a:p>
          <a:p>
            <a:pPr algn="ctr" eaLnBrk="1" hangingPunct="1">
              <a:buFontTx/>
              <a:buNone/>
            </a:pPr>
            <a:endParaRPr lang="en-US" dirty="0">
              <a:solidFill>
                <a:srgbClr val="960000"/>
              </a:solidFill>
              <a:sym typeface="Symbol" pitchFamily="18" charset="2"/>
            </a:endParaRPr>
          </a:p>
          <a:p>
            <a:pPr algn="ctr" eaLnBrk="1" hangingPunct="1">
              <a:buFontTx/>
              <a:buNone/>
            </a:pPr>
            <a:r>
              <a:rPr lang="en-US" dirty="0">
                <a:solidFill>
                  <a:srgbClr val="960000"/>
                </a:solidFill>
                <a:sym typeface="Symbol" pitchFamily="18" charset="2"/>
              </a:rPr>
              <a:t>and this can be drawn as …</a:t>
            </a:r>
            <a:endParaRPr lang="en-US" dirty="0">
              <a:solidFill>
                <a:srgbClr val="960000"/>
              </a:solidFill>
            </a:endParaRPr>
          </a:p>
        </p:txBody>
      </p:sp>
      <p:sp>
        <p:nvSpPr>
          <p:cNvPr id="16388"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4178E266-0F81-401B-BAEB-4572E62788FC}" type="slidenum">
              <a:rPr lang="en-US" sz="1200"/>
              <a:pPr/>
              <a:t>12</a:t>
            </a:fld>
            <a:endParaRPr lang="en-US" sz="1200" dirty="0"/>
          </a:p>
        </p:txBody>
      </p:sp>
      <p:pic>
        <p:nvPicPr>
          <p:cNvPr id="6146" name="Picture 2" descr="person holding black android smartphone">
            <a:extLst>
              <a:ext uri="{FF2B5EF4-FFF2-40B4-BE49-F238E27FC236}">
                <a16:creationId xmlns:a16="http://schemas.microsoft.com/office/drawing/2014/main" id="{D98D2F3C-5CE7-536F-9902-84FD47D42C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5757" y="2343386"/>
            <a:ext cx="3159131" cy="21093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CF6779C-F61C-2498-090F-21034D130F14}"/>
              </a:ext>
            </a:extLst>
          </p:cNvPr>
          <p:cNvSpPr txBox="1"/>
          <p:nvPr/>
        </p:nvSpPr>
        <p:spPr>
          <a:xfrm>
            <a:off x="2246243" y="4442042"/>
            <a:ext cx="1592103" cy="169277"/>
          </a:xfrm>
          <a:prstGeom prst="rect">
            <a:avLst/>
          </a:prstGeom>
          <a:noFill/>
        </p:spPr>
        <p:txBody>
          <a:bodyPr wrap="none" rtlCol="0">
            <a:spAutoFit/>
          </a:bodyPr>
          <a:lstStyle/>
          <a:p>
            <a:r>
              <a:rPr lang="en-US" sz="500" dirty="0">
                <a:solidFill>
                  <a:schemeClr val="bg2">
                    <a:lumMod val="50000"/>
                  </a:schemeClr>
                </a:solidFill>
              </a:rPr>
              <a:t>Kilde: https://</a:t>
            </a:r>
            <a:r>
              <a:rPr lang="en-US" sz="500" dirty="0" err="1">
                <a:solidFill>
                  <a:schemeClr val="bg2">
                    <a:lumMod val="50000"/>
                  </a:schemeClr>
                </a:solidFill>
              </a:rPr>
              <a:t>unsplash.com</a:t>
            </a:r>
            <a:r>
              <a:rPr lang="en-US" sz="500" dirty="0">
                <a:solidFill>
                  <a:schemeClr val="bg2">
                    <a:lumMod val="50000"/>
                  </a:schemeClr>
                </a:solidFill>
              </a:rPr>
              <a:t>/s/photos/empty-wallet</a:t>
            </a:r>
          </a:p>
        </p:txBody>
      </p:sp>
    </p:spTree>
    <p:extLst>
      <p:ext uri="{BB962C8B-B14F-4D97-AF65-F5344CB8AC3E}">
        <p14:creationId xmlns:p14="http://schemas.microsoft.com/office/powerpoint/2010/main" val="2044825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9" name="Object 3"/>
          <p:cNvGraphicFramePr>
            <a:graphicFrameLocks noGrp="1" noChangeAspect="1"/>
          </p:cNvGraphicFramePr>
          <p:nvPr>
            <p:ph sz="half" idx="4294967295"/>
          </p:nvPr>
        </p:nvGraphicFramePr>
        <p:xfrm>
          <a:off x="4114800" y="2485310"/>
          <a:ext cx="228600" cy="431800"/>
        </p:xfrm>
        <a:graphic>
          <a:graphicData uri="http://schemas.openxmlformats.org/presentationml/2006/ole">
            <mc:AlternateContent xmlns:mc="http://schemas.openxmlformats.org/markup-compatibility/2006">
              <mc:Choice xmlns:v="urn:schemas-microsoft-com:vml" Requires="v">
                <p:oleObj name="Equation" r:id="rId2" imgW="228600" imgH="431640" progId="Equation.3">
                  <p:embed/>
                </p:oleObj>
              </mc:Choice>
              <mc:Fallback>
                <p:oleObj name="Equation" r:id="rId2" imgW="228600" imgH="431640" progId="Equation.3">
                  <p:embed/>
                  <p:pic>
                    <p:nvPicPr>
                      <p:cNvPr id="2969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485310"/>
                        <a:ext cx="228600" cy="431800"/>
                      </a:xfrm>
                      <a:prstGeom prst="rect">
                        <a:avLst/>
                      </a:prstGeom>
                      <a:solidFill>
                        <a:srgbClr val="FFFF00"/>
                      </a:solidFill>
                    </p:spPr>
                  </p:pic>
                </p:oleObj>
              </mc:Fallback>
            </mc:AlternateContent>
          </a:graphicData>
        </a:graphic>
      </p:graphicFrame>
      <p:graphicFrame>
        <p:nvGraphicFramePr>
          <p:cNvPr id="29714" name="Object 18"/>
          <p:cNvGraphicFramePr>
            <a:graphicFrameLocks noGrp="1" noChangeAspect="1"/>
          </p:cNvGraphicFramePr>
          <p:nvPr>
            <p:ph sz="half" idx="4294967295"/>
          </p:nvPr>
        </p:nvGraphicFramePr>
        <p:xfrm>
          <a:off x="5740376" y="3586163"/>
          <a:ext cx="455612" cy="523875"/>
        </p:xfrm>
        <a:graphic>
          <a:graphicData uri="http://schemas.openxmlformats.org/presentationml/2006/ole">
            <mc:AlternateContent xmlns:mc="http://schemas.openxmlformats.org/markup-compatibility/2006">
              <mc:Choice xmlns:v="urn:schemas-microsoft-com:vml" Requires="v">
                <p:oleObj name="Ligning" r:id="rId4" imgW="330120" imgH="431640" progId="Equation.3">
                  <p:embed/>
                </p:oleObj>
              </mc:Choice>
              <mc:Fallback>
                <p:oleObj name="Ligning" r:id="rId4" imgW="330120" imgH="431640" progId="Equation.3">
                  <p:embed/>
                  <p:pic>
                    <p:nvPicPr>
                      <p:cNvPr id="29714"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0376" y="3586163"/>
                        <a:ext cx="455612" cy="523875"/>
                      </a:xfrm>
                      <a:prstGeom prst="rect">
                        <a:avLst/>
                      </a:prstGeom>
                      <a:solidFill>
                        <a:srgbClr val="FFFF00"/>
                      </a:solidFill>
                      <a:ln w="9525">
                        <a:solidFill>
                          <a:schemeClr val="bg2"/>
                        </a:solidFill>
                        <a:miter lim="800000"/>
                        <a:headEnd/>
                        <a:tailEnd/>
                      </a:ln>
                    </p:spPr>
                  </p:pic>
                </p:oleObj>
              </mc:Fallback>
            </mc:AlternateContent>
          </a:graphicData>
        </a:graphic>
      </p:graphicFrame>
      <p:sp>
        <p:nvSpPr>
          <p:cNvPr id="1029" name="Line 4"/>
          <p:cNvSpPr>
            <a:spLocks noChangeShapeType="1"/>
          </p:cNvSpPr>
          <p:nvPr/>
        </p:nvSpPr>
        <p:spPr bwMode="auto">
          <a:xfrm>
            <a:off x="4343400" y="2057400"/>
            <a:ext cx="0" cy="3581400"/>
          </a:xfrm>
          <a:prstGeom prst="line">
            <a:avLst/>
          </a:prstGeom>
          <a:noFill/>
          <a:ln w="12700">
            <a:solidFill>
              <a:schemeClr val="tx1"/>
            </a:solidFill>
            <a:round/>
            <a:headEnd type="triangle" w="sm" len="sm"/>
            <a:tailEnd type="none" w="sm" len="sm"/>
          </a:ln>
        </p:spPr>
        <p:txBody>
          <a:bodyPr/>
          <a:lstStyle/>
          <a:p>
            <a:endParaRPr lang="da-DK"/>
          </a:p>
        </p:txBody>
      </p:sp>
      <p:sp>
        <p:nvSpPr>
          <p:cNvPr id="1030" name="Line 5"/>
          <p:cNvSpPr>
            <a:spLocks noChangeShapeType="1"/>
          </p:cNvSpPr>
          <p:nvPr/>
        </p:nvSpPr>
        <p:spPr bwMode="auto">
          <a:xfrm>
            <a:off x="4343400" y="5638800"/>
            <a:ext cx="3657600" cy="0"/>
          </a:xfrm>
          <a:prstGeom prst="line">
            <a:avLst/>
          </a:prstGeom>
          <a:noFill/>
          <a:ln w="12700">
            <a:solidFill>
              <a:schemeClr val="tx1"/>
            </a:solidFill>
            <a:round/>
            <a:headEnd type="none" w="sm" len="sm"/>
            <a:tailEnd type="triangle" w="sm" len="sm"/>
          </a:ln>
        </p:spPr>
        <p:txBody>
          <a:bodyPr/>
          <a:lstStyle/>
          <a:p>
            <a:endParaRPr lang="da-DK"/>
          </a:p>
        </p:txBody>
      </p:sp>
      <p:sp>
        <p:nvSpPr>
          <p:cNvPr id="1031" name="Text Box 6"/>
          <p:cNvSpPr txBox="1">
            <a:spLocks noChangeArrowheads="1"/>
          </p:cNvSpPr>
          <p:nvPr/>
        </p:nvSpPr>
        <p:spPr bwMode="auto">
          <a:xfrm>
            <a:off x="7993063" y="5486401"/>
            <a:ext cx="287258" cy="307777"/>
          </a:xfrm>
          <a:prstGeom prst="rect">
            <a:avLst/>
          </a:prstGeom>
          <a:noFill/>
          <a:ln w="12700">
            <a:noFill/>
            <a:miter lim="800000"/>
            <a:headEnd type="none" w="sm" len="sm"/>
            <a:tailEnd type="none" w="sm" len="sm"/>
          </a:ln>
        </p:spPr>
        <p:txBody>
          <a:bodyPr wrap="none">
            <a:spAutoFit/>
          </a:bodyPr>
          <a:lstStyle/>
          <a:p>
            <a:r>
              <a:rPr lang="en-US" sz="1400" i="1" dirty="0"/>
              <a:t>C</a:t>
            </a:r>
          </a:p>
        </p:txBody>
      </p:sp>
      <p:sp>
        <p:nvSpPr>
          <p:cNvPr id="1032" name="Text Box 7"/>
          <p:cNvSpPr txBox="1">
            <a:spLocks noChangeArrowheads="1"/>
          </p:cNvSpPr>
          <p:nvPr/>
        </p:nvSpPr>
        <p:spPr bwMode="auto">
          <a:xfrm>
            <a:off x="4191000" y="1752601"/>
            <a:ext cx="276038" cy="307777"/>
          </a:xfrm>
          <a:prstGeom prst="rect">
            <a:avLst/>
          </a:prstGeom>
          <a:noFill/>
          <a:ln w="12700">
            <a:noFill/>
            <a:miter lim="800000"/>
            <a:headEnd type="none" w="sm" len="sm"/>
            <a:tailEnd type="none" w="sm" len="sm"/>
          </a:ln>
        </p:spPr>
        <p:txBody>
          <a:bodyPr wrap="none">
            <a:spAutoFit/>
          </a:bodyPr>
          <a:lstStyle/>
          <a:p>
            <a:r>
              <a:rPr lang="en-US" sz="1400" i="1" dirty="0"/>
              <a:t>F</a:t>
            </a:r>
          </a:p>
        </p:txBody>
      </p:sp>
      <p:sp>
        <p:nvSpPr>
          <p:cNvPr id="29704" name="Line 8"/>
          <p:cNvSpPr>
            <a:spLocks noChangeShapeType="1"/>
          </p:cNvSpPr>
          <p:nvPr/>
        </p:nvSpPr>
        <p:spPr bwMode="auto">
          <a:xfrm>
            <a:off x="4343400" y="2743200"/>
            <a:ext cx="2895600" cy="2895600"/>
          </a:xfrm>
          <a:prstGeom prst="line">
            <a:avLst/>
          </a:prstGeom>
          <a:noFill/>
          <a:ln w="34925">
            <a:solidFill>
              <a:srgbClr val="FF6600"/>
            </a:solidFill>
            <a:round/>
            <a:headEnd type="none" w="sm" len="sm"/>
            <a:tailEnd type="none" w="sm" len="sm"/>
          </a:ln>
        </p:spPr>
        <p:txBody>
          <a:bodyPr/>
          <a:lstStyle/>
          <a:p>
            <a:endParaRPr lang="da-DK"/>
          </a:p>
        </p:txBody>
      </p:sp>
      <p:sp>
        <p:nvSpPr>
          <p:cNvPr id="29705" name="Text Box 9"/>
          <p:cNvSpPr txBox="1">
            <a:spLocks noChangeArrowheads="1"/>
          </p:cNvSpPr>
          <p:nvPr/>
        </p:nvSpPr>
        <p:spPr bwMode="auto">
          <a:xfrm>
            <a:off x="6994525" y="4583113"/>
            <a:ext cx="2320700" cy="523220"/>
          </a:xfrm>
          <a:prstGeom prst="rect">
            <a:avLst/>
          </a:prstGeom>
          <a:noFill/>
          <a:ln w="12700">
            <a:noFill/>
            <a:miter lim="800000"/>
            <a:headEnd type="none" w="sm" len="sm"/>
            <a:tailEnd type="none" w="sm" len="sm"/>
          </a:ln>
        </p:spPr>
        <p:txBody>
          <a:bodyPr wrap="none">
            <a:spAutoFit/>
          </a:bodyPr>
          <a:lstStyle/>
          <a:p>
            <a:r>
              <a:rPr lang="en-US" sz="1400" dirty="0"/>
              <a:t>Combinations below the line</a:t>
            </a:r>
          </a:p>
          <a:p>
            <a:r>
              <a:rPr lang="en-US" sz="1400" dirty="0"/>
              <a:t> are affordable</a:t>
            </a:r>
          </a:p>
        </p:txBody>
      </p:sp>
      <p:sp>
        <p:nvSpPr>
          <p:cNvPr id="29706" name="AutoShape 10"/>
          <p:cNvSpPr>
            <a:spLocks noChangeArrowheads="1"/>
          </p:cNvSpPr>
          <p:nvPr/>
        </p:nvSpPr>
        <p:spPr bwMode="auto">
          <a:xfrm>
            <a:off x="4343400" y="2743200"/>
            <a:ext cx="2895600" cy="2895600"/>
          </a:xfrm>
          <a:prstGeom prst="rtTriangle">
            <a:avLst/>
          </a:prstGeom>
          <a:solidFill>
            <a:srgbClr val="960000"/>
          </a:solidFill>
          <a:ln w="12700">
            <a:solidFill>
              <a:schemeClr val="tx1"/>
            </a:solidFill>
            <a:miter lim="800000"/>
            <a:headEnd type="none" w="sm" len="sm"/>
            <a:tailEnd type="none" w="sm" len="sm"/>
          </a:ln>
        </p:spPr>
        <p:txBody>
          <a:bodyPr wrap="none" anchor="ctr"/>
          <a:lstStyle/>
          <a:p>
            <a:endParaRPr lang="da-DK"/>
          </a:p>
        </p:txBody>
      </p:sp>
      <p:sp>
        <p:nvSpPr>
          <p:cNvPr id="29707" name="Line 11"/>
          <p:cNvSpPr>
            <a:spLocks noChangeShapeType="1"/>
          </p:cNvSpPr>
          <p:nvPr/>
        </p:nvSpPr>
        <p:spPr bwMode="auto">
          <a:xfrm flipH="1">
            <a:off x="6629400" y="4876800"/>
            <a:ext cx="304800" cy="304800"/>
          </a:xfrm>
          <a:prstGeom prst="line">
            <a:avLst/>
          </a:prstGeom>
          <a:noFill/>
          <a:ln w="12700">
            <a:solidFill>
              <a:schemeClr val="tx1"/>
            </a:solidFill>
            <a:round/>
            <a:headEnd type="none" w="sm" len="sm"/>
            <a:tailEnd type="triangle" w="sm" len="sm"/>
          </a:ln>
        </p:spPr>
        <p:txBody>
          <a:bodyPr/>
          <a:lstStyle/>
          <a:p>
            <a:endParaRPr lang="da-DK"/>
          </a:p>
        </p:txBody>
      </p:sp>
      <p:sp>
        <p:nvSpPr>
          <p:cNvPr id="29708" name="Text Box 12"/>
          <p:cNvSpPr txBox="1">
            <a:spLocks noChangeArrowheads="1"/>
          </p:cNvSpPr>
          <p:nvPr/>
        </p:nvSpPr>
        <p:spPr bwMode="auto">
          <a:xfrm>
            <a:off x="4876801" y="2362200"/>
            <a:ext cx="2331729" cy="523220"/>
          </a:xfrm>
          <a:prstGeom prst="rect">
            <a:avLst/>
          </a:prstGeom>
          <a:noFill/>
          <a:ln w="12700">
            <a:noFill/>
            <a:miter lim="800000"/>
            <a:headEnd type="none" w="sm" len="sm"/>
            <a:tailEnd type="none" w="sm" len="sm"/>
          </a:ln>
        </p:spPr>
        <p:txBody>
          <a:bodyPr wrap="none">
            <a:spAutoFit/>
          </a:bodyPr>
          <a:lstStyle/>
          <a:p>
            <a:r>
              <a:rPr lang="en-US" sz="1400" dirty="0"/>
              <a:t>Combinations above the line</a:t>
            </a:r>
          </a:p>
          <a:p>
            <a:r>
              <a:rPr lang="en-US" sz="1400" dirty="0"/>
              <a:t>are unaffordable</a:t>
            </a:r>
          </a:p>
        </p:txBody>
      </p:sp>
      <p:sp>
        <p:nvSpPr>
          <p:cNvPr id="1038" name="Text Box 13"/>
          <p:cNvSpPr txBox="1">
            <a:spLocks noChangeArrowheads="1"/>
          </p:cNvSpPr>
          <p:nvPr/>
        </p:nvSpPr>
        <p:spPr bwMode="auto">
          <a:xfrm rot="16200000">
            <a:off x="3176006" y="3812482"/>
            <a:ext cx="1420389" cy="307777"/>
          </a:xfrm>
          <a:prstGeom prst="rect">
            <a:avLst/>
          </a:prstGeom>
          <a:noFill/>
          <a:ln w="12700">
            <a:noFill/>
            <a:miter lim="800000"/>
            <a:headEnd type="none" w="sm" len="sm"/>
            <a:tailEnd type="none" w="sm" len="sm"/>
          </a:ln>
        </p:spPr>
        <p:txBody>
          <a:bodyPr wrap="none">
            <a:spAutoFit/>
          </a:bodyPr>
          <a:lstStyle/>
          <a:p>
            <a:r>
              <a:rPr lang="en-US" sz="1400" dirty="0"/>
              <a:t>Quantity of Food</a:t>
            </a:r>
          </a:p>
        </p:txBody>
      </p:sp>
      <p:sp>
        <p:nvSpPr>
          <p:cNvPr id="1039" name="Text Box 14"/>
          <p:cNvSpPr txBox="1">
            <a:spLocks noChangeArrowheads="1"/>
          </p:cNvSpPr>
          <p:nvPr/>
        </p:nvSpPr>
        <p:spPr bwMode="auto">
          <a:xfrm>
            <a:off x="5192713" y="6019801"/>
            <a:ext cx="1666034" cy="307777"/>
          </a:xfrm>
          <a:prstGeom prst="rect">
            <a:avLst/>
          </a:prstGeom>
          <a:noFill/>
          <a:ln w="12700">
            <a:noFill/>
            <a:miter lim="800000"/>
            <a:headEnd type="none" w="sm" len="sm"/>
            <a:tailEnd type="none" w="sm" len="sm"/>
          </a:ln>
        </p:spPr>
        <p:txBody>
          <a:bodyPr wrap="none">
            <a:spAutoFit/>
          </a:bodyPr>
          <a:lstStyle/>
          <a:p>
            <a:r>
              <a:rPr lang="en-US" sz="1400" dirty="0"/>
              <a:t>Quantity of Clothing</a:t>
            </a:r>
          </a:p>
        </p:txBody>
      </p:sp>
      <p:sp>
        <p:nvSpPr>
          <p:cNvPr id="29711" name="Line 15"/>
          <p:cNvSpPr>
            <a:spLocks noChangeShapeType="1"/>
          </p:cNvSpPr>
          <p:nvPr/>
        </p:nvSpPr>
        <p:spPr bwMode="auto">
          <a:xfrm>
            <a:off x="5334000" y="3733800"/>
            <a:ext cx="0" cy="533400"/>
          </a:xfrm>
          <a:prstGeom prst="line">
            <a:avLst/>
          </a:prstGeom>
          <a:noFill/>
          <a:ln w="12700">
            <a:solidFill>
              <a:schemeClr val="bg1"/>
            </a:solidFill>
            <a:round/>
            <a:headEnd type="none" w="sm" len="sm"/>
            <a:tailEnd type="none" w="sm" len="sm"/>
          </a:ln>
        </p:spPr>
        <p:txBody>
          <a:bodyPr/>
          <a:lstStyle/>
          <a:p>
            <a:endParaRPr lang="da-DK"/>
          </a:p>
        </p:txBody>
      </p:sp>
      <p:sp>
        <p:nvSpPr>
          <p:cNvPr id="29712" name="Line 16"/>
          <p:cNvSpPr>
            <a:spLocks noChangeShapeType="1"/>
          </p:cNvSpPr>
          <p:nvPr/>
        </p:nvSpPr>
        <p:spPr bwMode="auto">
          <a:xfrm>
            <a:off x="5334000" y="4267200"/>
            <a:ext cx="533400" cy="0"/>
          </a:xfrm>
          <a:prstGeom prst="line">
            <a:avLst/>
          </a:prstGeom>
          <a:noFill/>
          <a:ln w="12700">
            <a:solidFill>
              <a:schemeClr val="bg1"/>
            </a:solidFill>
            <a:round/>
            <a:headEnd type="none" w="sm" len="sm"/>
            <a:tailEnd type="none" w="sm" len="sm"/>
          </a:ln>
        </p:spPr>
        <p:txBody>
          <a:bodyPr/>
          <a:lstStyle/>
          <a:p>
            <a:endParaRPr lang="da-DK"/>
          </a:p>
        </p:txBody>
      </p:sp>
      <p:sp>
        <p:nvSpPr>
          <p:cNvPr id="1042" name="Rectangle 2"/>
          <p:cNvSpPr>
            <a:spLocks noChangeArrowheads="1"/>
          </p:cNvSpPr>
          <p:nvPr/>
        </p:nvSpPr>
        <p:spPr bwMode="auto">
          <a:xfrm>
            <a:off x="1981200" y="685800"/>
            <a:ext cx="8229600" cy="1143000"/>
          </a:xfrm>
          <a:prstGeom prst="rect">
            <a:avLst/>
          </a:prstGeom>
          <a:noFill/>
          <a:ln w="9525">
            <a:noFill/>
            <a:miter lim="800000"/>
            <a:headEnd/>
            <a:tailEnd/>
          </a:ln>
        </p:spPr>
        <p:txBody>
          <a:bodyPr anchor="ctr"/>
          <a:lstStyle/>
          <a:p>
            <a:pPr algn="ctr"/>
            <a:r>
              <a:rPr lang="en-US" sz="4400" dirty="0">
                <a:solidFill>
                  <a:schemeClr val="tx2">
                    <a:lumMod val="90000"/>
                  </a:schemeClr>
                </a:solidFill>
              </a:rPr>
              <a:t>The Budget Constraint Diagram</a:t>
            </a:r>
          </a:p>
        </p:txBody>
      </p:sp>
      <p:sp>
        <p:nvSpPr>
          <p:cNvPr id="1043" name="Rectangle 21"/>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5627DCAF-1DC8-476D-B13A-740E201631B1}" type="slidenum">
              <a:rPr lang="en-US" sz="1200"/>
              <a:pPr/>
              <a:t>13</a:t>
            </a:fld>
            <a:endParaRPr lang="en-US" sz="1200" dirty="0"/>
          </a:p>
        </p:txBody>
      </p:sp>
      <p:graphicFrame>
        <p:nvGraphicFramePr>
          <p:cNvPr id="2" name="Objekt 1"/>
          <p:cNvGraphicFramePr>
            <a:graphicFrameLocks noGrp="1" noChangeAspect="1"/>
          </p:cNvGraphicFramePr>
          <p:nvPr/>
        </p:nvGraphicFramePr>
        <p:xfrm>
          <a:off x="7134393" y="5638334"/>
          <a:ext cx="234950" cy="533400"/>
        </p:xfrm>
        <a:graphic>
          <a:graphicData uri="http://schemas.openxmlformats.org/presentationml/2006/ole">
            <mc:AlternateContent xmlns:mc="http://schemas.openxmlformats.org/markup-compatibility/2006">
              <mc:Choice xmlns:v="urn:schemas-microsoft-com:vml" Requires="v">
                <p:oleObj name="Ligning" r:id="rId6" imgW="203040" imgH="533160" progId="Equation.3">
                  <p:embed/>
                </p:oleObj>
              </mc:Choice>
              <mc:Fallback>
                <p:oleObj name="Ligning" r:id="rId6" imgW="203040" imgH="533160" progId="Equation.3">
                  <p:embed/>
                  <p:pic>
                    <p:nvPicPr>
                      <p:cNvPr id="2" name="Objekt 1"/>
                      <p:cNvPicPr>
                        <a:picLocks noGrp="1" noChangeAspect="1" noChangeArrowheads="1"/>
                      </p:cNvPicPr>
                      <p:nvPr/>
                    </p:nvPicPr>
                    <p:blipFill>
                      <a:blip r:embed="rId7"/>
                      <a:srcRect/>
                      <a:stretch>
                        <a:fillRect/>
                      </a:stretch>
                    </p:blipFill>
                    <p:spPr bwMode="auto">
                      <a:xfrm>
                        <a:off x="7134393" y="5638334"/>
                        <a:ext cx="234950" cy="533400"/>
                      </a:xfrm>
                      <a:prstGeom prst="rect">
                        <a:avLst/>
                      </a:prstGeom>
                      <a:solidFill>
                        <a:srgbClr val="FFFF00"/>
                      </a:solidFill>
                      <a:ln>
                        <a:noFill/>
                      </a:ln>
                    </p:spPr>
                  </p:pic>
                </p:oleObj>
              </mc:Fallback>
            </mc:AlternateContent>
          </a:graphicData>
        </a:graphic>
      </p:graphicFrame>
      <p:sp>
        <p:nvSpPr>
          <p:cNvPr id="20" name="Line 11"/>
          <p:cNvSpPr>
            <a:spLocks noChangeShapeType="1"/>
          </p:cNvSpPr>
          <p:nvPr/>
        </p:nvSpPr>
        <p:spPr bwMode="auto">
          <a:xfrm flipV="1">
            <a:off x="4818670" y="3127217"/>
            <a:ext cx="259532" cy="226200"/>
          </a:xfrm>
          <a:prstGeom prst="line">
            <a:avLst/>
          </a:prstGeom>
          <a:noFill/>
          <a:ln w="12700">
            <a:solidFill>
              <a:schemeClr val="tx1"/>
            </a:solidFill>
            <a:round/>
            <a:headEnd type="none" w="sm" len="sm"/>
            <a:tailEnd type="triangle" w="sm" len="sm"/>
          </a:ln>
        </p:spPr>
        <p:txBody>
          <a:bodyPr/>
          <a:lstStyle/>
          <a:p>
            <a:endParaRPr lang="da-DK"/>
          </a:p>
        </p:txBody>
      </p:sp>
    </p:spTree>
    <p:extLst>
      <p:ext uri="{BB962C8B-B14F-4D97-AF65-F5344CB8AC3E}">
        <p14:creationId xmlns:p14="http://schemas.microsoft.com/office/powerpoint/2010/main" val="219647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29704"/>
                                        </p:tgtEl>
                                        <p:attrNameLst>
                                          <p:attrName>style.visibility</p:attrName>
                                        </p:attrNameLst>
                                      </p:cBhvr>
                                      <p:to>
                                        <p:strVal val="visible"/>
                                      </p:to>
                                    </p:set>
                                    <p:animEffect transition="in" filter="wipe(up)">
                                      <p:cBhvr>
                                        <p:cTn id="10" dur="500"/>
                                        <p:tgtEl>
                                          <p:spTgt spid="2970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9711"/>
                                        </p:tgtEl>
                                        <p:attrNameLst>
                                          <p:attrName>style.visibility</p:attrName>
                                        </p:attrNameLst>
                                      </p:cBhvr>
                                      <p:to>
                                        <p:strVal val="visible"/>
                                      </p:to>
                                    </p:set>
                                    <p:animEffect transition="in" filter="wipe(up)">
                                      <p:cBhvr>
                                        <p:cTn id="15" dur="500"/>
                                        <p:tgtEl>
                                          <p:spTgt spid="29711"/>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9712"/>
                                        </p:tgtEl>
                                        <p:attrNameLst>
                                          <p:attrName>style.visibility</p:attrName>
                                        </p:attrNameLst>
                                      </p:cBhvr>
                                      <p:to>
                                        <p:strVal val="visible"/>
                                      </p:to>
                                    </p:set>
                                    <p:animEffect transition="in" filter="wipe(left)">
                                      <p:cBhvr>
                                        <p:cTn id="19" dur="500"/>
                                        <p:tgtEl>
                                          <p:spTgt spid="29712"/>
                                        </p:tgtEl>
                                      </p:cBhvr>
                                    </p:animEffect>
                                  </p:child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0"/>
                                          </p:stCondLst>
                                        </p:cTn>
                                        <p:tgtEl>
                                          <p:spTgt spid="297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705"/>
                                        </p:tgtEl>
                                        <p:attrNameLst>
                                          <p:attrName>style.visibility</p:attrName>
                                        </p:attrNameLst>
                                      </p:cBhvr>
                                      <p:to>
                                        <p:strVal val="visible"/>
                                      </p:to>
                                    </p:set>
                                  </p:childTnLst>
                                </p:cTn>
                              </p:par>
                            </p:childTnLst>
                          </p:cTn>
                        </p:par>
                        <p:par>
                          <p:cTn id="27" fill="hold">
                            <p:stCondLst>
                              <p:cond delay="0"/>
                            </p:stCondLst>
                            <p:childTnLst>
                              <p:par>
                                <p:cTn id="28" presetID="22" presetClass="entr" presetSubtype="2" fill="hold" grpId="0" nodeType="afterEffect">
                                  <p:stCondLst>
                                    <p:cond delay="0"/>
                                  </p:stCondLst>
                                  <p:childTnLst>
                                    <p:set>
                                      <p:cBhvr>
                                        <p:cTn id="29" dur="1" fill="hold">
                                          <p:stCondLst>
                                            <p:cond delay="0"/>
                                          </p:stCondLst>
                                        </p:cTn>
                                        <p:tgtEl>
                                          <p:spTgt spid="29707"/>
                                        </p:tgtEl>
                                        <p:attrNameLst>
                                          <p:attrName>style.visibility</p:attrName>
                                        </p:attrNameLst>
                                      </p:cBhvr>
                                      <p:to>
                                        <p:strVal val="visible"/>
                                      </p:to>
                                    </p:set>
                                    <p:animEffect transition="in" filter="wipe(right)">
                                      <p:cBhvr>
                                        <p:cTn id="30" dur="500"/>
                                        <p:tgtEl>
                                          <p:spTgt spid="29707"/>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29706"/>
                                        </p:tgtEl>
                                        <p:attrNameLst>
                                          <p:attrName>style.visibility</p:attrName>
                                        </p:attrNameLst>
                                      </p:cBhvr>
                                      <p:to>
                                        <p:strVal val="visible"/>
                                      </p:to>
                                    </p:set>
                                    <p:animEffect transition="in" filter="wipe(down)">
                                      <p:cBhvr>
                                        <p:cTn id="34" dur="500"/>
                                        <p:tgtEl>
                                          <p:spTgt spid="2970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70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par>
                          <p:cTn id="43" fill="hold">
                            <p:stCondLst>
                              <p:cond delay="0"/>
                            </p:stCondLst>
                            <p:childTnLst>
                              <p:par>
                                <p:cTn id="44" presetID="22" presetClass="entr" presetSubtype="2"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right)">
                                      <p:cBhvr>
                                        <p:cTn id="4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4" grpId="0" animBg="1"/>
      <p:bldP spid="29705" grpId="0"/>
      <p:bldP spid="29706" grpId="0" animBg="1"/>
      <p:bldP spid="29707" grpId="0" animBg="1"/>
      <p:bldP spid="29708" grpId="0"/>
      <p:bldP spid="29711" grpId="0" animBg="1"/>
      <p:bldP spid="29712"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Line 6"/>
          <p:cNvSpPr>
            <a:spLocks noChangeShapeType="1"/>
          </p:cNvSpPr>
          <p:nvPr/>
        </p:nvSpPr>
        <p:spPr bwMode="auto">
          <a:xfrm>
            <a:off x="4343400" y="2057400"/>
            <a:ext cx="0" cy="3581400"/>
          </a:xfrm>
          <a:prstGeom prst="line">
            <a:avLst/>
          </a:prstGeom>
          <a:noFill/>
          <a:ln w="12700">
            <a:solidFill>
              <a:schemeClr val="tx1"/>
            </a:solidFill>
            <a:round/>
            <a:headEnd type="triangle" w="sm" len="sm"/>
            <a:tailEnd type="none" w="sm" len="sm"/>
          </a:ln>
        </p:spPr>
        <p:txBody>
          <a:bodyPr/>
          <a:lstStyle/>
          <a:p>
            <a:endParaRPr lang="da-DK"/>
          </a:p>
        </p:txBody>
      </p:sp>
      <p:sp>
        <p:nvSpPr>
          <p:cNvPr id="2057" name="Line 7"/>
          <p:cNvSpPr>
            <a:spLocks noChangeShapeType="1"/>
          </p:cNvSpPr>
          <p:nvPr/>
        </p:nvSpPr>
        <p:spPr bwMode="auto">
          <a:xfrm>
            <a:off x="4343400" y="5638800"/>
            <a:ext cx="3657600" cy="0"/>
          </a:xfrm>
          <a:prstGeom prst="line">
            <a:avLst/>
          </a:prstGeom>
          <a:noFill/>
          <a:ln w="12700">
            <a:solidFill>
              <a:schemeClr val="tx1"/>
            </a:solidFill>
            <a:round/>
            <a:headEnd type="none" w="sm" len="sm"/>
            <a:tailEnd type="triangle" w="sm" len="sm"/>
          </a:ln>
        </p:spPr>
        <p:txBody>
          <a:bodyPr/>
          <a:lstStyle/>
          <a:p>
            <a:endParaRPr lang="da-DK"/>
          </a:p>
        </p:txBody>
      </p:sp>
      <p:sp>
        <p:nvSpPr>
          <p:cNvPr id="2058" name="Text Box 8"/>
          <p:cNvSpPr txBox="1">
            <a:spLocks noChangeArrowheads="1"/>
          </p:cNvSpPr>
          <p:nvPr/>
        </p:nvSpPr>
        <p:spPr bwMode="auto">
          <a:xfrm>
            <a:off x="7993063" y="5486401"/>
            <a:ext cx="287258" cy="307777"/>
          </a:xfrm>
          <a:prstGeom prst="rect">
            <a:avLst/>
          </a:prstGeom>
          <a:noFill/>
          <a:ln w="12700">
            <a:noFill/>
            <a:miter lim="800000"/>
            <a:headEnd type="none" w="sm" len="sm"/>
            <a:tailEnd type="none" w="sm" len="sm"/>
          </a:ln>
        </p:spPr>
        <p:txBody>
          <a:bodyPr wrap="none">
            <a:spAutoFit/>
          </a:bodyPr>
          <a:lstStyle/>
          <a:p>
            <a:r>
              <a:rPr lang="en-US" sz="1400" i="1" dirty="0"/>
              <a:t>C</a:t>
            </a:r>
          </a:p>
        </p:txBody>
      </p:sp>
      <p:sp>
        <p:nvSpPr>
          <p:cNvPr id="2059" name="Text Box 9"/>
          <p:cNvSpPr txBox="1">
            <a:spLocks noChangeArrowheads="1"/>
          </p:cNvSpPr>
          <p:nvPr/>
        </p:nvSpPr>
        <p:spPr bwMode="auto">
          <a:xfrm>
            <a:off x="4191000" y="1752601"/>
            <a:ext cx="276038" cy="307777"/>
          </a:xfrm>
          <a:prstGeom prst="rect">
            <a:avLst/>
          </a:prstGeom>
          <a:noFill/>
          <a:ln w="12700">
            <a:noFill/>
            <a:miter lim="800000"/>
            <a:headEnd type="none" w="sm" len="sm"/>
            <a:tailEnd type="none" w="sm" len="sm"/>
          </a:ln>
        </p:spPr>
        <p:txBody>
          <a:bodyPr wrap="none">
            <a:spAutoFit/>
          </a:bodyPr>
          <a:lstStyle/>
          <a:p>
            <a:r>
              <a:rPr lang="en-US" sz="1400" i="1" dirty="0"/>
              <a:t>F</a:t>
            </a:r>
          </a:p>
        </p:txBody>
      </p:sp>
      <p:sp>
        <p:nvSpPr>
          <p:cNvPr id="2060" name="Line 10"/>
          <p:cNvSpPr>
            <a:spLocks noChangeShapeType="1"/>
          </p:cNvSpPr>
          <p:nvPr/>
        </p:nvSpPr>
        <p:spPr bwMode="auto">
          <a:xfrm>
            <a:off x="4343400" y="2743200"/>
            <a:ext cx="2895600" cy="2895600"/>
          </a:xfrm>
          <a:prstGeom prst="line">
            <a:avLst/>
          </a:prstGeom>
          <a:noFill/>
          <a:ln w="34925">
            <a:solidFill>
              <a:srgbClr val="000066"/>
            </a:solidFill>
            <a:round/>
            <a:headEnd type="none" w="sm" len="sm"/>
            <a:tailEnd type="none" w="sm" len="sm"/>
          </a:ln>
        </p:spPr>
        <p:txBody>
          <a:bodyPr/>
          <a:lstStyle/>
          <a:p>
            <a:endParaRPr lang="da-DK"/>
          </a:p>
        </p:txBody>
      </p:sp>
      <p:sp>
        <p:nvSpPr>
          <p:cNvPr id="2061" name="Text Box 11"/>
          <p:cNvSpPr txBox="1">
            <a:spLocks noChangeArrowheads="1"/>
          </p:cNvSpPr>
          <p:nvPr/>
        </p:nvSpPr>
        <p:spPr bwMode="auto">
          <a:xfrm rot="-5400000">
            <a:off x="2986881" y="3813969"/>
            <a:ext cx="1493838" cy="304800"/>
          </a:xfrm>
          <a:prstGeom prst="rect">
            <a:avLst/>
          </a:prstGeom>
          <a:noFill/>
          <a:ln w="12700">
            <a:noFill/>
            <a:miter lim="800000"/>
            <a:headEnd type="none" w="sm" len="sm"/>
            <a:tailEnd type="none" w="sm" len="sm"/>
          </a:ln>
        </p:spPr>
        <p:txBody>
          <a:bodyPr>
            <a:spAutoFit/>
          </a:bodyPr>
          <a:lstStyle/>
          <a:p>
            <a:r>
              <a:rPr lang="en-US" sz="1400" dirty="0"/>
              <a:t>Quantity of Food</a:t>
            </a:r>
          </a:p>
        </p:txBody>
      </p:sp>
      <p:sp>
        <p:nvSpPr>
          <p:cNvPr id="2062" name="Text Box 12"/>
          <p:cNvSpPr txBox="1">
            <a:spLocks noChangeArrowheads="1"/>
          </p:cNvSpPr>
          <p:nvPr/>
        </p:nvSpPr>
        <p:spPr bwMode="auto">
          <a:xfrm>
            <a:off x="5192713" y="6172201"/>
            <a:ext cx="1666034" cy="307777"/>
          </a:xfrm>
          <a:prstGeom prst="rect">
            <a:avLst/>
          </a:prstGeom>
          <a:noFill/>
          <a:ln w="12700">
            <a:noFill/>
            <a:miter lim="800000"/>
            <a:headEnd type="none" w="sm" len="sm"/>
            <a:tailEnd type="none" w="sm" len="sm"/>
          </a:ln>
        </p:spPr>
        <p:txBody>
          <a:bodyPr wrap="none">
            <a:spAutoFit/>
          </a:bodyPr>
          <a:lstStyle/>
          <a:p>
            <a:r>
              <a:rPr lang="en-US" sz="1400" dirty="0"/>
              <a:t>Quantity of Clothing</a:t>
            </a:r>
          </a:p>
        </p:txBody>
      </p:sp>
      <p:sp>
        <p:nvSpPr>
          <p:cNvPr id="31757" name="Line 13"/>
          <p:cNvSpPr>
            <a:spLocks noChangeShapeType="1"/>
          </p:cNvSpPr>
          <p:nvPr/>
        </p:nvSpPr>
        <p:spPr bwMode="auto">
          <a:xfrm>
            <a:off x="4343400" y="2057400"/>
            <a:ext cx="3581400" cy="3581400"/>
          </a:xfrm>
          <a:prstGeom prst="line">
            <a:avLst/>
          </a:prstGeom>
          <a:noFill/>
          <a:ln w="34925">
            <a:solidFill>
              <a:srgbClr val="000066"/>
            </a:solidFill>
            <a:prstDash val="sysDot"/>
            <a:round/>
            <a:headEnd type="none" w="sm" len="sm"/>
            <a:tailEnd type="none" w="sm" len="sm"/>
          </a:ln>
        </p:spPr>
        <p:txBody>
          <a:bodyPr/>
          <a:lstStyle/>
          <a:p>
            <a:endParaRPr lang="da-DK"/>
          </a:p>
        </p:txBody>
      </p:sp>
      <p:sp>
        <p:nvSpPr>
          <p:cNvPr id="31761" name="Line 17"/>
          <p:cNvSpPr>
            <a:spLocks noChangeShapeType="1"/>
          </p:cNvSpPr>
          <p:nvPr/>
        </p:nvSpPr>
        <p:spPr bwMode="auto">
          <a:xfrm>
            <a:off x="4343400" y="3581400"/>
            <a:ext cx="2057400" cy="2057400"/>
          </a:xfrm>
          <a:prstGeom prst="line">
            <a:avLst/>
          </a:prstGeom>
          <a:noFill/>
          <a:ln w="34925">
            <a:solidFill>
              <a:srgbClr val="000066"/>
            </a:solidFill>
            <a:prstDash val="lgDash"/>
            <a:round/>
            <a:headEnd type="none" w="sm" len="sm"/>
            <a:tailEnd type="none" w="sm" len="sm"/>
          </a:ln>
        </p:spPr>
        <p:txBody>
          <a:bodyPr/>
          <a:lstStyle/>
          <a:p>
            <a:endParaRPr lang="da-DK"/>
          </a:p>
        </p:txBody>
      </p:sp>
      <p:sp>
        <p:nvSpPr>
          <p:cNvPr id="2065" name="Text Box 18"/>
          <p:cNvSpPr txBox="1">
            <a:spLocks noChangeArrowheads="1"/>
          </p:cNvSpPr>
          <p:nvPr/>
        </p:nvSpPr>
        <p:spPr bwMode="auto">
          <a:xfrm>
            <a:off x="6477000" y="3611564"/>
            <a:ext cx="1441450" cy="274637"/>
          </a:xfrm>
          <a:prstGeom prst="rect">
            <a:avLst/>
          </a:prstGeom>
          <a:noFill/>
          <a:ln w="12700">
            <a:noFill/>
            <a:miter lim="800000"/>
            <a:headEnd type="none" w="sm" len="sm"/>
            <a:tailEnd type="none" w="sm" len="sm"/>
          </a:ln>
        </p:spPr>
        <p:txBody>
          <a:bodyPr wrap="none">
            <a:spAutoFit/>
          </a:bodyPr>
          <a:lstStyle/>
          <a:p>
            <a:r>
              <a:rPr lang="en-US" sz="1200" dirty="0"/>
              <a:t>Original Constraint</a:t>
            </a:r>
          </a:p>
        </p:txBody>
      </p:sp>
      <p:sp>
        <p:nvSpPr>
          <p:cNvPr id="31763" name="Text Box 19"/>
          <p:cNvSpPr txBox="1">
            <a:spLocks noChangeArrowheads="1"/>
          </p:cNvSpPr>
          <p:nvPr/>
        </p:nvSpPr>
        <p:spPr bwMode="auto">
          <a:xfrm>
            <a:off x="5334001" y="3276600"/>
            <a:ext cx="1171575" cy="274638"/>
          </a:xfrm>
          <a:prstGeom prst="rect">
            <a:avLst/>
          </a:prstGeom>
          <a:noFill/>
          <a:ln w="12700">
            <a:noFill/>
            <a:miter lim="800000"/>
            <a:headEnd type="none" w="sm" len="sm"/>
            <a:tailEnd type="none" w="sm" len="sm"/>
          </a:ln>
        </p:spPr>
        <p:txBody>
          <a:bodyPr wrap="none">
            <a:spAutoFit/>
          </a:bodyPr>
          <a:lstStyle/>
          <a:p>
            <a:r>
              <a:rPr lang="en-US" sz="1200" dirty="0"/>
              <a:t>Higher Income</a:t>
            </a:r>
          </a:p>
        </p:txBody>
      </p:sp>
      <p:sp>
        <p:nvSpPr>
          <p:cNvPr id="31764" name="Text Box 20"/>
          <p:cNvSpPr txBox="1">
            <a:spLocks noChangeArrowheads="1"/>
          </p:cNvSpPr>
          <p:nvPr/>
        </p:nvSpPr>
        <p:spPr bwMode="auto">
          <a:xfrm>
            <a:off x="5186363" y="4754564"/>
            <a:ext cx="1087862" cy="276999"/>
          </a:xfrm>
          <a:prstGeom prst="rect">
            <a:avLst/>
          </a:prstGeom>
          <a:noFill/>
          <a:ln w="12700">
            <a:noFill/>
            <a:miter lim="800000"/>
            <a:headEnd type="none" w="sm" len="sm"/>
            <a:tailEnd type="none" w="sm" len="sm"/>
          </a:ln>
        </p:spPr>
        <p:txBody>
          <a:bodyPr wrap="none">
            <a:spAutoFit/>
          </a:bodyPr>
          <a:lstStyle/>
          <a:p>
            <a:r>
              <a:rPr lang="en-US" sz="1200" dirty="0"/>
              <a:t>Lower Income</a:t>
            </a:r>
          </a:p>
        </p:txBody>
      </p:sp>
      <p:sp>
        <p:nvSpPr>
          <p:cNvPr id="2068" name="Line 21"/>
          <p:cNvSpPr>
            <a:spLocks noChangeShapeType="1"/>
          </p:cNvSpPr>
          <p:nvPr/>
        </p:nvSpPr>
        <p:spPr bwMode="auto">
          <a:xfrm flipH="1">
            <a:off x="6019800" y="3810000"/>
            <a:ext cx="533400" cy="533400"/>
          </a:xfrm>
          <a:prstGeom prst="line">
            <a:avLst/>
          </a:prstGeom>
          <a:noFill/>
          <a:ln w="12700">
            <a:solidFill>
              <a:schemeClr val="tx1"/>
            </a:solidFill>
            <a:round/>
            <a:headEnd type="none" w="sm" len="sm"/>
            <a:tailEnd type="triangle" w="med" len="med"/>
          </a:ln>
        </p:spPr>
        <p:txBody>
          <a:bodyPr/>
          <a:lstStyle/>
          <a:p>
            <a:endParaRPr lang="da-DK"/>
          </a:p>
        </p:txBody>
      </p:sp>
      <p:sp>
        <p:nvSpPr>
          <p:cNvPr id="31766" name="Line 22"/>
          <p:cNvSpPr>
            <a:spLocks noChangeShapeType="1"/>
          </p:cNvSpPr>
          <p:nvPr/>
        </p:nvSpPr>
        <p:spPr bwMode="auto">
          <a:xfrm flipH="1">
            <a:off x="5943600" y="5105400"/>
            <a:ext cx="762000" cy="0"/>
          </a:xfrm>
          <a:prstGeom prst="line">
            <a:avLst/>
          </a:prstGeom>
          <a:noFill/>
          <a:ln w="12700">
            <a:solidFill>
              <a:schemeClr val="tx1"/>
            </a:solidFill>
            <a:round/>
            <a:headEnd type="none" w="sm" len="sm"/>
            <a:tailEnd type="triangle" w="med" len="med"/>
          </a:ln>
        </p:spPr>
        <p:txBody>
          <a:bodyPr/>
          <a:lstStyle/>
          <a:p>
            <a:endParaRPr lang="da-DK"/>
          </a:p>
        </p:txBody>
      </p:sp>
      <p:sp>
        <p:nvSpPr>
          <p:cNvPr id="31767" name="Line 23"/>
          <p:cNvSpPr>
            <a:spLocks noChangeShapeType="1"/>
          </p:cNvSpPr>
          <p:nvPr/>
        </p:nvSpPr>
        <p:spPr bwMode="auto">
          <a:xfrm>
            <a:off x="5181600" y="3581400"/>
            <a:ext cx="609600" cy="0"/>
          </a:xfrm>
          <a:prstGeom prst="line">
            <a:avLst/>
          </a:prstGeom>
          <a:noFill/>
          <a:ln w="12700">
            <a:solidFill>
              <a:schemeClr val="tx1"/>
            </a:solidFill>
            <a:round/>
            <a:headEnd type="none" w="sm" len="sm"/>
            <a:tailEnd type="triangle" w="med" len="med"/>
          </a:ln>
        </p:spPr>
        <p:txBody>
          <a:bodyPr/>
          <a:lstStyle/>
          <a:p>
            <a:endParaRPr lang="da-DK"/>
          </a:p>
        </p:txBody>
      </p:sp>
      <p:sp>
        <p:nvSpPr>
          <p:cNvPr id="2071" name="Rectangle 2"/>
          <p:cNvSpPr>
            <a:spLocks noChangeArrowheads="1"/>
          </p:cNvSpPr>
          <p:nvPr/>
        </p:nvSpPr>
        <p:spPr bwMode="auto">
          <a:xfrm>
            <a:off x="1905000" y="685800"/>
            <a:ext cx="8229600" cy="1143000"/>
          </a:xfrm>
          <a:prstGeom prst="rect">
            <a:avLst/>
          </a:prstGeom>
          <a:noFill/>
          <a:ln w="9525">
            <a:noFill/>
            <a:miter lim="800000"/>
            <a:headEnd/>
            <a:tailEnd/>
          </a:ln>
        </p:spPr>
        <p:txBody>
          <a:bodyPr anchor="ctr"/>
          <a:lstStyle/>
          <a:p>
            <a:pPr algn="ctr"/>
            <a:r>
              <a:rPr lang="en-US" sz="4400" dirty="0">
                <a:solidFill>
                  <a:schemeClr val="tx2">
                    <a:lumMod val="75000"/>
                  </a:schemeClr>
                </a:solidFill>
              </a:rPr>
              <a:t>The Budget Constraint Diagram</a:t>
            </a:r>
          </a:p>
        </p:txBody>
      </p:sp>
      <p:sp>
        <p:nvSpPr>
          <p:cNvPr id="2072" name="Rectangle 26"/>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04DA7121-9D52-41D6-A54E-0864A95AFF39}" type="slidenum">
              <a:rPr lang="en-US" sz="1200"/>
              <a:pPr/>
              <a:t>14</a:t>
            </a:fld>
            <a:endParaRPr lang="en-US" sz="1200" dirty="0"/>
          </a:p>
        </p:txBody>
      </p:sp>
    </p:spTree>
    <p:extLst>
      <p:ext uri="{BB962C8B-B14F-4D97-AF65-F5344CB8AC3E}">
        <p14:creationId xmlns:p14="http://schemas.microsoft.com/office/powerpoint/2010/main" val="1299687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67"/>
                                        </p:tgtEl>
                                        <p:attrNameLst>
                                          <p:attrName>style.visibility</p:attrName>
                                        </p:attrNameLst>
                                      </p:cBhvr>
                                      <p:to>
                                        <p:strVal val="visible"/>
                                      </p:to>
                                    </p:set>
                                    <p:animEffect transition="in" filter="wipe(left)">
                                      <p:cBhvr>
                                        <p:cTn id="7" dur="500"/>
                                        <p:tgtEl>
                                          <p:spTgt spid="3176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1763"/>
                                        </p:tgtEl>
                                        <p:attrNameLst>
                                          <p:attrName>style.visibility</p:attrName>
                                        </p:attrNameLst>
                                      </p:cBhvr>
                                      <p:to>
                                        <p:strVal val="visible"/>
                                      </p:to>
                                    </p:set>
                                  </p:childTnLst>
                                </p:cTn>
                              </p:par>
                              <p:par>
                                <p:cTn id="10" presetID="22" presetClass="entr" presetSubtype="1" fill="hold" grpId="0" nodeType="withEffect">
                                  <p:stCondLst>
                                    <p:cond delay="0"/>
                                  </p:stCondLst>
                                  <p:childTnLst>
                                    <p:set>
                                      <p:cBhvr>
                                        <p:cTn id="11" dur="1" fill="hold">
                                          <p:stCondLst>
                                            <p:cond delay="0"/>
                                          </p:stCondLst>
                                        </p:cTn>
                                        <p:tgtEl>
                                          <p:spTgt spid="31757"/>
                                        </p:tgtEl>
                                        <p:attrNameLst>
                                          <p:attrName>style.visibility</p:attrName>
                                        </p:attrNameLst>
                                      </p:cBhvr>
                                      <p:to>
                                        <p:strVal val="visible"/>
                                      </p:to>
                                    </p:set>
                                    <p:animEffect transition="in" filter="wipe(up)">
                                      <p:cBhvr>
                                        <p:cTn id="12" dur="500"/>
                                        <p:tgtEl>
                                          <p:spTgt spid="3175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764"/>
                                        </p:tgtEl>
                                        <p:attrNameLst>
                                          <p:attrName>style.visibility</p:attrName>
                                        </p:attrNameLst>
                                      </p:cBhvr>
                                      <p:to>
                                        <p:strVal val="visible"/>
                                      </p:to>
                                    </p:set>
                                  </p:childTnLst>
                                </p:cTn>
                              </p:par>
                              <p:par>
                                <p:cTn id="17" presetID="22" presetClass="entr" presetSubtype="2" fill="hold" grpId="0" nodeType="withEffect">
                                  <p:stCondLst>
                                    <p:cond delay="0"/>
                                  </p:stCondLst>
                                  <p:childTnLst>
                                    <p:set>
                                      <p:cBhvr>
                                        <p:cTn id="18" dur="1" fill="hold">
                                          <p:stCondLst>
                                            <p:cond delay="0"/>
                                          </p:stCondLst>
                                        </p:cTn>
                                        <p:tgtEl>
                                          <p:spTgt spid="31766"/>
                                        </p:tgtEl>
                                        <p:attrNameLst>
                                          <p:attrName>style.visibility</p:attrName>
                                        </p:attrNameLst>
                                      </p:cBhvr>
                                      <p:to>
                                        <p:strVal val="visible"/>
                                      </p:to>
                                    </p:set>
                                    <p:animEffect transition="in" filter="wipe(right)">
                                      <p:cBhvr>
                                        <p:cTn id="19" dur="500"/>
                                        <p:tgtEl>
                                          <p:spTgt spid="31766"/>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1761"/>
                                        </p:tgtEl>
                                        <p:attrNameLst>
                                          <p:attrName>style.visibility</p:attrName>
                                        </p:attrNameLst>
                                      </p:cBhvr>
                                      <p:to>
                                        <p:strVal val="visible"/>
                                      </p:to>
                                    </p:set>
                                    <p:animEffect transition="in" filter="wipe(up)">
                                      <p:cBhvr>
                                        <p:cTn id="22" dur="500"/>
                                        <p:tgtEl>
                                          <p:spTgt spid="31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7" grpId="0" animBg="1"/>
      <p:bldP spid="31761" grpId="0" animBg="1"/>
      <p:bldP spid="31763" grpId="0"/>
      <p:bldP spid="31764" grpId="0"/>
      <p:bldP spid="31766" grpId="0" animBg="1"/>
      <p:bldP spid="3176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ChangeArrowheads="1"/>
          </p:cNvSpPr>
          <p:nvPr/>
        </p:nvSpPr>
        <p:spPr bwMode="auto">
          <a:xfrm>
            <a:off x="5105400" y="1676400"/>
            <a:ext cx="5181600" cy="4572000"/>
          </a:xfrm>
          <a:prstGeom prst="rect">
            <a:avLst/>
          </a:prstGeom>
          <a:noFill/>
          <a:ln w="12700">
            <a:noFill/>
            <a:miter lim="800000"/>
            <a:headEnd type="none" w="sm" len="sm"/>
            <a:tailEnd type="none" w="sm" len="sm"/>
          </a:ln>
        </p:spPr>
        <p:txBody>
          <a:bodyPr wrap="none" anchor="ctr"/>
          <a:lstStyle/>
          <a:p>
            <a:endParaRPr lang="da-DK"/>
          </a:p>
        </p:txBody>
      </p:sp>
      <p:graphicFrame>
        <p:nvGraphicFramePr>
          <p:cNvPr id="3074" name="Object 5"/>
          <p:cNvGraphicFramePr>
            <a:graphicFrameLocks noGrp="1" noChangeAspect="1"/>
          </p:cNvGraphicFramePr>
          <p:nvPr>
            <p:ph sz="quarter" idx="4294967295"/>
          </p:nvPr>
        </p:nvGraphicFramePr>
        <p:xfrm>
          <a:off x="6827839" y="5189538"/>
          <a:ext cx="269875" cy="419100"/>
        </p:xfrm>
        <a:graphic>
          <a:graphicData uri="http://schemas.openxmlformats.org/presentationml/2006/ole">
            <mc:AlternateContent xmlns:mc="http://schemas.openxmlformats.org/markup-compatibility/2006">
              <mc:Choice xmlns:v="urn:schemas-microsoft-com:vml" Requires="v">
                <p:oleObj name="Equation" r:id="rId2" imgW="279360" imgH="431640" progId="Equation.3">
                  <p:embed/>
                </p:oleObj>
              </mc:Choice>
              <mc:Fallback>
                <p:oleObj name="Equation" r:id="rId2" imgW="279360" imgH="431640" progId="Equation.3">
                  <p:embed/>
                  <p:pic>
                    <p:nvPicPr>
                      <p:cNvPr id="307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7839" y="5189538"/>
                        <a:ext cx="269875" cy="419100"/>
                      </a:xfrm>
                      <a:prstGeom prst="rect">
                        <a:avLst/>
                      </a:prstGeom>
                      <a:solidFill>
                        <a:srgbClr val="FFFF00"/>
                      </a:solidFill>
                    </p:spPr>
                  </p:pic>
                </p:oleObj>
              </mc:Fallback>
            </mc:AlternateContent>
          </a:graphicData>
        </a:graphic>
      </p:graphicFrame>
      <p:graphicFrame>
        <p:nvGraphicFramePr>
          <p:cNvPr id="3075" name="Object 6"/>
          <p:cNvGraphicFramePr>
            <a:graphicFrameLocks noChangeAspect="1"/>
          </p:cNvGraphicFramePr>
          <p:nvPr/>
        </p:nvGraphicFramePr>
        <p:xfrm>
          <a:off x="9520238" y="5195094"/>
          <a:ext cx="314325" cy="430212"/>
        </p:xfrm>
        <a:graphic>
          <a:graphicData uri="http://schemas.openxmlformats.org/presentationml/2006/ole">
            <mc:AlternateContent xmlns:mc="http://schemas.openxmlformats.org/markup-compatibility/2006">
              <mc:Choice xmlns:v="urn:schemas-microsoft-com:vml" Requires="v">
                <p:oleObj name="Equation" r:id="rId4" imgW="317160" imgH="431640" progId="Equation.3">
                  <p:embed/>
                </p:oleObj>
              </mc:Choice>
              <mc:Fallback>
                <p:oleObj name="Equation" r:id="rId4" imgW="317160" imgH="431640" progId="Equation.3">
                  <p:embed/>
                  <p:pic>
                    <p:nvPicPr>
                      <p:cNvPr id="307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0238" y="5195094"/>
                        <a:ext cx="314325" cy="430212"/>
                      </a:xfrm>
                      <a:prstGeom prst="rect">
                        <a:avLst/>
                      </a:prstGeom>
                      <a:solidFill>
                        <a:srgbClr val="FFFF00"/>
                      </a:solidFill>
                    </p:spPr>
                  </p:pic>
                </p:oleObj>
              </mc:Fallback>
            </mc:AlternateContent>
          </a:graphicData>
        </a:graphic>
      </p:graphicFrame>
      <p:sp>
        <p:nvSpPr>
          <p:cNvPr id="3079" name="Line 7"/>
          <p:cNvSpPr>
            <a:spLocks noChangeShapeType="1"/>
          </p:cNvSpPr>
          <p:nvPr/>
        </p:nvSpPr>
        <p:spPr bwMode="auto">
          <a:xfrm>
            <a:off x="5791200" y="1981200"/>
            <a:ext cx="0" cy="3200400"/>
          </a:xfrm>
          <a:prstGeom prst="line">
            <a:avLst/>
          </a:prstGeom>
          <a:noFill/>
          <a:ln w="12700">
            <a:solidFill>
              <a:schemeClr val="tx1"/>
            </a:solidFill>
            <a:round/>
            <a:headEnd type="triangle" w="sm" len="sm"/>
            <a:tailEnd type="none" w="sm" len="sm"/>
          </a:ln>
        </p:spPr>
        <p:txBody>
          <a:bodyPr/>
          <a:lstStyle/>
          <a:p>
            <a:endParaRPr lang="da-DK"/>
          </a:p>
        </p:txBody>
      </p:sp>
      <p:sp>
        <p:nvSpPr>
          <p:cNvPr id="3080" name="Line 8"/>
          <p:cNvSpPr>
            <a:spLocks noChangeShapeType="1"/>
          </p:cNvSpPr>
          <p:nvPr/>
        </p:nvSpPr>
        <p:spPr bwMode="auto">
          <a:xfrm>
            <a:off x="5791200" y="5181600"/>
            <a:ext cx="3962400" cy="0"/>
          </a:xfrm>
          <a:prstGeom prst="line">
            <a:avLst/>
          </a:prstGeom>
          <a:noFill/>
          <a:ln w="12700">
            <a:solidFill>
              <a:schemeClr val="tx1"/>
            </a:solidFill>
            <a:round/>
            <a:headEnd type="none" w="sm" len="sm"/>
            <a:tailEnd type="triangle" w="sm" len="sm"/>
          </a:ln>
        </p:spPr>
        <p:txBody>
          <a:bodyPr/>
          <a:lstStyle/>
          <a:p>
            <a:endParaRPr lang="da-DK"/>
          </a:p>
        </p:txBody>
      </p:sp>
      <p:sp>
        <p:nvSpPr>
          <p:cNvPr id="3081" name="Text Box 9"/>
          <p:cNvSpPr txBox="1">
            <a:spLocks noChangeArrowheads="1"/>
          </p:cNvSpPr>
          <p:nvPr/>
        </p:nvSpPr>
        <p:spPr bwMode="auto">
          <a:xfrm>
            <a:off x="5645150" y="1676400"/>
            <a:ext cx="292100" cy="304800"/>
          </a:xfrm>
          <a:prstGeom prst="rect">
            <a:avLst/>
          </a:prstGeom>
          <a:noFill/>
          <a:ln w="12700">
            <a:noFill/>
            <a:miter lim="800000"/>
            <a:headEnd type="none" w="sm" len="sm"/>
            <a:tailEnd type="none" w="sm" len="sm"/>
          </a:ln>
        </p:spPr>
        <p:txBody>
          <a:bodyPr>
            <a:spAutoFit/>
          </a:bodyPr>
          <a:lstStyle/>
          <a:p>
            <a:r>
              <a:rPr lang="en-US" sz="1400" i="1" dirty="0"/>
              <a:t>F</a:t>
            </a:r>
          </a:p>
        </p:txBody>
      </p:sp>
      <p:sp>
        <p:nvSpPr>
          <p:cNvPr id="3082" name="Text Box 10"/>
          <p:cNvSpPr txBox="1">
            <a:spLocks noChangeArrowheads="1"/>
          </p:cNvSpPr>
          <p:nvPr/>
        </p:nvSpPr>
        <p:spPr bwMode="auto">
          <a:xfrm>
            <a:off x="9753600" y="5029201"/>
            <a:ext cx="287258" cy="307777"/>
          </a:xfrm>
          <a:prstGeom prst="rect">
            <a:avLst/>
          </a:prstGeom>
          <a:noFill/>
          <a:ln w="12700">
            <a:noFill/>
            <a:miter lim="800000"/>
            <a:headEnd type="none" w="sm" len="sm"/>
            <a:tailEnd type="none" w="sm" len="sm"/>
          </a:ln>
        </p:spPr>
        <p:txBody>
          <a:bodyPr wrap="none">
            <a:spAutoFit/>
          </a:bodyPr>
          <a:lstStyle/>
          <a:p>
            <a:r>
              <a:rPr lang="en-US" sz="1400" i="1" dirty="0"/>
              <a:t>C</a:t>
            </a:r>
          </a:p>
        </p:txBody>
      </p:sp>
      <p:sp>
        <p:nvSpPr>
          <p:cNvPr id="3083" name="Text Box 11"/>
          <p:cNvSpPr txBox="1">
            <a:spLocks noChangeArrowheads="1"/>
          </p:cNvSpPr>
          <p:nvPr/>
        </p:nvSpPr>
        <p:spPr bwMode="auto">
          <a:xfrm>
            <a:off x="7097713" y="5676901"/>
            <a:ext cx="1666034" cy="307777"/>
          </a:xfrm>
          <a:prstGeom prst="rect">
            <a:avLst/>
          </a:prstGeom>
          <a:noFill/>
          <a:ln w="12700">
            <a:noFill/>
            <a:miter lim="800000"/>
            <a:headEnd type="none" w="sm" len="sm"/>
            <a:tailEnd type="none" w="sm" len="sm"/>
          </a:ln>
        </p:spPr>
        <p:txBody>
          <a:bodyPr wrap="none">
            <a:spAutoFit/>
          </a:bodyPr>
          <a:lstStyle/>
          <a:p>
            <a:r>
              <a:rPr lang="en-US" sz="1400" dirty="0"/>
              <a:t>Quantity of Clothing</a:t>
            </a:r>
          </a:p>
        </p:txBody>
      </p:sp>
      <p:sp>
        <p:nvSpPr>
          <p:cNvPr id="3084" name="Text Box 12"/>
          <p:cNvSpPr txBox="1">
            <a:spLocks noChangeArrowheads="1"/>
          </p:cNvSpPr>
          <p:nvPr/>
        </p:nvSpPr>
        <p:spPr bwMode="auto">
          <a:xfrm rot="16200000">
            <a:off x="4700006" y="3518795"/>
            <a:ext cx="1420389" cy="307777"/>
          </a:xfrm>
          <a:prstGeom prst="rect">
            <a:avLst/>
          </a:prstGeom>
          <a:noFill/>
          <a:ln w="12700">
            <a:noFill/>
            <a:miter lim="800000"/>
            <a:headEnd type="none" w="sm" len="sm"/>
            <a:tailEnd type="none" w="sm" len="sm"/>
          </a:ln>
        </p:spPr>
        <p:txBody>
          <a:bodyPr wrap="none">
            <a:spAutoFit/>
          </a:bodyPr>
          <a:lstStyle/>
          <a:p>
            <a:r>
              <a:rPr lang="en-US" sz="1400" dirty="0"/>
              <a:t>Quantity of Food</a:t>
            </a:r>
          </a:p>
        </p:txBody>
      </p:sp>
      <p:graphicFrame>
        <p:nvGraphicFramePr>
          <p:cNvPr id="3076" name="Object 13"/>
          <p:cNvGraphicFramePr>
            <a:graphicFrameLocks noChangeAspect="1"/>
          </p:cNvGraphicFramePr>
          <p:nvPr/>
        </p:nvGraphicFramePr>
        <p:xfrm>
          <a:off x="5526089" y="2324100"/>
          <a:ext cx="263525" cy="495300"/>
        </p:xfrm>
        <a:graphic>
          <a:graphicData uri="http://schemas.openxmlformats.org/presentationml/2006/ole">
            <mc:AlternateContent xmlns:mc="http://schemas.openxmlformats.org/markup-compatibility/2006">
              <mc:Choice xmlns:v="urn:schemas-microsoft-com:vml" Requires="v">
                <p:oleObj name="Equation" r:id="rId6" imgW="228600" imgH="431640" progId="Equation.3">
                  <p:embed/>
                </p:oleObj>
              </mc:Choice>
              <mc:Fallback>
                <p:oleObj name="Equation" r:id="rId6" imgW="228600" imgH="431640" progId="Equation.3">
                  <p:embed/>
                  <p:pic>
                    <p:nvPicPr>
                      <p:cNvPr id="3076"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26089" y="2324100"/>
                        <a:ext cx="26352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14"/>
          <p:cNvGraphicFramePr>
            <a:graphicFrameLocks noChangeAspect="1"/>
          </p:cNvGraphicFramePr>
          <p:nvPr/>
        </p:nvGraphicFramePr>
        <p:xfrm>
          <a:off x="8319159" y="5183187"/>
          <a:ext cx="278083" cy="455612"/>
        </p:xfrm>
        <a:graphic>
          <a:graphicData uri="http://schemas.openxmlformats.org/presentationml/2006/ole">
            <mc:AlternateContent xmlns:mc="http://schemas.openxmlformats.org/markup-compatibility/2006">
              <mc:Choice xmlns:v="urn:schemas-microsoft-com:vml" Requires="v">
                <p:oleObj name="Equation" r:id="rId8" imgW="228600" imgH="431640" progId="Equation.3">
                  <p:embed/>
                </p:oleObj>
              </mc:Choice>
              <mc:Fallback>
                <p:oleObj name="Equation" r:id="rId8" imgW="228600" imgH="431640" progId="Equation.3">
                  <p:embed/>
                  <p:pic>
                    <p:nvPicPr>
                      <p:cNvPr id="3077"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19159" y="5183187"/>
                        <a:ext cx="278083" cy="455612"/>
                      </a:xfrm>
                      <a:prstGeom prst="rect">
                        <a:avLst/>
                      </a:prstGeom>
                      <a:solidFill>
                        <a:srgbClr val="FFFF00"/>
                      </a:solidFill>
                    </p:spPr>
                  </p:pic>
                </p:oleObj>
              </mc:Fallback>
            </mc:AlternateContent>
          </a:graphicData>
        </a:graphic>
      </p:graphicFrame>
      <p:sp>
        <p:nvSpPr>
          <p:cNvPr id="3085" name="Line 15"/>
          <p:cNvSpPr>
            <a:spLocks noChangeShapeType="1"/>
          </p:cNvSpPr>
          <p:nvPr/>
        </p:nvSpPr>
        <p:spPr bwMode="auto">
          <a:xfrm>
            <a:off x="5791200" y="2590800"/>
            <a:ext cx="2667000" cy="2590800"/>
          </a:xfrm>
          <a:prstGeom prst="line">
            <a:avLst/>
          </a:prstGeom>
          <a:noFill/>
          <a:ln w="34925">
            <a:solidFill>
              <a:srgbClr val="000066"/>
            </a:solidFill>
            <a:round/>
            <a:headEnd type="none" w="sm" len="sm"/>
            <a:tailEnd type="none" w="sm" len="sm"/>
          </a:ln>
        </p:spPr>
        <p:txBody>
          <a:bodyPr/>
          <a:lstStyle/>
          <a:p>
            <a:endParaRPr lang="da-DK"/>
          </a:p>
        </p:txBody>
      </p:sp>
      <p:sp>
        <p:nvSpPr>
          <p:cNvPr id="32784" name="Line 16"/>
          <p:cNvSpPr>
            <a:spLocks noChangeShapeType="1"/>
          </p:cNvSpPr>
          <p:nvPr/>
        </p:nvSpPr>
        <p:spPr bwMode="auto">
          <a:xfrm>
            <a:off x="5791200" y="2590800"/>
            <a:ext cx="3886200" cy="2590800"/>
          </a:xfrm>
          <a:prstGeom prst="line">
            <a:avLst/>
          </a:prstGeom>
          <a:noFill/>
          <a:ln w="34925">
            <a:solidFill>
              <a:srgbClr val="000066"/>
            </a:solidFill>
            <a:prstDash val="sysDot"/>
            <a:round/>
            <a:headEnd type="none" w="sm" len="sm"/>
            <a:tailEnd type="none" w="sm" len="sm"/>
          </a:ln>
        </p:spPr>
        <p:txBody>
          <a:bodyPr/>
          <a:lstStyle/>
          <a:p>
            <a:endParaRPr lang="da-DK"/>
          </a:p>
        </p:txBody>
      </p:sp>
      <p:sp>
        <p:nvSpPr>
          <p:cNvPr id="3087" name="Text Box 17"/>
          <p:cNvSpPr txBox="1">
            <a:spLocks noChangeArrowheads="1"/>
          </p:cNvSpPr>
          <p:nvPr/>
        </p:nvSpPr>
        <p:spPr bwMode="auto">
          <a:xfrm>
            <a:off x="7848600" y="3429000"/>
            <a:ext cx="1441450" cy="274638"/>
          </a:xfrm>
          <a:prstGeom prst="rect">
            <a:avLst/>
          </a:prstGeom>
          <a:noFill/>
          <a:ln w="12700">
            <a:noFill/>
            <a:miter lim="800000"/>
            <a:headEnd type="none" w="sm" len="sm"/>
            <a:tailEnd type="none" w="sm" len="sm"/>
          </a:ln>
        </p:spPr>
        <p:txBody>
          <a:bodyPr wrap="none">
            <a:spAutoFit/>
          </a:bodyPr>
          <a:lstStyle/>
          <a:p>
            <a:r>
              <a:rPr lang="en-US" sz="1200" dirty="0"/>
              <a:t>Original Constraint</a:t>
            </a:r>
          </a:p>
        </p:txBody>
      </p:sp>
      <p:sp>
        <p:nvSpPr>
          <p:cNvPr id="3088" name="Line 18"/>
          <p:cNvSpPr>
            <a:spLocks noChangeShapeType="1"/>
          </p:cNvSpPr>
          <p:nvPr/>
        </p:nvSpPr>
        <p:spPr bwMode="auto">
          <a:xfrm flipH="1">
            <a:off x="7391400" y="3657600"/>
            <a:ext cx="533400" cy="457200"/>
          </a:xfrm>
          <a:prstGeom prst="line">
            <a:avLst/>
          </a:prstGeom>
          <a:noFill/>
          <a:ln w="12700">
            <a:solidFill>
              <a:schemeClr val="tx1"/>
            </a:solidFill>
            <a:round/>
            <a:headEnd type="none" w="sm" len="sm"/>
            <a:tailEnd type="triangle" w="med" len="med"/>
          </a:ln>
        </p:spPr>
        <p:txBody>
          <a:bodyPr/>
          <a:lstStyle/>
          <a:p>
            <a:endParaRPr lang="da-DK"/>
          </a:p>
        </p:txBody>
      </p:sp>
      <p:sp>
        <p:nvSpPr>
          <p:cNvPr id="32787" name="Text Box 19"/>
          <p:cNvSpPr txBox="1">
            <a:spLocks noChangeArrowheads="1"/>
          </p:cNvSpPr>
          <p:nvPr/>
        </p:nvSpPr>
        <p:spPr bwMode="auto">
          <a:xfrm>
            <a:off x="7086600" y="2971801"/>
            <a:ext cx="2225674" cy="276999"/>
          </a:xfrm>
          <a:prstGeom prst="rect">
            <a:avLst/>
          </a:prstGeom>
          <a:noFill/>
          <a:ln w="12700">
            <a:noFill/>
            <a:miter lim="800000"/>
            <a:headEnd type="none" w="sm" len="sm"/>
            <a:tailEnd type="none" w="sm" len="sm"/>
          </a:ln>
        </p:spPr>
        <p:txBody>
          <a:bodyPr wrap="none">
            <a:spAutoFit/>
          </a:bodyPr>
          <a:lstStyle/>
          <a:p>
            <a:r>
              <a:rPr lang="en-US" sz="1200" dirty="0"/>
              <a:t>Increase in the price of clothing</a:t>
            </a:r>
          </a:p>
        </p:txBody>
      </p:sp>
      <p:sp>
        <p:nvSpPr>
          <p:cNvPr id="32788" name="Text Box 20"/>
          <p:cNvSpPr txBox="1">
            <a:spLocks noChangeArrowheads="1"/>
          </p:cNvSpPr>
          <p:nvPr/>
        </p:nvSpPr>
        <p:spPr bwMode="auto">
          <a:xfrm>
            <a:off x="8382001" y="3810000"/>
            <a:ext cx="1831975" cy="457200"/>
          </a:xfrm>
          <a:prstGeom prst="rect">
            <a:avLst/>
          </a:prstGeom>
          <a:noFill/>
          <a:ln w="12700">
            <a:noFill/>
            <a:miter lim="800000"/>
            <a:headEnd type="none" w="sm" len="sm"/>
            <a:tailEnd type="none" w="sm" len="sm"/>
          </a:ln>
        </p:spPr>
        <p:txBody>
          <a:bodyPr wrap="none">
            <a:spAutoFit/>
          </a:bodyPr>
          <a:lstStyle/>
          <a:p>
            <a:r>
              <a:rPr lang="en-US" sz="1200" dirty="0"/>
              <a:t>Decrease in the price of </a:t>
            </a:r>
          </a:p>
          <a:p>
            <a:r>
              <a:rPr lang="en-US" sz="1200" dirty="0"/>
              <a:t>clothing</a:t>
            </a:r>
          </a:p>
        </p:txBody>
      </p:sp>
      <p:sp>
        <p:nvSpPr>
          <p:cNvPr id="32789" name="Line 21"/>
          <p:cNvSpPr>
            <a:spLocks noChangeShapeType="1"/>
          </p:cNvSpPr>
          <p:nvPr/>
        </p:nvSpPr>
        <p:spPr bwMode="auto">
          <a:xfrm flipH="1">
            <a:off x="8763000" y="4191000"/>
            <a:ext cx="76200" cy="304800"/>
          </a:xfrm>
          <a:prstGeom prst="line">
            <a:avLst/>
          </a:prstGeom>
          <a:noFill/>
          <a:ln w="12700">
            <a:solidFill>
              <a:schemeClr val="tx1"/>
            </a:solidFill>
            <a:round/>
            <a:headEnd type="none" w="sm" len="sm"/>
            <a:tailEnd type="triangle" w="med" len="med"/>
          </a:ln>
        </p:spPr>
        <p:txBody>
          <a:bodyPr/>
          <a:lstStyle/>
          <a:p>
            <a:endParaRPr lang="da-DK"/>
          </a:p>
        </p:txBody>
      </p:sp>
      <p:sp>
        <p:nvSpPr>
          <p:cNvPr id="32790" name="Line 22"/>
          <p:cNvSpPr>
            <a:spLocks noChangeShapeType="1"/>
          </p:cNvSpPr>
          <p:nvPr/>
        </p:nvSpPr>
        <p:spPr bwMode="auto">
          <a:xfrm>
            <a:off x="5791200" y="2590800"/>
            <a:ext cx="1219200" cy="2590800"/>
          </a:xfrm>
          <a:prstGeom prst="line">
            <a:avLst/>
          </a:prstGeom>
          <a:noFill/>
          <a:ln w="22225">
            <a:solidFill>
              <a:srgbClr val="FF6600"/>
            </a:solidFill>
            <a:prstDash val="dash"/>
            <a:round/>
            <a:headEnd type="none" w="sm" len="sm"/>
            <a:tailEnd type="none" w="sm" len="sm"/>
          </a:ln>
        </p:spPr>
        <p:txBody>
          <a:bodyPr/>
          <a:lstStyle/>
          <a:p>
            <a:endParaRPr lang="da-DK"/>
          </a:p>
        </p:txBody>
      </p:sp>
      <p:sp>
        <p:nvSpPr>
          <p:cNvPr id="32791" name="Line 23"/>
          <p:cNvSpPr>
            <a:spLocks noChangeShapeType="1"/>
          </p:cNvSpPr>
          <p:nvPr/>
        </p:nvSpPr>
        <p:spPr bwMode="auto">
          <a:xfrm flipH="1">
            <a:off x="6477000" y="3200400"/>
            <a:ext cx="685800" cy="609600"/>
          </a:xfrm>
          <a:prstGeom prst="line">
            <a:avLst/>
          </a:prstGeom>
          <a:noFill/>
          <a:ln w="12700">
            <a:solidFill>
              <a:schemeClr val="tx1"/>
            </a:solidFill>
            <a:round/>
            <a:headEnd type="none" w="sm" len="sm"/>
            <a:tailEnd type="triangle" w="med" len="med"/>
          </a:ln>
        </p:spPr>
        <p:txBody>
          <a:bodyPr/>
          <a:lstStyle/>
          <a:p>
            <a:endParaRPr lang="da-DK"/>
          </a:p>
        </p:txBody>
      </p:sp>
      <p:sp>
        <p:nvSpPr>
          <p:cNvPr id="3094" name="Rectangle 3"/>
          <p:cNvSpPr>
            <a:spLocks noChangeArrowheads="1"/>
          </p:cNvSpPr>
          <p:nvPr/>
        </p:nvSpPr>
        <p:spPr bwMode="auto">
          <a:xfrm>
            <a:off x="1905000" y="533400"/>
            <a:ext cx="8229600" cy="1143000"/>
          </a:xfrm>
          <a:prstGeom prst="rect">
            <a:avLst/>
          </a:prstGeom>
          <a:noFill/>
          <a:ln w="9525">
            <a:noFill/>
            <a:miter lim="800000"/>
            <a:headEnd/>
            <a:tailEnd/>
          </a:ln>
        </p:spPr>
        <p:txBody>
          <a:bodyPr anchor="ctr"/>
          <a:lstStyle/>
          <a:p>
            <a:pPr algn="ctr"/>
            <a:r>
              <a:rPr lang="en-US" sz="4400" dirty="0">
                <a:solidFill>
                  <a:schemeClr val="tx2">
                    <a:lumMod val="75000"/>
                  </a:schemeClr>
                </a:solidFill>
              </a:rPr>
              <a:t>Changing a Price</a:t>
            </a:r>
          </a:p>
        </p:txBody>
      </p:sp>
      <p:sp>
        <p:nvSpPr>
          <p:cNvPr id="3095" name="Rectangle 4"/>
          <p:cNvSpPr>
            <a:spLocks noChangeArrowheads="1"/>
          </p:cNvSpPr>
          <p:nvPr/>
        </p:nvSpPr>
        <p:spPr bwMode="auto">
          <a:xfrm>
            <a:off x="1676400" y="1981200"/>
            <a:ext cx="3429000" cy="4038600"/>
          </a:xfrm>
          <a:prstGeom prst="rect">
            <a:avLst/>
          </a:prstGeom>
          <a:noFill/>
          <a:ln w="9525">
            <a:noFill/>
            <a:miter lim="800000"/>
            <a:headEnd/>
            <a:tailEnd/>
          </a:ln>
        </p:spPr>
        <p:txBody>
          <a:bodyPr/>
          <a:lstStyle/>
          <a:p>
            <a:pPr marL="342900" indent="-342900">
              <a:spcBef>
                <a:spcPct val="20000"/>
              </a:spcBef>
            </a:pPr>
            <a:r>
              <a:rPr lang="en-US" sz="2400" dirty="0">
                <a:solidFill>
                  <a:srgbClr val="000066"/>
                </a:solidFill>
              </a:rPr>
              <a:t>     </a:t>
            </a:r>
            <a:r>
              <a:rPr lang="en-US" sz="2400" dirty="0">
                <a:solidFill>
                  <a:srgbClr val="002060"/>
                </a:solidFill>
              </a:rPr>
              <a:t>In this example, changes in the price of clothing change the slope of the budget constraint. Higher prices (cloth) produce a steeper line, and lower prices produce a flatter line.</a:t>
            </a:r>
          </a:p>
        </p:txBody>
      </p:sp>
      <p:sp>
        <p:nvSpPr>
          <p:cNvPr id="3096" name="Rectangle 27"/>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169BD539-2CF0-436E-81D8-6071F0769E7B}" type="slidenum">
              <a:rPr lang="en-US" sz="1200"/>
              <a:pPr/>
              <a:t>15</a:t>
            </a:fld>
            <a:endParaRPr lang="en-US" sz="1200" dirty="0"/>
          </a:p>
        </p:txBody>
      </p:sp>
    </p:spTree>
    <p:extLst>
      <p:ext uri="{BB962C8B-B14F-4D97-AF65-F5344CB8AC3E}">
        <p14:creationId xmlns:p14="http://schemas.microsoft.com/office/powerpoint/2010/main" val="313595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84"/>
                                        </p:tgtEl>
                                        <p:attrNameLst>
                                          <p:attrName>style.visibility</p:attrName>
                                        </p:attrNameLst>
                                      </p:cBhvr>
                                      <p:to>
                                        <p:strVal val="visible"/>
                                      </p:to>
                                    </p:set>
                                    <p:animEffect transition="in" filter="wipe(left)">
                                      <p:cBhvr>
                                        <p:cTn id="7" dur="500"/>
                                        <p:tgtEl>
                                          <p:spTgt spid="3278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2788"/>
                                        </p:tgtEl>
                                        <p:attrNameLst>
                                          <p:attrName>style.visibility</p:attrName>
                                        </p:attrNameLst>
                                      </p:cBhvr>
                                      <p:to>
                                        <p:strVal val="visible"/>
                                      </p:to>
                                    </p:se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32789"/>
                                        </p:tgtEl>
                                        <p:attrNameLst>
                                          <p:attrName>style.visibility</p:attrName>
                                        </p:attrNameLst>
                                      </p:cBhvr>
                                      <p:to>
                                        <p:strVal val="visible"/>
                                      </p:to>
                                    </p:set>
                                    <p:animEffect transition="in" filter="wipe(up)">
                                      <p:cBhvr>
                                        <p:cTn id="13" dur="500"/>
                                        <p:tgtEl>
                                          <p:spTgt spid="3278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790"/>
                                        </p:tgtEl>
                                        <p:attrNameLst>
                                          <p:attrName>style.visibility</p:attrName>
                                        </p:attrNameLst>
                                      </p:cBhvr>
                                      <p:to>
                                        <p:strVal val="visible"/>
                                      </p:to>
                                    </p:set>
                                    <p:animEffect transition="in" filter="wipe(left)">
                                      <p:cBhvr>
                                        <p:cTn id="18" dur="500"/>
                                        <p:tgtEl>
                                          <p:spTgt spid="32790"/>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32787"/>
                                        </p:tgtEl>
                                        <p:attrNameLst>
                                          <p:attrName>style.visibility</p:attrName>
                                        </p:attrNameLst>
                                      </p:cBhvr>
                                      <p:to>
                                        <p:strVal val="visible"/>
                                      </p:to>
                                    </p:se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32791"/>
                                        </p:tgtEl>
                                        <p:attrNameLst>
                                          <p:attrName>style.visibility</p:attrName>
                                        </p:attrNameLst>
                                      </p:cBhvr>
                                      <p:to>
                                        <p:strVal val="visible"/>
                                      </p:to>
                                    </p:set>
                                    <p:animEffect transition="in" filter="wipe(up)">
                                      <p:cBhvr>
                                        <p:cTn id="24" dur="500"/>
                                        <p:tgtEl>
                                          <p:spTgt spid="32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4" grpId="0" animBg="1"/>
      <p:bldP spid="32787" grpId="0"/>
      <p:bldP spid="32788" grpId="0"/>
      <p:bldP spid="32789" grpId="0" animBg="1"/>
      <p:bldP spid="32790" grpId="0" animBg="1"/>
      <p:bldP spid="3279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81200" y="685801"/>
            <a:ext cx="8229600" cy="1173163"/>
          </a:xfrm>
        </p:spPr>
        <p:txBody>
          <a:bodyPr>
            <a:normAutofit/>
          </a:bodyPr>
          <a:lstStyle/>
          <a:p>
            <a:pPr eaLnBrk="1" hangingPunct="1"/>
            <a:r>
              <a:rPr lang="en-US" sz="3600" dirty="0">
                <a:solidFill>
                  <a:srgbClr val="960000"/>
                </a:solidFill>
              </a:rPr>
              <a:t>Combining Indifference Curves </a:t>
            </a:r>
            <a:br>
              <a:rPr lang="en-US" sz="3600" dirty="0">
                <a:solidFill>
                  <a:srgbClr val="960000"/>
                </a:solidFill>
              </a:rPr>
            </a:br>
            <a:r>
              <a:rPr lang="en-US" sz="3600" dirty="0">
                <a:solidFill>
                  <a:srgbClr val="960000"/>
                </a:solidFill>
              </a:rPr>
              <a:t>and the Budget Constraint</a:t>
            </a:r>
          </a:p>
        </p:txBody>
      </p:sp>
      <p:sp>
        <p:nvSpPr>
          <p:cNvPr id="33795" name="Rectangle 3"/>
          <p:cNvSpPr>
            <a:spLocks noGrp="1" noChangeArrowheads="1"/>
          </p:cNvSpPr>
          <p:nvPr>
            <p:ph type="body" sz="half" idx="1"/>
          </p:nvPr>
        </p:nvSpPr>
        <p:spPr>
          <a:xfrm>
            <a:off x="1752600" y="2133600"/>
            <a:ext cx="3429000" cy="3581400"/>
          </a:xfrm>
        </p:spPr>
        <p:txBody>
          <a:bodyPr/>
          <a:lstStyle/>
          <a:p>
            <a:pPr eaLnBrk="1" hangingPunct="1">
              <a:buFontTx/>
              <a:buNone/>
            </a:pPr>
            <a:r>
              <a:rPr lang="en-US" sz="2800" dirty="0"/>
              <a:t>   </a:t>
            </a:r>
            <a:r>
              <a:rPr lang="en-US" sz="2400" dirty="0">
                <a:solidFill>
                  <a:srgbClr val="960000"/>
                </a:solidFill>
              </a:rPr>
              <a:t>This individual is best off by choosing point </a:t>
            </a:r>
            <a:r>
              <a:rPr lang="en-US" sz="2400" i="1" dirty="0">
                <a:solidFill>
                  <a:srgbClr val="960000"/>
                </a:solidFill>
              </a:rPr>
              <a:t>a </a:t>
            </a:r>
            <a:r>
              <a:rPr lang="en-US" sz="2400" dirty="0">
                <a:solidFill>
                  <a:srgbClr val="960000"/>
                </a:solidFill>
              </a:rPr>
              <a:t>(F*, C*), where the constraint is tangent to curve 2.</a:t>
            </a:r>
          </a:p>
          <a:p>
            <a:pPr eaLnBrk="1" hangingPunct="1">
              <a:buFontTx/>
              <a:buNone/>
            </a:pPr>
            <a:r>
              <a:rPr lang="en-US" sz="2400" dirty="0">
                <a:solidFill>
                  <a:srgbClr val="960000"/>
                </a:solidFill>
              </a:rPr>
              <a:t>    Points on curve 3 are preferred but infeasible.</a:t>
            </a:r>
          </a:p>
        </p:txBody>
      </p:sp>
      <p:sp>
        <p:nvSpPr>
          <p:cNvPr id="17412" name="Rectangle 7"/>
          <p:cNvSpPr>
            <a:spLocks noChangeArrowheads="1"/>
          </p:cNvSpPr>
          <p:nvPr/>
        </p:nvSpPr>
        <p:spPr bwMode="auto">
          <a:xfrm>
            <a:off x="5257800" y="1752600"/>
            <a:ext cx="5181600" cy="4343400"/>
          </a:xfrm>
          <a:prstGeom prst="rect">
            <a:avLst/>
          </a:prstGeom>
          <a:noFill/>
          <a:ln w="12700">
            <a:noFill/>
            <a:miter lim="800000"/>
            <a:headEnd type="none" w="sm" len="sm"/>
            <a:tailEnd type="none" w="sm" len="sm"/>
          </a:ln>
        </p:spPr>
        <p:txBody>
          <a:bodyPr wrap="none" anchor="ctr"/>
          <a:lstStyle/>
          <a:p>
            <a:endParaRPr lang="da-DK"/>
          </a:p>
        </p:txBody>
      </p:sp>
      <p:grpSp>
        <p:nvGrpSpPr>
          <p:cNvPr id="17413" name="Group 25"/>
          <p:cNvGrpSpPr>
            <a:grpSpLocks/>
          </p:cNvGrpSpPr>
          <p:nvPr/>
        </p:nvGrpSpPr>
        <p:grpSpPr bwMode="auto">
          <a:xfrm>
            <a:off x="5789613" y="1905001"/>
            <a:ext cx="4700588" cy="4575175"/>
            <a:chOff x="2687" y="1056"/>
            <a:chExt cx="2961" cy="2882"/>
          </a:xfrm>
        </p:grpSpPr>
        <p:sp>
          <p:nvSpPr>
            <p:cNvPr id="17415" name="Text Box 5"/>
            <p:cNvSpPr txBox="1">
              <a:spLocks noChangeArrowheads="1"/>
            </p:cNvSpPr>
            <p:nvPr/>
          </p:nvSpPr>
          <p:spPr bwMode="auto">
            <a:xfrm>
              <a:off x="3024" y="1056"/>
              <a:ext cx="174" cy="194"/>
            </a:xfrm>
            <a:prstGeom prst="rect">
              <a:avLst/>
            </a:prstGeom>
            <a:noFill/>
            <a:ln w="12700">
              <a:noFill/>
              <a:miter lim="800000"/>
              <a:headEnd type="none" w="sm" len="sm"/>
              <a:tailEnd type="none" w="sm" len="sm"/>
            </a:ln>
          </p:spPr>
          <p:txBody>
            <a:bodyPr wrap="none">
              <a:spAutoFit/>
            </a:bodyPr>
            <a:lstStyle/>
            <a:p>
              <a:r>
                <a:rPr lang="en-US" sz="1400" i="1" dirty="0"/>
                <a:t>F</a:t>
              </a:r>
            </a:p>
          </p:txBody>
        </p:sp>
        <p:sp>
          <p:nvSpPr>
            <p:cNvPr id="17416" name="Text Box 6"/>
            <p:cNvSpPr txBox="1">
              <a:spLocks noChangeArrowheads="1"/>
            </p:cNvSpPr>
            <p:nvPr/>
          </p:nvSpPr>
          <p:spPr bwMode="auto">
            <a:xfrm>
              <a:off x="5467" y="3456"/>
              <a:ext cx="181" cy="194"/>
            </a:xfrm>
            <a:prstGeom prst="rect">
              <a:avLst/>
            </a:prstGeom>
            <a:noFill/>
            <a:ln w="12700">
              <a:noFill/>
              <a:miter lim="800000"/>
              <a:headEnd type="none" w="sm" len="sm"/>
              <a:tailEnd type="none" w="sm" len="sm"/>
            </a:ln>
          </p:spPr>
          <p:txBody>
            <a:bodyPr wrap="none">
              <a:spAutoFit/>
            </a:bodyPr>
            <a:lstStyle/>
            <a:p>
              <a:r>
                <a:rPr lang="en-US" sz="1400" i="1" dirty="0"/>
                <a:t>C</a:t>
              </a:r>
            </a:p>
          </p:txBody>
        </p:sp>
        <p:sp>
          <p:nvSpPr>
            <p:cNvPr id="17417" name="Text Box 8"/>
            <p:cNvSpPr txBox="1">
              <a:spLocks noChangeArrowheads="1"/>
            </p:cNvSpPr>
            <p:nvPr/>
          </p:nvSpPr>
          <p:spPr bwMode="auto">
            <a:xfrm rot="16200000">
              <a:off x="2336" y="2217"/>
              <a:ext cx="895" cy="194"/>
            </a:xfrm>
            <a:prstGeom prst="rect">
              <a:avLst/>
            </a:prstGeom>
            <a:noFill/>
            <a:ln w="12700">
              <a:noFill/>
              <a:miter lim="800000"/>
              <a:headEnd type="none" w="sm" len="sm"/>
              <a:tailEnd type="none" w="sm" len="sm"/>
            </a:ln>
          </p:spPr>
          <p:txBody>
            <a:bodyPr wrap="none">
              <a:spAutoFit/>
            </a:bodyPr>
            <a:lstStyle/>
            <a:p>
              <a:r>
                <a:rPr lang="en-US" sz="1400" dirty="0"/>
                <a:t>Quantity of Food</a:t>
              </a:r>
            </a:p>
          </p:txBody>
        </p:sp>
        <p:sp>
          <p:nvSpPr>
            <p:cNvPr id="17418" name="Text Box 9"/>
            <p:cNvSpPr txBox="1">
              <a:spLocks noChangeArrowheads="1"/>
            </p:cNvSpPr>
            <p:nvPr/>
          </p:nvSpPr>
          <p:spPr bwMode="auto">
            <a:xfrm>
              <a:off x="3847" y="3744"/>
              <a:ext cx="1049" cy="194"/>
            </a:xfrm>
            <a:prstGeom prst="rect">
              <a:avLst/>
            </a:prstGeom>
            <a:noFill/>
            <a:ln w="12700">
              <a:noFill/>
              <a:miter lim="800000"/>
              <a:headEnd type="none" w="sm" len="sm"/>
              <a:tailEnd type="none" w="sm" len="sm"/>
            </a:ln>
          </p:spPr>
          <p:txBody>
            <a:bodyPr wrap="none">
              <a:spAutoFit/>
            </a:bodyPr>
            <a:lstStyle/>
            <a:p>
              <a:r>
                <a:rPr lang="en-US" sz="1400" dirty="0"/>
                <a:t>Quantity of Clothing</a:t>
              </a:r>
            </a:p>
          </p:txBody>
        </p:sp>
        <p:sp>
          <p:nvSpPr>
            <p:cNvPr id="17419" name="Line 10"/>
            <p:cNvSpPr>
              <a:spLocks noChangeShapeType="1"/>
            </p:cNvSpPr>
            <p:nvPr/>
          </p:nvSpPr>
          <p:spPr bwMode="auto">
            <a:xfrm>
              <a:off x="3120" y="1248"/>
              <a:ext cx="0" cy="2304"/>
            </a:xfrm>
            <a:prstGeom prst="line">
              <a:avLst/>
            </a:prstGeom>
            <a:noFill/>
            <a:ln w="12700">
              <a:solidFill>
                <a:schemeClr val="tx1"/>
              </a:solidFill>
              <a:round/>
              <a:headEnd type="triangle" w="sm" len="sm"/>
              <a:tailEnd type="none" w="sm" len="sm"/>
            </a:ln>
          </p:spPr>
          <p:txBody>
            <a:bodyPr/>
            <a:lstStyle/>
            <a:p>
              <a:endParaRPr lang="da-DK"/>
            </a:p>
          </p:txBody>
        </p:sp>
        <p:sp>
          <p:nvSpPr>
            <p:cNvPr id="17420" name="Line 11"/>
            <p:cNvSpPr>
              <a:spLocks noChangeShapeType="1"/>
            </p:cNvSpPr>
            <p:nvPr/>
          </p:nvSpPr>
          <p:spPr bwMode="auto">
            <a:xfrm>
              <a:off x="3120" y="3552"/>
              <a:ext cx="2352" cy="0"/>
            </a:xfrm>
            <a:prstGeom prst="line">
              <a:avLst/>
            </a:prstGeom>
            <a:noFill/>
            <a:ln w="12700">
              <a:solidFill>
                <a:schemeClr val="tx1"/>
              </a:solidFill>
              <a:round/>
              <a:headEnd type="none" w="sm" len="sm"/>
              <a:tailEnd type="triangle" w="sm" len="sm"/>
            </a:ln>
          </p:spPr>
          <p:txBody>
            <a:bodyPr/>
            <a:lstStyle/>
            <a:p>
              <a:endParaRPr lang="da-DK"/>
            </a:p>
          </p:txBody>
        </p:sp>
        <p:sp>
          <p:nvSpPr>
            <p:cNvPr id="17421" name="Line 12"/>
            <p:cNvSpPr>
              <a:spLocks noChangeShapeType="1"/>
            </p:cNvSpPr>
            <p:nvPr/>
          </p:nvSpPr>
          <p:spPr bwMode="auto">
            <a:xfrm>
              <a:off x="3120" y="1920"/>
              <a:ext cx="1680" cy="1632"/>
            </a:xfrm>
            <a:prstGeom prst="line">
              <a:avLst/>
            </a:prstGeom>
            <a:noFill/>
            <a:ln w="12700">
              <a:solidFill>
                <a:srgbClr val="5F5F5F"/>
              </a:solidFill>
              <a:round/>
              <a:headEnd type="none" w="sm" len="sm"/>
              <a:tailEnd type="none" w="sm" len="sm"/>
            </a:ln>
          </p:spPr>
          <p:txBody>
            <a:bodyPr/>
            <a:lstStyle/>
            <a:p>
              <a:endParaRPr lang="da-DK"/>
            </a:p>
          </p:txBody>
        </p:sp>
        <p:sp>
          <p:nvSpPr>
            <p:cNvPr id="17422" name="Text Box 13"/>
            <p:cNvSpPr txBox="1">
              <a:spLocks noChangeArrowheads="1"/>
            </p:cNvSpPr>
            <p:nvPr/>
          </p:nvSpPr>
          <p:spPr bwMode="auto">
            <a:xfrm>
              <a:off x="2888" y="2544"/>
              <a:ext cx="218" cy="194"/>
            </a:xfrm>
            <a:prstGeom prst="rect">
              <a:avLst/>
            </a:prstGeom>
            <a:noFill/>
            <a:ln w="12700">
              <a:noFill/>
              <a:miter lim="800000"/>
              <a:headEnd type="none" w="sm" len="sm"/>
              <a:tailEnd type="none" w="sm" len="sm"/>
            </a:ln>
          </p:spPr>
          <p:txBody>
            <a:bodyPr wrap="none">
              <a:spAutoFit/>
            </a:bodyPr>
            <a:lstStyle/>
            <a:p>
              <a:r>
                <a:rPr lang="en-US" sz="1400" i="1" dirty="0"/>
                <a:t>F</a:t>
              </a:r>
              <a:r>
                <a:rPr lang="en-US" sz="1400" i="1" baseline="30000" dirty="0"/>
                <a:t>*</a:t>
              </a:r>
              <a:endParaRPr lang="en-US" sz="1400" i="1" dirty="0"/>
            </a:p>
          </p:txBody>
        </p:sp>
        <p:sp>
          <p:nvSpPr>
            <p:cNvPr id="17423" name="Text Box 14"/>
            <p:cNvSpPr txBox="1">
              <a:spLocks noChangeArrowheads="1"/>
            </p:cNvSpPr>
            <p:nvPr/>
          </p:nvSpPr>
          <p:spPr bwMode="auto">
            <a:xfrm>
              <a:off x="3772" y="3552"/>
              <a:ext cx="227" cy="194"/>
            </a:xfrm>
            <a:prstGeom prst="rect">
              <a:avLst/>
            </a:prstGeom>
            <a:noFill/>
            <a:ln w="12700">
              <a:noFill/>
              <a:miter lim="800000"/>
              <a:headEnd type="none" w="sm" len="sm"/>
              <a:tailEnd type="none" w="sm" len="sm"/>
            </a:ln>
          </p:spPr>
          <p:txBody>
            <a:bodyPr wrap="none">
              <a:spAutoFit/>
            </a:bodyPr>
            <a:lstStyle/>
            <a:p>
              <a:r>
                <a:rPr lang="en-US" sz="1400" i="1" dirty="0"/>
                <a:t>C</a:t>
              </a:r>
              <a:r>
                <a:rPr lang="en-US" sz="1400" i="1" baseline="30000" dirty="0"/>
                <a:t>*</a:t>
              </a:r>
              <a:endParaRPr lang="en-US" sz="1400" i="1" dirty="0"/>
            </a:p>
          </p:txBody>
        </p:sp>
        <p:sp>
          <p:nvSpPr>
            <p:cNvPr id="17424" name="Arc 15"/>
            <p:cNvSpPr>
              <a:spLocks/>
            </p:cNvSpPr>
            <p:nvPr/>
          </p:nvSpPr>
          <p:spPr bwMode="auto">
            <a:xfrm rot="10451875">
              <a:off x="3552" y="1776"/>
              <a:ext cx="1152" cy="1248"/>
            </a:xfrm>
            <a:custGeom>
              <a:avLst/>
              <a:gdLst>
                <a:gd name="T0" fmla="*/ 0 w 21600"/>
                <a:gd name="T1" fmla="*/ 0 h 21600"/>
                <a:gd name="T2" fmla="*/ 97536 w 21600"/>
                <a:gd name="T3" fmla="*/ 114469 h 21600"/>
                <a:gd name="T4" fmla="*/ 0 w 21600"/>
                <a:gd name="T5" fmla="*/ 11446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17425" name="Line 18"/>
            <p:cNvSpPr>
              <a:spLocks noChangeShapeType="1"/>
            </p:cNvSpPr>
            <p:nvPr/>
          </p:nvSpPr>
          <p:spPr bwMode="auto">
            <a:xfrm>
              <a:off x="3120" y="2640"/>
              <a:ext cx="768" cy="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17426" name="Line 19"/>
            <p:cNvSpPr>
              <a:spLocks noChangeShapeType="1"/>
            </p:cNvSpPr>
            <p:nvPr/>
          </p:nvSpPr>
          <p:spPr bwMode="auto">
            <a:xfrm flipV="1">
              <a:off x="3888" y="2640"/>
              <a:ext cx="0" cy="912"/>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17427" name="Text Box 20"/>
            <p:cNvSpPr txBox="1">
              <a:spLocks noChangeArrowheads="1"/>
            </p:cNvSpPr>
            <p:nvPr/>
          </p:nvSpPr>
          <p:spPr bwMode="auto">
            <a:xfrm>
              <a:off x="4848" y="2901"/>
              <a:ext cx="173" cy="174"/>
            </a:xfrm>
            <a:prstGeom prst="rect">
              <a:avLst/>
            </a:prstGeom>
            <a:noFill/>
            <a:ln w="12700">
              <a:noFill/>
              <a:miter lim="800000"/>
              <a:headEnd type="none" w="sm" len="sm"/>
              <a:tailEnd type="none" w="sm" len="sm"/>
            </a:ln>
          </p:spPr>
          <p:txBody>
            <a:bodyPr wrap="none">
              <a:spAutoFit/>
            </a:bodyPr>
            <a:lstStyle/>
            <a:p>
              <a:r>
                <a:rPr lang="en-US" sz="1200">
                  <a:solidFill>
                    <a:srgbClr val="5F5F5F"/>
                  </a:solidFill>
                </a:rPr>
                <a:t>2</a:t>
              </a:r>
            </a:p>
          </p:txBody>
        </p:sp>
        <p:sp>
          <p:nvSpPr>
            <p:cNvPr id="17428" name="Text Box 21"/>
            <p:cNvSpPr txBox="1">
              <a:spLocks noChangeArrowheads="1"/>
            </p:cNvSpPr>
            <p:nvPr/>
          </p:nvSpPr>
          <p:spPr bwMode="auto">
            <a:xfrm>
              <a:off x="5328" y="2400"/>
              <a:ext cx="173" cy="174"/>
            </a:xfrm>
            <a:prstGeom prst="rect">
              <a:avLst/>
            </a:prstGeom>
            <a:noFill/>
            <a:ln w="12700">
              <a:noFill/>
              <a:miter lim="800000"/>
              <a:headEnd type="none" w="sm" len="sm"/>
              <a:tailEnd type="none" w="sm" len="sm"/>
            </a:ln>
          </p:spPr>
          <p:txBody>
            <a:bodyPr wrap="none">
              <a:spAutoFit/>
            </a:bodyPr>
            <a:lstStyle/>
            <a:p>
              <a:r>
                <a:rPr lang="en-US" sz="1200">
                  <a:solidFill>
                    <a:srgbClr val="5F5F5F"/>
                  </a:solidFill>
                </a:rPr>
                <a:t>3</a:t>
              </a:r>
            </a:p>
          </p:txBody>
        </p:sp>
        <p:sp>
          <p:nvSpPr>
            <p:cNvPr id="17429" name="Text Box 22"/>
            <p:cNvSpPr txBox="1">
              <a:spLocks noChangeArrowheads="1"/>
            </p:cNvSpPr>
            <p:nvPr/>
          </p:nvSpPr>
          <p:spPr bwMode="auto">
            <a:xfrm>
              <a:off x="4727" y="3216"/>
              <a:ext cx="173" cy="174"/>
            </a:xfrm>
            <a:prstGeom prst="rect">
              <a:avLst/>
            </a:prstGeom>
            <a:noFill/>
            <a:ln w="12700">
              <a:noFill/>
              <a:miter lim="800000"/>
              <a:headEnd type="none" w="sm" len="sm"/>
              <a:tailEnd type="none" w="sm" len="sm"/>
            </a:ln>
          </p:spPr>
          <p:txBody>
            <a:bodyPr wrap="none">
              <a:spAutoFit/>
            </a:bodyPr>
            <a:lstStyle/>
            <a:p>
              <a:r>
                <a:rPr lang="en-US" sz="1200">
                  <a:solidFill>
                    <a:srgbClr val="5F5F5F"/>
                  </a:solidFill>
                </a:rPr>
                <a:t>1</a:t>
              </a:r>
            </a:p>
          </p:txBody>
        </p:sp>
        <p:sp>
          <p:nvSpPr>
            <p:cNvPr id="17430" name="Arc 23"/>
            <p:cNvSpPr>
              <a:spLocks/>
            </p:cNvSpPr>
            <p:nvPr/>
          </p:nvSpPr>
          <p:spPr bwMode="auto">
            <a:xfrm rot="10451875">
              <a:off x="3259" y="2157"/>
              <a:ext cx="1440" cy="1248"/>
            </a:xfrm>
            <a:custGeom>
              <a:avLst/>
              <a:gdLst>
                <a:gd name="T0" fmla="*/ 0 w 21600"/>
                <a:gd name="T1" fmla="*/ 0 h 21600"/>
                <a:gd name="T2" fmla="*/ 152400 w 21600"/>
                <a:gd name="T3" fmla="*/ 114469 h 21600"/>
                <a:gd name="T4" fmla="*/ 0 w 21600"/>
                <a:gd name="T5" fmla="*/ 11446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17431" name="Arc 24"/>
            <p:cNvSpPr>
              <a:spLocks/>
            </p:cNvSpPr>
            <p:nvPr/>
          </p:nvSpPr>
          <p:spPr bwMode="auto">
            <a:xfrm rot="10451875">
              <a:off x="4080" y="1296"/>
              <a:ext cx="1152" cy="1248"/>
            </a:xfrm>
            <a:custGeom>
              <a:avLst/>
              <a:gdLst>
                <a:gd name="T0" fmla="*/ 0 w 21600"/>
                <a:gd name="T1" fmla="*/ 0 h 21600"/>
                <a:gd name="T2" fmla="*/ 97536 w 21600"/>
                <a:gd name="T3" fmla="*/ 114469 h 21600"/>
                <a:gd name="T4" fmla="*/ 0 w 21600"/>
                <a:gd name="T5" fmla="*/ 11446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grpSp>
      <p:sp>
        <p:nvSpPr>
          <p:cNvPr id="17414" name="Rectangle 27"/>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75354B91-D541-4DBF-87F5-950592304645}" type="slidenum">
              <a:rPr lang="en-US" sz="1200"/>
              <a:pPr/>
              <a:t>16</a:t>
            </a:fld>
            <a:endParaRPr lang="en-US" sz="1200" dirty="0"/>
          </a:p>
        </p:txBody>
      </p:sp>
      <p:sp>
        <p:nvSpPr>
          <p:cNvPr id="24" name="Tekstboks 23"/>
          <p:cNvSpPr txBox="1"/>
          <p:nvPr/>
        </p:nvSpPr>
        <p:spPr>
          <a:xfrm>
            <a:off x="7678058" y="4209143"/>
            <a:ext cx="333829" cy="369332"/>
          </a:xfrm>
          <a:prstGeom prst="rect">
            <a:avLst/>
          </a:prstGeom>
          <a:noFill/>
        </p:spPr>
        <p:txBody>
          <a:bodyPr wrap="square" rtlCol="0">
            <a:spAutoFit/>
          </a:bodyPr>
          <a:lstStyle/>
          <a:p>
            <a:r>
              <a:rPr lang="da-DK" dirty="0"/>
              <a:t>a</a:t>
            </a:r>
          </a:p>
        </p:txBody>
      </p:sp>
    </p:spTree>
    <p:extLst>
      <p:ext uri="{BB962C8B-B14F-4D97-AF65-F5344CB8AC3E}">
        <p14:creationId xmlns:p14="http://schemas.microsoft.com/office/powerpoint/2010/main" val="360414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5181600" y="1600200"/>
            <a:ext cx="5181600" cy="4572000"/>
          </a:xfrm>
          <a:prstGeom prst="rect">
            <a:avLst/>
          </a:prstGeom>
          <a:noFill/>
          <a:ln w="12700">
            <a:noFill/>
            <a:miter lim="800000"/>
            <a:headEnd type="none" w="sm" len="sm"/>
            <a:tailEnd type="none" w="sm" len="sm"/>
          </a:ln>
        </p:spPr>
        <p:txBody>
          <a:bodyPr wrap="none" anchor="ctr"/>
          <a:lstStyle/>
          <a:p>
            <a:endParaRPr lang="da-DK"/>
          </a:p>
        </p:txBody>
      </p:sp>
      <p:sp>
        <p:nvSpPr>
          <p:cNvPr id="18435" name="Text Box 3"/>
          <p:cNvSpPr txBox="1">
            <a:spLocks noChangeArrowheads="1"/>
          </p:cNvSpPr>
          <p:nvPr/>
        </p:nvSpPr>
        <p:spPr bwMode="auto">
          <a:xfrm rot="-5400000">
            <a:off x="5157206" y="3442595"/>
            <a:ext cx="1420389" cy="307777"/>
          </a:xfrm>
          <a:prstGeom prst="rect">
            <a:avLst/>
          </a:prstGeom>
          <a:noFill/>
          <a:ln w="12700">
            <a:noFill/>
            <a:miter lim="800000"/>
            <a:headEnd type="none" w="sm" len="sm"/>
            <a:tailEnd type="none" w="sm" len="sm"/>
          </a:ln>
        </p:spPr>
        <p:txBody>
          <a:bodyPr wrap="none">
            <a:spAutoFit/>
          </a:bodyPr>
          <a:lstStyle/>
          <a:p>
            <a:r>
              <a:rPr lang="en-US" sz="1400" dirty="0"/>
              <a:t>Quantity of Food</a:t>
            </a:r>
          </a:p>
        </p:txBody>
      </p:sp>
      <p:sp>
        <p:nvSpPr>
          <p:cNvPr id="18436" name="Text Box 4"/>
          <p:cNvSpPr txBox="1">
            <a:spLocks noChangeArrowheads="1"/>
          </p:cNvSpPr>
          <p:nvPr/>
        </p:nvSpPr>
        <p:spPr bwMode="auto">
          <a:xfrm>
            <a:off x="7554913" y="5867401"/>
            <a:ext cx="1666034" cy="307777"/>
          </a:xfrm>
          <a:prstGeom prst="rect">
            <a:avLst/>
          </a:prstGeom>
          <a:noFill/>
          <a:ln w="12700">
            <a:noFill/>
            <a:miter lim="800000"/>
            <a:headEnd type="none" w="sm" len="sm"/>
            <a:tailEnd type="none" w="sm" len="sm"/>
          </a:ln>
        </p:spPr>
        <p:txBody>
          <a:bodyPr wrap="none">
            <a:spAutoFit/>
          </a:bodyPr>
          <a:lstStyle/>
          <a:p>
            <a:r>
              <a:rPr lang="en-US" sz="1400" dirty="0"/>
              <a:t>Quantity of Clothing</a:t>
            </a:r>
          </a:p>
        </p:txBody>
      </p:sp>
      <p:sp>
        <p:nvSpPr>
          <p:cNvPr id="18437" name="Line 5"/>
          <p:cNvSpPr>
            <a:spLocks noChangeShapeType="1"/>
          </p:cNvSpPr>
          <p:nvPr/>
        </p:nvSpPr>
        <p:spPr bwMode="auto">
          <a:xfrm>
            <a:off x="6400800" y="1905000"/>
            <a:ext cx="0" cy="3657600"/>
          </a:xfrm>
          <a:prstGeom prst="line">
            <a:avLst/>
          </a:prstGeom>
          <a:noFill/>
          <a:ln w="12700">
            <a:solidFill>
              <a:schemeClr val="tx1"/>
            </a:solidFill>
            <a:round/>
            <a:headEnd type="triangle" w="sm" len="sm"/>
            <a:tailEnd type="none" w="sm" len="sm"/>
          </a:ln>
        </p:spPr>
        <p:txBody>
          <a:bodyPr/>
          <a:lstStyle/>
          <a:p>
            <a:endParaRPr lang="da-DK"/>
          </a:p>
        </p:txBody>
      </p:sp>
      <p:sp>
        <p:nvSpPr>
          <p:cNvPr id="18438" name="Line 6"/>
          <p:cNvSpPr>
            <a:spLocks noChangeShapeType="1"/>
          </p:cNvSpPr>
          <p:nvPr/>
        </p:nvSpPr>
        <p:spPr bwMode="auto">
          <a:xfrm>
            <a:off x="6400800" y="5562600"/>
            <a:ext cx="3733800" cy="0"/>
          </a:xfrm>
          <a:prstGeom prst="line">
            <a:avLst/>
          </a:prstGeom>
          <a:noFill/>
          <a:ln w="12700">
            <a:solidFill>
              <a:schemeClr val="tx1"/>
            </a:solidFill>
            <a:round/>
            <a:headEnd type="none" w="sm" len="sm"/>
            <a:tailEnd type="triangle" w="sm" len="sm"/>
          </a:ln>
        </p:spPr>
        <p:txBody>
          <a:bodyPr/>
          <a:lstStyle/>
          <a:p>
            <a:endParaRPr lang="da-DK"/>
          </a:p>
        </p:txBody>
      </p:sp>
      <p:sp>
        <p:nvSpPr>
          <p:cNvPr id="18439" name="Line 7"/>
          <p:cNvSpPr>
            <a:spLocks noChangeShapeType="1"/>
          </p:cNvSpPr>
          <p:nvPr/>
        </p:nvSpPr>
        <p:spPr bwMode="auto">
          <a:xfrm>
            <a:off x="6400800" y="2971800"/>
            <a:ext cx="2667000" cy="2590800"/>
          </a:xfrm>
          <a:prstGeom prst="line">
            <a:avLst/>
          </a:prstGeom>
          <a:noFill/>
          <a:ln w="12700">
            <a:solidFill>
              <a:srgbClr val="5F5F5F"/>
            </a:solidFill>
            <a:round/>
            <a:headEnd type="none" w="sm" len="sm"/>
            <a:tailEnd type="none" w="sm" len="sm"/>
          </a:ln>
        </p:spPr>
        <p:txBody>
          <a:bodyPr/>
          <a:lstStyle/>
          <a:p>
            <a:endParaRPr lang="da-DK"/>
          </a:p>
        </p:txBody>
      </p:sp>
      <p:sp>
        <p:nvSpPr>
          <p:cNvPr id="18440" name="Text Box 8"/>
          <p:cNvSpPr txBox="1">
            <a:spLocks noChangeArrowheads="1"/>
          </p:cNvSpPr>
          <p:nvPr/>
        </p:nvSpPr>
        <p:spPr bwMode="auto">
          <a:xfrm>
            <a:off x="6032500" y="3962401"/>
            <a:ext cx="417102" cy="307777"/>
          </a:xfrm>
          <a:prstGeom prst="rect">
            <a:avLst/>
          </a:prstGeom>
          <a:noFill/>
          <a:ln w="12700">
            <a:noFill/>
            <a:miter lim="800000"/>
            <a:headEnd type="none" w="sm" len="sm"/>
            <a:tailEnd type="none" w="sm" len="sm"/>
          </a:ln>
        </p:spPr>
        <p:txBody>
          <a:bodyPr wrap="none">
            <a:spAutoFit/>
          </a:bodyPr>
          <a:lstStyle/>
          <a:p>
            <a:r>
              <a:rPr lang="en-US" sz="1400" i="1" dirty="0"/>
              <a:t>F</a:t>
            </a:r>
            <a:r>
              <a:rPr lang="en-US" sz="1400" i="1" baseline="30000" dirty="0"/>
              <a:t>*</a:t>
            </a:r>
            <a:r>
              <a:rPr lang="en-US" sz="1400" i="1" baseline="-25000" dirty="0"/>
              <a:t>0</a:t>
            </a:r>
            <a:endParaRPr lang="en-US" sz="1400" i="1" dirty="0"/>
          </a:p>
        </p:txBody>
      </p:sp>
      <p:sp>
        <p:nvSpPr>
          <p:cNvPr id="18441" name="Text Box 9"/>
          <p:cNvSpPr txBox="1">
            <a:spLocks noChangeArrowheads="1"/>
          </p:cNvSpPr>
          <p:nvPr/>
        </p:nvSpPr>
        <p:spPr bwMode="auto">
          <a:xfrm>
            <a:off x="7435850" y="5562601"/>
            <a:ext cx="360996" cy="307777"/>
          </a:xfrm>
          <a:prstGeom prst="rect">
            <a:avLst/>
          </a:prstGeom>
          <a:noFill/>
          <a:ln w="12700">
            <a:noFill/>
            <a:miter lim="800000"/>
            <a:headEnd type="none" w="sm" len="sm"/>
            <a:tailEnd type="none" w="sm" len="sm"/>
          </a:ln>
        </p:spPr>
        <p:txBody>
          <a:bodyPr wrap="none">
            <a:spAutoFit/>
          </a:bodyPr>
          <a:lstStyle/>
          <a:p>
            <a:r>
              <a:rPr lang="en-US" sz="1400" i="1" dirty="0"/>
              <a:t>C</a:t>
            </a:r>
            <a:r>
              <a:rPr lang="en-US" sz="1400" i="1" baseline="30000" dirty="0"/>
              <a:t>*</a:t>
            </a:r>
            <a:endParaRPr lang="en-US" sz="1400" i="1" dirty="0"/>
          </a:p>
        </p:txBody>
      </p:sp>
      <p:sp>
        <p:nvSpPr>
          <p:cNvPr id="18442" name="Arc 10"/>
          <p:cNvSpPr>
            <a:spLocks/>
          </p:cNvSpPr>
          <p:nvPr/>
        </p:nvSpPr>
        <p:spPr bwMode="auto">
          <a:xfrm rot="10451875">
            <a:off x="7086600" y="2743200"/>
            <a:ext cx="1828800" cy="1981200"/>
          </a:xfrm>
          <a:custGeom>
            <a:avLst/>
            <a:gdLst>
              <a:gd name="T0" fmla="*/ 0 w 21600"/>
              <a:gd name="T1" fmla="*/ 0 h 21600"/>
              <a:gd name="T2" fmla="*/ 154838386 w 21600"/>
              <a:gd name="T3" fmla="*/ 181720047 h 21600"/>
              <a:gd name="T4" fmla="*/ 0 w 21600"/>
              <a:gd name="T5" fmla="*/ 1817200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18443" name="Text Box 11"/>
          <p:cNvSpPr txBox="1">
            <a:spLocks noChangeArrowheads="1"/>
          </p:cNvSpPr>
          <p:nvPr/>
        </p:nvSpPr>
        <p:spPr bwMode="auto">
          <a:xfrm>
            <a:off x="6273800" y="1600201"/>
            <a:ext cx="276038" cy="307777"/>
          </a:xfrm>
          <a:prstGeom prst="rect">
            <a:avLst/>
          </a:prstGeom>
          <a:noFill/>
          <a:ln w="12700">
            <a:noFill/>
            <a:miter lim="800000"/>
            <a:headEnd type="none" w="sm" len="sm"/>
            <a:tailEnd type="none" w="sm" len="sm"/>
          </a:ln>
        </p:spPr>
        <p:txBody>
          <a:bodyPr wrap="none">
            <a:spAutoFit/>
          </a:bodyPr>
          <a:lstStyle/>
          <a:p>
            <a:r>
              <a:rPr lang="en-US" sz="1400" i="1" dirty="0"/>
              <a:t>F</a:t>
            </a:r>
          </a:p>
        </p:txBody>
      </p:sp>
      <p:sp>
        <p:nvSpPr>
          <p:cNvPr id="18444" name="Text Box 12"/>
          <p:cNvSpPr txBox="1">
            <a:spLocks noChangeArrowheads="1"/>
          </p:cNvSpPr>
          <p:nvPr/>
        </p:nvSpPr>
        <p:spPr bwMode="auto">
          <a:xfrm>
            <a:off x="10071100" y="5410201"/>
            <a:ext cx="287258" cy="307777"/>
          </a:xfrm>
          <a:prstGeom prst="rect">
            <a:avLst/>
          </a:prstGeom>
          <a:noFill/>
          <a:ln w="12700">
            <a:noFill/>
            <a:miter lim="800000"/>
            <a:headEnd type="none" w="sm" len="sm"/>
            <a:tailEnd type="none" w="sm" len="sm"/>
          </a:ln>
        </p:spPr>
        <p:txBody>
          <a:bodyPr wrap="none">
            <a:spAutoFit/>
          </a:bodyPr>
          <a:lstStyle/>
          <a:p>
            <a:r>
              <a:rPr lang="en-US" sz="1400" i="1" dirty="0"/>
              <a:t>C</a:t>
            </a:r>
          </a:p>
        </p:txBody>
      </p:sp>
      <p:sp>
        <p:nvSpPr>
          <p:cNvPr id="18445" name="Line 15"/>
          <p:cNvSpPr>
            <a:spLocks noChangeShapeType="1"/>
          </p:cNvSpPr>
          <p:nvPr/>
        </p:nvSpPr>
        <p:spPr bwMode="auto">
          <a:xfrm>
            <a:off x="6400800" y="4114800"/>
            <a:ext cx="1219200" cy="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18446" name="Line 16"/>
          <p:cNvSpPr>
            <a:spLocks noChangeShapeType="1"/>
          </p:cNvSpPr>
          <p:nvPr/>
        </p:nvSpPr>
        <p:spPr bwMode="auto">
          <a:xfrm flipV="1">
            <a:off x="7620000" y="4114800"/>
            <a:ext cx="0" cy="144780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18447" name="Text Box 17"/>
          <p:cNvSpPr txBox="1">
            <a:spLocks noChangeArrowheads="1"/>
          </p:cNvSpPr>
          <p:nvPr/>
        </p:nvSpPr>
        <p:spPr bwMode="auto">
          <a:xfrm>
            <a:off x="7169150" y="2438400"/>
            <a:ext cx="1441450" cy="274638"/>
          </a:xfrm>
          <a:prstGeom prst="rect">
            <a:avLst/>
          </a:prstGeom>
          <a:noFill/>
          <a:ln w="12700">
            <a:noFill/>
            <a:miter lim="800000"/>
            <a:headEnd type="none" w="sm" len="sm"/>
            <a:tailEnd type="none" w="sm" len="sm"/>
          </a:ln>
        </p:spPr>
        <p:txBody>
          <a:bodyPr wrap="none">
            <a:spAutoFit/>
          </a:bodyPr>
          <a:lstStyle/>
          <a:p>
            <a:r>
              <a:rPr lang="en-US" sz="1200" dirty="0"/>
              <a:t>Original Constraint</a:t>
            </a:r>
          </a:p>
        </p:txBody>
      </p:sp>
      <p:sp>
        <p:nvSpPr>
          <p:cNvPr id="18448" name="Line 18"/>
          <p:cNvSpPr>
            <a:spLocks noChangeShapeType="1"/>
          </p:cNvSpPr>
          <p:nvPr/>
        </p:nvSpPr>
        <p:spPr bwMode="auto">
          <a:xfrm flipH="1">
            <a:off x="6629400" y="2590800"/>
            <a:ext cx="609600" cy="533400"/>
          </a:xfrm>
          <a:prstGeom prst="line">
            <a:avLst/>
          </a:prstGeom>
          <a:noFill/>
          <a:ln w="12700">
            <a:solidFill>
              <a:schemeClr val="tx1"/>
            </a:solidFill>
            <a:round/>
            <a:headEnd type="none" w="sm" len="sm"/>
            <a:tailEnd type="triangle" w="med" len="med"/>
          </a:ln>
        </p:spPr>
        <p:txBody>
          <a:bodyPr/>
          <a:lstStyle/>
          <a:p>
            <a:endParaRPr lang="da-DK"/>
          </a:p>
        </p:txBody>
      </p:sp>
      <p:sp>
        <p:nvSpPr>
          <p:cNvPr id="34835" name="Line 19"/>
          <p:cNvSpPr>
            <a:spLocks noChangeShapeType="1"/>
          </p:cNvSpPr>
          <p:nvPr/>
        </p:nvSpPr>
        <p:spPr bwMode="auto">
          <a:xfrm flipH="1">
            <a:off x="6629400" y="2971800"/>
            <a:ext cx="685800" cy="990600"/>
          </a:xfrm>
          <a:prstGeom prst="line">
            <a:avLst/>
          </a:prstGeom>
          <a:noFill/>
          <a:ln w="12700">
            <a:solidFill>
              <a:schemeClr val="tx1"/>
            </a:solidFill>
            <a:round/>
            <a:headEnd type="none" w="sm" len="sm"/>
            <a:tailEnd type="triangle" w="med" len="med"/>
          </a:ln>
        </p:spPr>
        <p:txBody>
          <a:bodyPr/>
          <a:lstStyle/>
          <a:p>
            <a:endParaRPr lang="da-DK"/>
          </a:p>
        </p:txBody>
      </p:sp>
      <p:sp>
        <p:nvSpPr>
          <p:cNvPr id="34836" name="Text Box 20"/>
          <p:cNvSpPr txBox="1">
            <a:spLocks noChangeArrowheads="1"/>
          </p:cNvSpPr>
          <p:nvPr/>
        </p:nvSpPr>
        <p:spPr bwMode="auto">
          <a:xfrm>
            <a:off x="7315201" y="2819400"/>
            <a:ext cx="3133725" cy="274638"/>
          </a:xfrm>
          <a:prstGeom prst="rect">
            <a:avLst/>
          </a:prstGeom>
          <a:noFill/>
          <a:ln w="12700">
            <a:noFill/>
            <a:miter lim="800000"/>
            <a:headEnd type="none" w="sm" len="sm"/>
            <a:tailEnd type="none" w="sm" len="sm"/>
          </a:ln>
        </p:spPr>
        <p:txBody>
          <a:bodyPr wrap="none">
            <a:spAutoFit/>
          </a:bodyPr>
          <a:lstStyle/>
          <a:p>
            <a:r>
              <a:rPr lang="en-US" sz="1200" dirty="0"/>
              <a:t>Constraint after increase in the price of food</a:t>
            </a:r>
          </a:p>
        </p:txBody>
      </p:sp>
      <p:sp>
        <p:nvSpPr>
          <p:cNvPr id="34837" name="Line 21"/>
          <p:cNvSpPr>
            <a:spLocks noChangeShapeType="1"/>
          </p:cNvSpPr>
          <p:nvPr/>
        </p:nvSpPr>
        <p:spPr bwMode="auto">
          <a:xfrm>
            <a:off x="6400800" y="3810000"/>
            <a:ext cx="2667000" cy="1752600"/>
          </a:xfrm>
          <a:prstGeom prst="line">
            <a:avLst/>
          </a:prstGeom>
          <a:noFill/>
          <a:ln w="12700">
            <a:solidFill>
              <a:srgbClr val="5F5F5F"/>
            </a:solidFill>
            <a:round/>
            <a:headEnd type="none" w="sm" len="sm"/>
            <a:tailEnd type="none" w="sm" len="sm"/>
          </a:ln>
        </p:spPr>
        <p:txBody>
          <a:bodyPr/>
          <a:lstStyle/>
          <a:p>
            <a:endParaRPr lang="da-DK"/>
          </a:p>
        </p:txBody>
      </p:sp>
      <p:sp>
        <p:nvSpPr>
          <p:cNvPr id="34838" name="Arc 22"/>
          <p:cNvSpPr>
            <a:spLocks/>
          </p:cNvSpPr>
          <p:nvPr/>
        </p:nvSpPr>
        <p:spPr bwMode="auto">
          <a:xfrm rot="10451875">
            <a:off x="6858000" y="3048000"/>
            <a:ext cx="1828800" cy="1981200"/>
          </a:xfrm>
          <a:custGeom>
            <a:avLst/>
            <a:gdLst>
              <a:gd name="T0" fmla="*/ 0 w 21600"/>
              <a:gd name="T1" fmla="*/ 0 h 21600"/>
              <a:gd name="T2" fmla="*/ 154838386 w 21600"/>
              <a:gd name="T3" fmla="*/ 181720047 h 21600"/>
              <a:gd name="T4" fmla="*/ 0 w 21600"/>
              <a:gd name="T5" fmla="*/ 1817200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34839" name="Text Box 23"/>
          <p:cNvSpPr txBox="1">
            <a:spLocks noChangeArrowheads="1"/>
          </p:cNvSpPr>
          <p:nvPr/>
        </p:nvSpPr>
        <p:spPr bwMode="auto">
          <a:xfrm>
            <a:off x="6019800" y="4495801"/>
            <a:ext cx="417102" cy="307777"/>
          </a:xfrm>
          <a:prstGeom prst="rect">
            <a:avLst/>
          </a:prstGeom>
          <a:noFill/>
          <a:ln w="12700">
            <a:noFill/>
            <a:miter lim="800000"/>
            <a:headEnd type="none" w="sm" len="sm"/>
            <a:tailEnd type="none" w="sm" len="sm"/>
          </a:ln>
        </p:spPr>
        <p:txBody>
          <a:bodyPr wrap="none">
            <a:spAutoFit/>
          </a:bodyPr>
          <a:lstStyle/>
          <a:p>
            <a:r>
              <a:rPr lang="en-US" sz="1400" i="1" dirty="0"/>
              <a:t>F</a:t>
            </a:r>
            <a:r>
              <a:rPr lang="en-US" sz="1400" i="1" baseline="30000" dirty="0"/>
              <a:t>*</a:t>
            </a:r>
            <a:r>
              <a:rPr lang="en-US" sz="1400" i="1" baseline="-25000" dirty="0"/>
              <a:t>1</a:t>
            </a:r>
            <a:endParaRPr lang="en-US" sz="1400" i="1" dirty="0"/>
          </a:p>
        </p:txBody>
      </p:sp>
      <p:sp>
        <p:nvSpPr>
          <p:cNvPr id="34840" name="Line 24"/>
          <p:cNvSpPr>
            <a:spLocks noChangeShapeType="1"/>
          </p:cNvSpPr>
          <p:nvPr/>
        </p:nvSpPr>
        <p:spPr bwMode="auto">
          <a:xfrm>
            <a:off x="6400800" y="4648200"/>
            <a:ext cx="1219200" cy="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18455" name="Rectangle 13"/>
          <p:cNvSpPr>
            <a:spLocks noChangeArrowheads="1"/>
          </p:cNvSpPr>
          <p:nvPr/>
        </p:nvSpPr>
        <p:spPr bwMode="auto">
          <a:xfrm>
            <a:off x="2057400" y="609600"/>
            <a:ext cx="8229600" cy="1143000"/>
          </a:xfrm>
          <a:prstGeom prst="rect">
            <a:avLst/>
          </a:prstGeom>
          <a:noFill/>
          <a:ln w="9525">
            <a:noFill/>
            <a:miter lim="800000"/>
            <a:headEnd/>
            <a:tailEnd/>
          </a:ln>
        </p:spPr>
        <p:txBody>
          <a:bodyPr anchor="ctr"/>
          <a:lstStyle/>
          <a:p>
            <a:pPr algn="ctr"/>
            <a:r>
              <a:rPr lang="en-US" sz="4400" dirty="0">
                <a:solidFill>
                  <a:schemeClr val="tx2">
                    <a:lumMod val="75000"/>
                  </a:schemeClr>
                </a:solidFill>
              </a:rPr>
              <a:t>Changing the Price of Food</a:t>
            </a:r>
          </a:p>
        </p:txBody>
      </p:sp>
      <p:sp>
        <p:nvSpPr>
          <p:cNvPr id="18456" name="Rectangle 14"/>
          <p:cNvSpPr>
            <a:spLocks noChangeArrowheads="1"/>
          </p:cNvSpPr>
          <p:nvPr/>
        </p:nvSpPr>
        <p:spPr bwMode="auto">
          <a:xfrm>
            <a:off x="1687513" y="2133600"/>
            <a:ext cx="3733800" cy="3352800"/>
          </a:xfrm>
          <a:prstGeom prst="rect">
            <a:avLst/>
          </a:prstGeom>
          <a:noFill/>
          <a:ln w="9525">
            <a:noFill/>
            <a:miter lim="800000"/>
            <a:headEnd/>
            <a:tailEnd/>
          </a:ln>
        </p:spPr>
        <p:txBody>
          <a:bodyPr/>
          <a:lstStyle/>
          <a:p>
            <a:pPr marL="342900" indent="-342900">
              <a:spcBef>
                <a:spcPct val="20000"/>
              </a:spcBef>
            </a:pPr>
            <a:r>
              <a:rPr lang="en-US" sz="2400" dirty="0">
                <a:solidFill>
                  <a:srgbClr val="000066"/>
                </a:solidFill>
              </a:rPr>
              <a:t>   	</a:t>
            </a:r>
            <a:r>
              <a:rPr lang="en-US" sz="2400" dirty="0">
                <a:solidFill>
                  <a:srgbClr val="002060"/>
                </a:solidFill>
              </a:rPr>
              <a:t>An increase in the price of food changes the optimal choice. In this example, the amount of food purchased declines, while clothing purchases remain unchanged.</a:t>
            </a:r>
          </a:p>
        </p:txBody>
      </p:sp>
      <p:sp>
        <p:nvSpPr>
          <p:cNvPr id="18457" name="Rectangle 28"/>
          <p:cNvSpPr>
            <a:spLocks noChangeArrowheads="1"/>
          </p:cNvSpPr>
          <p:nvPr/>
        </p:nvSpPr>
        <p:spPr bwMode="auto">
          <a:xfrm>
            <a:off x="10725936" y="6021289"/>
            <a:ext cx="416781" cy="276999"/>
          </a:xfrm>
          <a:prstGeom prst="rect">
            <a:avLst/>
          </a:prstGeom>
          <a:noFill/>
          <a:ln w="9525">
            <a:noFill/>
            <a:miter lim="800000"/>
            <a:headEnd/>
            <a:tailEnd/>
          </a:ln>
        </p:spPr>
        <p:txBody>
          <a:bodyPr wrap="none">
            <a:spAutoFit/>
          </a:bodyPr>
          <a:lstStyle/>
          <a:p>
            <a:fld id="{FC2E1AB4-64C1-4E39-BBEB-43561307182E}" type="slidenum">
              <a:rPr lang="en-US" sz="1200"/>
              <a:pPr/>
              <a:t>17</a:t>
            </a:fld>
            <a:endParaRPr lang="en-US" sz="1200" dirty="0"/>
          </a:p>
        </p:txBody>
      </p:sp>
    </p:spTree>
    <p:extLst>
      <p:ext uri="{BB962C8B-B14F-4D97-AF65-F5344CB8AC3E}">
        <p14:creationId xmlns:p14="http://schemas.microsoft.com/office/powerpoint/2010/main" val="556707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36"/>
                                        </p:tgtEl>
                                        <p:attrNameLst>
                                          <p:attrName>style.visibility</p:attrName>
                                        </p:attrNameLst>
                                      </p:cBhvr>
                                      <p:to>
                                        <p:strVal val="visible"/>
                                      </p:to>
                                    </p:set>
                                  </p:childTnLst>
                                </p:cTn>
                              </p:par>
                              <p:par>
                                <p:cTn id="7" presetID="22" presetClass="entr" presetSubtype="1" fill="hold" grpId="0" nodeType="withEffect">
                                  <p:stCondLst>
                                    <p:cond delay="0"/>
                                  </p:stCondLst>
                                  <p:childTnLst>
                                    <p:set>
                                      <p:cBhvr>
                                        <p:cTn id="8" dur="1" fill="hold">
                                          <p:stCondLst>
                                            <p:cond delay="0"/>
                                          </p:stCondLst>
                                        </p:cTn>
                                        <p:tgtEl>
                                          <p:spTgt spid="34835"/>
                                        </p:tgtEl>
                                        <p:attrNameLst>
                                          <p:attrName>style.visibility</p:attrName>
                                        </p:attrNameLst>
                                      </p:cBhvr>
                                      <p:to>
                                        <p:strVal val="visible"/>
                                      </p:to>
                                    </p:set>
                                    <p:animEffect transition="in" filter="wipe(up)">
                                      <p:cBhvr>
                                        <p:cTn id="9" dur="500"/>
                                        <p:tgtEl>
                                          <p:spTgt spid="34835"/>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34837"/>
                                        </p:tgtEl>
                                        <p:attrNameLst>
                                          <p:attrName>style.visibility</p:attrName>
                                        </p:attrNameLst>
                                      </p:cBhvr>
                                      <p:to>
                                        <p:strVal val="visible"/>
                                      </p:to>
                                    </p:set>
                                    <p:animEffect transition="in" filter="wipe(down)">
                                      <p:cBhvr>
                                        <p:cTn id="13" dur="500"/>
                                        <p:tgtEl>
                                          <p:spTgt spid="3483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4838"/>
                                        </p:tgtEl>
                                        <p:attrNameLst>
                                          <p:attrName>style.visibility</p:attrName>
                                        </p:attrNameLst>
                                      </p:cBhvr>
                                      <p:to>
                                        <p:strVal val="visible"/>
                                      </p:to>
                                    </p:set>
                                    <p:animEffect transition="in" filter="wipe(up)">
                                      <p:cBhvr>
                                        <p:cTn id="18" dur="500"/>
                                        <p:tgtEl>
                                          <p:spTgt spid="34838"/>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34839"/>
                                        </p:tgtEl>
                                        <p:attrNameLst>
                                          <p:attrName>style.visibility</p:attrName>
                                        </p:attrNameLst>
                                      </p:cBhvr>
                                      <p:to>
                                        <p:strVal val="visible"/>
                                      </p:to>
                                    </p:se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4840"/>
                                        </p:tgtEl>
                                        <p:attrNameLst>
                                          <p:attrName>style.visibility</p:attrName>
                                        </p:attrNameLst>
                                      </p:cBhvr>
                                      <p:to>
                                        <p:strVal val="visible"/>
                                      </p:to>
                                    </p:set>
                                    <p:animEffect transition="in" filter="wipe(left)">
                                      <p:cBhvr>
                                        <p:cTn id="25" dur="500"/>
                                        <p:tgtEl>
                                          <p:spTgt spid="34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5" grpId="0" animBg="1"/>
      <p:bldP spid="34836" grpId="0"/>
      <p:bldP spid="34837" grpId="0" animBg="1"/>
      <p:bldP spid="34838" grpId="0" animBg="1"/>
      <p:bldP spid="34839" grpId="0" autoUpdateAnimBg="0"/>
      <p:bldP spid="348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81200" y="609600"/>
            <a:ext cx="8229600" cy="798286"/>
          </a:xfrm>
        </p:spPr>
        <p:txBody>
          <a:bodyPr>
            <a:normAutofit/>
          </a:bodyPr>
          <a:lstStyle/>
          <a:p>
            <a:pPr algn="ctr" eaLnBrk="1" hangingPunct="1"/>
            <a:r>
              <a:rPr lang="en-US" sz="4000" dirty="0">
                <a:solidFill>
                  <a:srgbClr val="960000"/>
                </a:solidFill>
              </a:rPr>
              <a:t>Using Budgets to Motivate Workers</a:t>
            </a:r>
          </a:p>
        </p:txBody>
      </p:sp>
      <p:sp>
        <p:nvSpPr>
          <p:cNvPr id="54275" name="Rectangle 3"/>
          <p:cNvSpPr>
            <a:spLocks noGrp="1" noChangeArrowheads="1"/>
          </p:cNvSpPr>
          <p:nvPr>
            <p:ph idx="1"/>
          </p:nvPr>
        </p:nvSpPr>
        <p:spPr>
          <a:xfrm>
            <a:off x="1981200" y="1971675"/>
            <a:ext cx="6407426" cy="4304488"/>
          </a:xfrm>
        </p:spPr>
        <p:txBody>
          <a:bodyPr>
            <a:normAutofit lnSpcReduction="10000"/>
          </a:bodyPr>
          <a:lstStyle/>
          <a:p>
            <a:pPr eaLnBrk="1" hangingPunct="1">
              <a:lnSpc>
                <a:spcPct val="90000"/>
              </a:lnSpc>
            </a:pPr>
            <a:r>
              <a:rPr lang="en-US" sz="2800" dirty="0">
                <a:solidFill>
                  <a:srgbClr val="960000"/>
                </a:solidFill>
              </a:rPr>
              <a:t>Wells Fargo paid its analysts bonuses based on the analyst’s contribution to the banking side of their business.</a:t>
            </a:r>
          </a:p>
          <a:p>
            <a:pPr eaLnBrk="1" hangingPunct="1">
              <a:lnSpc>
                <a:spcPct val="90000"/>
              </a:lnSpc>
            </a:pPr>
            <a:r>
              <a:rPr lang="en-US" sz="2800" dirty="0">
                <a:solidFill>
                  <a:srgbClr val="960000"/>
                </a:solidFill>
              </a:rPr>
              <a:t>If an analyst rated a company as a poor investment, that company (could and sometimes did) take its business elsewhere =&gt;</a:t>
            </a:r>
          </a:p>
          <a:p>
            <a:pPr eaLnBrk="1" hangingPunct="1">
              <a:lnSpc>
                <a:spcPct val="90000"/>
              </a:lnSpc>
            </a:pPr>
            <a:r>
              <a:rPr lang="en-US" sz="2800" dirty="0">
                <a:solidFill>
                  <a:srgbClr val="960000"/>
                </a:solidFill>
              </a:rPr>
              <a:t>The analyst’s bonus would be smaller!</a:t>
            </a:r>
          </a:p>
          <a:p>
            <a:pPr eaLnBrk="1" hangingPunct="1">
              <a:lnSpc>
                <a:spcPct val="90000"/>
              </a:lnSpc>
            </a:pPr>
            <a:r>
              <a:rPr lang="en-US" sz="2800" dirty="0">
                <a:solidFill>
                  <a:srgbClr val="960000"/>
                </a:solidFill>
              </a:rPr>
              <a:t>The analyst’s </a:t>
            </a:r>
            <a:r>
              <a:rPr lang="en-US" sz="2800" u="sng" dirty="0">
                <a:solidFill>
                  <a:srgbClr val="960000"/>
                </a:solidFill>
              </a:rPr>
              <a:t>tradeoff</a:t>
            </a:r>
            <a:r>
              <a:rPr lang="en-US" sz="2800" dirty="0">
                <a:solidFill>
                  <a:srgbClr val="960000"/>
                </a:solidFill>
              </a:rPr>
              <a:t> (‘til </a:t>
            </a:r>
            <a:r>
              <a:rPr lang="en-US" sz="2800" dirty="0" err="1">
                <a:solidFill>
                  <a:srgbClr val="960000"/>
                </a:solidFill>
              </a:rPr>
              <a:t>gengæld</a:t>
            </a:r>
            <a:r>
              <a:rPr lang="en-US" sz="2800" dirty="0">
                <a:solidFill>
                  <a:srgbClr val="960000"/>
                </a:solidFill>
              </a:rPr>
              <a:t> for’, ‘</a:t>
            </a:r>
            <a:r>
              <a:rPr lang="en-US" sz="2800" dirty="0" err="1">
                <a:solidFill>
                  <a:srgbClr val="960000"/>
                </a:solidFill>
              </a:rPr>
              <a:t>omk</a:t>
            </a:r>
            <a:r>
              <a:rPr lang="en-US" sz="2800" dirty="0">
                <a:solidFill>
                  <a:srgbClr val="960000"/>
                </a:solidFill>
              </a:rPr>
              <a:t>. </a:t>
            </a:r>
            <a:r>
              <a:rPr lang="en-US" sz="2800" dirty="0" err="1">
                <a:solidFill>
                  <a:srgbClr val="960000"/>
                </a:solidFill>
              </a:rPr>
              <a:t>ved</a:t>
            </a:r>
            <a:r>
              <a:rPr lang="en-US" sz="2800" dirty="0">
                <a:solidFill>
                  <a:srgbClr val="960000"/>
                </a:solidFill>
              </a:rPr>
              <a:t>’, ‘</a:t>
            </a:r>
            <a:r>
              <a:rPr lang="en-US" sz="2800" dirty="0" err="1">
                <a:solidFill>
                  <a:srgbClr val="960000"/>
                </a:solidFill>
              </a:rPr>
              <a:t>afvejning</a:t>
            </a:r>
            <a:r>
              <a:rPr lang="en-US" sz="2800" dirty="0">
                <a:solidFill>
                  <a:srgbClr val="960000"/>
                </a:solidFill>
              </a:rPr>
              <a:t> </a:t>
            </a:r>
            <a:r>
              <a:rPr lang="en-US" sz="2800" dirty="0" err="1">
                <a:solidFill>
                  <a:srgbClr val="960000"/>
                </a:solidFill>
              </a:rPr>
              <a:t>mellem</a:t>
            </a:r>
            <a:r>
              <a:rPr lang="en-US" sz="2800" dirty="0">
                <a:solidFill>
                  <a:srgbClr val="960000"/>
                </a:solidFill>
              </a:rPr>
              <a:t>’) is </a:t>
            </a:r>
            <a:r>
              <a:rPr lang="en-US" sz="2800" i="1" dirty="0">
                <a:solidFill>
                  <a:srgbClr val="960000"/>
                </a:solidFill>
              </a:rPr>
              <a:t>integrity for money!</a:t>
            </a:r>
          </a:p>
        </p:txBody>
      </p:sp>
      <p:sp>
        <p:nvSpPr>
          <p:cNvPr id="19460"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518E8F81-7B4B-4390-A06F-8777A88990F7}" type="slidenum">
              <a:rPr lang="en-US" sz="1200"/>
              <a:pPr/>
              <a:t>18</a:t>
            </a:fld>
            <a:endParaRPr lang="en-US" sz="1200" dirty="0"/>
          </a:p>
        </p:txBody>
      </p:sp>
      <p:pic>
        <p:nvPicPr>
          <p:cNvPr id="7170" name="Picture 2" descr="Detecting Lies at Work, lies in the workplace">
            <a:extLst>
              <a:ext uri="{FF2B5EF4-FFF2-40B4-BE49-F238E27FC236}">
                <a16:creationId xmlns:a16="http://schemas.microsoft.com/office/drawing/2014/main" id="{C7BA718F-5C48-E436-38F9-545311BFB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2169" y="4114108"/>
            <a:ext cx="2645741" cy="171577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0563C86-EE5A-11A9-36FB-4823DF211FBD}"/>
              </a:ext>
            </a:extLst>
          </p:cNvPr>
          <p:cNvSpPr txBox="1"/>
          <p:nvPr/>
        </p:nvSpPr>
        <p:spPr>
          <a:xfrm>
            <a:off x="8978348" y="5829887"/>
            <a:ext cx="2116285" cy="169277"/>
          </a:xfrm>
          <a:prstGeom prst="rect">
            <a:avLst/>
          </a:prstGeom>
          <a:noFill/>
        </p:spPr>
        <p:txBody>
          <a:bodyPr wrap="none" rtlCol="0">
            <a:spAutoFit/>
          </a:bodyPr>
          <a:lstStyle/>
          <a:p>
            <a:r>
              <a:rPr lang="en-US" sz="500" dirty="0">
                <a:solidFill>
                  <a:schemeClr val="bg2">
                    <a:lumMod val="50000"/>
                  </a:schemeClr>
                </a:solidFill>
              </a:rPr>
              <a:t>Kilde: https://</a:t>
            </a:r>
            <a:r>
              <a:rPr lang="en-US" sz="500" dirty="0" err="1">
                <a:solidFill>
                  <a:schemeClr val="bg2">
                    <a:lumMod val="50000"/>
                  </a:schemeClr>
                </a:solidFill>
              </a:rPr>
              <a:t>sacsconsulting.com</a:t>
            </a:r>
            <a:r>
              <a:rPr lang="en-US" sz="500" dirty="0">
                <a:solidFill>
                  <a:schemeClr val="bg2">
                    <a:lumMod val="50000"/>
                  </a:schemeClr>
                </a:solidFill>
              </a:rPr>
              <a:t>/2017/09/21/detect-lies-workplace/</a:t>
            </a:r>
          </a:p>
        </p:txBody>
      </p:sp>
      <p:pic>
        <p:nvPicPr>
          <p:cNvPr id="7172" name="Picture 4" descr="Understanding Cash Bonuses: Impact on Salary and Performance">
            <a:extLst>
              <a:ext uri="{FF2B5EF4-FFF2-40B4-BE49-F238E27FC236}">
                <a16:creationId xmlns:a16="http://schemas.microsoft.com/office/drawing/2014/main" id="{9B255383-1F33-9C95-FCB9-4B1ADEDD4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2169" y="1906424"/>
            <a:ext cx="2645741" cy="19385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B805FC5-C0E5-01FE-D3B1-78A293D474EA}"/>
              </a:ext>
            </a:extLst>
          </p:cNvPr>
          <p:cNvSpPr txBox="1"/>
          <p:nvPr/>
        </p:nvSpPr>
        <p:spPr>
          <a:xfrm>
            <a:off x="8978348" y="3810256"/>
            <a:ext cx="1893467" cy="169277"/>
          </a:xfrm>
          <a:prstGeom prst="rect">
            <a:avLst/>
          </a:prstGeom>
          <a:noFill/>
        </p:spPr>
        <p:txBody>
          <a:bodyPr wrap="none" rtlCol="0">
            <a:spAutoFit/>
          </a:bodyPr>
          <a:lstStyle/>
          <a:p>
            <a:r>
              <a:rPr lang="en-US" sz="500" dirty="0">
                <a:solidFill>
                  <a:schemeClr val="bg2">
                    <a:lumMod val="50000"/>
                  </a:schemeClr>
                </a:solidFill>
              </a:rPr>
              <a:t>Kilde: https://</a:t>
            </a:r>
            <a:r>
              <a:rPr lang="en-US" sz="500" dirty="0" err="1">
                <a:solidFill>
                  <a:schemeClr val="bg2">
                    <a:lumMod val="50000"/>
                  </a:schemeClr>
                </a:solidFill>
              </a:rPr>
              <a:t>www.investopedia.com</a:t>
            </a:r>
            <a:r>
              <a:rPr lang="en-US" sz="500" dirty="0">
                <a:solidFill>
                  <a:schemeClr val="bg2">
                    <a:lumMod val="50000"/>
                  </a:schemeClr>
                </a:solidFill>
              </a:rPr>
              <a:t>/terms/c/cash-</a:t>
            </a:r>
            <a:r>
              <a:rPr lang="en-US" sz="500" dirty="0" err="1">
                <a:solidFill>
                  <a:schemeClr val="bg2">
                    <a:lumMod val="50000"/>
                  </a:schemeClr>
                </a:solidFill>
              </a:rPr>
              <a:t>bonus.asp</a:t>
            </a:r>
            <a:endParaRPr lang="en-US" sz="500" dirty="0">
              <a:solidFill>
                <a:schemeClr val="bg2">
                  <a:lumMod val="50000"/>
                </a:schemeClr>
              </a:solidFill>
            </a:endParaRPr>
          </a:p>
        </p:txBody>
      </p:sp>
    </p:spTree>
    <p:extLst>
      <p:ext uri="{BB962C8B-B14F-4D97-AF65-F5344CB8AC3E}">
        <p14:creationId xmlns:p14="http://schemas.microsoft.com/office/powerpoint/2010/main" val="315691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357313" y="669925"/>
            <a:ext cx="9144000" cy="1143000"/>
          </a:xfrm>
        </p:spPr>
        <p:txBody>
          <a:bodyPr/>
          <a:lstStyle/>
          <a:p>
            <a:pPr algn="ctr" eaLnBrk="1" hangingPunct="1"/>
            <a:r>
              <a:rPr lang="en-US" sz="3600" dirty="0">
                <a:solidFill>
                  <a:srgbClr val="960000"/>
                </a:solidFill>
              </a:rPr>
              <a:t>Hypothetical Constraint at Wells Fargo</a:t>
            </a:r>
          </a:p>
        </p:txBody>
      </p:sp>
      <p:sp>
        <p:nvSpPr>
          <p:cNvPr id="20483" name="Rectangle 3"/>
          <p:cNvSpPr>
            <a:spLocks noGrp="1" noChangeArrowheads="1"/>
          </p:cNvSpPr>
          <p:nvPr>
            <p:ph type="body" sz="half" idx="1"/>
          </p:nvPr>
        </p:nvSpPr>
        <p:spPr>
          <a:xfrm>
            <a:off x="1785938" y="2224088"/>
            <a:ext cx="3929062" cy="3124200"/>
          </a:xfrm>
        </p:spPr>
        <p:txBody>
          <a:bodyPr>
            <a:normAutofit/>
          </a:bodyPr>
          <a:lstStyle/>
          <a:p>
            <a:pPr eaLnBrk="1" hangingPunct="1">
              <a:buFontTx/>
              <a:buNone/>
            </a:pPr>
            <a:r>
              <a:rPr lang="en-US" sz="2400" dirty="0"/>
              <a:t>   </a:t>
            </a:r>
            <a:r>
              <a:rPr lang="en-US" sz="2400" dirty="0">
                <a:solidFill>
                  <a:srgbClr val="960000"/>
                </a:solidFill>
              </a:rPr>
              <a:t>This constraint shows the maximum amounts of money and integrity that are possible for the analyst, given the bonus/compensation plan and conditions at Wells Fargo.</a:t>
            </a:r>
          </a:p>
        </p:txBody>
      </p:sp>
      <p:sp>
        <p:nvSpPr>
          <p:cNvPr id="20484" name="Line 7"/>
          <p:cNvSpPr>
            <a:spLocks noChangeShapeType="1"/>
          </p:cNvSpPr>
          <p:nvPr/>
        </p:nvSpPr>
        <p:spPr bwMode="auto">
          <a:xfrm>
            <a:off x="6781800" y="1981200"/>
            <a:ext cx="0" cy="3551238"/>
          </a:xfrm>
          <a:prstGeom prst="line">
            <a:avLst/>
          </a:prstGeom>
          <a:noFill/>
          <a:ln w="12700">
            <a:solidFill>
              <a:schemeClr val="tx1"/>
            </a:solidFill>
            <a:round/>
            <a:headEnd type="triangle" w="sm" len="sm"/>
            <a:tailEnd type="none" w="sm" len="sm"/>
          </a:ln>
        </p:spPr>
        <p:txBody>
          <a:bodyPr/>
          <a:lstStyle/>
          <a:p>
            <a:endParaRPr lang="da-DK"/>
          </a:p>
        </p:txBody>
      </p:sp>
      <p:sp>
        <p:nvSpPr>
          <p:cNvPr id="20485" name="Line 8"/>
          <p:cNvSpPr>
            <a:spLocks noChangeShapeType="1"/>
          </p:cNvSpPr>
          <p:nvPr/>
        </p:nvSpPr>
        <p:spPr bwMode="auto">
          <a:xfrm>
            <a:off x="6792913" y="5530850"/>
            <a:ext cx="3460750" cy="0"/>
          </a:xfrm>
          <a:prstGeom prst="line">
            <a:avLst/>
          </a:prstGeom>
          <a:noFill/>
          <a:ln w="12700">
            <a:solidFill>
              <a:schemeClr val="tx1"/>
            </a:solidFill>
            <a:round/>
            <a:headEnd type="none" w="sm" len="sm"/>
            <a:tailEnd type="triangle" w="sm" len="sm"/>
          </a:ln>
        </p:spPr>
        <p:txBody>
          <a:bodyPr/>
          <a:lstStyle/>
          <a:p>
            <a:endParaRPr lang="da-DK"/>
          </a:p>
        </p:txBody>
      </p:sp>
      <p:sp>
        <p:nvSpPr>
          <p:cNvPr id="20486" name="Line 7"/>
          <p:cNvSpPr>
            <a:spLocks noChangeShapeType="1"/>
          </p:cNvSpPr>
          <p:nvPr/>
        </p:nvSpPr>
        <p:spPr bwMode="auto">
          <a:xfrm>
            <a:off x="6781801" y="2590800"/>
            <a:ext cx="1916113" cy="2319338"/>
          </a:xfrm>
          <a:prstGeom prst="line">
            <a:avLst/>
          </a:prstGeom>
          <a:noFill/>
          <a:ln w="25400">
            <a:solidFill>
              <a:srgbClr val="000066"/>
            </a:solidFill>
            <a:round/>
            <a:headEnd/>
            <a:tailEnd/>
          </a:ln>
        </p:spPr>
        <p:txBody>
          <a:bodyPr/>
          <a:lstStyle/>
          <a:p>
            <a:endParaRPr lang="da-DK"/>
          </a:p>
        </p:txBody>
      </p:sp>
      <p:sp>
        <p:nvSpPr>
          <p:cNvPr id="20487" name="Line 8"/>
          <p:cNvSpPr>
            <a:spLocks noChangeShapeType="1"/>
          </p:cNvSpPr>
          <p:nvPr/>
        </p:nvSpPr>
        <p:spPr bwMode="auto">
          <a:xfrm>
            <a:off x="8697913" y="4910138"/>
            <a:ext cx="0" cy="620712"/>
          </a:xfrm>
          <a:prstGeom prst="line">
            <a:avLst/>
          </a:prstGeom>
          <a:noFill/>
          <a:ln w="12700">
            <a:solidFill>
              <a:srgbClr val="5F5F5F"/>
            </a:solidFill>
            <a:prstDash val="dash"/>
            <a:round/>
            <a:headEnd/>
            <a:tailEnd/>
          </a:ln>
        </p:spPr>
        <p:txBody>
          <a:bodyPr/>
          <a:lstStyle/>
          <a:p>
            <a:endParaRPr lang="da-DK"/>
          </a:p>
        </p:txBody>
      </p:sp>
      <p:sp>
        <p:nvSpPr>
          <p:cNvPr id="20488" name="Text Box 9"/>
          <p:cNvSpPr txBox="1">
            <a:spLocks noChangeArrowheads="1"/>
          </p:cNvSpPr>
          <p:nvPr/>
        </p:nvSpPr>
        <p:spPr bwMode="auto">
          <a:xfrm>
            <a:off x="7566025" y="5954713"/>
            <a:ext cx="1905000" cy="304800"/>
          </a:xfrm>
          <a:prstGeom prst="rect">
            <a:avLst/>
          </a:prstGeom>
          <a:noFill/>
          <a:ln w="9525">
            <a:noFill/>
            <a:miter lim="800000"/>
            <a:headEnd/>
            <a:tailEnd/>
          </a:ln>
        </p:spPr>
        <p:txBody>
          <a:bodyPr>
            <a:spAutoFit/>
          </a:bodyPr>
          <a:lstStyle/>
          <a:p>
            <a:pPr>
              <a:spcBef>
                <a:spcPct val="50000"/>
              </a:spcBef>
            </a:pPr>
            <a:r>
              <a:rPr lang="en-US" sz="1400" dirty="0"/>
              <a:t>Quantity of integrity</a:t>
            </a:r>
          </a:p>
        </p:txBody>
      </p:sp>
      <p:sp>
        <p:nvSpPr>
          <p:cNvPr id="20489" name="Rectangle 11"/>
          <p:cNvSpPr>
            <a:spLocks noChangeArrowheads="1"/>
          </p:cNvSpPr>
          <p:nvPr/>
        </p:nvSpPr>
        <p:spPr bwMode="auto">
          <a:xfrm>
            <a:off x="10253663" y="5348288"/>
            <a:ext cx="247650" cy="366712"/>
          </a:xfrm>
          <a:prstGeom prst="rect">
            <a:avLst/>
          </a:prstGeom>
          <a:noFill/>
          <a:ln w="9525">
            <a:noFill/>
            <a:miter lim="800000"/>
            <a:headEnd/>
            <a:tailEnd/>
          </a:ln>
        </p:spPr>
        <p:txBody>
          <a:bodyPr>
            <a:spAutoFit/>
          </a:bodyPr>
          <a:lstStyle/>
          <a:p>
            <a:pPr>
              <a:spcBef>
                <a:spcPct val="50000"/>
              </a:spcBef>
            </a:pPr>
            <a:r>
              <a:rPr lang="en-US" i="1" dirty="0"/>
              <a:t>I</a:t>
            </a:r>
          </a:p>
        </p:txBody>
      </p:sp>
      <p:sp>
        <p:nvSpPr>
          <p:cNvPr id="20490" name="Text Box 12"/>
          <p:cNvSpPr txBox="1">
            <a:spLocks noChangeArrowheads="1"/>
          </p:cNvSpPr>
          <p:nvPr/>
        </p:nvSpPr>
        <p:spPr bwMode="auto">
          <a:xfrm>
            <a:off x="6634164" y="1644650"/>
            <a:ext cx="293687" cy="336550"/>
          </a:xfrm>
          <a:prstGeom prst="rect">
            <a:avLst/>
          </a:prstGeom>
          <a:noFill/>
          <a:ln w="9525">
            <a:noFill/>
            <a:miter lim="800000"/>
            <a:headEnd/>
            <a:tailEnd/>
          </a:ln>
        </p:spPr>
        <p:txBody>
          <a:bodyPr>
            <a:spAutoFit/>
          </a:bodyPr>
          <a:lstStyle/>
          <a:p>
            <a:pPr>
              <a:spcBef>
                <a:spcPct val="50000"/>
              </a:spcBef>
            </a:pPr>
            <a:r>
              <a:rPr lang="en-US" sz="1600" dirty="0"/>
              <a:t>$</a:t>
            </a:r>
          </a:p>
        </p:txBody>
      </p:sp>
      <p:sp>
        <p:nvSpPr>
          <p:cNvPr id="20491" name="Text Box 13"/>
          <p:cNvSpPr txBox="1">
            <a:spLocks noChangeArrowheads="1"/>
          </p:cNvSpPr>
          <p:nvPr/>
        </p:nvSpPr>
        <p:spPr bwMode="auto">
          <a:xfrm rot="10800000">
            <a:off x="5956271" y="2992438"/>
            <a:ext cx="400110" cy="1765300"/>
          </a:xfrm>
          <a:prstGeom prst="rect">
            <a:avLst/>
          </a:prstGeom>
          <a:noFill/>
          <a:ln w="9525">
            <a:noFill/>
            <a:miter lim="800000"/>
            <a:headEnd/>
            <a:tailEnd/>
          </a:ln>
        </p:spPr>
        <p:txBody>
          <a:bodyPr vert="eaVert">
            <a:spAutoFit/>
          </a:bodyPr>
          <a:lstStyle/>
          <a:p>
            <a:pPr>
              <a:spcBef>
                <a:spcPct val="50000"/>
              </a:spcBef>
            </a:pPr>
            <a:r>
              <a:rPr lang="en-US" sz="1400" dirty="0"/>
              <a:t>Income (in dollars)</a:t>
            </a:r>
          </a:p>
        </p:txBody>
      </p:sp>
      <p:sp>
        <p:nvSpPr>
          <p:cNvPr id="20492" name="Text Box 36"/>
          <p:cNvSpPr txBox="1">
            <a:spLocks noChangeArrowheads="1"/>
          </p:cNvSpPr>
          <p:nvPr/>
        </p:nvSpPr>
        <p:spPr bwMode="auto">
          <a:xfrm>
            <a:off x="6156326" y="4757738"/>
            <a:ext cx="625475" cy="304800"/>
          </a:xfrm>
          <a:prstGeom prst="rect">
            <a:avLst/>
          </a:prstGeom>
          <a:noFill/>
          <a:ln w="9525">
            <a:noFill/>
            <a:miter lim="800000"/>
            <a:headEnd/>
            <a:tailEnd/>
          </a:ln>
        </p:spPr>
        <p:txBody>
          <a:bodyPr>
            <a:spAutoFit/>
          </a:bodyPr>
          <a:lstStyle/>
          <a:p>
            <a:pPr algn="r">
              <a:spcBef>
                <a:spcPct val="50000"/>
              </a:spcBef>
            </a:pPr>
            <a:r>
              <a:rPr lang="en-US" sz="1400" dirty="0"/>
              <a:t>$</a:t>
            </a:r>
            <a:r>
              <a:rPr lang="en-US" sz="1400" baseline="-25000" dirty="0"/>
              <a:t>min</a:t>
            </a:r>
          </a:p>
        </p:txBody>
      </p:sp>
      <p:sp>
        <p:nvSpPr>
          <p:cNvPr id="20493" name="Text Box 37"/>
          <p:cNvSpPr txBox="1">
            <a:spLocks noChangeArrowheads="1"/>
          </p:cNvSpPr>
          <p:nvPr/>
        </p:nvSpPr>
        <p:spPr bwMode="auto">
          <a:xfrm>
            <a:off x="6092826" y="2438400"/>
            <a:ext cx="625475" cy="304800"/>
          </a:xfrm>
          <a:prstGeom prst="rect">
            <a:avLst/>
          </a:prstGeom>
          <a:noFill/>
          <a:ln w="9525">
            <a:noFill/>
            <a:miter lim="800000"/>
            <a:headEnd/>
            <a:tailEnd/>
          </a:ln>
        </p:spPr>
        <p:txBody>
          <a:bodyPr>
            <a:spAutoFit/>
          </a:bodyPr>
          <a:lstStyle/>
          <a:p>
            <a:pPr algn="r">
              <a:spcBef>
                <a:spcPct val="50000"/>
              </a:spcBef>
            </a:pPr>
            <a:r>
              <a:rPr lang="en-US" sz="1400" dirty="0"/>
              <a:t>$</a:t>
            </a:r>
            <a:r>
              <a:rPr lang="en-US" sz="1400" baseline="-25000" dirty="0"/>
              <a:t>max</a:t>
            </a:r>
          </a:p>
        </p:txBody>
      </p:sp>
      <p:sp>
        <p:nvSpPr>
          <p:cNvPr id="20494" name="Text Box 38"/>
          <p:cNvSpPr txBox="1">
            <a:spLocks noChangeArrowheads="1"/>
          </p:cNvSpPr>
          <p:nvPr/>
        </p:nvSpPr>
        <p:spPr bwMode="auto">
          <a:xfrm>
            <a:off x="8120063" y="5562600"/>
            <a:ext cx="773112" cy="304800"/>
          </a:xfrm>
          <a:prstGeom prst="rect">
            <a:avLst/>
          </a:prstGeom>
          <a:noFill/>
          <a:ln w="9525">
            <a:noFill/>
            <a:miter lim="800000"/>
            <a:headEnd/>
            <a:tailEnd/>
          </a:ln>
        </p:spPr>
        <p:txBody>
          <a:bodyPr>
            <a:spAutoFit/>
          </a:bodyPr>
          <a:lstStyle/>
          <a:p>
            <a:pPr algn="r">
              <a:spcBef>
                <a:spcPct val="50000"/>
              </a:spcBef>
            </a:pPr>
            <a:r>
              <a:rPr lang="en-US" sz="1400" i="1" dirty="0" err="1"/>
              <a:t>I</a:t>
            </a:r>
            <a:r>
              <a:rPr lang="en-US" sz="1400" baseline="-25000" dirty="0" err="1"/>
              <a:t>c</a:t>
            </a:r>
            <a:endParaRPr lang="en-US" sz="1400" baseline="-25000" dirty="0"/>
          </a:p>
        </p:txBody>
      </p:sp>
      <p:sp>
        <p:nvSpPr>
          <p:cNvPr id="20495" name="Rectangle 41"/>
          <p:cNvSpPr>
            <a:spLocks noChangeArrowheads="1"/>
          </p:cNvSpPr>
          <p:nvPr/>
        </p:nvSpPr>
        <p:spPr bwMode="auto">
          <a:xfrm>
            <a:off x="10720529" y="5982514"/>
            <a:ext cx="416781" cy="276999"/>
          </a:xfrm>
          <a:prstGeom prst="rect">
            <a:avLst/>
          </a:prstGeom>
          <a:noFill/>
          <a:ln w="9525">
            <a:noFill/>
            <a:miter lim="800000"/>
            <a:headEnd/>
            <a:tailEnd/>
          </a:ln>
        </p:spPr>
        <p:txBody>
          <a:bodyPr wrap="none">
            <a:spAutoFit/>
          </a:bodyPr>
          <a:lstStyle/>
          <a:p>
            <a:fld id="{F2DD5CE3-EC71-4200-82F2-72F5036039F9}" type="slidenum">
              <a:rPr lang="en-US" sz="1200"/>
              <a:pPr/>
              <a:t>19</a:t>
            </a:fld>
            <a:endParaRPr lang="en-US" sz="1200" dirty="0"/>
          </a:p>
        </p:txBody>
      </p:sp>
    </p:spTree>
    <p:extLst>
      <p:ext uri="{BB962C8B-B14F-4D97-AF65-F5344CB8AC3E}">
        <p14:creationId xmlns:p14="http://schemas.microsoft.com/office/powerpoint/2010/main" val="3212344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676400" y="579438"/>
            <a:ext cx="8534400" cy="1401762"/>
          </a:xfrm>
        </p:spPr>
        <p:txBody>
          <a:bodyPr/>
          <a:lstStyle/>
          <a:p>
            <a:pPr eaLnBrk="1" hangingPunct="1"/>
            <a:r>
              <a:rPr lang="en-US" sz="3600" dirty="0">
                <a:solidFill>
                  <a:srgbClr val="960000"/>
                </a:solidFill>
              </a:rPr>
              <a:t>Optimal Analyst Choice</a:t>
            </a:r>
            <a:br>
              <a:rPr lang="en-US" sz="3600" dirty="0">
                <a:solidFill>
                  <a:srgbClr val="960000"/>
                </a:solidFill>
              </a:rPr>
            </a:br>
            <a:r>
              <a:rPr lang="en-US" sz="3600" dirty="0">
                <a:solidFill>
                  <a:srgbClr val="960000"/>
                </a:solidFill>
              </a:rPr>
              <a:t>Two Different Compensation Plans</a:t>
            </a:r>
          </a:p>
        </p:txBody>
      </p:sp>
      <p:sp>
        <p:nvSpPr>
          <p:cNvPr id="21507" name="Rectangle 3"/>
          <p:cNvSpPr>
            <a:spLocks noGrp="1" noChangeArrowheads="1"/>
          </p:cNvSpPr>
          <p:nvPr>
            <p:ph type="body" sz="half" idx="1"/>
          </p:nvPr>
        </p:nvSpPr>
        <p:spPr>
          <a:xfrm>
            <a:off x="1916113" y="2205039"/>
            <a:ext cx="3841750" cy="4092575"/>
          </a:xfrm>
        </p:spPr>
        <p:txBody>
          <a:bodyPr>
            <a:normAutofit/>
          </a:bodyPr>
          <a:lstStyle/>
          <a:p>
            <a:pPr eaLnBrk="1" hangingPunct="1">
              <a:lnSpc>
                <a:spcPct val="90000"/>
              </a:lnSpc>
              <a:buFontTx/>
              <a:buNone/>
            </a:pPr>
            <a:r>
              <a:rPr lang="en-US" sz="2400" dirty="0">
                <a:solidFill>
                  <a:srgbClr val="990033"/>
                </a:solidFill>
              </a:rPr>
              <a:t>   </a:t>
            </a:r>
            <a:r>
              <a:rPr lang="en-US" sz="2400" dirty="0">
                <a:solidFill>
                  <a:srgbClr val="960000"/>
                </a:solidFill>
              </a:rPr>
              <a:t>Case 1 reflects the original compensation plan, </a:t>
            </a:r>
            <a:r>
              <a:rPr lang="en-US" sz="2400" dirty="0">
                <a:solidFill>
                  <a:srgbClr val="002060"/>
                </a:solidFill>
              </a:rPr>
              <a:t>while the compensation in Case 2 encourages the analyst to choose a higher level of integrity.</a:t>
            </a:r>
          </a:p>
          <a:p>
            <a:pPr eaLnBrk="1" hangingPunct="1">
              <a:lnSpc>
                <a:spcPct val="90000"/>
              </a:lnSpc>
              <a:buFontTx/>
              <a:buNone/>
            </a:pPr>
            <a:r>
              <a:rPr lang="en-US" sz="2400" dirty="0">
                <a:solidFill>
                  <a:schemeClr val="tx2">
                    <a:lumMod val="75000"/>
                  </a:schemeClr>
                </a:solidFill>
              </a:rPr>
              <a:t>   Managers can motivate desired actions by establishing appropriate incentives, </a:t>
            </a:r>
            <a:r>
              <a:rPr lang="en-US" sz="2400" dirty="0" err="1">
                <a:solidFill>
                  <a:schemeClr val="tx2">
                    <a:lumMod val="75000"/>
                  </a:schemeClr>
                </a:solidFill>
              </a:rPr>
              <a:t>jvf</a:t>
            </a:r>
            <a:r>
              <a:rPr lang="en-US" sz="2400" dirty="0">
                <a:solidFill>
                  <a:schemeClr val="tx2">
                    <a:lumMod val="75000"/>
                  </a:schemeClr>
                </a:solidFill>
              </a:rPr>
              <a:t>. </a:t>
            </a:r>
            <a:r>
              <a:rPr lang="en-US" sz="2400" dirty="0" err="1">
                <a:solidFill>
                  <a:schemeClr val="tx2">
                    <a:lumMod val="75000"/>
                  </a:schemeClr>
                </a:solidFill>
              </a:rPr>
              <a:t>kap</a:t>
            </a:r>
            <a:r>
              <a:rPr lang="en-US" sz="2400" dirty="0">
                <a:solidFill>
                  <a:schemeClr val="tx2">
                    <a:lumMod val="75000"/>
                  </a:schemeClr>
                </a:solidFill>
              </a:rPr>
              <a:t>. 1!</a:t>
            </a:r>
          </a:p>
        </p:txBody>
      </p:sp>
      <p:sp>
        <p:nvSpPr>
          <p:cNvPr id="21508" name="Line 7"/>
          <p:cNvSpPr>
            <a:spLocks noChangeShapeType="1"/>
          </p:cNvSpPr>
          <p:nvPr/>
        </p:nvSpPr>
        <p:spPr bwMode="auto">
          <a:xfrm>
            <a:off x="6781800" y="2436814"/>
            <a:ext cx="0" cy="3551237"/>
          </a:xfrm>
          <a:prstGeom prst="line">
            <a:avLst/>
          </a:prstGeom>
          <a:noFill/>
          <a:ln w="12700">
            <a:solidFill>
              <a:schemeClr val="tx1"/>
            </a:solidFill>
            <a:round/>
            <a:headEnd type="triangle" w="sm" len="sm"/>
            <a:tailEnd type="none" w="sm" len="sm"/>
          </a:ln>
        </p:spPr>
        <p:txBody>
          <a:bodyPr/>
          <a:lstStyle/>
          <a:p>
            <a:endParaRPr lang="da-DK"/>
          </a:p>
        </p:txBody>
      </p:sp>
      <p:sp>
        <p:nvSpPr>
          <p:cNvPr id="21509" name="Line 8"/>
          <p:cNvSpPr>
            <a:spLocks noChangeShapeType="1"/>
          </p:cNvSpPr>
          <p:nvPr/>
        </p:nvSpPr>
        <p:spPr bwMode="auto">
          <a:xfrm>
            <a:off x="6792913" y="5988050"/>
            <a:ext cx="3460750" cy="0"/>
          </a:xfrm>
          <a:prstGeom prst="line">
            <a:avLst/>
          </a:prstGeom>
          <a:noFill/>
          <a:ln w="12700">
            <a:solidFill>
              <a:schemeClr val="tx1"/>
            </a:solidFill>
            <a:round/>
            <a:headEnd type="none" w="sm" len="sm"/>
            <a:tailEnd type="triangle" w="sm" len="sm"/>
          </a:ln>
        </p:spPr>
        <p:txBody>
          <a:bodyPr/>
          <a:lstStyle/>
          <a:p>
            <a:endParaRPr lang="da-DK"/>
          </a:p>
        </p:txBody>
      </p:sp>
      <p:sp>
        <p:nvSpPr>
          <p:cNvPr id="21510" name="Text Box 7"/>
          <p:cNvSpPr txBox="1">
            <a:spLocks noChangeArrowheads="1"/>
          </p:cNvSpPr>
          <p:nvPr/>
        </p:nvSpPr>
        <p:spPr bwMode="auto">
          <a:xfrm>
            <a:off x="7613650" y="6292850"/>
            <a:ext cx="1905000" cy="304800"/>
          </a:xfrm>
          <a:prstGeom prst="rect">
            <a:avLst/>
          </a:prstGeom>
          <a:noFill/>
          <a:ln w="9525">
            <a:noFill/>
            <a:miter lim="800000"/>
            <a:headEnd/>
            <a:tailEnd/>
          </a:ln>
        </p:spPr>
        <p:txBody>
          <a:bodyPr>
            <a:spAutoFit/>
          </a:bodyPr>
          <a:lstStyle/>
          <a:p>
            <a:pPr>
              <a:spcBef>
                <a:spcPct val="50000"/>
              </a:spcBef>
            </a:pPr>
            <a:r>
              <a:rPr lang="en-US" sz="1400" dirty="0"/>
              <a:t>Quantity of integrity</a:t>
            </a:r>
          </a:p>
        </p:txBody>
      </p:sp>
      <p:sp>
        <p:nvSpPr>
          <p:cNvPr id="21511" name="Text Box 8"/>
          <p:cNvSpPr txBox="1">
            <a:spLocks noChangeArrowheads="1"/>
          </p:cNvSpPr>
          <p:nvPr/>
        </p:nvSpPr>
        <p:spPr bwMode="auto">
          <a:xfrm rot="10800000">
            <a:off x="5956271" y="2992438"/>
            <a:ext cx="400110" cy="1765300"/>
          </a:xfrm>
          <a:prstGeom prst="rect">
            <a:avLst/>
          </a:prstGeom>
          <a:noFill/>
          <a:ln w="9525">
            <a:noFill/>
            <a:miter lim="800000"/>
            <a:headEnd/>
            <a:tailEnd/>
          </a:ln>
        </p:spPr>
        <p:txBody>
          <a:bodyPr vert="eaVert">
            <a:spAutoFit/>
          </a:bodyPr>
          <a:lstStyle/>
          <a:p>
            <a:pPr>
              <a:spcBef>
                <a:spcPct val="50000"/>
              </a:spcBef>
            </a:pPr>
            <a:r>
              <a:rPr lang="en-US" sz="1400" dirty="0"/>
              <a:t>Income (in dollars)</a:t>
            </a:r>
          </a:p>
        </p:txBody>
      </p:sp>
      <p:sp>
        <p:nvSpPr>
          <p:cNvPr id="21512" name="Line 9"/>
          <p:cNvSpPr>
            <a:spLocks noChangeShapeType="1"/>
          </p:cNvSpPr>
          <p:nvPr/>
        </p:nvSpPr>
        <p:spPr bwMode="auto">
          <a:xfrm>
            <a:off x="6792913" y="3821113"/>
            <a:ext cx="2297112" cy="609600"/>
          </a:xfrm>
          <a:prstGeom prst="line">
            <a:avLst/>
          </a:prstGeom>
          <a:noFill/>
          <a:ln w="25400">
            <a:solidFill>
              <a:srgbClr val="000066"/>
            </a:solidFill>
            <a:round/>
            <a:headEnd/>
            <a:tailEnd/>
          </a:ln>
        </p:spPr>
        <p:txBody>
          <a:bodyPr/>
          <a:lstStyle/>
          <a:p>
            <a:endParaRPr lang="da-DK"/>
          </a:p>
        </p:txBody>
      </p:sp>
      <p:sp>
        <p:nvSpPr>
          <p:cNvPr id="21513" name="Line 10"/>
          <p:cNvSpPr>
            <a:spLocks noChangeShapeType="1"/>
          </p:cNvSpPr>
          <p:nvPr/>
        </p:nvSpPr>
        <p:spPr bwMode="auto">
          <a:xfrm>
            <a:off x="6781801" y="2786063"/>
            <a:ext cx="2308225" cy="3040062"/>
          </a:xfrm>
          <a:prstGeom prst="line">
            <a:avLst/>
          </a:prstGeom>
          <a:noFill/>
          <a:ln w="25400">
            <a:solidFill>
              <a:srgbClr val="C00000"/>
            </a:solidFill>
            <a:round/>
            <a:headEnd/>
            <a:tailEnd/>
          </a:ln>
        </p:spPr>
        <p:txBody>
          <a:bodyPr/>
          <a:lstStyle/>
          <a:p>
            <a:endParaRPr lang="da-DK"/>
          </a:p>
        </p:txBody>
      </p:sp>
      <p:sp>
        <p:nvSpPr>
          <p:cNvPr id="21514" name="Freeform 13"/>
          <p:cNvSpPr>
            <a:spLocks/>
          </p:cNvSpPr>
          <p:nvPr/>
        </p:nvSpPr>
        <p:spPr bwMode="auto">
          <a:xfrm>
            <a:off x="7226300" y="2460625"/>
            <a:ext cx="1906588" cy="1828800"/>
          </a:xfrm>
          <a:custGeom>
            <a:avLst/>
            <a:gdLst>
              <a:gd name="T0" fmla="*/ 35 w 1201"/>
              <a:gd name="T1" fmla="*/ 0 h 1152"/>
              <a:gd name="T2" fmla="*/ 83 w 1201"/>
              <a:gd name="T3" fmla="*/ 658 h 1152"/>
              <a:gd name="T4" fmla="*/ 536 w 1201"/>
              <a:gd name="T5" fmla="*/ 1056 h 1152"/>
              <a:gd name="T6" fmla="*/ 1201 w 1201"/>
              <a:gd name="T7" fmla="*/ 1152 h 1152"/>
              <a:gd name="T8" fmla="*/ 0 60000 65536"/>
              <a:gd name="T9" fmla="*/ 0 60000 65536"/>
              <a:gd name="T10" fmla="*/ 0 60000 65536"/>
              <a:gd name="T11" fmla="*/ 0 60000 65536"/>
              <a:gd name="T12" fmla="*/ 0 w 1201"/>
              <a:gd name="T13" fmla="*/ 0 h 1152"/>
              <a:gd name="T14" fmla="*/ 1201 w 1201"/>
              <a:gd name="T15" fmla="*/ 1152 h 1152"/>
            </a:gdLst>
            <a:ahLst/>
            <a:cxnLst>
              <a:cxn ang="T8">
                <a:pos x="T0" y="T1"/>
              </a:cxn>
              <a:cxn ang="T9">
                <a:pos x="T2" y="T3"/>
              </a:cxn>
              <a:cxn ang="T10">
                <a:pos x="T4" y="T5"/>
              </a:cxn>
              <a:cxn ang="T11">
                <a:pos x="T6" y="T7"/>
              </a:cxn>
            </a:cxnLst>
            <a:rect l="T12" t="T13" r="T14" b="T15"/>
            <a:pathLst>
              <a:path w="1201" h="1152">
                <a:moveTo>
                  <a:pt x="35" y="0"/>
                </a:moveTo>
                <a:cubicBezTo>
                  <a:pt x="44" y="110"/>
                  <a:pt x="0" y="482"/>
                  <a:pt x="83" y="658"/>
                </a:cubicBezTo>
                <a:cubicBezTo>
                  <a:pt x="166" y="834"/>
                  <a:pt x="350" y="974"/>
                  <a:pt x="536" y="1056"/>
                </a:cubicBezTo>
                <a:cubicBezTo>
                  <a:pt x="722" y="1138"/>
                  <a:pt x="1063" y="1132"/>
                  <a:pt x="1201" y="1152"/>
                </a:cubicBezTo>
              </a:path>
            </a:pathLst>
          </a:custGeom>
          <a:noFill/>
          <a:ln w="25400">
            <a:solidFill>
              <a:srgbClr val="5F5F5F"/>
            </a:solidFill>
            <a:round/>
            <a:headEnd/>
            <a:tailEnd/>
          </a:ln>
        </p:spPr>
        <p:txBody>
          <a:bodyPr/>
          <a:lstStyle/>
          <a:p>
            <a:endParaRPr lang="da-DK"/>
          </a:p>
        </p:txBody>
      </p:sp>
      <p:sp>
        <p:nvSpPr>
          <p:cNvPr id="21515" name="Line 15"/>
          <p:cNvSpPr>
            <a:spLocks noChangeShapeType="1"/>
          </p:cNvSpPr>
          <p:nvPr/>
        </p:nvSpPr>
        <p:spPr bwMode="auto">
          <a:xfrm flipH="1">
            <a:off x="6781801" y="3570288"/>
            <a:ext cx="587375" cy="0"/>
          </a:xfrm>
          <a:prstGeom prst="line">
            <a:avLst/>
          </a:prstGeom>
          <a:noFill/>
          <a:ln w="9525">
            <a:solidFill>
              <a:srgbClr val="5F5F5F"/>
            </a:solidFill>
            <a:prstDash val="dash"/>
            <a:round/>
            <a:headEnd/>
            <a:tailEnd/>
          </a:ln>
        </p:spPr>
        <p:txBody>
          <a:bodyPr/>
          <a:lstStyle/>
          <a:p>
            <a:endParaRPr lang="da-DK"/>
          </a:p>
        </p:txBody>
      </p:sp>
      <p:sp>
        <p:nvSpPr>
          <p:cNvPr id="21516" name="Line 16"/>
          <p:cNvSpPr>
            <a:spLocks noChangeShapeType="1"/>
          </p:cNvSpPr>
          <p:nvPr/>
        </p:nvSpPr>
        <p:spPr bwMode="auto">
          <a:xfrm>
            <a:off x="7369175" y="3570288"/>
            <a:ext cx="0" cy="2417762"/>
          </a:xfrm>
          <a:prstGeom prst="line">
            <a:avLst/>
          </a:prstGeom>
          <a:noFill/>
          <a:ln w="9525">
            <a:solidFill>
              <a:srgbClr val="5F5F5F"/>
            </a:solidFill>
            <a:prstDash val="dash"/>
            <a:round/>
            <a:headEnd/>
            <a:tailEnd/>
          </a:ln>
        </p:spPr>
        <p:txBody>
          <a:bodyPr/>
          <a:lstStyle/>
          <a:p>
            <a:endParaRPr lang="da-DK"/>
          </a:p>
        </p:txBody>
      </p:sp>
      <p:sp>
        <p:nvSpPr>
          <p:cNvPr id="21517" name="Line 17"/>
          <p:cNvSpPr>
            <a:spLocks noChangeShapeType="1"/>
          </p:cNvSpPr>
          <p:nvPr/>
        </p:nvSpPr>
        <p:spPr bwMode="auto">
          <a:xfrm flipH="1">
            <a:off x="6777039" y="4251325"/>
            <a:ext cx="1577975" cy="0"/>
          </a:xfrm>
          <a:prstGeom prst="line">
            <a:avLst/>
          </a:prstGeom>
          <a:noFill/>
          <a:ln w="9525">
            <a:solidFill>
              <a:srgbClr val="5F5F5F"/>
            </a:solidFill>
            <a:prstDash val="dash"/>
            <a:round/>
            <a:headEnd/>
            <a:tailEnd/>
          </a:ln>
        </p:spPr>
        <p:txBody>
          <a:bodyPr/>
          <a:lstStyle/>
          <a:p>
            <a:endParaRPr lang="da-DK"/>
          </a:p>
        </p:txBody>
      </p:sp>
      <p:sp>
        <p:nvSpPr>
          <p:cNvPr id="21518" name="Line 18"/>
          <p:cNvSpPr>
            <a:spLocks noChangeShapeType="1"/>
          </p:cNvSpPr>
          <p:nvPr/>
        </p:nvSpPr>
        <p:spPr bwMode="auto">
          <a:xfrm>
            <a:off x="8355013" y="4251326"/>
            <a:ext cx="0" cy="1736725"/>
          </a:xfrm>
          <a:prstGeom prst="line">
            <a:avLst/>
          </a:prstGeom>
          <a:noFill/>
          <a:ln w="9525">
            <a:solidFill>
              <a:srgbClr val="5F5F5F"/>
            </a:solidFill>
            <a:prstDash val="dash"/>
            <a:round/>
            <a:headEnd/>
            <a:tailEnd/>
          </a:ln>
        </p:spPr>
        <p:txBody>
          <a:bodyPr/>
          <a:lstStyle/>
          <a:p>
            <a:endParaRPr lang="da-DK"/>
          </a:p>
        </p:txBody>
      </p:sp>
      <p:sp>
        <p:nvSpPr>
          <p:cNvPr id="21519" name="Text Box 19"/>
          <p:cNvSpPr txBox="1">
            <a:spLocks noChangeArrowheads="1"/>
          </p:cNvSpPr>
          <p:nvPr/>
        </p:nvSpPr>
        <p:spPr bwMode="auto">
          <a:xfrm>
            <a:off x="6634164" y="1981200"/>
            <a:ext cx="293687" cy="336550"/>
          </a:xfrm>
          <a:prstGeom prst="rect">
            <a:avLst/>
          </a:prstGeom>
          <a:noFill/>
          <a:ln w="9525">
            <a:noFill/>
            <a:miter lim="800000"/>
            <a:headEnd/>
            <a:tailEnd/>
          </a:ln>
        </p:spPr>
        <p:txBody>
          <a:bodyPr>
            <a:spAutoFit/>
          </a:bodyPr>
          <a:lstStyle/>
          <a:p>
            <a:pPr>
              <a:spcBef>
                <a:spcPct val="50000"/>
              </a:spcBef>
            </a:pPr>
            <a:r>
              <a:rPr lang="en-US" sz="1600" dirty="0"/>
              <a:t>$</a:t>
            </a:r>
          </a:p>
        </p:txBody>
      </p:sp>
      <p:sp>
        <p:nvSpPr>
          <p:cNvPr id="21520" name="Rectangle 20"/>
          <p:cNvSpPr>
            <a:spLocks noChangeArrowheads="1"/>
          </p:cNvSpPr>
          <p:nvPr/>
        </p:nvSpPr>
        <p:spPr bwMode="auto">
          <a:xfrm>
            <a:off x="10253663" y="5740401"/>
            <a:ext cx="247650" cy="366713"/>
          </a:xfrm>
          <a:prstGeom prst="rect">
            <a:avLst/>
          </a:prstGeom>
          <a:noFill/>
          <a:ln w="9525">
            <a:noFill/>
            <a:miter lim="800000"/>
            <a:headEnd/>
            <a:tailEnd/>
          </a:ln>
        </p:spPr>
        <p:txBody>
          <a:bodyPr>
            <a:spAutoFit/>
          </a:bodyPr>
          <a:lstStyle/>
          <a:p>
            <a:pPr>
              <a:spcBef>
                <a:spcPct val="50000"/>
              </a:spcBef>
            </a:pPr>
            <a:r>
              <a:rPr lang="en-US" i="1" dirty="0"/>
              <a:t>I</a:t>
            </a:r>
          </a:p>
        </p:txBody>
      </p:sp>
      <p:sp>
        <p:nvSpPr>
          <p:cNvPr id="21521" name="Text Box 21"/>
          <p:cNvSpPr txBox="1">
            <a:spLocks noChangeArrowheads="1"/>
          </p:cNvSpPr>
          <p:nvPr/>
        </p:nvSpPr>
        <p:spPr bwMode="auto">
          <a:xfrm>
            <a:off x="9132889" y="4251326"/>
            <a:ext cx="663575" cy="366713"/>
          </a:xfrm>
          <a:prstGeom prst="rect">
            <a:avLst/>
          </a:prstGeom>
          <a:noFill/>
          <a:ln w="9525">
            <a:noFill/>
            <a:miter lim="800000"/>
            <a:headEnd/>
            <a:tailEnd/>
          </a:ln>
        </p:spPr>
        <p:txBody>
          <a:bodyPr>
            <a:spAutoFit/>
          </a:bodyPr>
          <a:lstStyle/>
          <a:p>
            <a:pPr>
              <a:spcBef>
                <a:spcPct val="50000"/>
              </a:spcBef>
            </a:pPr>
            <a:endParaRPr lang="da-DK"/>
          </a:p>
        </p:txBody>
      </p:sp>
      <p:sp>
        <p:nvSpPr>
          <p:cNvPr id="21522" name="Text Box 22"/>
          <p:cNvSpPr txBox="1">
            <a:spLocks noChangeArrowheads="1"/>
          </p:cNvSpPr>
          <p:nvPr/>
        </p:nvSpPr>
        <p:spPr bwMode="auto">
          <a:xfrm>
            <a:off x="9132889" y="4313238"/>
            <a:ext cx="923925" cy="304800"/>
          </a:xfrm>
          <a:prstGeom prst="rect">
            <a:avLst/>
          </a:prstGeom>
          <a:noFill/>
          <a:ln w="9525">
            <a:noFill/>
            <a:miter lim="800000"/>
            <a:headEnd/>
            <a:tailEnd/>
          </a:ln>
        </p:spPr>
        <p:txBody>
          <a:bodyPr>
            <a:spAutoFit/>
          </a:bodyPr>
          <a:lstStyle/>
          <a:p>
            <a:pPr>
              <a:spcBef>
                <a:spcPct val="50000"/>
              </a:spcBef>
            </a:pPr>
            <a:r>
              <a:rPr lang="en-US" sz="1400" dirty="0"/>
              <a:t>Case 2</a:t>
            </a:r>
          </a:p>
        </p:txBody>
      </p:sp>
      <p:sp>
        <p:nvSpPr>
          <p:cNvPr id="21523" name="Text Box 23"/>
          <p:cNvSpPr txBox="1">
            <a:spLocks noChangeArrowheads="1"/>
          </p:cNvSpPr>
          <p:nvPr/>
        </p:nvSpPr>
        <p:spPr bwMode="auto">
          <a:xfrm>
            <a:off x="9132889" y="5651500"/>
            <a:ext cx="923925" cy="304800"/>
          </a:xfrm>
          <a:prstGeom prst="rect">
            <a:avLst/>
          </a:prstGeom>
          <a:noFill/>
          <a:ln w="9525">
            <a:noFill/>
            <a:miter lim="800000"/>
            <a:headEnd/>
            <a:tailEnd/>
          </a:ln>
        </p:spPr>
        <p:txBody>
          <a:bodyPr>
            <a:spAutoFit/>
          </a:bodyPr>
          <a:lstStyle/>
          <a:p>
            <a:pPr>
              <a:spcBef>
                <a:spcPct val="50000"/>
              </a:spcBef>
            </a:pPr>
            <a:r>
              <a:rPr lang="en-US" sz="1400" dirty="0"/>
              <a:t>Case 1</a:t>
            </a:r>
          </a:p>
        </p:txBody>
      </p:sp>
      <p:sp>
        <p:nvSpPr>
          <p:cNvPr id="21524" name="Text Box 24"/>
          <p:cNvSpPr txBox="1">
            <a:spLocks noChangeArrowheads="1"/>
          </p:cNvSpPr>
          <p:nvPr/>
        </p:nvSpPr>
        <p:spPr bwMode="auto">
          <a:xfrm>
            <a:off x="6354764" y="4137025"/>
            <a:ext cx="422275" cy="451406"/>
          </a:xfrm>
          <a:prstGeom prst="rect">
            <a:avLst/>
          </a:prstGeom>
          <a:noFill/>
          <a:ln w="9525">
            <a:noFill/>
            <a:miter lim="800000"/>
            <a:headEnd/>
            <a:tailEnd/>
          </a:ln>
        </p:spPr>
        <p:txBody>
          <a:bodyPr>
            <a:spAutoFit/>
          </a:bodyPr>
          <a:lstStyle/>
          <a:p>
            <a:pPr>
              <a:spcBef>
                <a:spcPct val="50000"/>
              </a:spcBef>
            </a:pPr>
            <a:r>
              <a:rPr lang="en-US" sz="1400" dirty="0"/>
              <a:t>$</a:t>
            </a:r>
            <a:r>
              <a:rPr lang="en-US" sz="1400" baseline="30000" dirty="0"/>
              <a:t>*</a:t>
            </a:r>
            <a:r>
              <a:rPr lang="en-US" sz="1400" baseline="-25000" dirty="0"/>
              <a:t>2</a:t>
            </a:r>
          </a:p>
        </p:txBody>
      </p:sp>
      <p:sp>
        <p:nvSpPr>
          <p:cNvPr id="21525" name="Text Box 26"/>
          <p:cNvSpPr txBox="1">
            <a:spLocks noChangeArrowheads="1"/>
          </p:cNvSpPr>
          <p:nvPr/>
        </p:nvSpPr>
        <p:spPr bwMode="auto">
          <a:xfrm>
            <a:off x="6296026" y="3417888"/>
            <a:ext cx="422275" cy="451406"/>
          </a:xfrm>
          <a:prstGeom prst="rect">
            <a:avLst/>
          </a:prstGeom>
          <a:noFill/>
          <a:ln w="9525">
            <a:noFill/>
            <a:miter lim="800000"/>
            <a:headEnd/>
            <a:tailEnd/>
          </a:ln>
        </p:spPr>
        <p:txBody>
          <a:bodyPr>
            <a:spAutoFit/>
          </a:bodyPr>
          <a:lstStyle/>
          <a:p>
            <a:pPr>
              <a:spcBef>
                <a:spcPct val="50000"/>
              </a:spcBef>
            </a:pPr>
            <a:r>
              <a:rPr lang="en-US" sz="1400" dirty="0"/>
              <a:t>$</a:t>
            </a:r>
            <a:r>
              <a:rPr lang="en-US" sz="1400" baseline="30000" dirty="0"/>
              <a:t>*</a:t>
            </a:r>
            <a:r>
              <a:rPr lang="en-US" sz="1400" baseline="-25000" dirty="0"/>
              <a:t>1</a:t>
            </a:r>
          </a:p>
        </p:txBody>
      </p:sp>
      <p:sp>
        <p:nvSpPr>
          <p:cNvPr id="21526" name="Text Box 27"/>
          <p:cNvSpPr txBox="1">
            <a:spLocks noChangeArrowheads="1"/>
          </p:cNvSpPr>
          <p:nvPr/>
        </p:nvSpPr>
        <p:spPr bwMode="auto">
          <a:xfrm>
            <a:off x="7143751" y="5988050"/>
            <a:ext cx="422275" cy="304800"/>
          </a:xfrm>
          <a:prstGeom prst="rect">
            <a:avLst/>
          </a:prstGeom>
          <a:noFill/>
          <a:ln w="9525">
            <a:noFill/>
            <a:miter lim="800000"/>
            <a:headEnd/>
            <a:tailEnd/>
          </a:ln>
        </p:spPr>
        <p:txBody>
          <a:bodyPr>
            <a:spAutoFit/>
          </a:bodyPr>
          <a:lstStyle/>
          <a:p>
            <a:pPr>
              <a:spcBef>
                <a:spcPct val="50000"/>
              </a:spcBef>
            </a:pPr>
            <a:r>
              <a:rPr lang="en-US" sz="1400" i="1" dirty="0"/>
              <a:t>I</a:t>
            </a:r>
            <a:r>
              <a:rPr lang="en-US" sz="1400" baseline="30000" dirty="0"/>
              <a:t>*</a:t>
            </a:r>
            <a:r>
              <a:rPr lang="en-US" sz="1400" baseline="-25000" dirty="0"/>
              <a:t>1</a:t>
            </a:r>
          </a:p>
        </p:txBody>
      </p:sp>
      <p:sp>
        <p:nvSpPr>
          <p:cNvPr id="21527" name="Text Box 28"/>
          <p:cNvSpPr txBox="1">
            <a:spLocks noChangeArrowheads="1"/>
          </p:cNvSpPr>
          <p:nvPr/>
        </p:nvSpPr>
        <p:spPr bwMode="auto">
          <a:xfrm>
            <a:off x="8143876" y="5988050"/>
            <a:ext cx="422275" cy="304800"/>
          </a:xfrm>
          <a:prstGeom prst="rect">
            <a:avLst/>
          </a:prstGeom>
          <a:noFill/>
          <a:ln w="9525">
            <a:noFill/>
            <a:miter lim="800000"/>
            <a:headEnd/>
            <a:tailEnd/>
          </a:ln>
        </p:spPr>
        <p:txBody>
          <a:bodyPr>
            <a:spAutoFit/>
          </a:bodyPr>
          <a:lstStyle/>
          <a:p>
            <a:pPr>
              <a:spcBef>
                <a:spcPct val="50000"/>
              </a:spcBef>
            </a:pPr>
            <a:r>
              <a:rPr lang="en-US" sz="1400" i="1" dirty="0"/>
              <a:t>I</a:t>
            </a:r>
            <a:r>
              <a:rPr lang="en-US" sz="1400" baseline="30000" dirty="0"/>
              <a:t>*</a:t>
            </a:r>
            <a:r>
              <a:rPr lang="en-US" sz="1400" baseline="-25000" dirty="0"/>
              <a:t>2</a:t>
            </a:r>
          </a:p>
        </p:txBody>
      </p:sp>
      <p:sp>
        <p:nvSpPr>
          <p:cNvPr id="21528" name="Rectangle 30"/>
          <p:cNvSpPr>
            <a:spLocks noChangeArrowheads="1"/>
          </p:cNvSpPr>
          <p:nvPr/>
        </p:nvSpPr>
        <p:spPr bwMode="auto">
          <a:xfrm>
            <a:off x="11042248" y="6214417"/>
            <a:ext cx="475063" cy="276999"/>
          </a:xfrm>
          <a:prstGeom prst="rect">
            <a:avLst/>
          </a:prstGeom>
          <a:noFill/>
          <a:ln w="9525">
            <a:noFill/>
            <a:miter lim="800000"/>
            <a:headEnd/>
            <a:tailEnd/>
          </a:ln>
        </p:spPr>
        <p:txBody>
          <a:bodyPr wrap="square">
            <a:spAutoFit/>
          </a:bodyPr>
          <a:lstStyle/>
          <a:p>
            <a:fld id="{FAE67A49-DE3E-427B-9FF3-C7494EC23C72}" type="slidenum">
              <a:rPr lang="en-US" sz="1200"/>
              <a:pPr/>
              <a:t>20</a:t>
            </a:fld>
            <a:endParaRPr lang="en-US" sz="1200" dirty="0"/>
          </a:p>
        </p:txBody>
      </p:sp>
    </p:spTree>
    <p:extLst>
      <p:ext uri="{BB962C8B-B14F-4D97-AF65-F5344CB8AC3E}">
        <p14:creationId xmlns:p14="http://schemas.microsoft.com/office/powerpoint/2010/main" val="1837071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81200" y="533400"/>
            <a:ext cx="8229600" cy="874486"/>
          </a:xfrm>
        </p:spPr>
        <p:txBody>
          <a:bodyPr>
            <a:normAutofit/>
          </a:bodyPr>
          <a:lstStyle/>
          <a:p>
            <a:pPr algn="ctr" eaLnBrk="1" hangingPunct="1"/>
            <a:r>
              <a:rPr lang="en-US" dirty="0">
                <a:solidFill>
                  <a:srgbClr val="960000"/>
                </a:solidFill>
              </a:rPr>
              <a:t>Alternative Models of Behavior</a:t>
            </a:r>
          </a:p>
        </p:txBody>
      </p:sp>
      <p:sp>
        <p:nvSpPr>
          <p:cNvPr id="22531" name="Rectangle 3"/>
          <p:cNvSpPr>
            <a:spLocks noGrp="1" noChangeArrowheads="1"/>
          </p:cNvSpPr>
          <p:nvPr>
            <p:ph idx="1"/>
          </p:nvPr>
        </p:nvSpPr>
        <p:spPr>
          <a:xfrm>
            <a:off x="1981200" y="1676400"/>
            <a:ext cx="8178800" cy="4381500"/>
          </a:xfrm>
        </p:spPr>
        <p:txBody>
          <a:bodyPr>
            <a:normAutofit fontScale="92500" lnSpcReduction="10000"/>
          </a:bodyPr>
          <a:lstStyle/>
          <a:p>
            <a:pPr eaLnBrk="1" hangingPunct="1"/>
            <a:r>
              <a:rPr lang="en-US" sz="2800" dirty="0">
                <a:solidFill>
                  <a:srgbClr val="960000"/>
                </a:solidFill>
              </a:rPr>
              <a:t>Happy-is-productive</a:t>
            </a:r>
          </a:p>
          <a:p>
            <a:pPr lvl="1" eaLnBrk="1" hangingPunct="1">
              <a:buFontTx/>
              <a:buChar char="•"/>
            </a:pPr>
            <a:r>
              <a:rPr lang="en-US" sz="2400" dirty="0">
                <a:solidFill>
                  <a:srgbClr val="960000"/>
                </a:solidFill>
              </a:rPr>
              <a:t>promote employee satisfaction</a:t>
            </a:r>
          </a:p>
          <a:p>
            <a:pPr eaLnBrk="1" hangingPunct="1"/>
            <a:r>
              <a:rPr lang="en-US" sz="2800" dirty="0">
                <a:solidFill>
                  <a:srgbClr val="960000"/>
                </a:solidFill>
              </a:rPr>
              <a:t>Good citizen</a:t>
            </a:r>
          </a:p>
          <a:p>
            <a:pPr lvl="1" eaLnBrk="1" hangingPunct="1">
              <a:buFontTx/>
              <a:buChar char="•"/>
            </a:pPr>
            <a:r>
              <a:rPr lang="en-US" sz="2400" dirty="0">
                <a:solidFill>
                  <a:srgbClr val="960000"/>
                </a:solidFill>
              </a:rPr>
              <a:t>communicate, facilitate, and praise</a:t>
            </a:r>
          </a:p>
          <a:p>
            <a:pPr eaLnBrk="1" hangingPunct="1"/>
            <a:r>
              <a:rPr lang="en-US" sz="2800" dirty="0">
                <a:solidFill>
                  <a:srgbClr val="960000"/>
                </a:solidFill>
              </a:rPr>
              <a:t>Product of the environment</a:t>
            </a:r>
          </a:p>
          <a:p>
            <a:pPr lvl="1" eaLnBrk="1" hangingPunct="1">
              <a:buFontTx/>
              <a:buChar char="•"/>
            </a:pPr>
            <a:r>
              <a:rPr lang="en-US" sz="2400" dirty="0">
                <a:solidFill>
                  <a:srgbClr val="960000"/>
                </a:solidFill>
              </a:rPr>
              <a:t>hire the right people</a:t>
            </a:r>
          </a:p>
          <a:p>
            <a:pPr eaLnBrk="1" hangingPunct="1"/>
            <a:endParaRPr lang="en-US" sz="2800" dirty="0">
              <a:solidFill>
                <a:srgbClr val="960000"/>
              </a:solidFill>
            </a:endParaRPr>
          </a:p>
          <a:p>
            <a:pPr eaLnBrk="1" hangingPunct="1"/>
            <a:r>
              <a:rPr lang="en-US" sz="2800" dirty="0">
                <a:solidFill>
                  <a:srgbClr val="960000"/>
                </a:solidFill>
              </a:rPr>
              <a:t>Economic model/man is used throughout this book:</a:t>
            </a:r>
          </a:p>
          <a:p>
            <a:pPr lvl="1" eaLnBrk="1" hangingPunct="1">
              <a:buFontTx/>
              <a:buChar char="•"/>
            </a:pPr>
            <a:r>
              <a:rPr lang="en-US" sz="2400" dirty="0">
                <a:solidFill>
                  <a:srgbClr val="960000"/>
                </a:solidFill>
              </a:rPr>
              <a:t>change relevant costs and benefits (MR &gt; MC)</a:t>
            </a:r>
          </a:p>
          <a:p>
            <a:pPr lvl="1" eaLnBrk="1" hangingPunct="1">
              <a:buFontTx/>
              <a:buChar char="•"/>
            </a:pPr>
            <a:r>
              <a:rPr lang="en-US" sz="2400" dirty="0">
                <a:solidFill>
                  <a:srgbClr val="960000"/>
                </a:solidFill>
              </a:rPr>
              <a:t>incentives matter</a:t>
            </a:r>
          </a:p>
        </p:txBody>
      </p:sp>
      <p:sp>
        <p:nvSpPr>
          <p:cNvPr id="22532" name="Rectangle 5"/>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131662F1-78AA-4A3D-BACD-D79E2E7B7100}" type="slidenum">
              <a:rPr lang="en-US" sz="1200"/>
              <a:pPr/>
              <a:t>21</a:t>
            </a:fld>
            <a:endParaRPr lang="en-US" sz="1200" dirty="0"/>
          </a:p>
        </p:txBody>
      </p:sp>
      <p:sp>
        <p:nvSpPr>
          <p:cNvPr id="2" name="Rektangel 1">
            <a:extLst>
              <a:ext uri="{FF2B5EF4-FFF2-40B4-BE49-F238E27FC236}">
                <a16:creationId xmlns:a16="http://schemas.microsoft.com/office/drawing/2014/main" id="{E0B5E096-BC09-8A69-4FFE-022B6DBAA042}"/>
              </a:ext>
            </a:extLst>
          </p:cNvPr>
          <p:cNvSpPr/>
          <p:nvPr/>
        </p:nvSpPr>
        <p:spPr>
          <a:xfrm>
            <a:off x="1846907" y="4390931"/>
            <a:ext cx="8074969" cy="18852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131928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1981200" y="700089"/>
            <a:ext cx="8229600" cy="765855"/>
          </a:xfrm>
        </p:spPr>
        <p:txBody>
          <a:bodyPr>
            <a:normAutofit/>
          </a:bodyPr>
          <a:lstStyle/>
          <a:p>
            <a:pPr algn="ctr" eaLnBrk="1" hangingPunct="1"/>
            <a:r>
              <a:rPr lang="en-US" sz="4000" dirty="0">
                <a:solidFill>
                  <a:srgbClr val="960000"/>
                </a:solidFill>
              </a:rPr>
              <a:t>Decision Making Under Uncertainty</a:t>
            </a:r>
          </a:p>
        </p:txBody>
      </p:sp>
      <p:sp>
        <p:nvSpPr>
          <p:cNvPr id="4101" name="Rectangle 3"/>
          <p:cNvSpPr>
            <a:spLocks noGrp="1" noChangeArrowheads="1"/>
          </p:cNvSpPr>
          <p:nvPr>
            <p:ph idx="1"/>
          </p:nvPr>
        </p:nvSpPr>
        <p:spPr>
          <a:xfrm>
            <a:off x="2002883" y="1983563"/>
            <a:ext cx="8229600" cy="4292600"/>
          </a:xfrm>
        </p:spPr>
        <p:txBody>
          <a:bodyPr/>
          <a:lstStyle/>
          <a:p>
            <a:pPr eaLnBrk="1" hangingPunct="1">
              <a:lnSpc>
                <a:spcPct val="90000"/>
              </a:lnSpc>
            </a:pPr>
            <a:r>
              <a:rPr lang="en-US" dirty="0">
                <a:solidFill>
                  <a:srgbClr val="960000"/>
                </a:solidFill>
              </a:rPr>
              <a:t>Since nothing is guaranteed, we make decisions based on the </a:t>
            </a:r>
            <a:r>
              <a:rPr lang="en-US" i="1" dirty="0">
                <a:solidFill>
                  <a:srgbClr val="960000"/>
                </a:solidFill>
              </a:rPr>
              <a:t>expected value</a:t>
            </a:r>
            <a:r>
              <a:rPr lang="en-US" dirty="0">
                <a:solidFill>
                  <a:srgbClr val="960000"/>
                </a:solidFill>
              </a:rPr>
              <a:t> of the outcome:</a:t>
            </a:r>
          </a:p>
          <a:p>
            <a:pPr marL="0" indent="0" eaLnBrk="1" hangingPunct="1">
              <a:lnSpc>
                <a:spcPct val="90000"/>
              </a:lnSpc>
              <a:buNone/>
            </a:pPr>
            <a:endParaRPr lang="en-US" dirty="0"/>
          </a:p>
          <a:p>
            <a:pPr eaLnBrk="1" hangingPunct="1">
              <a:lnSpc>
                <a:spcPct val="90000"/>
              </a:lnSpc>
            </a:pPr>
            <a:r>
              <a:rPr lang="en-US" dirty="0">
                <a:solidFill>
                  <a:srgbClr val="960000"/>
                </a:solidFill>
              </a:rPr>
              <a:t>The amount of risk is measured by the standard deviation of the value of the outcomes:</a:t>
            </a:r>
          </a:p>
          <a:p>
            <a:pPr eaLnBrk="1" hangingPunct="1">
              <a:lnSpc>
                <a:spcPct val="90000"/>
              </a:lnSpc>
            </a:pPr>
            <a:endParaRPr lang="en-US" dirty="0">
              <a:solidFill>
                <a:schemeClr val="tx2">
                  <a:lumMod val="75000"/>
                </a:schemeClr>
              </a:solidFill>
            </a:endParaRPr>
          </a:p>
          <a:p>
            <a:pPr eaLnBrk="1" hangingPunct="1">
              <a:lnSpc>
                <a:spcPct val="90000"/>
              </a:lnSpc>
            </a:pPr>
            <a:endParaRPr lang="en-US" dirty="0">
              <a:solidFill>
                <a:schemeClr val="tx2">
                  <a:lumMod val="75000"/>
                </a:schemeClr>
              </a:solidFill>
            </a:endParaRPr>
          </a:p>
          <a:p>
            <a:pPr eaLnBrk="1" hangingPunct="1">
              <a:lnSpc>
                <a:spcPct val="90000"/>
              </a:lnSpc>
            </a:pPr>
            <a:r>
              <a:rPr lang="en-US" dirty="0">
                <a:solidFill>
                  <a:srgbClr val="960000"/>
                </a:solidFill>
              </a:rPr>
              <a:t>People choose a balance between expected value (return) and risk</a:t>
            </a:r>
          </a:p>
          <a:p>
            <a:pPr algn="ctr" eaLnBrk="1" hangingPunct="1">
              <a:lnSpc>
                <a:spcPct val="90000"/>
              </a:lnSpc>
              <a:buFontTx/>
              <a:buNone/>
            </a:pPr>
            <a:endParaRPr lang="en-US" dirty="0"/>
          </a:p>
        </p:txBody>
      </p:sp>
      <p:graphicFrame>
        <p:nvGraphicFramePr>
          <p:cNvPr id="4098" name="Object 4"/>
          <p:cNvGraphicFramePr>
            <a:graphicFrameLocks noChangeAspect="1"/>
          </p:cNvGraphicFramePr>
          <p:nvPr>
            <p:extLst>
              <p:ext uri="{D42A27DB-BD31-4B8C-83A1-F6EECF244321}">
                <p14:modId xmlns:p14="http://schemas.microsoft.com/office/powerpoint/2010/main" val="3119913021"/>
              </p:ext>
            </p:extLst>
          </p:nvPr>
        </p:nvGraphicFramePr>
        <p:xfrm>
          <a:off x="5170488" y="2610471"/>
          <a:ext cx="2133600" cy="555625"/>
        </p:xfrm>
        <a:graphic>
          <a:graphicData uri="http://schemas.openxmlformats.org/presentationml/2006/ole">
            <mc:AlternateContent xmlns:mc="http://schemas.openxmlformats.org/markup-compatibility/2006">
              <mc:Choice xmlns:v="urn:schemas-microsoft-com:vml" Requires="v">
                <p:oleObj name="Ligning" r:id="rId2" imgW="876240" imgH="228600" progId="Equation.3">
                  <p:embed/>
                </p:oleObj>
              </mc:Choice>
              <mc:Fallback>
                <p:oleObj name="Ligning" r:id="rId2" imgW="876240" imgH="228600" progId="Equation.3">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488" y="2610471"/>
                        <a:ext cx="2133600"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5"/>
          <p:cNvGraphicFramePr>
            <a:graphicFrameLocks noChangeAspect="1"/>
          </p:cNvGraphicFramePr>
          <p:nvPr>
            <p:extLst>
              <p:ext uri="{D42A27DB-BD31-4B8C-83A1-F6EECF244321}">
                <p14:modId xmlns:p14="http://schemas.microsoft.com/office/powerpoint/2010/main" val="2223678565"/>
              </p:ext>
            </p:extLst>
          </p:nvPr>
        </p:nvGraphicFramePr>
        <p:xfrm>
          <a:off x="5170488" y="3758481"/>
          <a:ext cx="2792412" cy="648046"/>
        </p:xfrm>
        <a:graphic>
          <a:graphicData uri="http://schemas.openxmlformats.org/presentationml/2006/ole">
            <mc:AlternateContent xmlns:mc="http://schemas.openxmlformats.org/markup-compatibility/2006">
              <mc:Choice xmlns:v="urn:schemas-microsoft-com:vml" Requires="v">
                <p:oleObj name="Equation" r:id="rId4" imgW="1295280" imgH="266400" progId="Equation.3">
                  <p:embed/>
                </p:oleObj>
              </mc:Choice>
              <mc:Fallback>
                <p:oleObj name="Equation" r:id="rId4" imgW="1295280" imgH="266400" progId="Equation.3">
                  <p:embed/>
                  <p:pic>
                    <p:nvPicPr>
                      <p:cNvPr id="409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70488" y="3758481"/>
                        <a:ext cx="2792412" cy="6480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Rectangle 7"/>
          <p:cNvSpPr>
            <a:spLocks noChangeArrowheads="1"/>
          </p:cNvSpPr>
          <p:nvPr/>
        </p:nvSpPr>
        <p:spPr bwMode="auto">
          <a:xfrm>
            <a:off x="9921876" y="5999164"/>
            <a:ext cx="416781" cy="276999"/>
          </a:xfrm>
          <a:prstGeom prst="rect">
            <a:avLst/>
          </a:prstGeom>
          <a:noFill/>
          <a:ln w="9525">
            <a:noFill/>
            <a:miter lim="800000"/>
            <a:headEnd/>
            <a:tailEnd/>
          </a:ln>
        </p:spPr>
        <p:txBody>
          <a:bodyPr wrap="none">
            <a:spAutoFit/>
          </a:bodyPr>
          <a:lstStyle/>
          <a:p>
            <a:fld id="{085AB752-9C0F-4F44-917B-85DD8CC0F78C}" type="slidenum">
              <a:rPr lang="en-US" sz="1200"/>
              <a:pPr/>
              <a:t>22</a:t>
            </a:fld>
            <a:endParaRPr lang="en-US" sz="1200" dirty="0"/>
          </a:p>
        </p:txBody>
      </p:sp>
      <p:sp>
        <p:nvSpPr>
          <p:cNvPr id="7" name="Tekstboks 6"/>
          <p:cNvSpPr txBox="1"/>
          <p:nvPr/>
        </p:nvSpPr>
        <p:spPr>
          <a:xfrm>
            <a:off x="10579261" y="4082504"/>
            <a:ext cx="1612739" cy="1600438"/>
          </a:xfrm>
          <a:prstGeom prst="rect">
            <a:avLst/>
          </a:prstGeom>
          <a:noFill/>
          <a:ln w="22225">
            <a:solidFill>
              <a:schemeClr val="accent1">
                <a:shade val="15000"/>
              </a:schemeClr>
            </a:solidFill>
          </a:ln>
        </p:spPr>
        <p:txBody>
          <a:bodyPr wrap="square" rtlCol="0">
            <a:spAutoFit/>
          </a:bodyPr>
          <a:lstStyle/>
          <a:p>
            <a:r>
              <a:rPr lang="da-DK" sz="1400" dirty="0">
                <a:solidFill>
                  <a:srgbClr val="960000"/>
                </a:solidFill>
              </a:rPr>
              <a:t>Hvor</a:t>
            </a:r>
          </a:p>
          <a:p>
            <a:r>
              <a:rPr lang="da-DK" sz="1400" dirty="0">
                <a:solidFill>
                  <a:srgbClr val="960000"/>
                </a:solidFill>
              </a:rPr>
              <a:t>1) P = %</a:t>
            </a:r>
          </a:p>
          <a:p>
            <a:r>
              <a:rPr lang="da-DK" sz="1400" dirty="0">
                <a:solidFill>
                  <a:srgbClr val="960000"/>
                </a:solidFill>
              </a:rPr>
              <a:t>2) V = </a:t>
            </a:r>
            <a:r>
              <a:rPr lang="da-DK" sz="1400" dirty="0" err="1">
                <a:solidFill>
                  <a:srgbClr val="960000"/>
                </a:solidFill>
              </a:rPr>
              <a:t>value</a:t>
            </a:r>
            <a:endParaRPr lang="da-DK" sz="1400" dirty="0">
              <a:solidFill>
                <a:srgbClr val="960000"/>
              </a:solidFill>
            </a:endParaRPr>
          </a:p>
          <a:p>
            <a:r>
              <a:rPr lang="da-DK" sz="1400" dirty="0">
                <a:solidFill>
                  <a:srgbClr val="960000"/>
                </a:solidFill>
              </a:rPr>
              <a:t>3) Standard-afvigelsen er kvadratroden af variansen</a:t>
            </a:r>
          </a:p>
        </p:txBody>
      </p:sp>
    </p:spTree>
    <p:extLst>
      <p:ext uri="{BB962C8B-B14F-4D97-AF65-F5344CB8AC3E}">
        <p14:creationId xmlns:p14="http://schemas.microsoft.com/office/powerpoint/2010/main" val="1614622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024063" y="630238"/>
            <a:ext cx="8229600" cy="1143000"/>
          </a:xfrm>
        </p:spPr>
        <p:txBody>
          <a:bodyPr/>
          <a:lstStyle/>
          <a:p>
            <a:pPr eaLnBrk="1" hangingPunct="1"/>
            <a:r>
              <a:rPr lang="en-US" dirty="0">
                <a:solidFill>
                  <a:srgbClr val="960000"/>
                </a:solidFill>
              </a:rPr>
              <a:t>Risk Versus Return</a:t>
            </a:r>
          </a:p>
        </p:txBody>
      </p:sp>
      <p:sp>
        <p:nvSpPr>
          <p:cNvPr id="23555" name="Rectangle 3"/>
          <p:cNvSpPr>
            <a:spLocks noGrp="1" noChangeArrowheads="1"/>
          </p:cNvSpPr>
          <p:nvPr>
            <p:ph type="body" sz="half" idx="1"/>
          </p:nvPr>
        </p:nvSpPr>
        <p:spPr>
          <a:xfrm>
            <a:off x="1981200" y="2295526"/>
            <a:ext cx="3276600" cy="2676525"/>
          </a:xfrm>
        </p:spPr>
        <p:txBody>
          <a:bodyPr/>
          <a:lstStyle/>
          <a:p>
            <a:pPr eaLnBrk="1" hangingPunct="1">
              <a:buFontTx/>
              <a:buNone/>
            </a:pPr>
            <a:r>
              <a:rPr lang="en-US" sz="2400" dirty="0"/>
              <a:t>   </a:t>
            </a:r>
            <a:r>
              <a:rPr lang="en-US" sz="2400" dirty="0">
                <a:solidFill>
                  <a:srgbClr val="960000"/>
                </a:solidFill>
              </a:rPr>
              <a:t>This risk-averse individual prefers higher expected value but lower standard deviation (a measure of risk).</a:t>
            </a:r>
          </a:p>
        </p:txBody>
      </p:sp>
      <p:grpSp>
        <p:nvGrpSpPr>
          <p:cNvPr id="23556" name="Group 37"/>
          <p:cNvGrpSpPr>
            <a:grpSpLocks/>
          </p:cNvGrpSpPr>
          <p:nvPr/>
        </p:nvGrpSpPr>
        <p:grpSpPr bwMode="auto">
          <a:xfrm>
            <a:off x="5694364" y="1815307"/>
            <a:ext cx="4830763" cy="4794250"/>
            <a:chOff x="2641" y="1117"/>
            <a:chExt cx="3043" cy="3020"/>
          </a:xfrm>
        </p:grpSpPr>
        <p:sp>
          <p:nvSpPr>
            <p:cNvPr id="23558" name="Line 7"/>
            <p:cNvSpPr>
              <a:spLocks noChangeShapeType="1"/>
            </p:cNvSpPr>
            <p:nvPr/>
          </p:nvSpPr>
          <p:spPr bwMode="auto">
            <a:xfrm>
              <a:off x="3312" y="1535"/>
              <a:ext cx="0" cy="2237"/>
            </a:xfrm>
            <a:prstGeom prst="line">
              <a:avLst/>
            </a:prstGeom>
            <a:noFill/>
            <a:ln w="12700">
              <a:solidFill>
                <a:schemeClr val="tx1"/>
              </a:solidFill>
              <a:round/>
              <a:headEnd type="triangle" w="sm" len="sm"/>
              <a:tailEnd type="none" w="sm" len="sm"/>
            </a:ln>
          </p:spPr>
          <p:txBody>
            <a:bodyPr/>
            <a:lstStyle/>
            <a:p>
              <a:endParaRPr lang="da-DK"/>
            </a:p>
          </p:txBody>
        </p:sp>
        <p:sp>
          <p:nvSpPr>
            <p:cNvPr id="23559" name="Line 8"/>
            <p:cNvSpPr>
              <a:spLocks noChangeShapeType="1"/>
            </p:cNvSpPr>
            <p:nvPr/>
          </p:nvSpPr>
          <p:spPr bwMode="auto">
            <a:xfrm>
              <a:off x="3319" y="3772"/>
              <a:ext cx="2180" cy="0"/>
            </a:xfrm>
            <a:prstGeom prst="line">
              <a:avLst/>
            </a:prstGeom>
            <a:noFill/>
            <a:ln w="12700">
              <a:solidFill>
                <a:schemeClr val="tx1"/>
              </a:solidFill>
              <a:round/>
              <a:headEnd type="none" w="sm" len="sm"/>
              <a:tailEnd type="triangle" w="sm" len="sm"/>
            </a:ln>
          </p:spPr>
          <p:txBody>
            <a:bodyPr/>
            <a:lstStyle/>
            <a:p>
              <a:endParaRPr lang="da-DK"/>
            </a:p>
          </p:txBody>
        </p:sp>
        <p:sp>
          <p:nvSpPr>
            <p:cNvPr id="23560" name="Text Box 7"/>
            <p:cNvSpPr txBox="1">
              <a:spLocks noChangeArrowheads="1"/>
            </p:cNvSpPr>
            <p:nvPr/>
          </p:nvSpPr>
          <p:spPr bwMode="auto">
            <a:xfrm>
              <a:off x="3619" y="3945"/>
              <a:ext cx="1636" cy="192"/>
            </a:xfrm>
            <a:prstGeom prst="rect">
              <a:avLst/>
            </a:prstGeom>
            <a:noFill/>
            <a:ln w="9525">
              <a:noFill/>
              <a:miter lim="800000"/>
              <a:headEnd/>
              <a:tailEnd/>
            </a:ln>
          </p:spPr>
          <p:txBody>
            <a:bodyPr>
              <a:spAutoFit/>
            </a:bodyPr>
            <a:lstStyle/>
            <a:p>
              <a:pPr>
                <a:spcBef>
                  <a:spcPct val="50000"/>
                </a:spcBef>
              </a:pPr>
              <a:r>
                <a:rPr lang="en-US" sz="1400" dirty="0"/>
                <a:t>Standard deviation (in dollars)</a:t>
              </a:r>
            </a:p>
          </p:txBody>
        </p:sp>
        <p:sp>
          <p:nvSpPr>
            <p:cNvPr id="23561" name="Text Box 8"/>
            <p:cNvSpPr txBox="1">
              <a:spLocks noChangeArrowheads="1"/>
            </p:cNvSpPr>
            <p:nvPr/>
          </p:nvSpPr>
          <p:spPr bwMode="auto">
            <a:xfrm rot="10800000">
              <a:off x="2641" y="1905"/>
              <a:ext cx="252" cy="1462"/>
            </a:xfrm>
            <a:prstGeom prst="rect">
              <a:avLst/>
            </a:prstGeom>
            <a:noFill/>
            <a:ln w="9525">
              <a:noFill/>
              <a:miter lim="800000"/>
              <a:headEnd/>
              <a:tailEnd/>
            </a:ln>
          </p:spPr>
          <p:txBody>
            <a:bodyPr vert="eaVert">
              <a:spAutoFit/>
            </a:bodyPr>
            <a:lstStyle/>
            <a:p>
              <a:pPr>
                <a:spcBef>
                  <a:spcPct val="50000"/>
                </a:spcBef>
              </a:pPr>
              <a:r>
                <a:rPr lang="en-US" sz="1400" dirty="0"/>
                <a:t>Expected value (in dollars)</a:t>
              </a:r>
            </a:p>
          </p:txBody>
        </p:sp>
        <p:sp>
          <p:nvSpPr>
            <p:cNvPr id="23562" name="Freeform 12"/>
            <p:cNvSpPr>
              <a:spLocks/>
            </p:cNvSpPr>
            <p:nvPr/>
          </p:nvSpPr>
          <p:spPr bwMode="auto">
            <a:xfrm>
              <a:off x="3311" y="2824"/>
              <a:ext cx="1111" cy="844"/>
            </a:xfrm>
            <a:custGeom>
              <a:avLst/>
              <a:gdLst>
                <a:gd name="T0" fmla="*/ 0 w 1111"/>
                <a:gd name="T1" fmla="*/ 830 h 844"/>
                <a:gd name="T2" fmla="*/ 165 w 1111"/>
                <a:gd name="T3" fmla="*/ 837 h 844"/>
                <a:gd name="T4" fmla="*/ 364 w 1111"/>
                <a:gd name="T5" fmla="*/ 789 h 844"/>
                <a:gd name="T6" fmla="*/ 542 w 1111"/>
                <a:gd name="T7" fmla="*/ 700 h 844"/>
                <a:gd name="T8" fmla="*/ 741 w 1111"/>
                <a:gd name="T9" fmla="*/ 535 h 844"/>
                <a:gd name="T10" fmla="*/ 912 w 1111"/>
                <a:gd name="T11" fmla="*/ 336 h 844"/>
                <a:gd name="T12" fmla="*/ 1056 w 1111"/>
                <a:gd name="T13" fmla="*/ 103 h 844"/>
                <a:gd name="T14" fmla="*/ 1111 w 1111"/>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1111"/>
                <a:gd name="T25" fmla="*/ 0 h 844"/>
                <a:gd name="T26" fmla="*/ 1111 w 1111"/>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11" h="844">
                  <a:moveTo>
                    <a:pt x="0" y="830"/>
                  </a:moveTo>
                  <a:cubicBezTo>
                    <a:pt x="52" y="837"/>
                    <a:pt x="104" y="844"/>
                    <a:pt x="165" y="837"/>
                  </a:cubicBezTo>
                  <a:cubicBezTo>
                    <a:pt x="226" y="830"/>
                    <a:pt x="301" y="812"/>
                    <a:pt x="364" y="789"/>
                  </a:cubicBezTo>
                  <a:cubicBezTo>
                    <a:pt x="427" y="766"/>
                    <a:pt x="479" y="742"/>
                    <a:pt x="542" y="700"/>
                  </a:cubicBezTo>
                  <a:cubicBezTo>
                    <a:pt x="605" y="658"/>
                    <a:pt x="680" y="595"/>
                    <a:pt x="741" y="535"/>
                  </a:cubicBezTo>
                  <a:cubicBezTo>
                    <a:pt x="802" y="475"/>
                    <a:pt x="860" y="408"/>
                    <a:pt x="912" y="336"/>
                  </a:cubicBezTo>
                  <a:cubicBezTo>
                    <a:pt x="964" y="264"/>
                    <a:pt x="1023" y="159"/>
                    <a:pt x="1056" y="103"/>
                  </a:cubicBezTo>
                  <a:cubicBezTo>
                    <a:pt x="1089" y="47"/>
                    <a:pt x="1100" y="24"/>
                    <a:pt x="1111" y="0"/>
                  </a:cubicBezTo>
                </a:path>
              </a:pathLst>
            </a:custGeom>
            <a:noFill/>
            <a:ln w="25400">
              <a:solidFill>
                <a:srgbClr val="000066"/>
              </a:solidFill>
              <a:round/>
              <a:headEnd/>
              <a:tailEnd/>
            </a:ln>
          </p:spPr>
          <p:txBody>
            <a:bodyPr/>
            <a:lstStyle/>
            <a:p>
              <a:endParaRPr lang="da-DK"/>
            </a:p>
          </p:txBody>
        </p:sp>
        <p:sp>
          <p:nvSpPr>
            <p:cNvPr id="23563" name="Freeform 16"/>
            <p:cNvSpPr>
              <a:spLocks/>
            </p:cNvSpPr>
            <p:nvPr/>
          </p:nvSpPr>
          <p:spPr bwMode="auto">
            <a:xfrm>
              <a:off x="3313" y="1535"/>
              <a:ext cx="1049" cy="945"/>
            </a:xfrm>
            <a:custGeom>
              <a:avLst/>
              <a:gdLst>
                <a:gd name="T0" fmla="*/ 0 w 1049"/>
                <a:gd name="T1" fmla="*/ 933 h 945"/>
                <a:gd name="T2" fmla="*/ 117 w 1049"/>
                <a:gd name="T3" fmla="*/ 933 h 945"/>
                <a:gd name="T4" fmla="*/ 309 w 1049"/>
                <a:gd name="T5" fmla="*/ 858 h 945"/>
                <a:gd name="T6" fmla="*/ 521 w 1049"/>
                <a:gd name="T7" fmla="*/ 727 h 945"/>
                <a:gd name="T8" fmla="*/ 734 w 1049"/>
                <a:gd name="T9" fmla="*/ 515 h 945"/>
                <a:gd name="T10" fmla="*/ 878 w 1049"/>
                <a:gd name="T11" fmla="*/ 330 h 945"/>
                <a:gd name="T12" fmla="*/ 981 w 1049"/>
                <a:gd name="T13" fmla="*/ 158 h 945"/>
                <a:gd name="T14" fmla="*/ 1049 w 1049"/>
                <a:gd name="T15" fmla="*/ 0 h 945"/>
                <a:gd name="T16" fmla="*/ 0 60000 65536"/>
                <a:gd name="T17" fmla="*/ 0 60000 65536"/>
                <a:gd name="T18" fmla="*/ 0 60000 65536"/>
                <a:gd name="T19" fmla="*/ 0 60000 65536"/>
                <a:gd name="T20" fmla="*/ 0 60000 65536"/>
                <a:gd name="T21" fmla="*/ 0 60000 65536"/>
                <a:gd name="T22" fmla="*/ 0 60000 65536"/>
                <a:gd name="T23" fmla="*/ 0 60000 65536"/>
                <a:gd name="T24" fmla="*/ 0 w 1049"/>
                <a:gd name="T25" fmla="*/ 0 h 945"/>
                <a:gd name="T26" fmla="*/ 1049 w 1049"/>
                <a:gd name="T27" fmla="*/ 945 h 9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49" h="945">
                  <a:moveTo>
                    <a:pt x="0" y="933"/>
                  </a:moveTo>
                  <a:cubicBezTo>
                    <a:pt x="33" y="939"/>
                    <a:pt x="66" y="945"/>
                    <a:pt x="117" y="933"/>
                  </a:cubicBezTo>
                  <a:cubicBezTo>
                    <a:pt x="168" y="921"/>
                    <a:pt x="242" y="892"/>
                    <a:pt x="309" y="858"/>
                  </a:cubicBezTo>
                  <a:cubicBezTo>
                    <a:pt x="376" y="824"/>
                    <a:pt x="450" y="784"/>
                    <a:pt x="521" y="727"/>
                  </a:cubicBezTo>
                  <a:cubicBezTo>
                    <a:pt x="592" y="670"/>
                    <a:pt x="675" y="581"/>
                    <a:pt x="734" y="515"/>
                  </a:cubicBezTo>
                  <a:cubicBezTo>
                    <a:pt x="793" y="449"/>
                    <a:pt x="837" y="389"/>
                    <a:pt x="878" y="330"/>
                  </a:cubicBezTo>
                  <a:cubicBezTo>
                    <a:pt x="919" y="271"/>
                    <a:pt x="953" y="213"/>
                    <a:pt x="981" y="158"/>
                  </a:cubicBezTo>
                  <a:cubicBezTo>
                    <a:pt x="1009" y="103"/>
                    <a:pt x="1039" y="27"/>
                    <a:pt x="1049" y="0"/>
                  </a:cubicBezTo>
                </a:path>
              </a:pathLst>
            </a:custGeom>
            <a:noFill/>
            <a:ln w="25400">
              <a:solidFill>
                <a:srgbClr val="000066"/>
              </a:solidFill>
              <a:round/>
              <a:headEnd/>
              <a:tailEnd/>
            </a:ln>
          </p:spPr>
          <p:txBody>
            <a:bodyPr/>
            <a:lstStyle/>
            <a:p>
              <a:endParaRPr lang="da-DK"/>
            </a:p>
          </p:txBody>
        </p:sp>
        <p:sp>
          <p:nvSpPr>
            <p:cNvPr id="23564" name="Line 19"/>
            <p:cNvSpPr>
              <a:spLocks noChangeShapeType="1"/>
            </p:cNvSpPr>
            <p:nvPr/>
          </p:nvSpPr>
          <p:spPr bwMode="auto">
            <a:xfrm>
              <a:off x="3319" y="2721"/>
              <a:ext cx="830" cy="0"/>
            </a:xfrm>
            <a:prstGeom prst="line">
              <a:avLst/>
            </a:prstGeom>
            <a:noFill/>
            <a:ln w="9525">
              <a:solidFill>
                <a:srgbClr val="5F5F5F"/>
              </a:solidFill>
              <a:round/>
              <a:headEnd/>
              <a:tailEnd/>
            </a:ln>
          </p:spPr>
          <p:txBody>
            <a:bodyPr/>
            <a:lstStyle/>
            <a:p>
              <a:endParaRPr lang="da-DK"/>
            </a:p>
          </p:txBody>
        </p:sp>
        <p:sp>
          <p:nvSpPr>
            <p:cNvPr id="23565" name="Line 21"/>
            <p:cNvSpPr>
              <a:spLocks noChangeShapeType="1"/>
            </p:cNvSpPr>
            <p:nvPr/>
          </p:nvSpPr>
          <p:spPr bwMode="auto">
            <a:xfrm>
              <a:off x="4149" y="2721"/>
              <a:ext cx="0" cy="431"/>
            </a:xfrm>
            <a:prstGeom prst="line">
              <a:avLst/>
            </a:prstGeom>
            <a:noFill/>
            <a:ln w="9525">
              <a:solidFill>
                <a:srgbClr val="FF6600"/>
              </a:solidFill>
              <a:round/>
              <a:headEnd/>
              <a:tailEnd/>
            </a:ln>
          </p:spPr>
          <p:txBody>
            <a:bodyPr/>
            <a:lstStyle/>
            <a:p>
              <a:endParaRPr lang="da-DK"/>
            </a:p>
          </p:txBody>
        </p:sp>
        <p:sp>
          <p:nvSpPr>
            <p:cNvPr id="23566" name="Line 22"/>
            <p:cNvSpPr>
              <a:spLocks noChangeShapeType="1"/>
            </p:cNvSpPr>
            <p:nvPr/>
          </p:nvSpPr>
          <p:spPr bwMode="auto">
            <a:xfrm>
              <a:off x="4149" y="3152"/>
              <a:ext cx="0" cy="620"/>
            </a:xfrm>
            <a:prstGeom prst="line">
              <a:avLst/>
            </a:prstGeom>
            <a:noFill/>
            <a:ln w="9525">
              <a:solidFill>
                <a:srgbClr val="5F5F5F"/>
              </a:solidFill>
              <a:round/>
              <a:headEnd/>
              <a:tailEnd/>
            </a:ln>
          </p:spPr>
          <p:txBody>
            <a:bodyPr/>
            <a:lstStyle/>
            <a:p>
              <a:endParaRPr lang="da-DK"/>
            </a:p>
          </p:txBody>
        </p:sp>
        <p:sp>
          <p:nvSpPr>
            <p:cNvPr id="23567" name="Freeform 13"/>
            <p:cNvSpPr>
              <a:spLocks/>
            </p:cNvSpPr>
            <p:nvPr/>
          </p:nvSpPr>
          <p:spPr bwMode="auto">
            <a:xfrm>
              <a:off x="3319" y="2289"/>
              <a:ext cx="1118" cy="863"/>
            </a:xfrm>
            <a:custGeom>
              <a:avLst/>
              <a:gdLst>
                <a:gd name="T0" fmla="*/ 0 w 1118"/>
                <a:gd name="T1" fmla="*/ 851 h 863"/>
                <a:gd name="T2" fmla="*/ 123 w 1118"/>
                <a:gd name="T3" fmla="*/ 858 h 863"/>
                <a:gd name="T4" fmla="*/ 267 w 1118"/>
                <a:gd name="T5" fmla="*/ 823 h 863"/>
                <a:gd name="T6" fmla="*/ 535 w 1118"/>
                <a:gd name="T7" fmla="*/ 679 h 863"/>
                <a:gd name="T8" fmla="*/ 686 w 1118"/>
                <a:gd name="T9" fmla="*/ 576 h 863"/>
                <a:gd name="T10" fmla="*/ 857 w 1118"/>
                <a:gd name="T11" fmla="*/ 419 h 863"/>
                <a:gd name="T12" fmla="*/ 980 w 1118"/>
                <a:gd name="T13" fmla="*/ 254 h 863"/>
                <a:gd name="T14" fmla="*/ 1077 w 1118"/>
                <a:gd name="T15" fmla="*/ 96 h 863"/>
                <a:gd name="T16" fmla="*/ 1118 w 1118"/>
                <a:gd name="T17" fmla="*/ 0 h 8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18"/>
                <a:gd name="T28" fmla="*/ 0 h 863"/>
                <a:gd name="T29" fmla="*/ 1118 w 1118"/>
                <a:gd name="T30" fmla="*/ 863 h 8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18" h="863">
                  <a:moveTo>
                    <a:pt x="0" y="851"/>
                  </a:moveTo>
                  <a:cubicBezTo>
                    <a:pt x="20" y="852"/>
                    <a:pt x="79" y="863"/>
                    <a:pt x="123" y="858"/>
                  </a:cubicBezTo>
                  <a:cubicBezTo>
                    <a:pt x="167" y="853"/>
                    <a:pt x="198" y="853"/>
                    <a:pt x="267" y="823"/>
                  </a:cubicBezTo>
                  <a:cubicBezTo>
                    <a:pt x="336" y="793"/>
                    <a:pt x="465" y="720"/>
                    <a:pt x="535" y="679"/>
                  </a:cubicBezTo>
                  <a:cubicBezTo>
                    <a:pt x="605" y="638"/>
                    <a:pt x="632" y="619"/>
                    <a:pt x="686" y="576"/>
                  </a:cubicBezTo>
                  <a:cubicBezTo>
                    <a:pt x="740" y="533"/>
                    <a:pt x="808" y="473"/>
                    <a:pt x="857" y="419"/>
                  </a:cubicBezTo>
                  <a:cubicBezTo>
                    <a:pt x="906" y="365"/>
                    <a:pt x="943" y="308"/>
                    <a:pt x="980" y="254"/>
                  </a:cubicBezTo>
                  <a:cubicBezTo>
                    <a:pt x="1017" y="200"/>
                    <a:pt x="1054" y="138"/>
                    <a:pt x="1077" y="96"/>
                  </a:cubicBezTo>
                  <a:cubicBezTo>
                    <a:pt x="1100" y="54"/>
                    <a:pt x="1111" y="15"/>
                    <a:pt x="1118" y="0"/>
                  </a:cubicBezTo>
                </a:path>
              </a:pathLst>
            </a:custGeom>
            <a:noFill/>
            <a:ln w="25400">
              <a:solidFill>
                <a:srgbClr val="000066"/>
              </a:solidFill>
              <a:round/>
              <a:headEnd/>
              <a:tailEnd/>
            </a:ln>
          </p:spPr>
          <p:txBody>
            <a:bodyPr/>
            <a:lstStyle/>
            <a:p>
              <a:endParaRPr lang="da-DK"/>
            </a:p>
          </p:txBody>
        </p:sp>
        <p:sp>
          <p:nvSpPr>
            <p:cNvPr id="23568" name="Line 23"/>
            <p:cNvSpPr>
              <a:spLocks noChangeShapeType="1"/>
            </p:cNvSpPr>
            <p:nvPr/>
          </p:nvSpPr>
          <p:spPr bwMode="auto">
            <a:xfrm flipH="1">
              <a:off x="3311" y="3152"/>
              <a:ext cx="838" cy="0"/>
            </a:xfrm>
            <a:prstGeom prst="line">
              <a:avLst/>
            </a:prstGeom>
            <a:noFill/>
            <a:ln w="9525">
              <a:solidFill>
                <a:srgbClr val="5F5F5F"/>
              </a:solidFill>
              <a:round/>
              <a:headEnd/>
              <a:tailEnd/>
            </a:ln>
          </p:spPr>
          <p:txBody>
            <a:bodyPr/>
            <a:lstStyle/>
            <a:p>
              <a:endParaRPr lang="da-DK"/>
            </a:p>
          </p:txBody>
        </p:sp>
        <p:sp>
          <p:nvSpPr>
            <p:cNvPr id="23569" name="Text Box 24"/>
            <p:cNvSpPr txBox="1">
              <a:spLocks noChangeArrowheads="1"/>
            </p:cNvSpPr>
            <p:nvPr/>
          </p:nvSpPr>
          <p:spPr bwMode="auto">
            <a:xfrm>
              <a:off x="3957" y="3772"/>
              <a:ext cx="809" cy="173"/>
            </a:xfrm>
            <a:prstGeom prst="rect">
              <a:avLst/>
            </a:prstGeom>
            <a:noFill/>
            <a:ln w="9525">
              <a:noFill/>
              <a:miter lim="800000"/>
              <a:headEnd/>
              <a:tailEnd/>
            </a:ln>
          </p:spPr>
          <p:txBody>
            <a:bodyPr>
              <a:spAutoFit/>
            </a:bodyPr>
            <a:lstStyle/>
            <a:p>
              <a:pPr>
                <a:spcBef>
                  <a:spcPct val="50000"/>
                </a:spcBef>
              </a:pPr>
              <a:r>
                <a:rPr lang="en-US" sz="1200" dirty="0"/>
                <a:t>81,650</a:t>
              </a:r>
            </a:p>
          </p:txBody>
        </p:sp>
        <p:sp>
          <p:nvSpPr>
            <p:cNvPr id="23570" name="Text Box 25"/>
            <p:cNvSpPr txBox="1">
              <a:spLocks noChangeArrowheads="1"/>
            </p:cNvSpPr>
            <p:nvPr/>
          </p:nvSpPr>
          <p:spPr bwMode="auto">
            <a:xfrm>
              <a:off x="3219" y="1248"/>
              <a:ext cx="185" cy="212"/>
            </a:xfrm>
            <a:prstGeom prst="rect">
              <a:avLst/>
            </a:prstGeom>
            <a:noFill/>
            <a:ln w="9525">
              <a:noFill/>
              <a:miter lim="800000"/>
              <a:headEnd/>
              <a:tailEnd/>
            </a:ln>
          </p:spPr>
          <p:txBody>
            <a:bodyPr>
              <a:spAutoFit/>
            </a:bodyPr>
            <a:lstStyle/>
            <a:p>
              <a:pPr>
                <a:spcBef>
                  <a:spcPct val="50000"/>
                </a:spcBef>
              </a:pPr>
              <a:r>
                <a:rPr lang="en-US" sz="1600" dirty="0"/>
                <a:t>$</a:t>
              </a:r>
            </a:p>
          </p:txBody>
        </p:sp>
        <p:sp>
          <p:nvSpPr>
            <p:cNvPr id="23571" name="Text Box 26"/>
            <p:cNvSpPr txBox="1">
              <a:spLocks noChangeArrowheads="1"/>
            </p:cNvSpPr>
            <p:nvPr/>
          </p:nvSpPr>
          <p:spPr bwMode="auto">
            <a:xfrm>
              <a:off x="5499" y="3668"/>
              <a:ext cx="185" cy="212"/>
            </a:xfrm>
            <a:prstGeom prst="rect">
              <a:avLst/>
            </a:prstGeom>
            <a:noFill/>
            <a:ln w="9525">
              <a:noFill/>
              <a:miter lim="800000"/>
              <a:headEnd/>
              <a:tailEnd/>
            </a:ln>
          </p:spPr>
          <p:txBody>
            <a:bodyPr>
              <a:spAutoFit/>
            </a:bodyPr>
            <a:lstStyle/>
            <a:p>
              <a:pPr>
                <a:spcBef>
                  <a:spcPct val="50000"/>
                </a:spcBef>
              </a:pPr>
              <a:r>
                <a:rPr lang="en-US" sz="1600" dirty="0"/>
                <a:t>$</a:t>
              </a:r>
            </a:p>
          </p:txBody>
        </p:sp>
        <p:sp>
          <p:nvSpPr>
            <p:cNvPr id="23572" name="Text Box 27"/>
            <p:cNvSpPr txBox="1">
              <a:spLocks noChangeArrowheads="1"/>
            </p:cNvSpPr>
            <p:nvPr/>
          </p:nvSpPr>
          <p:spPr bwMode="auto">
            <a:xfrm>
              <a:off x="4519" y="2795"/>
              <a:ext cx="1165" cy="173"/>
            </a:xfrm>
            <a:prstGeom prst="rect">
              <a:avLst/>
            </a:prstGeom>
            <a:noFill/>
            <a:ln w="9525">
              <a:noFill/>
              <a:miter lim="800000"/>
              <a:headEnd/>
              <a:tailEnd/>
            </a:ln>
          </p:spPr>
          <p:txBody>
            <a:bodyPr>
              <a:spAutoFit/>
            </a:bodyPr>
            <a:lstStyle/>
            <a:p>
              <a:pPr>
                <a:spcBef>
                  <a:spcPct val="50000"/>
                </a:spcBef>
              </a:pPr>
              <a:r>
                <a:rPr lang="en-US" sz="1200" dirty="0"/>
                <a:t>Risk premium = $20,000</a:t>
              </a:r>
            </a:p>
          </p:txBody>
        </p:sp>
        <p:sp>
          <p:nvSpPr>
            <p:cNvPr id="23573" name="Line 28"/>
            <p:cNvSpPr>
              <a:spLocks noChangeShapeType="1"/>
            </p:cNvSpPr>
            <p:nvPr/>
          </p:nvSpPr>
          <p:spPr bwMode="auto">
            <a:xfrm flipH="1">
              <a:off x="4177" y="2882"/>
              <a:ext cx="370" cy="117"/>
            </a:xfrm>
            <a:prstGeom prst="line">
              <a:avLst/>
            </a:prstGeom>
            <a:noFill/>
            <a:ln w="9525">
              <a:solidFill>
                <a:schemeClr val="tx1"/>
              </a:solidFill>
              <a:round/>
              <a:headEnd/>
              <a:tailEnd type="triangle" w="med" len="med"/>
            </a:ln>
          </p:spPr>
          <p:txBody>
            <a:bodyPr/>
            <a:lstStyle/>
            <a:p>
              <a:endParaRPr lang="da-DK"/>
            </a:p>
          </p:txBody>
        </p:sp>
        <p:sp>
          <p:nvSpPr>
            <p:cNvPr id="23574" name="Text Box 29"/>
            <p:cNvSpPr txBox="1">
              <a:spLocks noChangeArrowheads="1"/>
            </p:cNvSpPr>
            <p:nvPr/>
          </p:nvSpPr>
          <p:spPr bwMode="auto">
            <a:xfrm>
              <a:off x="2767" y="2636"/>
              <a:ext cx="542" cy="173"/>
            </a:xfrm>
            <a:prstGeom prst="rect">
              <a:avLst/>
            </a:prstGeom>
            <a:noFill/>
            <a:ln w="9525">
              <a:noFill/>
              <a:miter lim="800000"/>
              <a:headEnd/>
              <a:tailEnd/>
            </a:ln>
          </p:spPr>
          <p:txBody>
            <a:bodyPr>
              <a:spAutoFit/>
            </a:bodyPr>
            <a:lstStyle/>
            <a:p>
              <a:pPr algn="r">
                <a:spcBef>
                  <a:spcPct val="50000"/>
                </a:spcBef>
              </a:pPr>
              <a:r>
                <a:rPr lang="en-US" sz="1200" dirty="0"/>
                <a:t>100,000</a:t>
              </a:r>
            </a:p>
          </p:txBody>
        </p:sp>
        <p:sp>
          <p:nvSpPr>
            <p:cNvPr id="23575" name="Text Box 30"/>
            <p:cNvSpPr txBox="1">
              <a:spLocks noChangeArrowheads="1"/>
            </p:cNvSpPr>
            <p:nvPr/>
          </p:nvSpPr>
          <p:spPr bwMode="auto">
            <a:xfrm>
              <a:off x="2777" y="3056"/>
              <a:ext cx="542" cy="173"/>
            </a:xfrm>
            <a:prstGeom prst="rect">
              <a:avLst/>
            </a:prstGeom>
            <a:noFill/>
            <a:ln w="9525">
              <a:noFill/>
              <a:miter lim="800000"/>
              <a:headEnd/>
              <a:tailEnd/>
            </a:ln>
          </p:spPr>
          <p:txBody>
            <a:bodyPr>
              <a:spAutoFit/>
            </a:bodyPr>
            <a:lstStyle/>
            <a:p>
              <a:pPr algn="r">
                <a:spcBef>
                  <a:spcPct val="50000"/>
                </a:spcBef>
              </a:pPr>
              <a:r>
                <a:rPr lang="en-US" sz="1200" dirty="0"/>
                <a:t>80,000</a:t>
              </a:r>
            </a:p>
          </p:txBody>
        </p:sp>
        <p:sp>
          <p:nvSpPr>
            <p:cNvPr id="23576" name="Text Box 31"/>
            <p:cNvSpPr txBox="1">
              <a:spLocks noChangeArrowheads="1"/>
            </p:cNvSpPr>
            <p:nvPr/>
          </p:nvSpPr>
          <p:spPr bwMode="auto">
            <a:xfrm>
              <a:off x="4419" y="2636"/>
              <a:ext cx="199" cy="192"/>
            </a:xfrm>
            <a:prstGeom prst="rect">
              <a:avLst/>
            </a:prstGeom>
            <a:noFill/>
            <a:ln w="9525">
              <a:noFill/>
              <a:miter lim="800000"/>
              <a:headEnd/>
              <a:tailEnd/>
            </a:ln>
          </p:spPr>
          <p:txBody>
            <a:bodyPr>
              <a:spAutoFit/>
            </a:bodyPr>
            <a:lstStyle/>
            <a:p>
              <a:pPr>
                <a:spcBef>
                  <a:spcPct val="50000"/>
                </a:spcBef>
              </a:pPr>
              <a:r>
                <a:rPr lang="en-US" sz="1400" b="1">
                  <a:solidFill>
                    <a:srgbClr val="5F5F5F"/>
                  </a:solidFill>
                </a:rPr>
                <a:t>1</a:t>
              </a:r>
            </a:p>
          </p:txBody>
        </p:sp>
        <p:sp>
          <p:nvSpPr>
            <p:cNvPr id="23577" name="Text Box 32"/>
            <p:cNvSpPr txBox="1">
              <a:spLocks noChangeArrowheads="1"/>
            </p:cNvSpPr>
            <p:nvPr/>
          </p:nvSpPr>
          <p:spPr bwMode="auto">
            <a:xfrm>
              <a:off x="4437" y="2097"/>
              <a:ext cx="178" cy="192"/>
            </a:xfrm>
            <a:prstGeom prst="rect">
              <a:avLst/>
            </a:prstGeom>
            <a:noFill/>
            <a:ln w="9525">
              <a:noFill/>
              <a:miter lim="800000"/>
              <a:headEnd/>
              <a:tailEnd/>
            </a:ln>
          </p:spPr>
          <p:txBody>
            <a:bodyPr>
              <a:spAutoFit/>
            </a:bodyPr>
            <a:lstStyle/>
            <a:p>
              <a:pPr>
                <a:spcBef>
                  <a:spcPct val="50000"/>
                </a:spcBef>
              </a:pPr>
              <a:r>
                <a:rPr lang="en-US" sz="1400" b="1">
                  <a:solidFill>
                    <a:srgbClr val="5F5F5F"/>
                  </a:solidFill>
                </a:rPr>
                <a:t>2</a:t>
              </a:r>
            </a:p>
          </p:txBody>
        </p:sp>
        <p:sp>
          <p:nvSpPr>
            <p:cNvPr id="23578" name="Text Box 33"/>
            <p:cNvSpPr txBox="1">
              <a:spLocks noChangeArrowheads="1"/>
            </p:cNvSpPr>
            <p:nvPr/>
          </p:nvSpPr>
          <p:spPr bwMode="auto">
            <a:xfrm>
              <a:off x="4368" y="1364"/>
              <a:ext cx="179" cy="192"/>
            </a:xfrm>
            <a:prstGeom prst="rect">
              <a:avLst/>
            </a:prstGeom>
            <a:noFill/>
            <a:ln w="9525">
              <a:noFill/>
              <a:miter lim="800000"/>
              <a:headEnd/>
              <a:tailEnd/>
            </a:ln>
          </p:spPr>
          <p:txBody>
            <a:bodyPr>
              <a:spAutoFit/>
            </a:bodyPr>
            <a:lstStyle/>
            <a:p>
              <a:pPr>
                <a:spcBef>
                  <a:spcPct val="50000"/>
                </a:spcBef>
              </a:pPr>
              <a:r>
                <a:rPr lang="en-US" sz="1400" b="1">
                  <a:solidFill>
                    <a:srgbClr val="5F5F5F"/>
                  </a:solidFill>
                </a:rPr>
                <a:t>3</a:t>
              </a:r>
            </a:p>
          </p:txBody>
        </p:sp>
        <p:sp>
          <p:nvSpPr>
            <p:cNvPr id="23579" name="Text Box 34"/>
            <p:cNvSpPr txBox="1">
              <a:spLocks noChangeArrowheads="1"/>
            </p:cNvSpPr>
            <p:nvPr/>
          </p:nvSpPr>
          <p:spPr bwMode="auto">
            <a:xfrm>
              <a:off x="4943" y="1255"/>
              <a:ext cx="624" cy="288"/>
            </a:xfrm>
            <a:prstGeom prst="rect">
              <a:avLst/>
            </a:prstGeom>
            <a:noFill/>
            <a:ln w="9525">
              <a:noFill/>
              <a:miter lim="800000"/>
              <a:headEnd/>
              <a:tailEnd/>
            </a:ln>
          </p:spPr>
          <p:txBody>
            <a:bodyPr>
              <a:spAutoFit/>
            </a:bodyPr>
            <a:lstStyle/>
            <a:p>
              <a:pPr>
                <a:spcBef>
                  <a:spcPct val="50000"/>
                </a:spcBef>
              </a:pPr>
              <a:r>
                <a:rPr lang="en-US" sz="1200" dirty="0">
                  <a:solidFill>
                    <a:srgbClr val="960000"/>
                  </a:solidFill>
                </a:rPr>
                <a:t>Increasing utility</a:t>
              </a:r>
              <a:endParaRPr lang="en-US" dirty="0">
                <a:solidFill>
                  <a:srgbClr val="960000"/>
                </a:solidFill>
              </a:endParaRPr>
            </a:p>
          </p:txBody>
        </p:sp>
        <p:sp>
          <p:nvSpPr>
            <p:cNvPr id="23580" name="Line 35"/>
            <p:cNvSpPr>
              <a:spLocks noChangeShapeType="1"/>
            </p:cNvSpPr>
            <p:nvPr/>
          </p:nvSpPr>
          <p:spPr bwMode="auto">
            <a:xfrm flipV="1">
              <a:off x="5499" y="1117"/>
              <a:ext cx="0" cy="527"/>
            </a:xfrm>
            <a:prstGeom prst="line">
              <a:avLst/>
            </a:prstGeom>
            <a:noFill/>
            <a:ln w="19050">
              <a:solidFill>
                <a:srgbClr val="960000"/>
              </a:solidFill>
              <a:round/>
              <a:headEnd/>
              <a:tailEnd type="triangle" w="med" len="med"/>
            </a:ln>
          </p:spPr>
          <p:txBody>
            <a:bodyPr/>
            <a:lstStyle/>
            <a:p>
              <a:endParaRPr lang="da-DK"/>
            </a:p>
          </p:txBody>
        </p:sp>
        <p:sp>
          <p:nvSpPr>
            <p:cNvPr id="23581" name="Line 36"/>
            <p:cNvSpPr>
              <a:spLocks noChangeShapeType="1"/>
            </p:cNvSpPr>
            <p:nvPr/>
          </p:nvSpPr>
          <p:spPr bwMode="auto">
            <a:xfrm flipH="1">
              <a:off x="5070" y="1644"/>
              <a:ext cx="429" cy="0"/>
            </a:xfrm>
            <a:prstGeom prst="line">
              <a:avLst/>
            </a:prstGeom>
            <a:noFill/>
            <a:ln w="19050">
              <a:solidFill>
                <a:srgbClr val="960000"/>
              </a:solidFill>
              <a:round/>
              <a:headEnd/>
              <a:tailEnd type="triangle" w="med" len="med"/>
            </a:ln>
          </p:spPr>
          <p:txBody>
            <a:bodyPr/>
            <a:lstStyle/>
            <a:p>
              <a:endParaRPr lang="da-DK"/>
            </a:p>
          </p:txBody>
        </p:sp>
      </p:grpSp>
      <p:sp>
        <p:nvSpPr>
          <p:cNvPr id="23557" name="Rectangle 39"/>
          <p:cNvSpPr>
            <a:spLocks noChangeArrowheads="1"/>
          </p:cNvSpPr>
          <p:nvPr/>
        </p:nvSpPr>
        <p:spPr bwMode="auto">
          <a:xfrm>
            <a:off x="10973436" y="6229584"/>
            <a:ext cx="416781" cy="276999"/>
          </a:xfrm>
          <a:prstGeom prst="rect">
            <a:avLst/>
          </a:prstGeom>
          <a:noFill/>
          <a:ln w="9525">
            <a:noFill/>
            <a:miter lim="800000"/>
            <a:headEnd/>
            <a:tailEnd/>
          </a:ln>
        </p:spPr>
        <p:txBody>
          <a:bodyPr wrap="none">
            <a:spAutoFit/>
          </a:bodyPr>
          <a:lstStyle/>
          <a:p>
            <a:fld id="{540D9F31-3C68-4168-A097-1B7D6441554A}" type="slidenum">
              <a:rPr lang="en-US" sz="1200"/>
              <a:pPr/>
              <a:t>23</a:t>
            </a:fld>
            <a:endParaRPr lang="en-US" sz="1200" dirty="0"/>
          </a:p>
        </p:txBody>
      </p:sp>
      <p:sp>
        <p:nvSpPr>
          <p:cNvPr id="30" name="Tekstboks 29"/>
          <p:cNvSpPr txBox="1"/>
          <p:nvPr/>
        </p:nvSpPr>
        <p:spPr>
          <a:xfrm>
            <a:off x="1715262" y="5094526"/>
            <a:ext cx="1722722" cy="338554"/>
          </a:xfrm>
          <a:prstGeom prst="rect">
            <a:avLst/>
          </a:prstGeom>
          <a:solidFill>
            <a:schemeClr val="accent1">
              <a:lumMod val="40000"/>
              <a:lumOff val="60000"/>
            </a:schemeClr>
          </a:solidFill>
          <a:ln>
            <a:noFill/>
          </a:ln>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da-DK" sz="1600" dirty="0">
                <a:solidFill>
                  <a:srgbClr val="002060"/>
                </a:solidFill>
              </a:rPr>
              <a:t>NB: P. 38 m. – n.!</a:t>
            </a:r>
          </a:p>
        </p:txBody>
      </p:sp>
      <p:cxnSp>
        <p:nvCxnSpPr>
          <p:cNvPr id="33" name="Lige pilforbindelse 32"/>
          <p:cNvCxnSpPr/>
          <p:nvPr/>
        </p:nvCxnSpPr>
        <p:spPr>
          <a:xfrm>
            <a:off x="2505778" y="1568919"/>
            <a:ext cx="6623709" cy="521139"/>
          </a:xfrm>
          <a:prstGeom prst="straightConnector1">
            <a:avLst/>
          </a:prstGeom>
          <a:ln w="19050">
            <a:solidFill>
              <a:srgbClr val="960000"/>
            </a:solidFill>
            <a:tailEnd type="arrow"/>
          </a:ln>
        </p:spPr>
        <p:style>
          <a:lnRef idx="1">
            <a:schemeClr val="accent1"/>
          </a:lnRef>
          <a:fillRef idx="0">
            <a:schemeClr val="accent1"/>
          </a:fillRef>
          <a:effectRef idx="0">
            <a:schemeClr val="accent1"/>
          </a:effectRef>
          <a:fontRef idx="minor">
            <a:schemeClr val="tx1"/>
          </a:fontRef>
        </p:style>
      </p:cxnSp>
      <p:sp>
        <p:nvSpPr>
          <p:cNvPr id="2" name="Ellipse 1"/>
          <p:cNvSpPr/>
          <p:nvPr/>
        </p:nvSpPr>
        <p:spPr>
          <a:xfrm>
            <a:off x="6669315" y="4851402"/>
            <a:ext cx="258537" cy="30162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4" name="Ellipse 33"/>
          <p:cNvSpPr/>
          <p:nvPr/>
        </p:nvSpPr>
        <p:spPr>
          <a:xfrm>
            <a:off x="7959045" y="4244218"/>
            <a:ext cx="258537" cy="30162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5" name="Text Box 27"/>
          <p:cNvSpPr txBox="1">
            <a:spLocks noChangeArrowheads="1"/>
          </p:cNvSpPr>
          <p:nvPr/>
        </p:nvSpPr>
        <p:spPr bwMode="auto">
          <a:xfrm>
            <a:off x="4265754" y="5558793"/>
            <a:ext cx="1849438" cy="461665"/>
          </a:xfrm>
          <a:prstGeom prst="rect">
            <a:avLst/>
          </a:prstGeom>
          <a:noFill/>
          <a:ln w="9525">
            <a:noFill/>
            <a:miter lim="800000"/>
            <a:headEnd/>
            <a:tailEnd/>
          </a:ln>
        </p:spPr>
        <p:txBody>
          <a:bodyPr>
            <a:spAutoFit/>
          </a:bodyPr>
          <a:lstStyle/>
          <a:p>
            <a:pPr>
              <a:spcBef>
                <a:spcPct val="50000"/>
              </a:spcBef>
            </a:pPr>
            <a:r>
              <a:rPr lang="en-US" sz="1200" dirty="0"/>
              <a:t>The certainty equivalent = $80,000</a:t>
            </a:r>
          </a:p>
        </p:txBody>
      </p:sp>
      <p:sp>
        <p:nvSpPr>
          <p:cNvPr id="36" name="Line 28"/>
          <p:cNvSpPr>
            <a:spLocks noChangeShapeType="1"/>
          </p:cNvSpPr>
          <p:nvPr/>
        </p:nvSpPr>
        <p:spPr bwMode="auto">
          <a:xfrm flipV="1">
            <a:off x="5910262" y="5217527"/>
            <a:ext cx="701676" cy="647492"/>
          </a:xfrm>
          <a:prstGeom prst="line">
            <a:avLst/>
          </a:prstGeom>
          <a:noFill/>
          <a:ln w="9525">
            <a:solidFill>
              <a:schemeClr val="tx1"/>
            </a:solidFill>
            <a:round/>
            <a:headEnd/>
            <a:tailEnd type="triangle" w="med" len="med"/>
          </a:ln>
        </p:spPr>
        <p:txBody>
          <a:bodyPr/>
          <a:lstStyle/>
          <a:p>
            <a:endParaRPr lang="da-DK"/>
          </a:p>
        </p:txBody>
      </p:sp>
    </p:spTree>
    <p:extLst>
      <p:ext uri="{BB962C8B-B14F-4D97-AF65-F5344CB8AC3E}">
        <p14:creationId xmlns:p14="http://schemas.microsoft.com/office/powerpoint/2010/main" val="2415509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111375" y="2081213"/>
            <a:ext cx="8229600" cy="1143000"/>
          </a:xfrm>
        </p:spPr>
        <p:txBody>
          <a:bodyPr/>
          <a:lstStyle/>
          <a:p>
            <a:pPr eaLnBrk="1" hangingPunct="1"/>
            <a:r>
              <a:rPr lang="en-US" dirty="0">
                <a:solidFill>
                  <a:srgbClr val="960000"/>
                </a:solidFill>
              </a:rPr>
              <a:t>Appendix Material</a:t>
            </a:r>
          </a:p>
        </p:txBody>
      </p:sp>
    </p:spTree>
    <p:extLst>
      <p:ext uri="{BB962C8B-B14F-4D97-AF65-F5344CB8AC3E}">
        <p14:creationId xmlns:p14="http://schemas.microsoft.com/office/powerpoint/2010/main" val="1478538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37658" y="564017"/>
            <a:ext cx="8229600" cy="868362"/>
          </a:xfrm>
        </p:spPr>
        <p:txBody>
          <a:bodyPr>
            <a:normAutofit fontScale="90000"/>
          </a:bodyPr>
          <a:lstStyle/>
          <a:p>
            <a:pPr algn="ctr" eaLnBrk="1" hangingPunct="1"/>
            <a:r>
              <a:rPr lang="en-US" sz="3200" dirty="0">
                <a:solidFill>
                  <a:schemeClr val="tx2">
                    <a:lumMod val="90000"/>
                  </a:schemeClr>
                </a:solidFill>
              </a:rPr>
              <a:t>Slope of Tom’s (Hank) Indifference Curve in the movie ‘Cast Away’</a:t>
            </a:r>
          </a:p>
        </p:txBody>
      </p:sp>
      <p:sp>
        <p:nvSpPr>
          <p:cNvPr id="26627" name="Rectangle 3"/>
          <p:cNvSpPr>
            <a:spLocks noGrp="1" noChangeArrowheads="1"/>
          </p:cNvSpPr>
          <p:nvPr>
            <p:ph type="body" sz="half" idx="2"/>
          </p:nvPr>
        </p:nvSpPr>
        <p:spPr>
          <a:xfrm>
            <a:off x="1730375" y="5114925"/>
            <a:ext cx="8686800" cy="1371600"/>
          </a:xfrm>
        </p:spPr>
        <p:txBody>
          <a:bodyPr/>
          <a:lstStyle/>
          <a:p>
            <a:pPr eaLnBrk="1" hangingPunct="1">
              <a:lnSpc>
                <a:spcPct val="90000"/>
              </a:lnSpc>
              <a:buFontTx/>
              <a:buNone/>
            </a:pPr>
            <a:r>
              <a:rPr lang="en-US" dirty="0">
                <a:solidFill>
                  <a:srgbClr val="960000"/>
                </a:solidFill>
              </a:rPr>
              <a:t>   This indifference curve reflects 100 units of utility. The equation for the curve is F=100/c, and the slope at any point is – (MU</a:t>
            </a:r>
            <a:r>
              <a:rPr lang="en-US" baseline="-25000" dirty="0">
                <a:solidFill>
                  <a:srgbClr val="960000"/>
                </a:solidFill>
              </a:rPr>
              <a:t>C</a:t>
            </a:r>
            <a:r>
              <a:rPr lang="en-US" dirty="0">
                <a:solidFill>
                  <a:srgbClr val="960000"/>
                </a:solidFill>
              </a:rPr>
              <a:t>/MU</a:t>
            </a:r>
            <a:r>
              <a:rPr lang="en-US" baseline="-25000" dirty="0">
                <a:solidFill>
                  <a:srgbClr val="960000"/>
                </a:solidFill>
              </a:rPr>
              <a:t>F</a:t>
            </a:r>
            <a:r>
              <a:rPr lang="en-US" dirty="0">
                <a:solidFill>
                  <a:srgbClr val="960000"/>
                </a:solidFill>
              </a:rPr>
              <a:t>). The absolute value of the slope is the marginal rate of substitution (MRS), which declines continuously along the curve.</a:t>
            </a:r>
          </a:p>
        </p:txBody>
      </p:sp>
      <p:sp>
        <p:nvSpPr>
          <p:cNvPr id="26628" name="Text Box 6"/>
          <p:cNvSpPr txBox="1">
            <a:spLocks noChangeArrowheads="1"/>
          </p:cNvSpPr>
          <p:nvPr/>
        </p:nvSpPr>
        <p:spPr bwMode="auto">
          <a:xfrm>
            <a:off x="5367338" y="4727576"/>
            <a:ext cx="1474634" cy="307777"/>
          </a:xfrm>
          <a:prstGeom prst="rect">
            <a:avLst/>
          </a:prstGeom>
          <a:noFill/>
          <a:ln w="12700">
            <a:noFill/>
            <a:miter lim="800000"/>
            <a:headEnd type="none" w="sm" len="sm"/>
            <a:tailEnd type="none" w="sm" len="sm"/>
          </a:ln>
        </p:spPr>
        <p:txBody>
          <a:bodyPr wrap="none">
            <a:spAutoFit/>
          </a:bodyPr>
          <a:lstStyle/>
          <a:p>
            <a:r>
              <a:rPr lang="en-US" sz="1400" dirty="0">
                <a:solidFill>
                  <a:srgbClr val="002060"/>
                </a:solidFill>
              </a:rPr>
              <a:t>Quantity of shirts</a:t>
            </a:r>
          </a:p>
        </p:txBody>
      </p:sp>
      <p:sp>
        <p:nvSpPr>
          <p:cNvPr id="26629" name="Text Box 5"/>
          <p:cNvSpPr txBox="1">
            <a:spLocks noChangeArrowheads="1"/>
          </p:cNvSpPr>
          <p:nvPr/>
        </p:nvSpPr>
        <p:spPr bwMode="auto">
          <a:xfrm rot="-5400000">
            <a:off x="2706817" y="3010001"/>
            <a:ext cx="1641219" cy="307777"/>
          </a:xfrm>
          <a:prstGeom prst="rect">
            <a:avLst/>
          </a:prstGeom>
          <a:noFill/>
          <a:ln w="12700">
            <a:noFill/>
            <a:miter lim="800000"/>
            <a:headEnd type="none" w="sm" len="sm"/>
            <a:tailEnd type="none" w="sm" len="sm"/>
          </a:ln>
        </p:spPr>
        <p:txBody>
          <a:bodyPr wrap="none">
            <a:spAutoFit/>
          </a:bodyPr>
          <a:lstStyle/>
          <a:p>
            <a:r>
              <a:rPr lang="en-US" sz="1400" dirty="0">
                <a:solidFill>
                  <a:srgbClr val="002060"/>
                </a:solidFill>
              </a:rPr>
              <a:t>Quantity of Burgers</a:t>
            </a:r>
          </a:p>
        </p:txBody>
      </p:sp>
      <p:grpSp>
        <p:nvGrpSpPr>
          <p:cNvPr id="26630" name="Group 31"/>
          <p:cNvGrpSpPr>
            <a:grpSpLocks/>
          </p:cNvGrpSpPr>
          <p:nvPr/>
        </p:nvGrpSpPr>
        <p:grpSpPr bwMode="auto">
          <a:xfrm>
            <a:off x="3743326" y="1839913"/>
            <a:ext cx="4398963" cy="3062288"/>
            <a:chOff x="199" y="1166"/>
            <a:chExt cx="2771" cy="1929"/>
          </a:xfrm>
        </p:grpSpPr>
        <p:sp>
          <p:nvSpPr>
            <p:cNvPr id="26632" name="Line 5"/>
            <p:cNvSpPr>
              <a:spLocks noChangeShapeType="1"/>
            </p:cNvSpPr>
            <p:nvPr/>
          </p:nvSpPr>
          <p:spPr bwMode="auto">
            <a:xfrm>
              <a:off x="405" y="1181"/>
              <a:ext cx="0" cy="1624"/>
            </a:xfrm>
            <a:prstGeom prst="line">
              <a:avLst/>
            </a:prstGeom>
            <a:noFill/>
            <a:ln w="9525">
              <a:solidFill>
                <a:schemeClr val="tx1"/>
              </a:solidFill>
              <a:round/>
              <a:headEnd type="triangle" w="sm" len="med"/>
              <a:tailEnd/>
            </a:ln>
          </p:spPr>
          <p:txBody>
            <a:bodyPr/>
            <a:lstStyle/>
            <a:p>
              <a:endParaRPr lang="da-DK"/>
            </a:p>
          </p:txBody>
        </p:sp>
        <p:sp>
          <p:nvSpPr>
            <p:cNvPr id="26633" name="Line 6"/>
            <p:cNvSpPr>
              <a:spLocks noChangeShapeType="1"/>
            </p:cNvSpPr>
            <p:nvPr/>
          </p:nvSpPr>
          <p:spPr bwMode="auto">
            <a:xfrm>
              <a:off x="405" y="2805"/>
              <a:ext cx="2565" cy="0"/>
            </a:xfrm>
            <a:prstGeom prst="line">
              <a:avLst/>
            </a:prstGeom>
            <a:noFill/>
            <a:ln w="9525">
              <a:solidFill>
                <a:schemeClr val="tx1"/>
              </a:solidFill>
              <a:round/>
              <a:headEnd/>
              <a:tailEnd type="triangle"/>
            </a:ln>
          </p:spPr>
          <p:txBody>
            <a:bodyPr/>
            <a:lstStyle/>
            <a:p>
              <a:endParaRPr lang="da-DK"/>
            </a:p>
          </p:txBody>
        </p:sp>
        <p:sp>
          <p:nvSpPr>
            <p:cNvPr id="26634" name="Freeform 7"/>
            <p:cNvSpPr>
              <a:spLocks/>
            </p:cNvSpPr>
            <p:nvPr/>
          </p:nvSpPr>
          <p:spPr bwMode="auto">
            <a:xfrm>
              <a:off x="682" y="1548"/>
              <a:ext cx="1552" cy="928"/>
            </a:xfrm>
            <a:custGeom>
              <a:avLst/>
              <a:gdLst>
                <a:gd name="T0" fmla="*/ 0 w 1552"/>
                <a:gd name="T1" fmla="*/ 0 h 928"/>
                <a:gd name="T2" fmla="*/ 40 w 1552"/>
                <a:gd name="T3" fmla="*/ 156 h 928"/>
                <a:gd name="T4" fmla="*/ 80 w 1552"/>
                <a:gd name="T5" fmla="*/ 280 h 928"/>
                <a:gd name="T6" fmla="*/ 128 w 1552"/>
                <a:gd name="T7" fmla="*/ 392 h 928"/>
                <a:gd name="T8" fmla="*/ 192 w 1552"/>
                <a:gd name="T9" fmla="*/ 484 h 928"/>
                <a:gd name="T10" fmla="*/ 284 w 1552"/>
                <a:gd name="T11" fmla="*/ 588 h 928"/>
                <a:gd name="T12" fmla="*/ 368 w 1552"/>
                <a:gd name="T13" fmla="*/ 660 h 928"/>
                <a:gd name="T14" fmla="*/ 508 w 1552"/>
                <a:gd name="T15" fmla="*/ 748 h 928"/>
                <a:gd name="T16" fmla="*/ 680 w 1552"/>
                <a:gd name="T17" fmla="*/ 812 h 928"/>
                <a:gd name="T18" fmla="*/ 900 w 1552"/>
                <a:gd name="T19" fmla="*/ 868 h 928"/>
                <a:gd name="T20" fmla="*/ 1124 w 1552"/>
                <a:gd name="T21" fmla="*/ 904 h 928"/>
                <a:gd name="T22" fmla="*/ 1332 w 1552"/>
                <a:gd name="T23" fmla="*/ 924 h 928"/>
                <a:gd name="T24" fmla="*/ 1552 w 1552"/>
                <a:gd name="T25" fmla="*/ 928 h 9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52"/>
                <a:gd name="T40" fmla="*/ 0 h 928"/>
                <a:gd name="T41" fmla="*/ 1552 w 1552"/>
                <a:gd name="T42" fmla="*/ 928 h 9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52" h="928">
                  <a:moveTo>
                    <a:pt x="0" y="0"/>
                  </a:moveTo>
                  <a:cubicBezTo>
                    <a:pt x="7" y="26"/>
                    <a:pt x="27" y="109"/>
                    <a:pt x="40" y="156"/>
                  </a:cubicBezTo>
                  <a:cubicBezTo>
                    <a:pt x="53" y="203"/>
                    <a:pt x="65" y="241"/>
                    <a:pt x="80" y="280"/>
                  </a:cubicBezTo>
                  <a:cubicBezTo>
                    <a:pt x="95" y="319"/>
                    <a:pt x="109" y="358"/>
                    <a:pt x="128" y="392"/>
                  </a:cubicBezTo>
                  <a:cubicBezTo>
                    <a:pt x="147" y="426"/>
                    <a:pt x="166" y="451"/>
                    <a:pt x="192" y="484"/>
                  </a:cubicBezTo>
                  <a:cubicBezTo>
                    <a:pt x="218" y="517"/>
                    <a:pt x="255" y="559"/>
                    <a:pt x="284" y="588"/>
                  </a:cubicBezTo>
                  <a:cubicBezTo>
                    <a:pt x="313" y="617"/>
                    <a:pt x="331" y="633"/>
                    <a:pt x="368" y="660"/>
                  </a:cubicBezTo>
                  <a:cubicBezTo>
                    <a:pt x="405" y="687"/>
                    <a:pt x="456" y="723"/>
                    <a:pt x="508" y="748"/>
                  </a:cubicBezTo>
                  <a:cubicBezTo>
                    <a:pt x="560" y="773"/>
                    <a:pt x="615" y="792"/>
                    <a:pt x="680" y="812"/>
                  </a:cubicBezTo>
                  <a:cubicBezTo>
                    <a:pt x="745" y="832"/>
                    <a:pt x="826" y="853"/>
                    <a:pt x="900" y="868"/>
                  </a:cubicBezTo>
                  <a:cubicBezTo>
                    <a:pt x="974" y="883"/>
                    <a:pt x="1052" y="895"/>
                    <a:pt x="1124" y="904"/>
                  </a:cubicBezTo>
                  <a:cubicBezTo>
                    <a:pt x="1196" y="913"/>
                    <a:pt x="1261" y="920"/>
                    <a:pt x="1332" y="924"/>
                  </a:cubicBezTo>
                  <a:cubicBezTo>
                    <a:pt x="1403" y="928"/>
                    <a:pt x="1506" y="927"/>
                    <a:pt x="1552" y="928"/>
                  </a:cubicBezTo>
                </a:path>
              </a:pathLst>
            </a:custGeom>
            <a:noFill/>
            <a:ln w="25400">
              <a:solidFill>
                <a:srgbClr val="000066"/>
              </a:solidFill>
              <a:round/>
              <a:headEnd/>
              <a:tailEnd/>
            </a:ln>
          </p:spPr>
          <p:txBody>
            <a:bodyPr/>
            <a:lstStyle/>
            <a:p>
              <a:endParaRPr lang="da-DK"/>
            </a:p>
          </p:txBody>
        </p:sp>
        <p:sp>
          <p:nvSpPr>
            <p:cNvPr id="26635" name="Line 8"/>
            <p:cNvSpPr>
              <a:spLocks noChangeShapeType="1"/>
            </p:cNvSpPr>
            <p:nvPr/>
          </p:nvSpPr>
          <p:spPr bwMode="auto">
            <a:xfrm>
              <a:off x="980" y="2311"/>
              <a:ext cx="1097" cy="213"/>
            </a:xfrm>
            <a:prstGeom prst="line">
              <a:avLst/>
            </a:prstGeom>
            <a:noFill/>
            <a:ln w="25400">
              <a:solidFill>
                <a:schemeClr val="tx1"/>
              </a:solidFill>
              <a:prstDash val="sysDot"/>
              <a:round/>
              <a:headEnd/>
              <a:tailEnd/>
            </a:ln>
          </p:spPr>
          <p:txBody>
            <a:bodyPr/>
            <a:lstStyle/>
            <a:p>
              <a:endParaRPr lang="da-DK"/>
            </a:p>
          </p:txBody>
        </p:sp>
        <p:sp>
          <p:nvSpPr>
            <p:cNvPr id="26636" name="Line 9"/>
            <p:cNvSpPr>
              <a:spLocks noChangeShapeType="1"/>
            </p:cNvSpPr>
            <p:nvPr/>
          </p:nvSpPr>
          <p:spPr bwMode="auto">
            <a:xfrm>
              <a:off x="602" y="1343"/>
              <a:ext cx="240" cy="809"/>
            </a:xfrm>
            <a:prstGeom prst="line">
              <a:avLst/>
            </a:prstGeom>
            <a:noFill/>
            <a:ln w="25400">
              <a:solidFill>
                <a:schemeClr val="tx1"/>
              </a:solidFill>
              <a:prstDash val="sysDot"/>
              <a:round/>
              <a:headEnd/>
              <a:tailEnd/>
            </a:ln>
          </p:spPr>
          <p:txBody>
            <a:bodyPr/>
            <a:lstStyle/>
            <a:p>
              <a:endParaRPr lang="da-DK"/>
            </a:p>
          </p:txBody>
        </p:sp>
        <p:sp>
          <p:nvSpPr>
            <p:cNvPr id="26637" name="Rectangle 10"/>
            <p:cNvSpPr>
              <a:spLocks noChangeArrowheads="1"/>
            </p:cNvSpPr>
            <p:nvPr/>
          </p:nvSpPr>
          <p:spPr bwMode="auto">
            <a:xfrm>
              <a:off x="974" y="2147"/>
              <a:ext cx="40" cy="34"/>
            </a:xfrm>
            <a:prstGeom prst="rect">
              <a:avLst/>
            </a:prstGeom>
            <a:solidFill>
              <a:schemeClr val="tx1"/>
            </a:solidFill>
            <a:ln w="9525">
              <a:solidFill>
                <a:schemeClr val="tx1"/>
              </a:solidFill>
              <a:miter lim="800000"/>
              <a:headEnd/>
              <a:tailEnd/>
            </a:ln>
          </p:spPr>
          <p:txBody>
            <a:bodyPr wrap="none" anchor="ctr"/>
            <a:lstStyle/>
            <a:p>
              <a:endParaRPr lang="da-DK"/>
            </a:p>
          </p:txBody>
        </p:sp>
        <p:sp>
          <p:nvSpPr>
            <p:cNvPr id="26638" name="Text Box 11"/>
            <p:cNvSpPr txBox="1">
              <a:spLocks noChangeArrowheads="1"/>
            </p:cNvSpPr>
            <p:nvPr/>
          </p:nvSpPr>
          <p:spPr bwMode="auto">
            <a:xfrm>
              <a:off x="1365" y="1166"/>
              <a:ext cx="1138" cy="288"/>
            </a:xfrm>
            <a:prstGeom prst="rect">
              <a:avLst/>
            </a:prstGeom>
            <a:noFill/>
            <a:ln w="9525">
              <a:noFill/>
              <a:miter lim="800000"/>
              <a:headEnd/>
              <a:tailEnd/>
            </a:ln>
          </p:spPr>
          <p:txBody>
            <a:bodyPr>
              <a:spAutoFit/>
            </a:bodyPr>
            <a:lstStyle/>
            <a:p>
              <a:pPr>
                <a:spcBef>
                  <a:spcPct val="50000"/>
                </a:spcBef>
              </a:pPr>
              <a:r>
                <a:rPr lang="en-US" sz="1200" dirty="0"/>
                <a:t>Indifference curve for 100 units of utility</a:t>
              </a:r>
            </a:p>
          </p:txBody>
        </p:sp>
        <p:sp>
          <p:nvSpPr>
            <p:cNvPr id="26639" name="Line 12"/>
            <p:cNvSpPr>
              <a:spLocks noChangeShapeType="1"/>
            </p:cNvSpPr>
            <p:nvPr/>
          </p:nvSpPr>
          <p:spPr bwMode="auto">
            <a:xfrm flipH="1">
              <a:off x="734" y="1276"/>
              <a:ext cx="643" cy="404"/>
            </a:xfrm>
            <a:prstGeom prst="line">
              <a:avLst/>
            </a:prstGeom>
            <a:noFill/>
            <a:ln w="9525">
              <a:solidFill>
                <a:schemeClr val="tx1"/>
              </a:solidFill>
              <a:round/>
              <a:headEnd/>
              <a:tailEnd type="triangle" w="med" len="med"/>
            </a:ln>
          </p:spPr>
          <p:txBody>
            <a:bodyPr/>
            <a:lstStyle/>
            <a:p>
              <a:endParaRPr lang="da-DK"/>
            </a:p>
          </p:txBody>
        </p:sp>
        <p:sp>
          <p:nvSpPr>
            <p:cNvPr id="26640" name="Text Box 13"/>
            <p:cNvSpPr txBox="1">
              <a:spLocks noChangeArrowheads="1"/>
            </p:cNvSpPr>
            <p:nvPr/>
          </p:nvSpPr>
          <p:spPr bwMode="auto">
            <a:xfrm>
              <a:off x="802" y="1660"/>
              <a:ext cx="932" cy="173"/>
            </a:xfrm>
            <a:prstGeom prst="rect">
              <a:avLst/>
            </a:prstGeom>
            <a:noFill/>
            <a:ln w="9525">
              <a:noFill/>
              <a:miter lim="800000"/>
              <a:headEnd/>
              <a:tailEnd/>
            </a:ln>
          </p:spPr>
          <p:txBody>
            <a:bodyPr>
              <a:spAutoFit/>
            </a:bodyPr>
            <a:lstStyle/>
            <a:p>
              <a:pPr>
                <a:spcBef>
                  <a:spcPct val="50000"/>
                </a:spcBef>
              </a:pPr>
              <a:r>
                <a:rPr lang="en-US" sz="1200" i="1">
                  <a:solidFill>
                    <a:srgbClr val="5F5F5F"/>
                  </a:solidFill>
                </a:rPr>
                <a:t>A</a:t>
              </a:r>
              <a:r>
                <a:rPr lang="en-US" sz="1200">
                  <a:solidFill>
                    <a:srgbClr val="5F5F5F"/>
                  </a:solidFill>
                </a:rPr>
                <a:t> (5, 20): MRS = 4</a:t>
              </a:r>
            </a:p>
          </p:txBody>
        </p:sp>
        <p:sp>
          <p:nvSpPr>
            <p:cNvPr id="26641" name="Text Box 14"/>
            <p:cNvSpPr txBox="1">
              <a:spLocks noChangeArrowheads="1"/>
            </p:cNvSpPr>
            <p:nvPr/>
          </p:nvSpPr>
          <p:spPr bwMode="auto">
            <a:xfrm>
              <a:off x="1061" y="2009"/>
              <a:ext cx="1028" cy="173"/>
            </a:xfrm>
            <a:prstGeom prst="rect">
              <a:avLst/>
            </a:prstGeom>
            <a:noFill/>
            <a:ln w="9525">
              <a:noFill/>
              <a:miter lim="800000"/>
              <a:headEnd/>
              <a:tailEnd/>
            </a:ln>
          </p:spPr>
          <p:txBody>
            <a:bodyPr>
              <a:spAutoFit/>
            </a:bodyPr>
            <a:lstStyle/>
            <a:p>
              <a:pPr>
                <a:spcBef>
                  <a:spcPct val="50000"/>
                </a:spcBef>
              </a:pPr>
              <a:r>
                <a:rPr lang="en-US" sz="1200" i="1">
                  <a:solidFill>
                    <a:srgbClr val="5F5F5F"/>
                  </a:solidFill>
                </a:rPr>
                <a:t>B</a:t>
              </a:r>
              <a:r>
                <a:rPr lang="en-US" sz="1200">
                  <a:solidFill>
                    <a:srgbClr val="5F5F5F"/>
                  </a:solidFill>
                </a:rPr>
                <a:t> (10, 10): MRS = 1</a:t>
              </a:r>
            </a:p>
          </p:txBody>
        </p:sp>
        <p:sp>
          <p:nvSpPr>
            <p:cNvPr id="26642" name="Text Box 15"/>
            <p:cNvSpPr txBox="1">
              <a:spLocks noChangeArrowheads="1"/>
            </p:cNvSpPr>
            <p:nvPr/>
          </p:nvSpPr>
          <p:spPr bwMode="auto">
            <a:xfrm>
              <a:off x="1658" y="2235"/>
              <a:ext cx="1055" cy="173"/>
            </a:xfrm>
            <a:prstGeom prst="rect">
              <a:avLst/>
            </a:prstGeom>
            <a:noFill/>
            <a:ln w="9525">
              <a:noFill/>
              <a:miter lim="800000"/>
              <a:headEnd/>
              <a:tailEnd/>
            </a:ln>
          </p:spPr>
          <p:txBody>
            <a:bodyPr>
              <a:spAutoFit/>
            </a:bodyPr>
            <a:lstStyle/>
            <a:p>
              <a:pPr>
                <a:spcBef>
                  <a:spcPct val="50000"/>
                </a:spcBef>
              </a:pPr>
              <a:r>
                <a:rPr lang="en-US" sz="1200" i="1">
                  <a:solidFill>
                    <a:srgbClr val="5F5F5F"/>
                  </a:solidFill>
                </a:rPr>
                <a:t>C</a:t>
              </a:r>
              <a:r>
                <a:rPr lang="en-US" sz="1200">
                  <a:solidFill>
                    <a:srgbClr val="5F5F5F"/>
                  </a:solidFill>
                </a:rPr>
                <a:t> (20, 5): MRS = .25</a:t>
              </a:r>
            </a:p>
          </p:txBody>
        </p:sp>
        <p:sp>
          <p:nvSpPr>
            <p:cNvPr id="26643" name="Text Box 18"/>
            <p:cNvSpPr txBox="1">
              <a:spLocks noChangeArrowheads="1"/>
            </p:cNvSpPr>
            <p:nvPr/>
          </p:nvSpPr>
          <p:spPr bwMode="auto">
            <a:xfrm>
              <a:off x="672" y="2811"/>
              <a:ext cx="158" cy="173"/>
            </a:xfrm>
            <a:prstGeom prst="rect">
              <a:avLst/>
            </a:prstGeom>
            <a:noFill/>
            <a:ln w="9525">
              <a:noFill/>
              <a:miter lim="800000"/>
              <a:headEnd/>
              <a:tailEnd/>
            </a:ln>
          </p:spPr>
          <p:txBody>
            <a:bodyPr>
              <a:spAutoFit/>
            </a:bodyPr>
            <a:lstStyle/>
            <a:p>
              <a:pPr>
                <a:spcBef>
                  <a:spcPct val="50000"/>
                </a:spcBef>
              </a:pPr>
              <a:r>
                <a:rPr lang="en-US" sz="1200" dirty="0"/>
                <a:t>5</a:t>
              </a:r>
            </a:p>
          </p:txBody>
        </p:sp>
        <p:sp>
          <p:nvSpPr>
            <p:cNvPr id="26644" name="Text Box 19"/>
            <p:cNvSpPr txBox="1">
              <a:spLocks noChangeArrowheads="1"/>
            </p:cNvSpPr>
            <p:nvPr/>
          </p:nvSpPr>
          <p:spPr bwMode="auto">
            <a:xfrm flipH="1">
              <a:off x="256" y="2331"/>
              <a:ext cx="157" cy="173"/>
            </a:xfrm>
            <a:prstGeom prst="rect">
              <a:avLst/>
            </a:prstGeom>
            <a:noFill/>
            <a:ln w="9525">
              <a:noFill/>
              <a:miter lim="800000"/>
              <a:headEnd/>
              <a:tailEnd/>
            </a:ln>
          </p:spPr>
          <p:txBody>
            <a:bodyPr>
              <a:spAutoFit/>
            </a:bodyPr>
            <a:lstStyle/>
            <a:p>
              <a:pPr>
                <a:spcBef>
                  <a:spcPct val="50000"/>
                </a:spcBef>
              </a:pPr>
              <a:r>
                <a:rPr lang="en-US" sz="1200" dirty="0"/>
                <a:t>5</a:t>
              </a:r>
            </a:p>
          </p:txBody>
        </p:sp>
        <p:sp>
          <p:nvSpPr>
            <p:cNvPr id="26645" name="Text Box 20"/>
            <p:cNvSpPr txBox="1">
              <a:spLocks noChangeArrowheads="1"/>
            </p:cNvSpPr>
            <p:nvPr/>
          </p:nvSpPr>
          <p:spPr bwMode="auto">
            <a:xfrm>
              <a:off x="864" y="2811"/>
              <a:ext cx="247" cy="173"/>
            </a:xfrm>
            <a:prstGeom prst="rect">
              <a:avLst/>
            </a:prstGeom>
            <a:noFill/>
            <a:ln w="9525">
              <a:noFill/>
              <a:miter lim="800000"/>
              <a:headEnd/>
              <a:tailEnd/>
            </a:ln>
          </p:spPr>
          <p:txBody>
            <a:bodyPr>
              <a:spAutoFit/>
            </a:bodyPr>
            <a:lstStyle/>
            <a:p>
              <a:pPr>
                <a:spcBef>
                  <a:spcPct val="50000"/>
                </a:spcBef>
              </a:pPr>
              <a:r>
                <a:rPr lang="en-US" sz="1200" dirty="0"/>
                <a:t>10</a:t>
              </a:r>
            </a:p>
          </p:txBody>
        </p:sp>
        <p:sp>
          <p:nvSpPr>
            <p:cNvPr id="26646" name="Text Box 21"/>
            <p:cNvSpPr txBox="1">
              <a:spLocks noChangeArrowheads="1"/>
            </p:cNvSpPr>
            <p:nvPr/>
          </p:nvSpPr>
          <p:spPr bwMode="auto">
            <a:xfrm>
              <a:off x="1564" y="2804"/>
              <a:ext cx="226" cy="291"/>
            </a:xfrm>
            <a:prstGeom prst="rect">
              <a:avLst/>
            </a:prstGeom>
            <a:noFill/>
            <a:ln w="9525">
              <a:noFill/>
              <a:miter lim="800000"/>
              <a:headEnd/>
              <a:tailEnd/>
            </a:ln>
          </p:spPr>
          <p:txBody>
            <a:bodyPr>
              <a:spAutoFit/>
            </a:bodyPr>
            <a:lstStyle/>
            <a:p>
              <a:pPr>
                <a:spcBef>
                  <a:spcPct val="50000"/>
                </a:spcBef>
              </a:pPr>
              <a:r>
                <a:rPr lang="en-US" sz="1200" dirty="0"/>
                <a:t>20</a:t>
              </a:r>
            </a:p>
          </p:txBody>
        </p:sp>
        <p:sp>
          <p:nvSpPr>
            <p:cNvPr id="26647" name="Text Box 22"/>
            <p:cNvSpPr txBox="1">
              <a:spLocks noChangeArrowheads="1"/>
            </p:cNvSpPr>
            <p:nvPr/>
          </p:nvSpPr>
          <p:spPr bwMode="auto">
            <a:xfrm>
              <a:off x="199" y="2084"/>
              <a:ext cx="247" cy="173"/>
            </a:xfrm>
            <a:prstGeom prst="rect">
              <a:avLst/>
            </a:prstGeom>
            <a:noFill/>
            <a:ln w="9525">
              <a:noFill/>
              <a:miter lim="800000"/>
              <a:headEnd/>
              <a:tailEnd/>
            </a:ln>
          </p:spPr>
          <p:txBody>
            <a:bodyPr>
              <a:spAutoFit/>
            </a:bodyPr>
            <a:lstStyle/>
            <a:p>
              <a:pPr>
                <a:spcBef>
                  <a:spcPct val="50000"/>
                </a:spcBef>
              </a:pPr>
              <a:r>
                <a:rPr lang="en-US" sz="1200" dirty="0"/>
                <a:t>10</a:t>
              </a:r>
            </a:p>
          </p:txBody>
        </p:sp>
        <p:sp>
          <p:nvSpPr>
            <p:cNvPr id="26648" name="Text Box 23"/>
            <p:cNvSpPr txBox="1">
              <a:spLocks noChangeArrowheads="1"/>
            </p:cNvSpPr>
            <p:nvPr/>
          </p:nvSpPr>
          <p:spPr bwMode="auto">
            <a:xfrm>
              <a:off x="205" y="1659"/>
              <a:ext cx="226" cy="291"/>
            </a:xfrm>
            <a:prstGeom prst="rect">
              <a:avLst/>
            </a:prstGeom>
            <a:noFill/>
            <a:ln w="9525">
              <a:noFill/>
              <a:miter lim="800000"/>
              <a:headEnd/>
              <a:tailEnd/>
            </a:ln>
          </p:spPr>
          <p:txBody>
            <a:bodyPr>
              <a:spAutoFit/>
            </a:bodyPr>
            <a:lstStyle/>
            <a:p>
              <a:pPr>
                <a:spcBef>
                  <a:spcPct val="50000"/>
                </a:spcBef>
              </a:pPr>
              <a:r>
                <a:rPr lang="en-US" sz="1200" dirty="0"/>
                <a:t>20</a:t>
              </a:r>
            </a:p>
          </p:txBody>
        </p:sp>
        <p:sp>
          <p:nvSpPr>
            <p:cNvPr id="26649" name="Line 24"/>
            <p:cNvSpPr>
              <a:spLocks noChangeShapeType="1"/>
            </p:cNvSpPr>
            <p:nvPr/>
          </p:nvSpPr>
          <p:spPr bwMode="auto">
            <a:xfrm>
              <a:off x="759" y="2738"/>
              <a:ext cx="1" cy="68"/>
            </a:xfrm>
            <a:prstGeom prst="line">
              <a:avLst/>
            </a:prstGeom>
            <a:noFill/>
            <a:ln w="9525">
              <a:solidFill>
                <a:schemeClr val="tx1"/>
              </a:solidFill>
              <a:round/>
              <a:headEnd/>
              <a:tailEnd/>
            </a:ln>
          </p:spPr>
          <p:txBody>
            <a:bodyPr/>
            <a:lstStyle/>
            <a:p>
              <a:endParaRPr lang="da-DK"/>
            </a:p>
          </p:txBody>
        </p:sp>
        <p:sp>
          <p:nvSpPr>
            <p:cNvPr id="26650" name="Line 25"/>
            <p:cNvSpPr>
              <a:spLocks noChangeShapeType="1"/>
            </p:cNvSpPr>
            <p:nvPr/>
          </p:nvSpPr>
          <p:spPr bwMode="auto">
            <a:xfrm>
              <a:off x="983" y="2738"/>
              <a:ext cx="1" cy="68"/>
            </a:xfrm>
            <a:prstGeom prst="line">
              <a:avLst/>
            </a:prstGeom>
            <a:noFill/>
            <a:ln w="9525">
              <a:solidFill>
                <a:schemeClr val="tx1"/>
              </a:solidFill>
              <a:round/>
              <a:headEnd/>
              <a:tailEnd/>
            </a:ln>
          </p:spPr>
          <p:txBody>
            <a:bodyPr/>
            <a:lstStyle/>
            <a:p>
              <a:endParaRPr lang="da-DK"/>
            </a:p>
          </p:txBody>
        </p:sp>
        <p:sp>
          <p:nvSpPr>
            <p:cNvPr id="26651" name="Line 26"/>
            <p:cNvSpPr>
              <a:spLocks noChangeShapeType="1"/>
            </p:cNvSpPr>
            <p:nvPr/>
          </p:nvSpPr>
          <p:spPr bwMode="auto">
            <a:xfrm>
              <a:off x="1679" y="2738"/>
              <a:ext cx="1" cy="68"/>
            </a:xfrm>
            <a:prstGeom prst="line">
              <a:avLst/>
            </a:prstGeom>
            <a:noFill/>
            <a:ln w="9525">
              <a:solidFill>
                <a:schemeClr val="tx1"/>
              </a:solidFill>
              <a:round/>
              <a:headEnd/>
              <a:tailEnd/>
            </a:ln>
          </p:spPr>
          <p:txBody>
            <a:bodyPr/>
            <a:lstStyle/>
            <a:p>
              <a:endParaRPr lang="da-DK"/>
            </a:p>
          </p:txBody>
        </p:sp>
        <p:sp>
          <p:nvSpPr>
            <p:cNvPr id="26652" name="Line 27"/>
            <p:cNvSpPr>
              <a:spLocks noChangeShapeType="1"/>
            </p:cNvSpPr>
            <p:nvPr/>
          </p:nvSpPr>
          <p:spPr bwMode="auto">
            <a:xfrm flipH="1">
              <a:off x="404" y="2422"/>
              <a:ext cx="75" cy="0"/>
            </a:xfrm>
            <a:prstGeom prst="line">
              <a:avLst/>
            </a:prstGeom>
            <a:noFill/>
            <a:ln w="9525">
              <a:solidFill>
                <a:schemeClr val="tx1"/>
              </a:solidFill>
              <a:round/>
              <a:headEnd/>
              <a:tailEnd/>
            </a:ln>
          </p:spPr>
          <p:txBody>
            <a:bodyPr/>
            <a:lstStyle/>
            <a:p>
              <a:endParaRPr lang="da-DK"/>
            </a:p>
          </p:txBody>
        </p:sp>
        <p:sp>
          <p:nvSpPr>
            <p:cNvPr id="26653" name="Line 29"/>
            <p:cNvSpPr>
              <a:spLocks noChangeShapeType="1"/>
            </p:cNvSpPr>
            <p:nvPr/>
          </p:nvSpPr>
          <p:spPr bwMode="auto">
            <a:xfrm flipH="1">
              <a:off x="404" y="2166"/>
              <a:ext cx="75" cy="0"/>
            </a:xfrm>
            <a:prstGeom prst="line">
              <a:avLst/>
            </a:prstGeom>
            <a:noFill/>
            <a:ln w="9525">
              <a:solidFill>
                <a:schemeClr val="tx1"/>
              </a:solidFill>
              <a:round/>
              <a:headEnd/>
              <a:tailEnd/>
            </a:ln>
          </p:spPr>
          <p:txBody>
            <a:bodyPr/>
            <a:lstStyle/>
            <a:p>
              <a:endParaRPr lang="da-DK"/>
            </a:p>
          </p:txBody>
        </p:sp>
        <p:sp>
          <p:nvSpPr>
            <p:cNvPr id="26654" name="Line 30"/>
            <p:cNvSpPr>
              <a:spLocks noChangeShapeType="1"/>
            </p:cNvSpPr>
            <p:nvPr/>
          </p:nvSpPr>
          <p:spPr bwMode="auto">
            <a:xfrm flipH="1">
              <a:off x="400" y="1742"/>
              <a:ext cx="75" cy="0"/>
            </a:xfrm>
            <a:prstGeom prst="line">
              <a:avLst/>
            </a:prstGeom>
            <a:noFill/>
            <a:ln w="9525">
              <a:solidFill>
                <a:schemeClr val="tx1"/>
              </a:solidFill>
              <a:round/>
              <a:headEnd/>
              <a:tailEnd/>
            </a:ln>
          </p:spPr>
          <p:txBody>
            <a:bodyPr/>
            <a:lstStyle/>
            <a:p>
              <a:endParaRPr lang="da-DK"/>
            </a:p>
          </p:txBody>
        </p:sp>
      </p:grpSp>
      <p:sp>
        <p:nvSpPr>
          <p:cNvPr id="26631" name="Rectangle 33"/>
          <p:cNvSpPr>
            <a:spLocks noChangeArrowheads="1"/>
          </p:cNvSpPr>
          <p:nvPr/>
        </p:nvSpPr>
        <p:spPr bwMode="auto">
          <a:xfrm>
            <a:off x="10973436" y="6136324"/>
            <a:ext cx="416781" cy="276999"/>
          </a:xfrm>
          <a:prstGeom prst="rect">
            <a:avLst/>
          </a:prstGeom>
          <a:noFill/>
          <a:ln w="9525">
            <a:noFill/>
            <a:miter lim="800000"/>
            <a:headEnd/>
            <a:tailEnd/>
          </a:ln>
        </p:spPr>
        <p:txBody>
          <a:bodyPr wrap="none">
            <a:spAutoFit/>
          </a:bodyPr>
          <a:lstStyle/>
          <a:p>
            <a:fld id="{4E7531FC-AACB-45C6-8EF6-73776480660A}" type="slidenum">
              <a:rPr lang="en-US" sz="1200"/>
              <a:pPr/>
              <a:t>25</a:t>
            </a:fld>
            <a:endParaRPr lang="en-US" sz="1200" dirty="0"/>
          </a:p>
        </p:txBody>
      </p:sp>
      <p:sp>
        <p:nvSpPr>
          <p:cNvPr id="2" name="Tekstboks 1"/>
          <p:cNvSpPr txBox="1"/>
          <p:nvPr/>
        </p:nvSpPr>
        <p:spPr>
          <a:xfrm>
            <a:off x="8924926" y="2040984"/>
            <a:ext cx="2730780" cy="9541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da-DK" sz="2800" dirty="0">
                <a:solidFill>
                  <a:srgbClr val="002060"/>
                </a:solidFill>
              </a:rPr>
              <a:t>Faldende marginalnytte!</a:t>
            </a:r>
          </a:p>
        </p:txBody>
      </p:sp>
    </p:spTree>
    <p:extLst>
      <p:ext uri="{BB962C8B-B14F-4D97-AF65-F5344CB8AC3E}">
        <p14:creationId xmlns:p14="http://schemas.microsoft.com/office/powerpoint/2010/main" val="1065247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81200" y="766763"/>
            <a:ext cx="8229600" cy="868362"/>
          </a:xfrm>
        </p:spPr>
        <p:txBody>
          <a:bodyPr>
            <a:normAutofit/>
          </a:bodyPr>
          <a:lstStyle/>
          <a:p>
            <a:pPr algn="ctr" eaLnBrk="1" hangingPunct="1"/>
            <a:r>
              <a:rPr lang="en-US" dirty="0">
                <a:solidFill>
                  <a:srgbClr val="960000"/>
                </a:solidFill>
              </a:rPr>
              <a:t>Income and Substitution Effects</a:t>
            </a:r>
          </a:p>
        </p:txBody>
      </p:sp>
      <p:sp>
        <p:nvSpPr>
          <p:cNvPr id="45059" name="Rectangle 3"/>
          <p:cNvSpPr>
            <a:spLocks noGrp="1" noChangeArrowheads="1"/>
          </p:cNvSpPr>
          <p:nvPr>
            <p:ph type="body" sz="half" idx="1"/>
          </p:nvPr>
        </p:nvSpPr>
        <p:spPr>
          <a:xfrm>
            <a:off x="1851025" y="2065338"/>
            <a:ext cx="3962400" cy="3670300"/>
          </a:xfrm>
        </p:spPr>
        <p:txBody>
          <a:bodyPr/>
          <a:lstStyle/>
          <a:p>
            <a:pPr eaLnBrk="1" hangingPunct="1">
              <a:lnSpc>
                <a:spcPct val="90000"/>
              </a:lnSpc>
              <a:buFontTx/>
              <a:buNone/>
            </a:pPr>
            <a:r>
              <a:rPr lang="en-US" sz="2400" dirty="0"/>
              <a:t>   </a:t>
            </a:r>
            <a:r>
              <a:rPr lang="en-US" sz="2400" dirty="0">
                <a:solidFill>
                  <a:srgbClr val="960000"/>
                </a:solidFill>
              </a:rPr>
              <a:t>With budget line B</a:t>
            </a:r>
            <a:r>
              <a:rPr lang="en-US" sz="2400" baseline="-25000" dirty="0">
                <a:solidFill>
                  <a:srgbClr val="960000"/>
                </a:solidFill>
              </a:rPr>
              <a:t>1</a:t>
            </a:r>
            <a:r>
              <a:rPr lang="en-US" sz="2400" dirty="0">
                <a:solidFill>
                  <a:srgbClr val="960000"/>
                </a:solidFill>
              </a:rPr>
              <a:t> and indifference curve I</a:t>
            </a:r>
            <a:r>
              <a:rPr lang="en-US" sz="2400" baseline="-25000" dirty="0">
                <a:solidFill>
                  <a:srgbClr val="960000"/>
                </a:solidFill>
              </a:rPr>
              <a:t>1</a:t>
            </a:r>
            <a:r>
              <a:rPr lang="en-US" sz="2400" dirty="0">
                <a:solidFill>
                  <a:srgbClr val="960000"/>
                </a:solidFill>
              </a:rPr>
              <a:t>, Tom chooses t</a:t>
            </a:r>
            <a:r>
              <a:rPr lang="en-US" sz="2400" baseline="-25000" dirty="0">
                <a:solidFill>
                  <a:srgbClr val="960000"/>
                </a:solidFill>
              </a:rPr>
              <a:t>1</a:t>
            </a:r>
            <a:r>
              <a:rPr lang="en-US" sz="2400" dirty="0">
                <a:solidFill>
                  <a:srgbClr val="960000"/>
                </a:solidFill>
              </a:rPr>
              <a:t>. </a:t>
            </a:r>
          </a:p>
          <a:p>
            <a:pPr eaLnBrk="1" hangingPunct="1">
              <a:lnSpc>
                <a:spcPct val="90000"/>
              </a:lnSpc>
              <a:buFontTx/>
              <a:buNone/>
            </a:pPr>
            <a:r>
              <a:rPr lang="en-US" sz="2400" dirty="0">
                <a:solidFill>
                  <a:srgbClr val="960000"/>
                </a:solidFill>
              </a:rPr>
              <a:t> When clothing becomes more expensive, Tom moves to t</a:t>
            </a:r>
            <a:r>
              <a:rPr lang="en-US" sz="2400" baseline="-25000" dirty="0">
                <a:solidFill>
                  <a:srgbClr val="960000"/>
                </a:solidFill>
              </a:rPr>
              <a:t>2</a:t>
            </a:r>
            <a:r>
              <a:rPr lang="en-US" sz="2400" dirty="0">
                <a:solidFill>
                  <a:srgbClr val="960000"/>
                </a:solidFill>
              </a:rPr>
              <a:t>.</a:t>
            </a:r>
            <a:endParaRPr lang="en-US" sz="2400" baseline="-25000" dirty="0">
              <a:solidFill>
                <a:srgbClr val="960000"/>
              </a:solidFill>
            </a:endParaRPr>
          </a:p>
          <a:p>
            <a:pPr eaLnBrk="1" hangingPunct="1">
              <a:lnSpc>
                <a:spcPct val="90000"/>
              </a:lnSpc>
              <a:buFontTx/>
              <a:buNone/>
            </a:pPr>
            <a:r>
              <a:rPr lang="en-US" sz="2400" dirty="0">
                <a:solidFill>
                  <a:srgbClr val="960000"/>
                </a:solidFill>
              </a:rPr>
              <a:t>This includes a substitution effect (t</a:t>
            </a:r>
            <a:r>
              <a:rPr lang="en-US" sz="2400" baseline="-25000" dirty="0">
                <a:solidFill>
                  <a:srgbClr val="960000"/>
                </a:solidFill>
              </a:rPr>
              <a:t>1</a:t>
            </a:r>
            <a:r>
              <a:rPr lang="en-US" sz="2400" dirty="0">
                <a:solidFill>
                  <a:srgbClr val="960000"/>
                </a:solidFill>
                <a:sym typeface="Wingdings" pitchFamily="2" charset="2"/>
              </a:rPr>
              <a:t>t’) and an income effect (t’t</a:t>
            </a:r>
            <a:r>
              <a:rPr lang="en-US" sz="2400" baseline="-25000" dirty="0">
                <a:solidFill>
                  <a:srgbClr val="960000"/>
                </a:solidFill>
                <a:sym typeface="Wingdings" pitchFamily="2" charset="2"/>
              </a:rPr>
              <a:t>2</a:t>
            </a:r>
            <a:r>
              <a:rPr lang="en-US" sz="2400" dirty="0">
                <a:solidFill>
                  <a:srgbClr val="960000"/>
                </a:solidFill>
                <a:sym typeface="Wingdings" pitchFamily="2" charset="2"/>
              </a:rPr>
              <a:t>).</a:t>
            </a:r>
          </a:p>
        </p:txBody>
      </p:sp>
      <p:sp>
        <p:nvSpPr>
          <p:cNvPr id="27652" name="Rectangle 4"/>
          <p:cNvSpPr>
            <a:spLocks noChangeArrowheads="1"/>
          </p:cNvSpPr>
          <p:nvPr/>
        </p:nvSpPr>
        <p:spPr bwMode="auto">
          <a:xfrm>
            <a:off x="5637214" y="1143000"/>
            <a:ext cx="4802187" cy="5105400"/>
          </a:xfrm>
          <a:prstGeom prst="rect">
            <a:avLst/>
          </a:prstGeom>
          <a:noFill/>
          <a:ln w="12700">
            <a:noFill/>
            <a:miter lim="800000"/>
            <a:headEnd type="none" w="sm" len="sm"/>
            <a:tailEnd type="none" w="sm" len="sm"/>
          </a:ln>
        </p:spPr>
        <p:txBody>
          <a:bodyPr wrap="none" anchor="ctr"/>
          <a:lstStyle/>
          <a:p>
            <a:pPr algn="ctr"/>
            <a:endParaRPr lang="da-DK"/>
          </a:p>
        </p:txBody>
      </p:sp>
      <p:sp>
        <p:nvSpPr>
          <p:cNvPr id="27653" name="Text Box 5"/>
          <p:cNvSpPr txBox="1">
            <a:spLocks noChangeArrowheads="1"/>
          </p:cNvSpPr>
          <p:nvPr/>
        </p:nvSpPr>
        <p:spPr bwMode="auto">
          <a:xfrm rot="-5400000">
            <a:off x="5574719" y="3303688"/>
            <a:ext cx="1420389" cy="307777"/>
          </a:xfrm>
          <a:prstGeom prst="rect">
            <a:avLst/>
          </a:prstGeom>
          <a:noFill/>
          <a:ln w="12700">
            <a:noFill/>
            <a:miter lim="800000"/>
            <a:headEnd type="none" w="sm" len="sm"/>
            <a:tailEnd type="none" w="sm" len="sm"/>
          </a:ln>
        </p:spPr>
        <p:txBody>
          <a:bodyPr wrap="none">
            <a:spAutoFit/>
          </a:bodyPr>
          <a:lstStyle/>
          <a:p>
            <a:r>
              <a:rPr lang="en-US" sz="1400" dirty="0"/>
              <a:t>Quantity of Food</a:t>
            </a:r>
          </a:p>
        </p:txBody>
      </p:sp>
      <p:sp>
        <p:nvSpPr>
          <p:cNvPr id="27654" name="Text Box 6"/>
          <p:cNvSpPr txBox="1">
            <a:spLocks noChangeArrowheads="1"/>
          </p:cNvSpPr>
          <p:nvPr/>
        </p:nvSpPr>
        <p:spPr bwMode="auto">
          <a:xfrm>
            <a:off x="8301458" y="5689053"/>
            <a:ext cx="1666034" cy="307777"/>
          </a:xfrm>
          <a:prstGeom prst="rect">
            <a:avLst/>
          </a:prstGeom>
          <a:noFill/>
          <a:ln w="12700">
            <a:noFill/>
            <a:miter lim="800000"/>
            <a:headEnd type="none" w="sm" len="sm"/>
            <a:tailEnd type="none" w="sm" len="sm"/>
          </a:ln>
        </p:spPr>
        <p:txBody>
          <a:bodyPr wrap="none">
            <a:spAutoFit/>
          </a:bodyPr>
          <a:lstStyle/>
          <a:p>
            <a:r>
              <a:rPr lang="en-US" sz="1400" dirty="0"/>
              <a:t>Quantity of Clothing</a:t>
            </a:r>
          </a:p>
        </p:txBody>
      </p:sp>
      <p:sp>
        <p:nvSpPr>
          <p:cNvPr id="27655" name="Line 7"/>
          <p:cNvSpPr>
            <a:spLocks noChangeShapeType="1"/>
          </p:cNvSpPr>
          <p:nvPr/>
        </p:nvSpPr>
        <p:spPr bwMode="auto">
          <a:xfrm>
            <a:off x="6769100" y="1939925"/>
            <a:ext cx="0" cy="3627438"/>
          </a:xfrm>
          <a:prstGeom prst="line">
            <a:avLst/>
          </a:prstGeom>
          <a:noFill/>
          <a:ln w="12700">
            <a:solidFill>
              <a:schemeClr val="tx1"/>
            </a:solidFill>
            <a:round/>
            <a:headEnd type="triangle" w="sm" len="med"/>
            <a:tailEnd type="none" w="sm" len="sm"/>
          </a:ln>
        </p:spPr>
        <p:txBody>
          <a:bodyPr/>
          <a:lstStyle/>
          <a:p>
            <a:endParaRPr lang="da-DK"/>
          </a:p>
        </p:txBody>
      </p:sp>
      <p:sp>
        <p:nvSpPr>
          <p:cNvPr id="27656" name="Line 8"/>
          <p:cNvSpPr>
            <a:spLocks noChangeShapeType="1"/>
          </p:cNvSpPr>
          <p:nvPr/>
        </p:nvSpPr>
        <p:spPr bwMode="auto">
          <a:xfrm>
            <a:off x="6769100" y="5567363"/>
            <a:ext cx="3460750" cy="0"/>
          </a:xfrm>
          <a:prstGeom prst="line">
            <a:avLst/>
          </a:prstGeom>
          <a:noFill/>
          <a:ln w="12700">
            <a:solidFill>
              <a:schemeClr val="tx1"/>
            </a:solidFill>
            <a:round/>
            <a:headEnd type="none" w="sm" len="sm"/>
            <a:tailEnd type="triangle" w="sm" len="sm"/>
          </a:ln>
        </p:spPr>
        <p:txBody>
          <a:bodyPr/>
          <a:lstStyle/>
          <a:p>
            <a:endParaRPr lang="da-DK"/>
          </a:p>
        </p:txBody>
      </p:sp>
      <p:sp>
        <p:nvSpPr>
          <p:cNvPr id="27657" name="Line 9"/>
          <p:cNvSpPr>
            <a:spLocks noChangeShapeType="1"/>
          </p:cNvSpPr>
          <p:nvPr/>
        </p:nvSpPr>
        <p:spPr bwMode="auto">
          <a:xfrm>
            <a:off x="6769100" y="2674939"/>
            <a:ext cx="2471738" cy="2892425"/>
          </a:xfrm>
          <a:prstGeom prst="line">
            <a:avLst/>
          </a:prstGeom>
          <a:noFill/>
          <a:ln w="12700">
            <a:solidFill>
              <a:srgbClr val="5F5F5F"/>
            </a:solidFill>
            <a:round/>
            <a:headEnd type="none" w="sm" len="sm"/>
            <a:tailEnd type="none" w="sm" len="sm"/>
          </a:ln>
        </p:spPr>
        <p:txBody>
          <a:bodyPr/>
          <a:lstStyle/>
          <a:p>
            <a:endParaRPr lang="da-DK"/>
          </a:p>
        </p:txBody>
      </p:sp>
      <p:sp>
        <p:nvSpPr>
          <p:cNvPr id="27658" name="Text Box 10"/>
          <p:cNvSpPr txBox="1">
            <a:spLocks noChangeArrowheads="1"/>
          </p:cNvSpPr>
          <p:nvPr/>
        </p:nvSpPr>
        <p:spPr bwMode="auto">
          <a:xfrm>
            <a:off x="7696200" y="5546725"/>
            <a:ext cx="364202" cy="276999"/>
          </a:xfrm>
          <a:prstGeom prst="rect">
            <a:avLst/>
          </a:prstGeom>
          <a:noFill/>
          <a:ln w="12700">
            <a:noFill/>
            <a:miter lim="800000"/>
            <a:headEnd type="none" w="sm" len="sm"/>
            <a:tailEnd type="none" w="sm" len="sm"/>
          </a:ln>
        </p:spPr>
        <p:txBody>
          <a:bodyPr wrap="none">
            <a:spAutoFit/>
          </a:bodyPr>
          <a:lstStyle/>
          <a:p>
            <a:r>
              <a:rPr lang="en-US" sz="1200" i="1" dirty="0"/>
              <a:t>25</a:t>
            </a:r>
          </a:p>
        </p:txBody>
      </p:sp>
      <p:sp>
        <p:nvSpPr>
          <p:cNvPr id="27659" name="Arc 11"/>
          <p:cNvSpPr>
            <a:spLocks/>
          </p:cNvSpPr>
          <p:nvPr/>
        </p:nvSpPr>
        <p:spPr bwMode="auto">
          <a:xfrm rot="10286091">
            <a:off x="7391067" y="2467307"/>
            <a:ext cx="1587500" cy="2117725"/>
          </a:xfrm>
          <a:custGeom>
            <a:avLst/>
            <a:gdLst>
              <a:gd name="T0" fmla="*/ 0 w 21600"/>
              <a:gd name="T1" fmla="*/ 0 h 21600"/>
              <a:gd name="T2" fmla="*/ 116673895 w 21600"/>
              <a:gd name="T3" fmla="*/ 207627665 h 21600"/>
              <a:gd name="T4" fmla="*/ 0 w 21600"/>
              <a:gd name="T5" fmla="*/ 20762766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27660" name="Text Box 12"/>
          <p:cNvSpPr txBox="1">
            <a:spLocks noChangeArrowheads="1"/>
          </p:cNvSpPr>
          <p:nvPr/>
        </p:nvSpPr>
        <p:spPr bwMode="auto">
          <a:xfrm>
            <a:off x="6623050" y="1635125"/>
            <a:ext cx="292100" cy="304800"/>
          </a:xfrm>
          <a:prstGeom prst="rect">
            <a:avLst/>
          </a:prstGeom>
          <a:noFill/>
          <a:ln w="12700">
            <a:noFill/>
            <a:miter lim="800000"/>
            <a:headEnd type="none" w="sm" len="sm"/>
            <a:tailEnd type="none" w="sm" len="sm"/>
          </a:ln>
        </p:spPr>
        <p:txBody>
          <a:bodyPr>
            <a:spAutoFit/>
          </a:bodyPr>
          <a:lstStyle/>
          <a:p>
            <a:r>
              <a:rPr lang="en-US" sz="1400" i="1" dirty="0"/>
              <a:t>F</a:t>
            </a:r>
          </a:p>
        </p:txBody>
      </p:sp>
      <p:sp>
        <p:nvSpPr>
          <p:cNvPr id="27661" name="Text Box 13"/>
          <p:cNvSpPr txBox="1">
            <a:spLocks noChangeArrowheads="1"/>
          </p:cNvSpPr>
          <p:nvPr/>
        </p:nvSpPr>
        <p:spPr bwMode="auto">
          <a:xfrm>
            <a:off x="10171113" y="5397501"/>
            <a:ext cx="287258" cy="307777"/>
          </a:xfrm>
          <a:prstGeom prst="rect">
            <a:avLst/>
          </a:prstGeom>
          <a:noFill/>
          <a:ln w="12700">
            <a:noFill/>
            <a:miter lim="800000"/>
            <a:headEnd type="none" w="sm" len="sm"/>
            <a:tailEnd type="none" w="sm" len="sm"/>
          </a:ln>
        </p:spPr>
        <p:txBody>
          <a:bodyPr wrap="none">
            <a:spAutoFit/>
          </a:bodyPr>
          <a:lstStyle/>
          <a:p>
            <a:r>
              <a:rPr lang="en-US" sz="1400" i="1" dirty="0"/>
              <a:t>C</a:t>
            </a:r>
          </a:p>
        </p:txBody>
      </p:sp>
      <p:sp>
        <p:nvSpPr>
          <p:cNvPr id="27662" name="Line 14"/>
          <p:cNvSpPr>
            <a:spLocks noChangeShapeType="1"/>
          </p:cNvSpPr>
          <p:nvPr/>
        </p:nvSpPr>
        <p:spPr bwMode="auto">
          <a:xfrm>
            <a:off x="6769100" y="3951288"/>
            <a:ext cx="1079500" cy="11112"/>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27663" name="Line 15"/>
          <p:cNvSpPr>
            <a:spLocks noChangeShapeType="1"/>
          </p:cNvSpPr>
          <p:nvPr/>
        </p:nvSpPr>
        <p:spPr bwMode="auto">
          <a:xfrm flipV="1">
            <a:off x="7848600" y="3951289"/>
            <a:ext cx="0" cy="1616075"/>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45072" name="Line 16"/>
          <p:cNvSpPr>
            <a:spLocks noChangeShapeType="1"/>
          </p:cNvSpPr>
          <p:nvPr/>
        </p:nvSpPr>
        <p:spPr bwMode="auto">
          <a:xfrm>
            <a:off x="6781800" y="2667000"/>
            <a:ext cx="1447800" cy="2895600"/>
          </a:xfrm>
          <a:prstGeom prst="line">
            <a:avLst/>
          </a:prstGeom>
          <a:noFill/>
          <a:ln w="12700">
            <a:solidFill>
              <a:srgbClr val="FF6600"/>
            </a:solidFill>
            <a:round/>
            <a:headEnd type="none" w="sm" len="sm"/>
            <a:tailEnd type="none" w="sm" len="sm"/>
          </a:ln>
        </p:spPr>
        <p:txBody>
          <a:bodyPr/>
          <a:lstStyle/>
          <a:p>
            <a:endParaRPr lang="da-DK"/>
          </a:p>
        </p:txBody>
      </p:sp>
      <p:sp>
        <p:nvSpPr>
          <p:cNvPr id="45073" name="Line 17"/>
          <p:cNvSpPr>
            <a:spLocks noChangeShapeType="1"/>
          </p:cNvSpPr>
          <p:nvPr/>
        </p:nvSpPr>
        <p:spPr bwMode="auto">
          <a:xfrm>
            <a:off x="6934527" y="2255045"/>
            <a:ext cx="1528581" cy="3086337"/>
          </a:xfrm>
          <a:prstGeom prst="line">
            <a:avLst/>
          </a:prstGeom>
          <a:noFill/>
          <a:ln w="12700">
            <a:solidFill>
              <a:srgbClr val="FF6600"/>
            </a:solidFill>
            <a:prstDash val="dash"/>
            <a:round/>
            <a:headEnd type="none" w="sm" len="sm"/>
            <a:tailEnd type="none" w="sm" len="sm"/>
          </a:ln>
        </p:spPr>
        <p:txBody>
          <a:bodyPr/>
          <a:lstStyle/>
          <a:p>
            <a:endParaRPr lang="da-DK"/>
          </a:p>
        </p:txBody>
      </p:sp>
      <p:sp>
        <p:nvSpPr>
          <p:cNvPr id="27666" name="Text Box 18"/>
          <p:cNvSpPr txBox="1">
            <a:spLocks noChangeArrowheads="1"/>
          </p:cNvSpPr>
          <p:nvPr/>
        </p:nvSpPr>
        <p:spPr bwMode="auto">
          <a:xfrm>
            <a:off x="7848600" y="3673475"/>
            <a:ext cx="344966" cy="369332"/>
          </a:xfrm>
          <a:prstGeom prst="rect">
            <a:avLst/>
          </a:prstGeom>
          <a:noFill/>
          <a:ln w="12700">
            <a:noFill/>
            <a:miter lim="800000"/>
            <a:headEnd type="none" w="sm" len="sm"/>
            <a:tailEnd type="none" w="sm" len="sm"/>
          </a:ln>
        </p:spPr>
        <p:txBody>
          <a:bodyPr wrap="none">
            <a:spAutoFit/>
          </a:bodyPr>
          <a:lstStyle/>
          <a:p>
            <a:r>
              <a:rPr lang="en-US">
                <a:solidFill>
                  <a:srgbClr val="5F5F5F"/>
                </a:solidFill>
              </a:rPr>
              <a:t>t</a:t>
            </a:r>
            <a:r>
              <a:rPr lang="en-US" baseline="-25000">
                <a:solidFill>
                  <a:srgbClr val="5F5F5F"/>
                </a:solidFill>
              </a:rPr>
              <a:t>1</a:t>
            </a:r>
            <a:endParaRPr lang="en-US">
              <a:solidFill>
                <a:srgbClr val="5F5F5F"/>
              </a:solidFill>
            </a:endParaRPr>
          </a:p>
        </p:txBody>
      </p:sp>
      <p:sp>
        <p:nvSpPr>
          <p:cNvPr id="45075" name="Text Box 19"/>
          <p:cNvSpPr txBox="1">
            <a:spLocks noChangeArrowheads="1"/>
          </p:cNvSpPr>
          <p:nvPr/>
        </p:nvSpPr>
        <p:spPr bwMode="auto">
          <a:xfrm>
            <a:off x="7516813" y="3214688"/>
            <a:ext cx="293670" cy="369332"/>
          </a:xfrm>
          <a:prstGeom prst="rect">
            <a:avLst/>
          </a:prstGeom>
          <a:noFill/>
          <a:ln w="12700">
            <a:noFill/>
            <a:miter lim="800000"/>
            <a:headEnd type="none" w="sm" len="sm"/>
            <a:tailEnd type="none" w="sm" len="sm"/>
          </a:ln>
        </p:spPr>
        <p:txBody>
          <a:bodyPr wrap="none">
            <a:spAutoFit/>
          </a:bodyPr>
          <a:lstStyle/>
          <a:p>
            <a:r>
              <a:rPr lang="en-US">
                <a:solidFill>
                  <a:srgbClr val="5F5F5F"/>
                </a:solidFill>
              </a:rPr>
              <a:t>t</a:t>
            </a:r>
            <a:r>
              <a:rPr lang="en-US" baseline="30000">
                <a:solidFill>
                  <a:srgbClr val="5F5F5F"/>
                </a:solidFill>
              </a:rPr>
              <a:t>’</a:t>
            </a:r>
            <a:endParaRPr lang="en-US">
              <a:solidFill>
                <a:srgbClr val="5F5F5F"/>
              </a:solidFill>
            </a:endParaRPr>
          </a:p>
        </p:txBody>
      </p:sp>
      <p:sp>
        <p:nvSpPr>
          <p:cNvPr id="45076" name="Text Box 20"/>
          <p:cNvSpPr txBox="1">
            <a:spLocks noChangeArrowheads="1"/>
          </p:cNvSpPr>
          <p:nvPr/>
        </p:nvSpPr>
        <p:spPr bwMode="auto">
          <a:xfrm>
            <a:off x="7162800" y="3900488"/>
            <a:ext cx="344966" cy="369332"/>
          </a:xfrm>
          <a:prstGeom prst="rect">
            <a:avLst/>
          </a:prstGeom>
          <a:noFill/>
          <a:ln w="12700">
            <a:noFill/>
            <a:miter lim="800000"/>
            <a:headEnd type="none" w="sm" len="sm"/>
            <a:tailEnd type="none" w="sm" len="sm"/>
          </a:ln>
        </p:spPr>
        <p:txBody>
          <a:bodyPr wrap="none">
            <a:spAutoFit/>
          </a:bodyPr>
          <a:lstStyle/>
          <a:p>
            <a:r>
              <a:rPr lang="en-US">
                <a:solidFill>
                  <a:srgbClr val="5F5F5F"/>
                </a:solidFill>
              </a:rPr>
              <a:t>t</a:t>
            </a:r>
            <a:r>
              <a:rPr lang="en-US" baseline="-25000">
                <a:solidFill>
                  <a:srgbClr val="5F5F5F"/>
                </a:solidFill>
              </a:rPr>
              <a:t>2</a:t>
            </a:r>
            <a:endParaRPr lang="en-US">
              <a:solidFill>
                <a:srgbClr val="5F5F5F"/>
              </a:solidFill>
            </a:endParaRPr>
          </a:p>
        </p:txBody>
      </p:sp>
      <p:sp>
        <p:nvSpPr>
          <p:cNvPr id="45077" name="Arc 21"/>
          <p:cNvSpPr>
            <a:spLocks/>
          </p:cNvSpPr>
          <p:nvPr/>
        </p:nvSpPr>
        <p:spPr bwMode="auto">
          <a:xfrm rot="-10593358">
            <a:off x="7067550" y="2587626"/>
            <a:ext cx="1695450" cy="2212975"/>
          </a:xfrm>
          <a:custGeom>
            <a:avLst/>
            <a:gdLst>
              <a:gd name="T0" fmla="*/ 0 w 21600"/>
              <a:gd name="T1" fmla="*/ 0 h 21600"/>
              <a:gd name="T2" fmla="*/ 133081042 w 21600"/>
              <a:gd name="T3" fmla="*/ 226724842 h 21600"/>
              <a:gd name="T4" fmla="*/ 0 w 21600"/>
              <a:gd name="T5" fmla="*/ 22672484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66"/>
            </a:solidFill>
            <a:round/>
            <a:headEnd type="none" w="sm" len="sm"/>
            <a:tailEnd type="none" w="sm" len="sm"/>
          </a:ln>
        </p:spPr>
        <p:txBody>
          <a:bodyPr rot="10800000" wrap="none" anchor="ctr"/>
          <a:lstStyle/>
          <a:p>
            <a:endParaRPr lang="da-DK"/>
          </a:p>
        </p:txBody>
      </p:sp>
      <p:sp>
        <p:nvSpPr>
          <p:cNvPr id="45078" name="Line 22"/>
          <p:cNvSpPr>
            <a:spLocks noChangeShapeType="1"/>
          </p:cNvSpPr>
          <p:nvPr/>
        </p:nvSpPr>
        <p:spPr bwMode="auto">
          <a:xfrm flipV="1">
            <a:off x="7620000" y="3581400"/>
            <a:ext cx="0" cy="1981200"/>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45079" name="Line 23"/>
          <p:cNvSpPr>
            <a:spLocks noChangeShapeType="1"/>
          </p:cNvSpPr>
          <p:nvPr/>
        </p:nvSpPr>
        <p:spPr bwMode="auto">
          <a:xfrm flipV="1">
            <a:off x="7391400" y="3962401"/>
            <a:ext cx="0" cy="1616075"/>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45080" name="Text Box 24"/>
          <p:cNvSpPr txBox="1">
            <a:spLocks noChangeArrowheads="1"/>
          </p:cNvSpPr>
          <p:nvPr/>
        </p:nvSpPr>
        <p:spPr bwMode="auto">
          <a:xfrm>
            <a:off x="7383088" y="5719831"/>
            <a:ext cx="465512" cy="276999"/>
          </a:xfrm>
          <a:prstGeom prst="rect">
            <a:avLst/>
          </a:prstGeom>
          <a:noFill/>
          <a:ln w="12700">
            <a:noFill/>
            <a:miter lim="800000"/>
            <a:headEnd type="none" w="sm" len="sm"/>
            <a:tailEnd type="none" w="sm" len="sm"/>
          </a:ln>
        </p:spPr>
        <p:txBody>
          <a:bodyPr wrap="none">
            <a:spAutoFit/>
          </a:bodyPr>
          <a:lstStyle/>
          <a:p>
            <a:r>
              <a:rPr lang="en-US" sz="1200" i="1" dirty="0"/>
              <a:t>17.7</a:t>
            </a:r>
          </a:p>
        </p:txBody>
      </p:sp>
      <p:sp>
        <p:nvSpPr>
          <p:cNvPr id="45081" name="Text Box 25"/>
          <p:cNvSpPr txBox="1">
            <a:spLocks noChangeArrowheads="1"/>
          </p:cNvSpPr>
          <p:nvPr/>
        </p:nvSpPr>
        <p:spPr bwMode="auto">
          <a:xfrm>
            <a:off x="7145178" y="5558482"/>
            <a:ext cx="492443" cy="276999"/>
          </a:xfrm>
          <a:prstGeom prst="rect">
            <a:avLst/>
          </a:prstGeom>
          <a:noFill/>
          <a:ln w="12700">
            <a:noFill/>
            <a:miter lim="800000"/>
            <a:headEnd type="none" w="sm" len="sm"/>
            <a:tailEnd type="none" w="sm" len="sm"/>
          </a:ln>
        </p:spPr>
        <p:txBody>
          <a:bodyPr wrap="none">
            <a:spAutoFit/>
          </a:bodyPr>
          <a:lstStyle/>
          <a:p>
            <a:r>
              <a:rPr lang="en-US" sz="1200" i="1" dirty="0"/>
              <a:t>12.5</a:t>
            </a:r>
          </a:p>
        </p:txBody>
      </p:sp>
      <p:sp>
        <p:nvSpPr>
          <p:cNvPr id="27674" name="Text Box 26"/>
          <p:cNvSpPr txBox="1">
            <a:spLocks noChangeArrowheads="1"/>
          </p:cNvSpPr>
          <p:nvPr/>
        </p:nvSpPr>
        <p:spPr bwMode="auto">
          <a:xfrm>
            <a:off x="9051926" y="5040313"/>
            <a:ext cx="366713" cy="304800"/>
          </a:xfrm>
          <a:prstGeom prst="rect">
            <a:avLst/>
          </a:prstGeom>
          <a:noFill/>
          <a:ln w="12700">
            <a:noFill/>
            <a:miter lim="800000"/>
            <a:headEnd type="none" w="sm" len="sm"/>
            <a:tailEnd type="none" w="sm" len="sm"/>
          </a:ln>
        </p:spPr>
        <p:txBody>
          <a:bodyPr wrap="none">
            <a:spAutoFit/>
          </a:bodyPr>
          <a:lstStyle/>
          <a:p>
            <a:r>
              <a:rPr lang="en-US" sz="1400">
                <a:solidFill>
                  <a:srgbClr val="5F5F5F"/>
                </a:solidFill>
              </a:rPr>
              <a:t>B</a:t>
            </a:r>
            <a:r>
              <a:rPr lang="en-US" sz="1400" baseline="-25000">
                <a:solidFill>
                  <a:srgbClr val="5F5F5F"/>
                </a:solidFill>
              </a:rPr>
              <a:t>1</a:t>
            </a:r>
            <a:endParaRPr lang="en-US" sz="1400">
              <a:solidFill>
                <a:srgbClr val="5F5F5F"/>
              </a:solidFill>
            </a:endParaRPr>
          </a:p>
        </p:txBody>
      </p:sp>
      <p:sp>
        <p:nvSpPr>
          <p:cNvPr id="45083" name="Text Box 27"/>
          <p:cNvSpPr txBox="1">
            <a:spLocks noChangeArrowheads="1"/>
          </p:cNvSpPr>
          <p:nvPr/>
        </p:nvSpPr>
        <p:spPr bwMode="auto">
          <a:xfrm>
            <a:off x="7848601" y="5192713"/>
            <a:ext cx="366713" cy="304800"/>
          </a:xfrm>
          <a:prstGeom prst="rect">
            <a:avLst/>
          </a:prstGeom>
          <a:noFill/>
          <a:ln w="12700">
            <a:noFill/>
            <a:miter lim="800000"/>
            <a:headEnd type="none" w="sm" len="sm"/>
            <a:tailEnd type="none" w="sm" len="sm"/>
          </a:ln>
        </p:spPr>
        <p:txBody>
          <a:bodyPr wrap="none">
            <a:spAutoFit/>
          </a:bodyPr>
          <a:lstStyle/>
          <a:p>
            <a:r>
              <a:rPr lang="en-US" sz="1400">
                <a:solidFill>
                  <a:srgbClr val="5F5F5F"/>
                </a:solidFill>
              </a:rPr>
              <a:t>B</a:t>
            </a:r>
            <a:r>
              <a:rPr lang="en-US" sz="1400" baseline="-25000">
                <a:solidFill>
                  <a:srgbClr val="5F5F5F"/>
                </a:solidFill>
              </a:rPr>
              <a:t>2</a:t>
            </a:r>
            <a:endParaRPr lang="en-US" sz="1400">
              <a:solidFill>
                <a:srgbClr val="5F5F5F"/>
              </a:solidFill>
            </a:endParaRPr>
          </a:p>
        </p:txBody>
      </p:sp>
      <p:sp>
        <p:nvSpPr>
          <p:cNvPr id="45084" name="Text Box 28"/>
          <p:cNvSpPr txBox="1">
            <a:spLocks noChangeArrowheads="1"/>
          </p:cNvSpPr>
          <p:nvPr/>
        </p:nvSpPr>
        <p:spPr bwMode="auto">
          <a:xfrm>
            <a:off x="8382001" y="5192713"/>
            <a:ext cx="328613" cy="304800"/>
          </a:xfrm>
          <a:prstGeom prst="rect">
            <a:avLst/>
          </a:prstGeom>
          <a:noFill/>
          <a:ln w="12700">
            <a:noFill/>
            <a:miter lim="800000"/>
            <a:headEnd type="none" w="sm" len="sm"/>
            <a:tailEnd type="none" w="sm" len="sm"/>
          </a:ln>
        </p:spPr>
        <p:txBody>
          <a:bodyPr wrap="none">
            <a:spAutoFit/>
          </a:bodyPr>
          <a:lstStyle/>
          <a:p>
            <a:r>
              <a:rPr lang="en-US" sz="1400">
                <a:solidFill>
                  <a:srgbClr val="5F5F5F"/>
                </a:solidFill>
              </a:rPr>
              <a:t>B</a:t>
            </a:r>
            <a:r>
              <a:rPr lang="en-US" sz="1400" baseline="30000">
                <a:solidFill>
                  <a:srgbClr val="5F5F5F"/>
                </a:solidFill>
              </a:rPr>
              <a:t>’</a:t>
            </a:r>
            <a:endParaRPr lang="en-US" sz="1400">
              <a:solidFill>
                <a:srgbClr val="5F5F5F"/>
              </a:solidFill>
            </a:endParaRPr>
          </a:p>
        </p:txBody>
      </p:sp>
      <p:sp>
        <p:nvSpPr>
          <p:cNvPr id="27677" name="Text Box 29"/>
          <p:cNvSpPr txBox="1">
            <a:spLocks noChangeArrowheads="1"/>
          </p:cNvSpPr>
          <p:nvPr/>
        </p:nvSpPr>
        <p:spPr bwMode="auto">
          <a:xfrm>
            <a:off x="6457950" y="3810000"/>
            <a:ext cx="364202" cy="276999"/>
          </a:xfrm>
          <a:prstGeom prst="rect">
            <a:avLst/>
          </a:prstGeom>
          <a:noFill/>
          <a:ln w="12700">
            <a:noFill/>
            <a:miter lim="800000"/>
            <a:headEnd type="none" w="sm" len="sm"/>
            <a:tailEnd type="none" w="sm" len="sm"/>
          </a:ln>
        </p:spPr>
        <p:txBody>
          <a:bodyPr wrap="none">
            <a:spAutoFit/>
          </a:bodyPr>
          <a:lstStyle/>
          <a:p>
            <a:r>
              <a:rPr lang="en-US" sz="1200" i="1" dirty="0"/>
              <a:t>50</a:t>
            </a:r>
          </a:p>
        </p:txBody>
      </p:sp>
      <p:sp>
        <p:nvSpPr>
          <p:cNvPr id="45086" name="Text Box 30"/>
          <p:cNvSpPr txBox="1">
            <a:spLocks noChangeArrowheads="1"/>
          </p:cNvSpPr>
          <p:nvPr/>
        </p:nvSpPr>
        <p:spPr bwMode="auto">
          <a:xfrm>
            <a:off x="6353176" y="3429000"/>
            <a:ext cx="492443" cy="276999"/>
          </a:xfrm>
          <a:prstGeom prst="rect">
            <a:avLst/>
          </a:prstGeom>
          <a:noFill/>
          <a:ln w="12700">
            <a:noFill/>
            <a:miter lim="800000"/>
            <a:headEnd type="none" w="sm" len="sm"/>
            <a:tailEnd type="none" w="sm" len="sm"/>
          </a:ln>
        </p:spPr>
        <p:txBody>
          <a:bodyPr wrap="none">
            <a:spAutoFit/>
          </a:bodyPr>
          <a:lstStyle/>
          <a:p>
            <a:r>
              <a:rPr lang="en-US" sz="1200" i="1" dirty="0"/>
              <a:t>70.6</a:t>
            </a:r>
          </a:p>
        </p:txBody>
      </p:sp>
      <p:sp>
        <p:nvSpPr>
          <p:cNvPr id="45087" name="Line 31"/>
          <p:cNvSpPr>
            <a:spLocks noChangeShapeType="1"/>
          </p:cNvSpPr>
          <p:nvPr/>
        </p:nvSpPr>
        <p:spPr bwMode="auto">
          <a:xfrm>
            <a:off x="6781800" y="3570288"/>
            <a:ext cx="762000" cy="11112"/>
          </a:xfrm>
          <a:prstGeom prst="line">
            <a:avLst/>
          </a:prstGeom>
          <a:noFill/>
          <a:ln w="12700">
            <a:solidFill>
              <a:srgbClr val="5F5F5F"/>
            </a:solidFill>
            <a:prstDash val="dash"/>
            <a:round/>
            <a:headEnd type="none" w="sm" len="sm"/>
            <a:tailEnd type="none" w="sm" len="sm"/>
          </a:ln>
        </p:spPr>
        <p:txBody>
          <a:bodyPr/>
          <a:lstStyle/>
          <a:p>
            <a:endParaRPr lang="da-DK"/>
          </a:p>
        </p:txBody>
      </p:sp>
      <p:sp>
        <p:nvSpPr>
          <p:cNvPr id="27680" name="Rectangle 34"/>
          <p:cNvSpPr>
            <a:spLocks noChangeArrowheads="1"/>
          </p:cNvSpPr>
          <p:nvPr/>
        </p:nvSpPr>
        <p:spPr bwMode="auto">
          <a:xfrm>
            <a:off x="10821886" y="6109900"/>
            <a:ext cx="416781" cy="276999"/>
          </a:xfrm>
          <a:prstGeom prst="rect">
            <a:avLst/>
          </a:prstGeom>
          <a:noFill/>
          <a:ln w="9525">
            <a:noFill/>
            <a:miter lim="800000"/>
            <a:headEnd/>
            <a:tailEnd/>
          </a:ln>
        </p:spPr>
        <p:txBody>
          <a:bodyPr wrap="none">
            <a:spAutoFit/>
          </a:bodyPr>
          <a:lstStyle/>
          <a:p>
            <a:fld id="{530A0231-08CA-4EF1-9E6B-A385F38AA9C5}" type="slidenum">
              <a:rPr lang="en-US" sz="1200"/>
              <a:pPr/>
              <a:t>26</a:t>
            </a:fld>
            <a:endParaRPr lang="en-US" sz="1200" dirty="0"/>
          </a:p>
        </p:txBody>
      </p:sp>
      <p:sp>
        <p:nvSpPr>
          <p:cNvPr id="2" name="Tekstboks 1"/>
          <p:cNvSpPr txBox="1"/>
          <p:nvPr/>
        </p:nvSpPr>
        <p:spPr>
          <a:xfrm>
            <a:off x="10314742" y="1680757"/>
            <a:ext cx="1847850" cy="2585323"/>
          </a:xfrm>
          <a:prstGeom prst="rect">
            <a:avLst/>
          </a:prstGeom>
          <a:solidFill>
            <a:schemeClr val="bg2">
              <a:lumMod val="60000"/>
              <a:lumOff val="40000"/>
            </a:schemeClr>
          </a:solidFill>
        </p:spPr>
        <p:txBody>
          <a:bodyPr wrap="square" rtlCol="0">
            <a:spAutoFit/>
          </a:bodyPr>
          <a:lstStyle/>
          <a:p>
            <a:r>
              <a:rPr lang="da-DK" dirty="0">
                <a:solidFill>
                  <a:srgbClr val="002060"/>
                </a:solidFill>
              </a:rPr>
              <a:t>Fra  t</a:t>
            </a:r>
            <a:r>
              <a:rPr lang="da-DK" sz="1200" dirty="0">
                <a:solidFill>
                  <a:srgbClr val="002060"/>
                </a:solidFill>
              </a:rPr>
              <a:t>1</a:t>
            </a:r>
            <a:r>
              <a:rPr lang="da-DK" dirty="0">
                <a:solidFill>
                  <a:srgbClr val="002060"/>
                </a:solidFill>
              </a:rPr>
              <a:t> -&gt; t</a:t>
            </a:r>
            <a:r>
              <a:rPr lang="da-DK" sz="1200" dirty="0">
                <a:solidFill>
                  <a:srgbClr val="002060"/>
                </a:solidFill>
              </a:rPr>
              <a:t>2</a:t>
            </a:r>
            <a:r>
              <a:rPr lang="da-DK" dirty="0">
                <a:solidFill>
                  <a:srgbClr val="002060"/>
                </a:solidFill>
              </a:rPr>
              <a:t>: </a:t>
            </a:r>
          </a:p>
          <a:p>
            <a:r>
              <a:rPr lang="da-DK" dirty="0" err="1">
                <a:solidFill>
                  <a:srgbClr val="002060"/>
                </a:solidFill>
              </a:rPr>
              <a:t>Q</a:t>
            </a:r>
            <a:r>
              <a:rPr lang="da-DK" sz="1200" dirty="0" err="1">
                <a:solidFill>
                  <a:srgbClr val="002060"/>
                </a:solidFill>
              </a:rPr>
              <a:t>cloth</a:t>
            </a:r>
            <a:r>
              <a:rPr lang="da-DK" dirty="0">
                <a:solidFill>
                  <a:srgbClr val="002060"/>
                </a:solidFill>
              </a:rPr>
              <a:t> fra 25 til 12,5 skyldes dels, at tøj er blevet dyrere ift. mad, dels at I er blevet mindre fordi….. tøj er blevet dyrere!</a:t>
            </a:r>
          </a:p>
        </p:txBody>
      </p:sp>
    </p:spTree>
    <p:extLst>
      <p:ext uri="{BB962C8B-B14F-4D97-AF65-F5344CB8AC3E}">
        <p14:creationId xmlns:p14="http://schemas.microsoft.com/office/powerpoint/2010/main" val="61094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5072"/>
                                        </p:tgtEl>
                                        <p:attrNameLst>
                                          <p:attrName>style.visibility</p:attrName>
                                        </p:attrNameLst>
                                      </p:cBhvr>
                                      <p:to>
                                        <p:strVal val="visible"/>
                                      </p:to>
                                    </p:set>
                                    <p:animEffect transition="in" filter="wipe(left)">
                                      <p:cBhvr>
                                        <p:cTn id="10" dur="500"/>
                                        <p:tgtEl>
                                          <p:spTgt spid="45072"/>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45083"/>
                                        </p:tgtEl>
                                        <p:attrNameLst>
                                          <p:attrName>style.visibility</p:attrName>
                                        </p:attrNameLst>
                                      </p:cBhvr>
                                      <p:to>
                                        <p:strVal val="visible"/>
                                      </p:to>
                                    </p:se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5077"/>
                                        </p:tgtEl>
                                        <p:attrNameLst>
                                          <p:attrName>style.visibility</p:attrName>
                                        </p:attrNameLst>
                                      </p:cBhvr>
                                      <p:to>
                                        <p:strVal val="visible"/>
                                      </p:to>
                                    </p:set>
                                    <p:animEffect transition="in" filter="wipe(up)">
                                      <p:cBhvr>
                                        <p:cTn id="16" dur="500"/>
                                        <p:tgtEl>
                                          <p:spTgt spid="45077"/>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45079"/>
                                        </p:tgtEl>
                                        <p:attrNameLst>
                                          <p:attrName>style.visibility</p:attrName>
                                        </p:attrNameLst>
                                      </p:cBhvr>
                                      <p:to>
                                        <p:strVal val="visible"/>
                                      </p:to>
                                    </p:set>
                                    <p:animEffect transition="in" filter="wipe(up)">
                                      <p:cBhvr>
                                        <p:cTn id="20" dur="500"/>
                                        <p:tgtEl>
                                          <p:spTgt spid="45079"/>
                                        </p:tgtEl>
                                      </p:cBhvr>
                                    </p:animEffect>
                                  </p:childTnLst>
                                </p:cTn>
                              </p:par>
                            </p:childTnLst>
                          </p:cTn>
                        </p:par>
                        <p:par>
                          <p:cTn id="21" fill="hold">
                            <p:stCondLst>
                              <p:cond delay="1500"/>
                            </p:stCondLst>
                            <p:childTnLst>
                              <p:par>
                                <p:cTn id="22" presetID="1" presetClass="entr" presetSubtype="0" fill="hold" grpId="0" nodeType="afterEffect">
                                  <p:stCondLst>
                                    <p:cond delay="0"/>
                                  </p:stCondLst>
                                  <p:childTnLst>
                                    <p:set>
                                      <p:cBhvr>
                                        <p:cTn id="23" dur="1" fill="hold">
                                          <p:stCondLst>
                                            <p:cond delay="0"/>
                                          </p:stCondLst>
                                        </p:cTn>
                                        <p:tgtEl>
                                          <p:spTgt spid="45081"/>
                                        </p:tgtEl>
                                        <p:attrNameLst>
                                          <p:attrName>style.visibility</p:attrName>
                                        </p:attrNameLst>
                                      </p:cBhvr>
                                      <p:to>
                                        <p:strVal val="visible"/>
                                      </p:to>
                                    </p:set>
                                  </p:childTnLst>
                                </p:cTn>
                              </p:par>
                            </p:childTnLst>
                          </p:cTn>
                        </p:par>
                        <p:par>
                          <p:cTn id="24" fill="hold">
                            <p:stCondLst>
                              <p:cond delay="1500"/>
                            </p:stCondLst>
                            <p:childTnLst>
                              <p:par>
                                <p:cTn id="25" presetID="1" presetClass="entr" presetSubtype="0" fill="hold" grpId="0" nodeType="afterEffect">
                                  <p:stCondLst>
                                    <p:cond delay="0"/>
                                  </p:stCondLst>
                                  <p:childTnLst>
                                    <p:set>
                                      <p:cBhvr>
                                        <p:cTn id="26" dur="1" fill="hold">
                                          <p:stCondLst>
                                            <p:cond delay="0"/>
                                          </p:stCondLst>
                                        </p:cTn>
                                        <p:tgtEl>
                                          <p:spTgt spid="450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059">
                                            <p:txEl>
                                              <p:charRg st="118" end="189"/>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45073"/>
                                        </p:tgtEl>
                                        <p:attrNameLst>
                                          <p:attrName>style.visibility</p:attrName>
                                        </p:attrNameLst>
                                      </p:cBhvr>
                                      <p:to>
                                        <p:strVal val="visible"/>
                                      </p:to>
                                    </p:set>
                                  </p:childTnLst>
                                </p:cTn>
                              </p:par>
                              <p:par>
                                <p:cTn id="34" presetID="63" presetClass="path" presetSubtype="0" accel="50000" decel="50000" fill="hold" grpId="1" nodeType="withEffect">
                                  <p:stCondLst>
                                    <p:cond delay="0"/>
                                  </p:stCondLst>
                                  <p:childTnLst>
                                    <p:animMotion origin="layout" path="M 1.11022E-16 3.33333E-6 L 0.03333 3.33333E-6 " pathEditMode="relative" rAng="0" ptsTypes="AA">
                                      <p:cBhvr>
                                        <p:cTn id="35" dur="2000" fill="hold"/>
                                        <p:tgtEl>
                                          <p:spTgt spid="45073"/>
                                        </p:tgtEl>
                                        <p:attrNameLst>
                                          <p:attrName>ppt_x</p:attrName>
                                          <p:attrName>ppt_y</p:attrName>
                                        </p:attrNameLst>
                                      </p:cBhvr>
                                      <p:rCtr x="17" y="0"/>
                                    </p:animMotion>
                                  </p:childTnLst>
                                </p:cTn>
                              </p:par>
                            </p:childTnLst>
                          </p:cTn>
                        </p:par>
                        <p:par>
                          <p:cTn id="36" fill="hold">
                            <p:stCondLst>
                              <p:cond delay="2000"/>
                            </p:stCondLst>
                            <p:childTnLst>
                              <p:par>
                                <p:cTn id="37" presetID="1" presetClass="entr" presetSubtype="0" fill="hold" grpId="0" nodeType="afterEffect">
                                  <p:stCondLst>
                                    <p:cond delay="0"/>
                                  </p:stCondLst>
                                  <p:childTnLst>
                                    <p:set>
                                      <p:cBhvr>
                                        <p:cTn id="38" dur="1" fill="hold">
                                          <p:stCondLst>
                                            <p:cond delay="0"/>
                                          </p:stCondLst>
                                        </p:cTn>
                                        <p:tgtEl>
                                          <p:spTgt spid="45086"/>
                                        </p:tgtEl>
                                        <p:attrNameLst>
                                          <p:attrName>style.visibility</p:attrName>
                                        </p:attrNameLst>
                                      </p:cBhvr>
                                      <p:to>
                                        <p:strVal val="visible"/>
                                      </p:to>
                                    </p:se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45087"/>
                                        </p:tgtEl>
                                        <p:attrNameLst>
                                          <p:attrName>style.visibility</p:attrName>
                                        </p:attrNameLst>
                                      </p:cBhvr>
                                      <p:to>
                                        <p:strVal val="visible"/>
                                      </p:to>
                                    </p:set>
                                    <p:animEffect transition="in" filter="wipe(left)">
                                      <p:cBhvr>
                                        <p:cTn id="42" dur="500"/>
                                        <p:tgtEl>
                                          <p:spTgt spid="45087"/>
                                        </p:tgtEl>
                                      </p:cBhvr>
                                    </p:animEffect>
                                  </p:childTnLst>
                                </p:cTn>
                              </p:par>
                            </p:childTnLst>
                          </p:cTn>
                        </p:par>
                        <p:par>
                          <p:cTn id="43" fill="hold">
                            <p:stCondLst>
                              <p:cond delay="2500"/>
                            </p:stCondLst>
                            <p:childTnLst>
                              <p:par>
                                <p:cTn id="44" presetID="22" presetClass="entr" presetSubtype="1" fill="hold" grpId="0" nodeType="afterEffect">
                                  <p:stCondLst>
                                    <p:cond delay="0"/>
                                  </p:stCondLst>
                                  <p:childTnLst>
                                    <p:set>
                                      <p:cBhvr>
                                        <p:cTn id="45" dur="1" fill="hold">
                                          <p:stCondLst>
                                            <p:cond delay="0"/>
                                          </p:stCondLst>
                                        </p:cTn>
                                        <p:tgtEl>
                                          <p:spTgt spid="45078"/>
                                        </p:tgtEl>
                                        <p:attrNameLst>
                                          <p:attrName>style.visibility</p:attrName>
                                        </p:attrNameLst>
                                      </p:cBhvr>
                                      <p:to>
                                        <p:strVal val="visible"/>
                                      </p:to>
                                    </p:set>
                                    <p:animEffect transition="in" filter="wipe(up)">
                                      <p:cBhvr>
                                        <p:cTn id="46" dur="500"/>
                                        <p:tgtEl>
                                          <p:spTgt spid="45078"/>
                                        </p:tgtEl>
                                      </p:cBhvr>
                                    </p:animEffect>
                                  </p:childTnLst>
                                </p:cTn>
                              </p:par>
                            </p:childTnLst>
                          </p:cTn>
                        </p:par>
                        <p:par>
                          <p:cTn id="47" fill="hold">
                            <p:stCondLst>
                              <p:cond delay="3000"/>
                            </p:stCondLst>
                            <p:childTnLst>
                              <p:par>
                                <p:cTn id="48" presetID="1" presetClass="entr" presetSubtype="0" fill="hold" grpId="0" nodeType="afterEffect">
                                  <p:stCondLst>
                                    <p:cond delay="0"/>
                                  </p:stCondLst>
                                  <p:childTnLst>
                                    <p:set>
                                      <p:cBhvr>
                                        <p:cTn id="49" dur="1" fill="hold">
                                          <p:stCondLst>
                                            <p:cond delay="0"/>
                                          </p:stCondLst>
                                        </p:cTn>
                                        <p:tgtEl>
                                          <p:spTgt spid="45080"/>
                                        </p:tgtEl>
                                        <p:attrNameLst>
                                          <p:attrName>style.visibility</p:attrName>
                                        </p:attrNameLst>
                                      </p:cBhvr>
                                      <p:to>
                                        <p:strVal val="visible"/>
                                      </p:to>
                                    </p:set>
                                  </p:childTnLst>
                                </p:cTn>
                              </p:par>
                            </p:childTnLst>
                          </p:cTn>
                        </p:par>
                        <p:par>
                          <p:cTn id="50" fill="hold">
                            <p:stCondLst>
                              <p:cond delay="3000"/>
                            </p:stCondLst>
                            <p:childTnLst>
                              <p:par>
                                <p:cTn id="51" presetID="1" presetClass="entr" presetSubtype="0" fill="hold" grpId="0" nodeType="afterEffect">
                                  <p:stCondLst>
                                    <p:cond delay="0"/>
                                  </p:stCondLst>
                                  <p:childTnLst>
                                    <p:set>
                                      <p:cBhvr>
                                        <p:cTn id="52" dur="1" fill="hold">
                                          <p:stCondLst>
                                            <p:cond delay="0"/>
                                          </p:stCondLst>
                                        </p:cTn>
                                        <p:tgtEl>
                                          <p:spTgt spid="45075"/>
                                        </p:tgtEl>
                                        <p:attrNameLst>
                                          <p:attrName>style.visibility</p:attrName>
                                        </p:attrNameLst>
                                      </p:cBhvr>
                                      <p:to>
                                        <p:strVal val="visible"/>
                                      </p:to>
                                    </p:set>
                                  </p:childTnLst>
                                </p:cTn>
                              </p:par>
                            </p:childTnLst>
                          </p:cTn>
                        </p:par>
                        <p:par>
                          <p:cTn id="53" fill="hold">
                            <p:stCondLst>
                              <p:cond delay="3000"/>
                            </p:stCondLst>
                            <p:childTnLst>
                              <p:par>
                                <p:cTn id="54" presetID="1" presetClass="entr" presetSubtype="0" fill="hold" grpId="0" nodeType="afterEffect">
                                  <p:stCondLst>
                                    <p:cond delay="0"/>
                                  </p:stCondLst>
                                  <p:childTnLst>
                                    <p:set>
                                      <p:cBhvr>
                                        <p:cTn id="55" dur="1" fill="hold">
                                          <p:stCondLst>
                                            <p:cond delay="0"/>
                                          </p:stCondLst>
                                        </p:cTn>
                                        <p:tgtEl>
                                          <p:spTgt spid="450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72" grpId="0" animBg="1"/>
      <p:bldP spid="45073" grpId="0" animBg="1"/>
      <p:bldP spid="45073" grpId="1" animBg="1"/>
      <p:bldP spid="45075" grpId="0"/>
      <p:bldP spid="45076" grpId="0"/>
      <p:bldP spid="45077" grpId="0" animBg="1"/>
      <p:bldP spid="45078" grpId="0" animBg="1"/>
      <p:bldP spid="45079" grpId="0" animBg="1"/>
      <p:bldP spid="45080" grpId="0"/>
      <p:bldP spid="45081" grpId="0"/>
      <p:bldP spid="45083" grpId="0"/>
      <p:bldP spid="45084" grpId="0"/>
      <p:bldP spid="45086" grpId="0"/>
      <p:bldP spid="4508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503239"/>
            <a:ext cx="8229600" cy="846591"/>
          </a:xfrm>
        </p:spPr>
        <p:txBody>
          <a:bodyPr/>
          <a:lstStyle/>
          <a:p>
            <a:pPr algn="ctr" eaLnBrk="1" hangingPunct="1"/>
            <a:r>
              <a:rPr lang="en-US" sz="4000" dirty="0">
                <a:solidFill>
                  <a:srgbClr val="960000"/>
                </a:solidFill>
              </a:rPr>
              <a:t>Income Effects in Labor Supply</a:t>
            </a:r>
          </a:p>
        </p:txBody>
      </p:sp>
      <p:sp>
        <p:nvSpPr>
          <p:cNvPr id="28675" name="Rectangle 3"/>
          <p:cNvSpPr>
            <a:spLocks noGrp="1" noChangeArrowheads="1"/>
          </p:cNvSpPr>
          <p:nvPr>
            <p:ph type="body" sz="half" idx="2"/>
          </p:nvPr>
        </p:nvSpPr>
        <p:spPr>
          <a:xfrm>
            <a:off x="1774824" y="5235576"/>
            <a:ext cx="8862309" cy="1122363"/>
          </a:xfrm>
        </p:spPr>
        <p:txBody>
          <a:bodyPr/>
          <a:lstStyle/>
          <a:p>
            <a:pPr eaLnBrk="1" hangingPunct="1">
              <a:lnSpc>
                <a:spcPct val="90000"/>
              </a:lnSpc>
              <a:buFontTx/>
              <a:buNone/>
            </a:pPr>
            <a:r>
              <a:rPr lang="en-US" sz="2200" dirty="0">
                <a:solidFill>
                  <a:srgbClr val="960000"/>
                </a:solidFill>
              </a:rPr>
              <a:t>   Ralph </a:t>
            </a:r>
            <a:r>
              <a:rPr lang="en-US" sz="2200" dirty="0" err="1">
                <a:solidFill>
                  <a:srgbClr val="960000"/>
                </a:solidFill>
              </a:rPr>
              <a:t>Kramden</a:t>
            </a:r>
            <a:r>
              <a:rPr lang="en-US" sz="2200" dirty="0">
                <a:solidFill>
                  <a:srgbClr val="960000"/>
                </a:solidFill>
              </a:rPr>
              <a:t> divides 100 hours per week between work and leisure. When his wage rate rises, he works fewer hours because ……..?</a:t>
            </a:r>
          </a:p>
        </p:txBody>
      </p:sp>
      <p:grpSp>
        <p:nvGrpSpPr>
          <p:cNvPr id="28676" name="Group 27"/>
          <p:cNvGrpSpPr>
            <a:grpSpLocks/>
          </p:cNvGrpSpPr>
          <p:nvPr/>
        </p:nvGrpSpPr>
        <p:grpSpPr bwMode="auto">
          <a:xfrm>
            <a:off x="3336926" y="1504951"/>
            <a:ext cx="5045075" cy="3603625"/>
            <a:chOff x="126" y="830"/>
            <a:chExt cx="3178" cy="2270"/>
          </a:xfrm>
        </p:grpSpPr>
        <p:sp>
          <p:nvSpPr>
            <p:cNvPr id="28678" name="Line 5"/>
            <p:cNvSpPr>
              <a:spLocks noChangeShapeType="1"/>
            </p:cNvSpPr>
            <p:nvPr/>
          </p:nvSpPr>
          <p:spPr bwMode="auto">
            <a:xfrm>
              <a:off x="555" y="830"/>
              <a:ext cx="0" cy="1859"/>
            </a:xfrm>
            <a:prstGeom prst="line">
              <a:avLst/>
            </a:prstGeom>
            <a:noFill/>
            <a:ln w="9525">
              <a:solidFill>
                <a:schemeClr val="tx1"/>
              </a:solidFill>
              <a:round/>
              <a:headEnd type="triangle"/>
              <a:tailEnd/>
            </a:ln>
          </p:spPr>
          <p:txBody>
            <a:bodyPr/>
            <a:lstStyle/>
            <a:p>
              <a:endParaRPr lang="da-DK"/>
            </a:p>
          </p:txBody>
        </p:sp>
        <p:sp>
          <p:nvSpPr>
            <p:cNvPr id="28679" name="Line 6"/>
            <p:cNvSpPr>
              <a:spLocks noChangeShapeType="1"/>
            </p:cNvSpPr>
            <p:nvPr/>
          </p:nvSpPr>
          <p:spPr bwMode="auto">
            <a:xfrm>
              <a:off x="549" y="2688"/>
              <a:ext cx="2755" cy="0"/>
            </a:xfrm>
            <a:prstGeom prst="line">
              <a:avLst/>
            </a:prstGeom>
            <a:noFill/>
            <a:ln w="9525">
              <a:solidFill>
                <a:schemeClr val="tx1"/>
              </a:solidFill>
              <a:round/>
              <a:headEnd/>
              <a:tailEnd type="triangle"/>
            </a:ln>
          </p:spPr>
          <p:txBody>
            <a:bodyPr/>
            <a:lstStyle/>
            <a:p>
              <a:endParaRPr lang="da-DK"/>
            </a:p>
          </p:txBody>
        </p:sp>
        <p:sp>
          <p:nvSpPr>
            <p:cNvPr id="28680" name="Line 7"/>
            <p:cNvSpPr>
              <a:spLocks noChangeShapeType="1"/>
            </p:cNvSpPr>
            <p:nvPr/>
          </p:nvSpPr>
          <p:spPr bwMode="auto">
            <a:xfrm>
              <a:off x="555" y="1070"/>
              <a:ext cx="1125" cy="1619"/>
            </a:xfrm>
            <a:prstGeom prst="line">
              <a:avLst/>
            </a:prstGeom>
            <a:noFill/>
            <a:ln w="25400">
              <a:solidFill>
                <a:srgbClr val="5F5F5F"/>
              </a:solidFill>
              <a:round/>
              <a:headEnd/>
              <a:tailEnd/>
            </a:ln>
          </p:spPr>
          <p:txBody>
            <a:bodyPr/>
            <a:lstStyle/>
            <a:p>
              <a:endParaRPr lang="da-DK"/>
            </a:p>
          </p:txBody>
        </p:sp>
        <p:sp>
          <p:nvSpPr>
            <p:cNvPr id="28681" name="Line 8"/>
            <p:cNvSpPr>
              <a:spLocks noChangeShapeType="1"/>
            </p:cNvSpPr>
            <p:nvPr/>
          </p:nvSpPr>
          <p:spPr bwMode="auto">
            <a:xfrm>
              <a:off x="550" y="1069"/>
              <a:ext cx="2310" cy="1626"/>
            </a:xfrm>
            <a:prstGeom prst="line">
              <a:avLst/>
            </a:prstGeom>
            <a:noFill/>
            <a:ln w="25400">
              <a:solidFill>
                <a:schemeClr val="tx1"/>
              </a:solidFill>
              <a:round/>
              <a:headEnd/>
              <a:tailEnd/>
            </a:ln>
          </p:spPr>
          <p:txBody>
            <a:bodyPr/>
            <a:lstStyle/>
            <a:p>
              <a:endParaRPr lang="da-DK"/>
            </a:p>
          </p:txBody>
        </p:sp>
        <p:sp>
          <p:nvSpPr>
            <p:cNvPr id="28682" name="Freeform 9"/>
            <p:cNvSpPr>
              <a:spLocks/>
            </p:cNvSpPr>
            <p:nvPr/>
          </p:nvSpPr>
          <p:spPr bwMode="auto">
            <a:xfrm>
              <a:off x="1165" y="1797"/>
              <a:ext cx="435" cy="422"/>
            </a:xfrm>
            <a:custGeom>
              <a:avLst/>
              <a:gdLst>
                <a:gd name="T0" fmla="*/ 0 w 435"/>
                <a:gd name="T1" fmla="*/ 0 h 422"/>
                <a:gd name="T2" fmla="*/ 21 w 435"/>
                <a:gd name="T3" fmla="*/ 111 h 422"/>
                <a:gd name="T4" fmla="*/ 63 w 435"/>
                <a:gd name="T5" fmla="*/ 216 h 422"/>
                <a:gd name="T6" fmla="*/ 123 w 435"/>
                <a:gd name="T7" fmla="*/ 300 h 422"/>
                <a:gd name="T8" fmla="*/ 207 w 435"/>
                <a:gd name="T9" fmla="*/ 366 h 422"/>
                <a:gd name="T10" fmla="*/ 300 w 435"/>
                <a:gd name="T11" fmla="*/ 405 h 422"/>
                <a:gd name="T12" fmla="*/ 405 w 435"/>
                <a:gd name="T13" fmla="*/ 420 h 422"/>
                <a:gd name="T14" fmla="*/ 435 w 435"/>
                <a:gd name="T15" fmla="*/ 417 h 422"/>
                <a:gd name="T16" fmla="*/ 0 60000 65536"/>
                <a:gd name="T17" fmla="*/ 0 60000 65536"/>
                <a:gd name="T18" fmla="*/ 0 60000 65536"/>
                <a:gd name="T19" fmla="*/ 0 60000 65536"/>
                <a:gd name="T20" fmla="*/ 0 60000 65536"/>
                <a:gd name="T21" fmla="*/ 0 60000 65536"/>
                <a:gd name="T22" fmla="*/ 0 60000 65536"/>
                <a:gd name="T23" fmla="*/ 0 60000 65536"/>
                <a:gd name="T24" fmla="*/ 0 w 435"/>
                <a:gd name="T25" fmla="*/ 0 h 422"/>
                <a:gd name="T26" fmla="*/ 435 w 435"/>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5" h="422">
                  <a:moveTo>
                    <a:pt x="0" y="0"/>
                  </a:moveTo>
                  <a:cubicBezTo>
                    <a:pt x="3" y="18"/>
                    <a:pt x="11" y="75"/>
                    <a:pt x="21" y="111"/>
                  </a:cubicBezTo>
                  <a:cubicBezTo>
                    <a:pt x="31" y="147"/>
                    <a:pt x="46" y="185"/>
                    <a:pt x="63" y="216"/>
                  </a:cubicBezTo>
                  <a:cubicBezTo>
                    <a:pt x="80" y="247"/>
                    <a:pt x="99" y="275"/>
                    <a:pt x="123" y="300"/>
                  </a:cubicBezTo>
                  <a:cubicBezTo>
                    <a:pt x="147" y="325"/>
                    <a:pt x="178" y="349"/>
                    <a:pt x="207" y="366"/>
                  </a:cubicBezTo>
                  <a:cubicBezTo>
                    <a:pt x="236" y="383"/>
                    <a:pt x="267" y="396"/>
                    <a:pt x="300" y="405"/>
                  </a:cubicBezTo>
                  <a:cubicBezTo>
                    <a:pt x="333" y="414"/>
                    <a:pt x="383" y="418"/>
                    <a:pt x="405" y="420"/>
                  </a:cubicBezTo>
                  <a:cubicBezTo>
                    <a:pt x="427" y="422"/>
                    <a:pt x="429" y="418"/>
                    <a:pt x="435" y="417"/>
                  </a:cubicBezTo>
                </a:path>
              </a:pathLst>
            </a:custGeom>
            <a:noFill/>
            <a:ln w="25400">
              <a:solidFill>
                <a:srgbClr val="FF6600"/>
              </a:solidFill>
              <a:round/>
              <a:headEnd/>
              <a:tailEnd/>
            </a:ln>
          </p:spPr>
          <p:txBody>
            <a:bodyPr/>
            <a:lstStyle/>
            <a:p>
              <a:endParaRPr lang="da-DK"/>
            </a:p>
          </p:txBody>
        </p:sp>
        <p:sp>
          <p:nvSpPr>
            <p:cNvPr id="28683" name="Freeform 10"/>
            <p:cNvSpPr>
              <a:spLocks/>
            </p:cNvSpPr>
            <p:nvPr/>
          </p:nvSpPr>
          <p:spPr bwMode="auto">
            <a:xfrm>
              <a:off x="1334" y="1383"/>
              <a:ext cx="456" cy="436"/>
            </a:xfrm>
            <a:custGeom>
              <a:avLst/>
              <a:gdLst>
                <a:gd name="T0" fmla="*/ 0 w 456"/>
                <a:gd name="T1" fmla="*/ 0 h 436"/>
                <a:gd name="T2" fmla="*/ 12 w 456"/>
                <a:gd name="T3" fmla="*/ 64 h 436"/>
                <a:gd name="T4" fmla="*/ 56 w 456"/>
                <a:gd name="T5" fmla="*/ 188 h 436"/>
                <a:gd name="T6" fmla="*/ 128 w 456"/>
                <a:gd name="T7" fmla="*/ 304 h 436"/>
                <a:gd name="T8" fmla="*/ 184 w 456"/>
                <a:gd name="T9" fmla="*/ 356 h 436"/>
                <a:gd name="T10" fmla="*/ 280 w 456"/>
                <a:gd name="T11" fmla="*/ 412 h 436"/>
                <a:gd name="T12" fmla="*/ 368 w 456"/>
                <a:gd name="T13" fmla="*/ 432 h 436"/>
                <a:gd name="T14" fmla="*/ 456 w 456"/>
                <a:gd name="T15" fmla="*/ 436 h 436"/>
                <a:gd name="T16" fmla="*/ 0 60000 65536"/>
                <a:gd name="T17" fmla="*/ 0 60000 65536"/>
                <a:gd name="T18" fmla="*/ 0 60000 65536"/>
                <a:gd name="T19" fmla="*/ 0 60000 65536"/>
                <a:gd name="T20" fmla="*/ 0 60000 65536"/>
                <a:gd name="T21" fmla="*/ 0 60000 65536"/>
                <a:gd name="T22" fmla="*/ 0 60000 65536"/>
                <a:gd name="T23" fmla="*/ 0 60000 65536"/>
                <a:gd name="T24" fmla="*/ 0 w 456"/>
                <a:gd name="T25" fmla="*/ 0 h 436"/>
                <a:gd name="T26" fmla="*/ 456 w 456"/>
                <a:gd name="T27" fmla="*/ 436 h 4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6" h="436">
                  <a:moveTo>
                    <a:pt x="0" y="0"/>
                  </a:moveTo>
                  <a:cubicBezTo>
                    <a:pt x="1" y="11"/>
                    <a:pt x="3" y="33"/>
                    <a:pt x="12" y="64"/>
                  </a:cubicBezTo>
                  <a:cubicBezTo>
                    <a:pt x="21" y="95"/>
                    <a:pt x="37" y="148"/>
                    <a:pt x="56" y="188"/>
                  </a:cubicBezTo>
                  <a:cubicBezTo>
                    <a:pt x="75" y="228"/>
                    <a:pt x="107" y="276"/>
                    <a:pt x="128" y="304"/>
                  </a:cubicBezTo>
                  <a:cubicBezTo>
                    <a:pt x="149" y="332"/>
                    <a:pt x="159" y="338"/>
                    <a:pt x="184" y="356"/>
                  </a:cubicBezTo>
                  <a:cubicBezTo>
                    <a:pt x="209" y="374"/>
                    <a:pt x="249" y="399"/>
                    <a:pt x="280" y="412"/>
                  </a:cubicBezTo>
                  <a:cubicBezTo>
                    <a:pt x="311" y="425"/>
                    <a:pt x="339" y="428"/>
                    <a:pt x="368" y="432"/>
                  </a:cubicBezTo>
                  <a:cubicBezTo>
                    <a:pt x="397" y="436"/>
                    <a:pt x="438" y="435"/>
                    <a:pt x="456" y="436"/>
                  </a:cubicBezTo>
                </a:path>
              </a:pathLst>
            </a:custGeom>
            <a:noFill/>
            <a:ln w="25400">
              <a:solidFill>
                <a:srgbClr val="000066"/>
              </a:solidFill>
              <a:round/>
              <a:headEnd/>
              <a:tailEnd/>
            </a:ln>
          </p:spPr>
          <p:txBody>
            <a:bodyPr/>
            <a:lstStyle/>
            <a:p>
              <a:endParaRPr lang="da-DK"/>
            </a:p>
          </p:txBody>
        </p:sp>
        <p:sp>
          <p:nvSpPr>
            <p:cNvPr id="28684" name="Line 11"/>
            <p:cNvSpPr>
              <a:spLocks noChangeShapeType="1"/>
            </p:cNvSpPr>
            <p:nvPr/>
          </p:nvSpPr>
          <p:spPr bwMode="auto">
            <a:xfrm>
              <a:off x="555" y="2050"/>
              <a:ext cx="672" cy="0"/>
            </a:xfrm>
            <a:prstGeom prst="line">
              <a:avLst/>
            </a:prstGeom>
            <a:noFill/>
            <a:ln w="9525">
              <a:solidFill>
                <a:srgbClr val="5F5F5F"/>
              </a:solidFill>
              <a:prstDash val="dash"/>
              <a:round/>
              <a:headEnd/>
              <a:tailEnd/>
            </a:ln>
          </p:spPr>
          <p:txBody>
            <a:bodyPr/>
            <a:lstStyle/>
            <a:p>
              <a:endParaRPr lang="da-DK"/>
            </a:p>
          </p:txBody>
        </p:sp>
        <p:sp>
          <p:nvSpPr>
            <p:cNvPr id="28685" name="Line 12"/>
            <p:cNvSpPr>
              <a:spLocks noChangeShapeType="1"/>
            </p:cNvSpPr>
            <p:nvPr/>
          </p:nvSpPr>
          <p:spPr bwMode="auto">
            <a:xfrm>
              <a:off x="1248" y="2098"/>
              <a:ext cx="0" cy="583"/>
            </a:xfrm>
            <a:prstGeom prst="line">
              <a:avLst/>
            </a:prstGeom>
            <a:noFill/>
            <a:ln w="9525">
              <a:solidFill>
                <a:srgbClr val="5F5F5F"/>
              </a:solidFill>
              <a:prstDash val="dash"/>
              <a:round/>
              <a:headEnd/>
              <a:tailEnd/>
            </a:ln>
          </p:spPr>
          <p:txBody>
            <a:bodyPr/>
            <a:lstStyle/>
            <a:p>
              <a:endParaRPr lang="da-DK"/>
            </a:p>
          </p:txBody>
        </p:sp>
        <p:sp>
          <p:nvSpPr>
            <p:cNvPr id="28686" name="Line 13"/>
            <p:cNvSpPr>
              <a:spLocks noChangeShapeType="1"/>
            </p:cNvSpPr>
            <p:nvPr/>
          </p:nvSpPr>
          <p:spPr bwMode="auto">
            <a:xfrm>
              <a:off x="562" y="1735"/>
              <a:ext cx="912" cy="0"/>
            </a:xfrm>
            <a:prstGeom prst="line">
              <a:avLst/>
            </a:prstGeom>
            <a:noFill/>
            <a:ln w="9525">
              <a:solidFill>
                <a:srgbClr val="5F5F5F"/>
              </a:solidFill>
              <a:prstDash val="dash"/>
              <a:round/>
              <a:headEnd/>
              <a:tailEnd/>
            </a:ln>
          </p:spPr>
          <p:txBody>
            <a:bodyPr/>
            <a:lstStyle/>
            <a:p>
              <a:endParaRPr lang="da-DK"/>
            </a:p>
          </p:txBody>
        </p:sp>
        <p:sp>
          <p:nvSpPr>
            <p:cNvPr id="28687" name="Line 14"/>
            <p:cNvSpPr>
              <a:spLocks noChangeShapeType="1"/>
            </p:cNvSpPr>
            <p:nvPr/>
          </p:nvSpPr>
          <p:spPr bwMode="auto">
            <a:xfrm>
              <a:off x="1482" y="1736"/>
              <a:ext cx="0" cy="946"/>
            </a:xfrm>
            <a:prstGeom prst="line">
              <a:avLst/>
            </a:prstGeom>
            <a:noFill/>
            <a:ln w="9525">
              <a:solidFill>
                <a:srgbClr val="5F5F5F"/>
              </a:solidFill>
              <a:prstDash val="dash"/>
              <a:round/>
              <a:headEnd/>
              <a:tailEnd/>
            </a:ln>
          </p:spPr>
          <p:txBody>
            <a:bodyPr/>
            <a:lstStyle/>
            <a:p>
              <a:endParaRPr lang="da-DK"/>
            </a:p>
          </p:txBody>
        </p:sp>
        <p:sp>
          <p:nvSpPr>
            <p:cNvPr id="28688" name="Text Box 15"/>
            <p:cNvSpPr txBox="1">
              <a:spLocks noChangeArrowheads="1"/>
            </p:cNvSpPr>
            <p:nvPr/>
          </p:nvSpPr>
          <p:spPr bwMode="auto">
            <a:xfrm>
              <a:off x="1063" y="2733"/>
              <a:ext cx="405" cy="173"/>
            </a:xfrm>
            <a:prstGeom prst="rect">
              <a:avLst/>
            </a:prstGeom>
            <a:noFill/>
            <a:ln w="9525">
              <a:noFill/>
              <a:miter lim="800000"/>
              <a:headEnd/>
              <a:tailEnd/>
            </a:ln>
          </p:spPr>
          <p:txBody>
            <a:bodyPr>
              <a:spAutoFit/>
            </a:bodyPr>
            <a:lstStyle/>
            <a:p>
              <a:pPr>
                <a:spcBef>
                  <a:spcPct val="50000"/>
                </a:spcBef>
              </a:pPr>
              <a:r>
                <a:rPr lang="en-US" sz="1200" dirty="0"/>
                <a:t>$600</a:t>
              </a:r>
            </a:p>
          </p:txBody>
        </p:sp>
        <p:sp>
          <p:nvSpPr>
            <p:cNvPr id="28689" name="Text Box 16"/>
            <p:cNvSpPr txBox="1">
              <a:spLocks noChangeArrowheads="1"/>
            </p:cNvSpPr>
            <p:nvPr/>
          </p:nvSpPr>
          <p:spPr bwMode="auto">
            <a:xfrm>
              <a:off x="1468" y="2723"/>
              <a:ext cx="439" cy="173"/>
            </a:xfrm>
            <a:prstGeom prst="rect">
              <a:avLst/>
            </a:prstGeom>
            <a:noFill/>
            <a:ln w="9525">
              <a:noFill/>
              <a:miter lim="800000"/>
              <a:headEnd/>
              <a:tailEnd/>
            </a:ln>
          </p:spPr>
          <p:txBody>
            <a:bodyPr>
              <a:spAutoFit/>
            </a:bodyPr>
            <a:lstStyle/>
            <a:p>
              <a:pPr>
                <a:spcBef>
                  <a:spcPct val="50000"/>
                </a:spcBef>
              </a:pPr>
              <a:r>
                <a:rPr lang="en-US" sz="1200" dirty="0"/>
                <a:t>$1,000</a:t>
              </a:r>
            </a:p>
          </p:txBody>
        </p:sp>
        <p:sp>
          <p:nvSpPr>
            <p:cNvPr id="28690" name="Text Box 17"/>
            <p:cNvSpPr txBox="1">
              <a:spLocks noChangeArrowheads="1"/>
            </p:cNvSpPr>
            <p:nvPr/>
          </p:nvSpPr>
          <p:spPr bwMode="auto">
            <a:xfrm>
              <a:off x="2648" y="2723"/>
              <a:ext cx="425" cy="173"/>
            </a:xfrm>
            <a:prstGeom prst="rect">
              <a:avLst/>
            </a:prstGeom>
            <a:noFill/>
            <a:ln w="9525">
              <a:noFill/>
              <a:miter lim="800000"/>
              <a:headEnd/>
              <a:tailEnd/>
            </a:ln>
          </p:spPr>
          <p:txBody>
            <a:bodyPr>
              <a:spAutoFit/>
            </a:bodyPr>
            <a:lstStyle/>
            <a:p>
              <a:pPr>
                <a:spcBef>
                  <a:spcPct val="50000"/>
                </a:spcBef>
              </a:pPr>
              <a:r>
                <a:rPr lang="en-US" sz="1200" dirty="0"/>
                <a:t>$2,000</a:t>
              </a:r>
            </a:p>
          </p:txBody>
        </p:sp>
        <p:sp>
          <p:nvSpPr>
            <p:cNvPr id="28691" name="Text Box 5"/>
            <p:cNvSpPr txBox="1">
              <a:spLocks noChangeArrowheads="1"/>
            </p:cNvSpPr>
            <p:nvPr/>
          </p:nvSpPr>
          <p:spPr bwMode="auto">
            <a:xfrm rot="-5400000">
              <a:off x="-242" y="1711"/>
              <a:ext cx="928" cy="192"/>
            </a:xfrm>
            <a:prstGeom prst="rect">
              <a:avLst/>
            </a:prstGeom>
            <a:noFill/>
            <a:ln w="12700">
              <a:noFill/>
              <a:miter lim="800000"/>
              <a:headEnd type="none" w="sm" len="sm"/>
              <a:tailEnd type="none" w="sm" len="sm"/>
            </a:ln>
          </p:spPr>
          <p:txBody>
            <a:bodyPr wrap="none">
              <a:spAutoFit/>
            </a:bodyPr>
            <a:lstStyle/>
            <a:p>
              <a:r>
                <a:rPr lang="en-US" sz="1400" dirty="0"/>
                <a:t>Leisure time (hr)</a:t>
              </a:r>
            </a:p>
          </p:txBody>
        </p:sp>
        <p:sp>
          <p:nvSpPr>
            <p:cNvPr id="28692" name="Text Box 6"/>
            <p:cNvSpPr txBox="1">
              <a:spLocks noChangeArrowheads="1"/>
            </p:cNvSpPr>
            <p:nvPr/>
          </p:nvSpPr>
          <p:spPr bwMode="auto">
            <a:xfrm>
              <a:off x="1502" y="2906"/>
              <a:ext cx="719" cy="194"/>
            </a:xfrm>
            <a:prstGeom prst="rect">
              <a:avLst/>
            </a:prstGeom>
            <a:noFill/>
            <a:ln w="12700">
              <a:noFill/>
              <a:miter lim="800000"/>
              <a:headEnd type="none" w="sm" len="sm"/>
              <a:tailEnd type="none" w="sm" len="sm"/>
            </a:ln>
          </p:spPr>
          <p:txBody>
            <a:bodyPr wrap="none">
              <a:spAutoFit/>
            </a:bodyPr>
            <a:lstStyle/>
            <a:p>
              <a:r>
                <a:rPr lang="en-US" sz="1400" dirty="0"/>
                <a:t>Total income</a:t>
              </a:r>
            </a:p>
          </p:txBody>
        </p:sp>
        <p:sp>
          <p:nvSpPr>
            <p:cNvPr id="28693" name="Text Box 20"/>
            <p:cNvSpPr txBox="1">
              <a:spLocks noChangeArrowheads="1"/>
            </p:cNvSpPr>
            <p:nvPr/>
          </p:nvSpPr>
          <p:spPr bwMode="auto">
            <a:xfrm>
              <a:off x="350" y="1961"/>
              <a:ext cx="260" cy="173"/>
            </a:xfrm>
            <a:prstGeom prst="rect">
              <a:avLst/>
            </a:prstGeom>
            <a:noFill/>
            <a:ln w="9525">
              <a:noFill/>
              <a:miter lim="800000"/>
              <a:headEnd/>
              <a:tailEnd/>
            </a:ln>
          </p:spPr>
          <p:txBody>
            <a:bodyPr>
              <a:spAutoFit/>
            </a:bodyPr>
            <a:lstStyle/>
            <a:p>
              <a:pPr>
                <a:spcBef>
                  <a:spcPct val="50000"/>
                </a:spcBef>
              </a:pPr>
              <a:r>
                <a:rPr lang="en-US" sz="1200" dirty="0"/>
                <a:t>40</a:t>
              </a:r>
            </a:p>
          </p:txBody>
        </p:sp>
        <p:sp>
          <p:nvSpPr>
            <p:cNvPr id="28694" name="Text Box 22"/>
            <p:cNvSpPr txBox="1">
              <a:spLocks noChangeArrowheads="1"/>
            </p:cNvSpPr>
            <p:nvPr/>
          </p:nvSpPr>
          <p:spPr bwMode="auto">
            <a:xfrm>
              <a:off x="343" y="1653"/>
              <a:ext cx="260" cy="173"/>
            </a:xfrm>
            <a:prstGeom prst="rect">
              <a:avLst/>
            </a:prstGeom>
            <a:noFill/>
            <a:ln w="9525">
              <a:noFill/>
              <a:miter lim="800000"/>
              <a:headEnd/>
              <a:tailEnd/>
            </a:ln>
          </p:spPr>
          <p:txBody>
            <a:bodyPr>
              <a:spAutoFit/>
            </a:bodyPr>
            <a:lstStyle/>
            <a:p>
              <a:pPr>
                <a:spcBef>
                  <a:spcPct val="50000"/>
                </a:spcBef>
              </a:pPr>
              <a:r>
                <a:rPr lang="en-US" sz="1200" dirty="0"/>
                <a:t>60</a:t>
              </a:r>
            </a:p>
          </p:txBody>
        </p:sp>
        <p:sp>
          <p:nvSpPr>
            <p:cNvPr id="28695" name="Text Box 23"/>
            <p:cNvSpPr txBox="1">
              <a:spLocks noChangeArrowheads="1"/>
            </p:cNvSpPr>
            <p:nvPr/>
          </p:nvSpPr>
          <p:spPr bwMode="auto">
            <a:xfrm>
              <a:off x="301" y="953"/>
              <a:ext cx="289" cy="173"/>
            </a:xfrm>
            <a:prstGeom prst="rect">
              <a:avLst/>
            </a:prstGeom>
            <a:noFill/>
            <a:ln w="9525">
              <a:noFill/>
              <a:miter lim="800000"/>
              <a:headEnd/>
              <a:tailEnd/>
            </a:ln>
          </p:spPr>
          <p:txBody>
            <a:bodyPr>
              <a:spAutoFit/>
            </a:bodyPr>
            <a:lstStyle/>
            <a:p>
              <a:pPr>
                <a:spcBef>
                  <a:spcPct val="50000"/>
                </a:spcBef>
              </a:pPr>
              <a:r>
                <a:rPr lang="en-US" sz="1200" dirty="0"/>
                <a:t>100</a:t>
              </a:r>
            </a:p>
          </p:txBody>
        </p:sp>
        <p:sp>
          <p:nvSpPr>
            <p:cNvPr id="28696" name="Text Box 24"/>
            <p:cNvSpPr txBox="1">
              <a:spLocks noChangeArrowheads="1"/>
            </p:cNvSpPr>
            <p:nvPr/>
          </p:nvSpPr>
          <p:spPr bwMode="auto">
            <a:xfrm>
              <a:off x="1194" y="960"/>
              <a:ext cx="926" cy="288"/>
            </a:xfrm>
            <a:prstGeom prst="rect">
              <a:avLst/>
            </a:prstGeom>
            <a:noFill/>
            <a:ln w="9525">
              <a:noFill/>
              <a:miter lim="800000"/>
              <a:headEnd/>
              <a:tailEnd/>
            </a:ln>
          </p:spPr>
          <p:txBody>
            <a:bodyPr>
              <a:spAutoFit/>
            </a:bodyPr>
            <a:lstStyle/>
            <a:p>
              <a:pPr>
                <a:spcBef>
                  <a:spcPct val="50000"/>
                </a:spcBef>
              </a:pPr>
              <a:r>
                <a:rPr lang="en-US" sz="1200" dirty="0"/>
                <a:t>Budget line for wage = $10/hr.</a:t>
              </a:r>
            </a:p>
          </p:txBody>
        </p:sp>
        <p:sp>
          <p:nvSpPr>
            <p:cNvPr id="28697" name="Line 25"/>
            <p:cNvSpPr>
              <a:spLocks noChangeShapeType="1"/>
            </p:cNvSpPr>
            <p:nvPr/>
          </p:nvSpPr>
          <p:spPr bwMode="auto">
            <a:xfrm flipH="1">
              <a:off x="774" y="1063"/>
              <a:ext cx="460" cy="301"/>
            </a:xfrm>
            <a:prstGeom prst="line">
              <a:avLst/>
            </a:prstGeom>
            <a:noFill/>
            <a:ln w="9525">
              <a:solidFill>
                <a:schemeClr val="tx1"/>
              </a:solidFill>
              <a:round/>
              <a:headEnd/>
              <a:tailEnd type="triangle" w="med" len="med"/>
            </a:ln>
          </p:spPr>
          <p:txBody>
            <a:bodyPr/>
            <a:lstStyle/>
            <a:p>
              <a:endParaRPr lang="da-DK"/>
            </a:p>
          </p:txBody>
        </p:sp>
        <p:sp>
          <p:nvSpPr>
            <p:cNvPr id="28698" name="Text Box 26"/>
            <p:cNvSpPr txBox="1">
              <a:spLocks noChangeArrowheads="1"/>
            </p:cNvSpPr>
            <p:nvPr/>
          </p:nvSpPr>
          <p:spPr bwMode="auto">
            <a:xfrm>
              <a:off x="2167" y="1783"/>
              <a:ext cx="768" cy="288"/>
            </a:xfrm>
            <a:prstGeom prst="rect">
              <a:avLst/>
            </a:prstGeom>
            <a:noFill/>
            <a:ln w="9525">
              <a:noFill/>
              <a:miter lim="800000"/>
              <a:headEnd/>
              <a:tailEnd/>
            </a:ln>
          </p:spPr>
          <p:txBody>
            <a:bodyPr>
              <a:spAutoFit/>
            </a:bodyPr>
            <a:lstStyle/>
            <a:p>
              <a:pPr>
                <a:spcBef>
                  <a:spcPct val="50000"/>
                </a:spcBef>
              </a:pPr>
              <a:r>
                <a:rPr lang="en-US" sz="1200" dirty="0"/>
                <a:t>Budget line for wage = $20/hr.</a:t>
              </a:r>
            </a:p>
          </p:txBody>
        </p:sp>
      </p:grpSp>
      <p:sp>
        <p:nvSpPr>
          <p:cNvPr id="28677" name="Rectangle 29"/>
          <p:cNvSpPr>
            <a:spLocks noChangeArrowheads="1"/>
          </p:cNvSpPr>
          <p:nvPr/>
        </p:nvSpPr>
        <p:spPr bwMode="auto">
          <a:xfrm>
            <a:off x="10890954" y="6219439"/>
            <a:ext cx="416781" cy="276999"/>
          </a:xfrm>
          <a:prstGeom prst="rect">
            <a:avLst/>
          </a:prstGeom>
          <a:noFill/>
          <a:ln w="9525">
            <a:noFill/>
            <a:miter lim="800000"/>
            <a:headEnd/>
            <a:tailEnd/>
          </a:ln>
        </p:spPr>
        <p:txBody>
          <a:bodyPr wrap="none">
            <a:spAutoFit/>
          </a:bodyPr>
          <a:lstStyle/>
          <a:p>
            <a:fld id="{3A1410EF-B192-4381-A702-C260B77729DA}" type="slidenum">
              <a:rPr lang="en-US" sz="1200"/>
              <a:pPr/>
              <a:t>27</a:t>
            </a:fld>
            <a:endParaRPr lang="en-US" sz="1200" dirty="0"/>
          </a:p>
        </p:txBody>
      </p:sp>
      <p:cxnSp>
        <p:nvCxnSpPr>
          <p:cNvPr id="3" name="Lige forbindelse 2"/>
          <p:cNvCxnSpPr/>
          <p:nvPr/>
        </p:nvCxnSpPr>
        <p:spPr>
          <a:xfrm>
            <a:off x="2749731" y="3475038"/>
            <a:ext cx="6829064"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 name="Lige forbindelse 5"/>
          <p:cNvCxnSpPr/>
          <p:nvPr/>
        </p:nvCxnSpPr>
        <p:spPr>
          <a:xfrm>
            <a:off x="6195219" y="3441701"/>
            <a:ext cx="0" cy="1014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Line 25"/>
          <p:cNvSpPr>
            <a:spLocks noChangeShapeType="1"/>
          </p:cNvSpPr>
          <p:nvPr/>
        </p:nvSpPr>
        <p:spPr bwMode="auto">
          <a:xfrm flipH="1">
            <a:off x="5978525" y="3171032"/>
            <a:ext cx="598488" cy="3969"/>
          </a:xfrm>
          <a:prstGeom prst="line">
            <a:avLst/>
          </a:prstGeom>
          <a:noFill/>
          <a:ln w="9525">
            <a:solidFill>
              <a:schemeClr val="tx1"/>
            </a:solidFill>
            <a:round/>
            <a:headEnd/>
            <a:tailEnd type="triangle" w="med" len="med"/>
          </a:ln>
        </p:spPr>
        <p:txBody>
          <a:bodyPr/>
          <a:lstStyle/>
          <a:p>
            <a:endParaRPr lang="da-DK"/>
          </a:p>
        </p:txBody>
      </p:sp>
      <p:sp>
        <p:nvSpPr>
          <p:cNvPr id="2" name="Tekstboks 1"/>
          <p:cNvSpPr txBox="1"/>
          <p:nvPr/>
        </p:nvSpPr>
        <p:spPr>
          <a:xfrm>
            <a:off x="9618483" y="2629060"/>
            <a:ext cx="2544942" cy="1477328"/>
          </a:xfrm>
          <a:prstGeom prst="rect">
            <a:avLst/>
          </a:prstGeom>
          <a:solidFill>
            <a:schemeClr val="accent1">
              <a:lumMod val="60000"/>
              <a:lumOff val="40000"/>
            </a:schemeClr>
          </a:solidFill>
        </p:spPr>
        <p:txBody>
          <a:bodyPr wrap="square" rtlCol="0">
            <a:spAutoFit/>
          </a:bodyPr>
          <a:lstStyle/>
          <a:p>
            <a:r>
              <a:rPr lang="da-DK" dirty="0">
                <a:solidFill>
                  <a:srgbClr val="002060"/>
                </a:solidFill>
              </a:rPr>
              <a:t>Offeromkostningen stiger ved at holde fri, hvis W stiger, og alligevel vælger Ralph at arbejde mindre?</a:t>
            </a:r>
          </a:p>
        </p:txBody>
      </p:sp>
    </p:spTree>
    <p:extLst>
      <p:ext uri="{BB962C8B-B14F-4D97-AF65-F5344CB8AC3E}">
        <p14:creationId xmlns:p14="http://schemas.microsoft.com/office/powerpoint/2010/main" val="3481855313"/>
      </p:ext>
    </p:extLst>
  </p:cSld>
  <p:clrMapOvr>
    <a:masterClrMapping/>
  </p:clrMapOvr>
</p:sld>
</file>

<file path=ppt/theme/theme1.xml><?xml version="1.0" encoding="utf-8"?>
<a:theme xmlns:a="http://schemas.openxmlformats.org/drawingml/2006/main" name="Crop">
  <a:themeElements>
    <a:clrScheme name="Brugerdefineret 2">
      <a:dk1>
        <a:sysClr val="windowText" lastClr="000000"/>
      </a:dk1>
      <a:lt1>
        <a:sysClr val="window" lastClr="FFFFFF"/>
      </a:lt1>
      <a:dk2>
        <a:srgbClr val="C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Beskæring</Template>
  <TotalTime>337</TotalTime>
  <Words>1645</Words>
  <Application>Microsoft Macintosh PowerPoint</Application>
  <PresentationFormat>Widescreen</PresentationFormat>
  <Paragraphs>280</Paragraphs>
  <Slides>27</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27</vt:i4>
      </vt:variant>
    </vt:vector>
  </HeadingPairs>
  <TitlesOfParts>
    <vt:vector size="37" baseType="lpstr">
      <vt:lpstr>Arial</vt:lpstr>
      <vt:lpstr>Calibri</vt:lpstr>
      <vt:lpstr>Franklin Gothic Book</vt:lpstr>
      <vt:lpstr>Monotype Sorts</vt:lpstr>
      <vt:lpstr>Symbol</vt:lpstr>
      <vt:lpstr>Times New Roman</vt:lpstr>
      <vt:lpstr>Wingdings</vt:lpstr>
      <vt:lpstr>Crop</vt:lpstr>
      <vt:lpstr>Equation</vt:lpstr>
      <vt:lpstr>Ligning</vt:lpstr>
      <vt:lpstr>PowerPoint Presentation</vt:lpstr>
      <vt:lpstr>Economic Behavior</vt:lpstr>
      <vt:lpstr>The Nature of Economic Choice</vt:lpstr>
      <vt:lpstr>Thinking at the Margin</vt:lpstr>
      <vt:lpstr>Sunk Costs</vt:lpstr>
      <vt:lpstr>The Nature of Opportunity Costs</vt:lpstr>
      <vt:lpstr>Opgave: SE-problem 2-3</vt:lpstr>
      <vt:lpstr>PowerPoint Presentation</vt:lpstr>
      <vt:lpstr>The Use of Graphical Tools</vt:lpstr>
      <vt:lpstr>Indifference Curves</vt:lpstr>
      <vt:lpstr>Indifference Curves Diagram</vt:lpstr>
      <vt:lpstr>The Budget Constraint</vt:lpstr>
      <vt:lpstr>PowerPoint Presentation</vt:lpstr>
      <vt:lpstr>PowerPoint Presentation</vt:lpstr>
      <vt:lpstr>PowerPoint Presentation</vt:lpstr>
      <vt:lpstr>Combining Indifference Curves  and the Budget Constraint</vt:lpstr>
      <vt:lpstr>PowerPoint Presentation</vt:lpstr>
      <vt:lpstr>Using Budgets to Motivate Workers</vt:lpstr>
      <vt:lpstr>Hypothetical Constraint at Wells Fargo</vt:lpstr>
      <vt:lpstr>Optimal Analyst Choice Two Different Compensation Plans</vt:lpstr>
      <vt:lpstr>Alternative Models of Behavior</vt:lpstr>
      <vt:lpstr>Decision Making Under Uncertainty</vt:lpstr>
      <vt:lpstr>Risk Versus Return</vt:lpstr>
      <vt:lpstr>Appendix Material</vt:lpstr>
      <vt:lpstr>Slope of Tom’s (Hank) Indifference Curve in the movie ‘Cast Away’</vt:lpstr>
      <vt:lpstr>Income and Substitution Effects</vt:lpstr>
      <vt:lpstr>Income Effects in Labor Supply</vt:lpstr>
    </vt:vector>
  </TitlesOfParts>
  <Company>CBS - Copenhagen Business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Tamas Vamosi</dc:creator>
  <cp:lastModifiedBy>Kai Inga Liehr Storm</cp:lastModifiedBy>
  <cp:revision>25</cp:revision>
  <dcterms:created xsi:type="dcterms:W3CDTF">2020-01-28T08:06:37Z</dcterms:created>
  <dcterms:modified xsi:type="dcterms:W3CDTF">2026-01-26T13:14:24Z</dcterms:modified>
</cp:coreProperties>
</file>