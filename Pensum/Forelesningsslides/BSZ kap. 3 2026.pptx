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250D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68FEB6-9292-4B07-A13E-F54D2F4E6DFC}" v="29" dt="2025-02-06T08:34:38.1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139" autoAdjust="0"/>
    <p:restoredTop sz="94660"/>
  </p:normalViewPr>
  <p:slideViewPr>
    <p:cSldViewPr snapToGrid="0">
      <p:cViewPr varScale="1">
        <p:scale>
          <a:sx n="197" d="100"/>
          <a:sy n="197" d="100"/>
        </p:scale>
        <p:origin x="3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mas Vamosi" userId="d29b3f17-2c73-4e3f-a1f7-7beee2a70eaf" providerId="ADAL" clId="{1568FEB6-9292-4B07-A13E-F54D2F4E6DFC}"/>
    <pc:docChg chg="modSld">
      <pc:chgData name="Tamas Vamosi" userId="d29b3f17-2c73-4e3f-a1f7-7beee2a70eaf" providerId="ADAL" clId="{1568FEB6-9292-4B07-A13E-F54D2F4E6DFC}" dt="2025-02-06T08:34:57.351" v="55" actId="207"/>
      <pc:docMkLst>
        <pc:docMk/>
      </pc:docMkLst>
      <pc:sldChg chg="modSp mod">
        <pc:chgData name="Tamas Vamosi" userId="d29b3f17-2c73-4e3f-a1f7-7beee2a70eaf" providerId="ADAL" clId="{1568FEB6-9292-4B07-A13E-F54D2F4E6DFC}" dt="2025-02-06T08:22:47.750" v="2" actId="207"/>
        <pc:sldMkLst>
          <pc:docMk/>
          <pc:sldMk cId="2139870744" sldId="258"/>
        </pc:sldMkLst>
        <pc:spChg chg="mod">
          <ac:chgData name="Tamas Vamosi" userId="d29b3f17-2c73-4e3f-a1f7-7beee2a70eaf" providerId="ADAL" clId="{1568FEB6-9292-4B07-A13E-F54D2F4E6DFC}" dt="2025-02-06T08:22:47.750" v="2" actId="207"/>
          <ac:spMkLst>
            <pc:docMk/>
            <pc:sldMk cId="2139870744" sldId="258"/>
            <ac:spMk id="5" creationId="{00000000-0000-0000-0000-000000000000}"/>
          </ac:spMkLst>
        </pc:spChg>
        <pc:spChg chg="mod">
          <ac:chgData name="Tamas Vamosi" userId="d29b3f17-2c73-4e3f-a1f7-7beee2a70eaf" providerId="ADAL" clId="{1568FEB6-9292-4B07-A13E-F54D2F4E6DFC}" dt="2025-02-06T08:21:19.305" v="0" actId="207"/>
          <ac:spMkLst>
            <pc:docMk/>
            <pc:sldMk cId="2139870744" sldId="258"/>
            <ac:spMk id="5122" creationId="{00000000-0000-0000-0000-000000000000}"/>
          </ac:spMkLst>
        </pc:spChg>
        <pc:spChg chg="mod">
          <ac:chgData name="Tamas Vamosi" userId="d29b3f17-2c73-4e3f-a1f7-7beee2a70eaf" providerId="ADAL" clId="{1568FEB6-9292-4B07-A13E-F54D2F4E6DFC}" dt="2025-02-06T08:21:29.931" v="1" actId="207"/>
          <ac:spMkLst>
            <pc:docMk/>
            <pc:sldMk cId="2139870744" sldId="258"/>
            <ac:spMk id="56323" creationId="{00000000-0000-0000-0000-000000000000}"/>
          </ac:spMkLst>
        </pc:spChg>
      </pc:sldChg>
      <pc:sldChg chg="modSp mod">
        <pc:chgData name="Tamas Vamosi" userId="d29b3f17-2c73-4e3f-a1f7-7beee2a70eaf" providerId="ADAL" clId="{1568FEB6-9292-4B07-A13E-F54D2F4E6DFC}" dt="2025-02-06T08:23:49.755" v="6" actId="207"/>
        <pc:sldMkLst>
          <pc:docMk/>
          <pc:sldMk cId="1007512024" sldId="259"/>
        </pc:sldMkLst>
        <pc:spChg chg="mod">
          <ac:chgData name="Tamas Vamosi" userId="d29b3f17-2c73-4e3f-a1f7-7beee2a70eaf" providerId="ADAL" clId="{1568FEB6-9292-4B07-A13E-F54D2F4E6DFC}" dt="2025-02-06T08:23:49.755" v="6" actId="207"/>
          <ac:spMkLst>
            <pc:docMk/>
            <pc:sldMk cId="1007512024" sldId="259"/>
            <ac:spMk id="6146" creationId="{00000000-0000-0000-0000-000000000000}"/>
          </ac:spMkLst>
        </pc:spChg>
        <pc:spChg chg="mod">
          <ac:chgData name="Tamas Vamosi" userId="d29b3f17-2c73-4e3f-a1f7-7beee2a70eaf" providerId="ADAL" clId="{1568FEB6-9292-4B07-A13E-F54D2F4E6DFC}" dt="2025-02-06T08:23:27.945" v="5" actId="207"/>
          <ac:spMkLst>
            <pc:docMk/>
            <pc:sldMk cId="1007512024" sldId="259"/>
            <ac:spMk id="57347" creationId="{00000000-0000-0000-0000-000000000000}"/>
          </ac:spMkLst>
        </pc:spChg>
      </pc:sldChg>
      <pc:sldChg chg="modSp mod">
        <pc:chgData name="Tamas Vamosi" userId="d29b3f17-2c73-4e3f-a1f7-7beee2a70eaf" providerId="ADAL" clId="{1568FEB6-9292-4B07-A13E-F54D2F4E6DFC}" dt="2025-02-06T08:26:00.877" v="15" actId="207"/>
        <pc:sldMkLst>
          <pc:docMk/>
          <pc:sldMk cId="3380751155" sldId="260"/>
        </pc:sldMkLst>
        <pc:spChg chg="mod">
          <ac:chgData name="Tamas Vamosi" userId="d29b3f17-2c73-4e3f-a1f7-7beee2a70eaf" providerId="ADAL" clId="{1568FEB6-9292-4B07-A13E-F54D2F4E6DFC}" dt="2025-02-06T08:26:00.877" v="15" actId="207"/>
          <ac:spMkLst>
            <pc:docMk/>
            <pc:sldMk cId="3380751155" sldId="260"/>
            <ac:spMk id="5" creationId="{00000000-0000-0000-0000-000000000000}"/>
          </ac:spMkLst>
        </pc:spChg>
        <pc:spChg chg="mod">
          <ac:chgData name="Tamas Vamosi" userId="d29b3f17-2c73-4e3f-a1f7-7beee2a70eaf" providerId="ADAL" clId="{1568FEB6-9292-4B07-A13E-F54D2F4E6DFC}" dt="2025-02-06T08:24:48.070" v="12" actId="207"/>
          <ac:spMkLst>
            <pc:docMk/>
            <pc:sldMk cId="3380751155" sldId="260"/>
            <ac:spMk id="58371" creationId="{00000000-0000-0000-0000-000000000000}"/>
          </ac:spMkLst>
        </pc:spChg>
        <pc:cxnChg chg="mod">
          <ac:chgData name="Tamas Vamosi" userId="d29b3f17-2c73-4e3f-a1f7-7beee2a70eaf" providerId="ADAL" clId="{1568FEB6-9292-4B07-A13E-F54D2F4E6DFC}" dt="2025-02-06T08:24:41.943" v="11" actId="692"/>
          <ac:cxnSpMkLst>
            <pc:docMk/>
            <pc:sldMk cId="3380751155" sldId="260"/>
            <ac:cxnSpMk id="3" creationId="{00000000-0000-0000-0000-000000000000}"/>
          </ac:cxnSpMkLst>
        </pc:cxnChg>
      </pc:sldChg>
      <pc:sldChg chg="modSp">
        <pc:chgData name="Tamas Vamosi" userId="d29b3f17-2c73-4e3f-a1f7-7beee2a70eaf" providerId="ADAL" clId="{1568FEB6-9292-4B07-A13E-F54D2F4E6DFC}" dt="2025-02-06T08:26:16.966" v="16" actId="207"/>
        <pc:sldMkLst>
          <pc:docMk/>
          <pc:sldMk cId="3461370453" sldId="261"/>
        </pc:sldMkLst>
        <pc:spChg chg="mod">
          <ac:chgData name="Tamas Vamosi" userId="d29b3f17-2c73-4e3f-a1f7-7beee2a70eaf" providerId="ADAL" clId="{1568FEB6-9292-4B07-A13E-F54D2F4E6DFC}" dt="2025-02-06T08:26:16.966" v="16" actId="207"/>
          <ac:spMkLst>
            <pc:docMk/>
            <pc:sldMk cId="3461370453" sldId="261"/>
            <ac:spMk id="59395" creationId="{00000000-0000-0000-0000-000000000000}"/>
          </ac:spMkLst>
        </pc:spChg>
      </pc:sldChg>
      <pc:sldChg chg="modSp mod">
        <pc:chgData name="Tamas Vamosi" userId="d29b3f17-2c73-4e3f-a1f7-7beee2a70eaf" providerId="ADAL" clId="{1568FEB6-9292-4B07-A13E-F54D2F4E6DFC}" dt="2025-02-06T08:28:06.911" v="21" actId="207"/>
        <pc:sldMkLst>
          <pc:docMk/>
          <pc:sldMk cId="2468524868" sldId="262"/>
        </pc:sldMkLst>
        <pc:spChg chg="mod">
          <ac:chgData name="Tamas Vamosi" userId="d29b3f17-2c73-4e3f-a1f7-7beee2a70eaf" providerId="ADAL" clId="{1568FEB6-9292-4B07-A13E-F54D2F4E6DFC}" dt="2025-02-06T08:27:50.145" v="20" actId="692"/>
          <ac:spMkLst>
            <pc:docMk/>
            <pc:sldMk cId="2468524868" sldId="262"/>
            <ac:spMk id="5" creationId="{00000000-0000-0000-0000-000000000000}"/>
          </ac:spMkLst>
        </pc:spChg>
        <pc:spChg chg="mod">
          <ac:chgData name="Tamas Vamosi" userId="d29b3f17-2c73-4e3f-a1f7-7beee2a70eaf" providerId="ADAL" clId="{1568FEB6-9292-4B07-A13E-F54D2F4E6DFC}" dt="2025-02-06T08:27:26.536" v="19" actId="692"/>
          <ac:spMkLst>
            <pc:docMk/>
            <pc:sldMk cId="2468524868" sldId="262"/>
            <ac:spMk id="6" creationId="{00000000-0000-0000-0000-000000000000}"/>
          </ac:spMkLst>
        </pc:spChg>
        <pc:spChg chg="mod">
          <ac:chgData name="Tamas Vamosi" userId="d29b3f17-2c73-4e3f-a1f7-7beee2a70eaf" providerId="ADAL" clId="{1568FEB6-9292-4B07-A13E-F54D2F4E6DFC}" dt="2025-02-06T08:28:06.911" v="21" actId="207"/>
          <ac:spMkLst>
            <pc:docMk/>
            <pc:sldMk cId="2468524868" sldId="262"/>
            <ac:spMk id="60419" creationId="{00000000-0000-0000-0000-000000000000}"/>
          </ac:spMkLst>
        </pc:spChg>
      </pc:sldChg>
      <pc:sldChg chg="modSp mod">
        <pc:chgData name="Tamas Vamosi" userId="d29b3f17-2c73-4e3f-a1f7-7beee2a70eaf" providerId="ADAL" clId="{1568FEB6-9292-4B07-A13E-F54D2F4E6DFC}" dt="2025-02-06T08:29:34.053" v="27" actId="207"/>
        <pc:sldMkLst>
          <pc:docMk/>
          <pc:sldMk cId="4014947395" sldId="263"/>
        </pc:sldMkLst>
        <pc:spChg chg="mod">
          <ac:chgData name="Tamas Vamosi" userId="d29b3f17-2c73-4e3f-a1f7-7beee2a70eaf" providerId="ADAL" clId="{1568FEB6-9292-4B07-A13E-F54D2F4E6DFC}" dt="2025-02-06T08:29:34.053" v="27" actId="207"/>
          <ac:spMkLst>
            <pc:docMk/>
            <pc:sldMk cId="4014947395" sldId="263"/>
            <ac:spMk id="27" creationId="{00000000-0000-0000-0000-000000000000}"/>
          </ac:spMkLst>
        </pc:spChg>
        <pc:spChg chg="mod">
          <ac:chgData name="Tamas Vamosi" userId="d29b3f17-2c73-4e3f-a1f7-7beee2a70eaf" providerId="ADAL" clId="{1568FEB6-9292-4B07-A13E-F54D2F4E6DFC}" dt="2025-02-06T08:28:17.153" v="22" actId="207"/>
          <ac:spMkLst>
            <pc:docMk/>
            <pc:sldMk cId="4014947395" sldId="263"/>
            <ac:spMk id="11266" creationId="{00000000-0000-0000-0000-000000000000}"/>
          </ac:spMkLst>
        </pc:spChg>
        <pc:spChg chg="mod">
          <ac:chgData name="Tamas Vamosi" userId="d29b3f17-2c73-4e3f-a1f7-7beee2a70eaf" providerId="ADAL" clId="{1568FEB6-9292-4B07-A13E-F54D2F4E6DFC}" dt="2025-02-06T08:28:42.959" v="24" actId="207"/>
          <ac:spMkLst>
            <pc:docMk/>
            <pc:sldMk cId="4014947395" sldId="263"/>
            <ac:spMk id="94211" creationId="{00000000-0000-0000-0000-000000000000}"/>
          </ac:spMkLst>
        </pc:spChg>
      </pc:sldChg>
      <pc:sldChg chg="modSp">
        <pc:chgData name="Tamas Vamosi" userId="d29b3f17-2c73-4e3f-a1f7-7beee2a70eaf" providerId="ADAL" clId="{1568FEB6-9292-4B07-A13E-F54D2F4E6DFC}" dt="2025-02-06T08:30:12.650" v="29" actId="207"/>
        <pc:sldMkLst>
          <pc:docMk/>
          <pc:sldMk cId="410396876" sldId="265"/>
        </pc:sldMkLst>
        <pc:spChg chg="mod">
          <ac:chgData name="Tamas Vamosi" userId="d29b3f17-2c73-4e3f-a1f7-7beee2a70eaf" providerId="ADAL" clId="{1568FEB6-9292-4B07-A13E-F54D2F4E6DFC}" dt="2025-02-06T08:30:12.650" v="29" actId="207"/>
          <ac:spMkLst>
            <pc:docMk/>
            <pc:sldMk cId="410396876" sldId="265"/>
            <ac:spMk id="83971" creationId="{00000000-0000-0000-0000-000000000000}"/>
          </ac:spMkLst>
        </pc:spChg>
      </pc:sldChg>
      <pc:sldChg chg="modSp mod">
        <pc:chgData name="Tamas Vamosi" userId="d29b3f17-2c73-4e3f-a1f7-7beee2a70eaf" providerId="ADAL" clId="{1568FEB6-9292-4B07-A13E-F54D2F4E6DFC}" dt="2025-02-06T08:30:40.791" v="31" actId="207"/>
        <pc:sldMkLst>
          <pc:docMk/>
          <pc:sldMk cId="1457042923" sldId="266"/>
        </pc:sldMkLst>
        <pc:spChg chg="mod">
          <ac:chgData name="Tamas Vamosi" userId="d29b3f17-2c73-4e3f-a1f7-7beee2a70eaf" providerId="ADAL" clId="{1568FEB6-9292-4B07-A13E-F54D2F4E6DFC}" dt="2025-02-06T08:30:40.791" v="31" actId="207"/>
          <ac:spMkLst>
            <pc:docMk/>
            <pc:sldMk cId="1457042923" sldId="266"/>
            <ac:spMk id="27" creationId="{00000000-0000-0000-0000-000000000000}"/>
          </ac:spMkLst>
        </pc:spChg>
      </pc:sldChg>
      <pc:sldChg chg="modSp">
        <pc:chgData name="Tamas Vamosi" userId="d29b3f17-2c73-4e3f-a1f7-7beee2a70eaf" providerId="ADAL" clId="{1568FEB6-9292-4B07-A13E-F54D2F4E6DFC}" dt="2025-02-06T08:31:32.931" v="35" actId="207"/>
        <pc:sldMkLst>
          <pc:docMk/>
          <pc:sldMk cId="2133509405" sldId="267"/>
        </pc:sldMkLst>
        <pc:spChg chg="mod">
          <ac:chgData name="Tamas Vamosi" userId="d29b3f17-2c73-4e3f-a1f7-7beee2a70eaf" providerId="ADAL" clId="{1568FEB6-9292-4B07-A13E-F54D2F4E6DFC}" dt="2025-02-06T08:31:32.931" v="35" actId="207"/>
          <ac:spMkLst>
            <pc:docMk/>
            <pc:sldMk cId="2133509405" sldId="267"/>
            <ac:spMk id="84995" creationId="{00000000-0000-0000-0000-000000000000}"/>
          </ac:spMkLst>
        </pc:spChg>
      </pc:sldChg>
      <pc:sldChg chg="modSp mod">
        <pc:chgData name="Tamas Vamosi" userId="d29b3f17-2c73-4e3f-a1f7-7beee2a70eaf" providerId="ADAL" clId="{1568FEB6-9292-4B07-A13E-F54D2F4E6DFC}" dt="2025-02-06T08:33:03.788" v="43" actId="207"/>
        <pc:sldMkLst>
          <pc:docMk/>
          <pc:sldMk cId="438444378" sldId="270"/>
        </pc:sldMkLst>
        <pc:spChg chg="mod">
          <ac:chgData name="Tamas Vamosi" userId="d29b3f17-2c73-4e3f-a1f7-7beee2a70eaf" providerId="ADAL" clId="{1568FEB6-9292-4B07-A13E-F54D2F4E6DFC}" dt="2025-02-06T08:33:03.788" v="43" actId="207"/>
          <ac:spMkLst>
            <pc:docMk/>
            <pc:sldMk cId="438444378" sldId="270"/>
            <ac:spMk id="5" creationId="{00000000-0000-0000-0000-000000000000}"/>
          </ac:spMkLst>
        </pc:spChg>
        <pc:spChg chg="mod">
          <ac:chgData name="Tamas Vamosi" userId="d29b3f17-2c73-4e3f-a1f7-7beee2a70eaf" providerId="ADAL" clId="{1568FEB6-9292-4B07-A13E-F54D2F4E6DFC}" dt="2025-02-06T08:32:37.352" v="40" actId="207"/>
          <ac:spMkLst>
            <pc:docMk/>
            <pc:sldMk cId="438444378" sldId="270"/>
            <ac:spMk id="71683" creationId="{00000000-0000-0000-0000-000000000000}"/>
          </ac:spMkLst>
        </pc:spChg>
      </pc:sldChg>
      <pc:sldChg chg="modSp mod">
        <pc:chgData name="Tamas Vamosi" userId="d29b3f17-2c73-4e3f-a1f7-7beee2a70eaf" providerId="ADAL" clId="{1568FEB6-9292-4B07-A13E-F54D2F4E6DFC}" dt="2025-02-06T08:33:42.949" v="48" actId="1076"/>
        <pc:sldMkLst>
          <pc:docMk/>
          <pc:sldMk cId="3281920715" sldId="271"/>
        </pc:sldMkLst>
        <pc:spChg chg="mod">
          <ac:chgData name="Tamas Vamosi" userId="d29b3f17-2c73-4e3f-a1f7-7beee2a70eaf" providerId="ADAL" clId="{1568FEB6-9292-4B07-A13E-F54D2F4E6DFC}" dt="2025-02-06T08:33:42.949" v="48" actId="1076"/>
          <ac:spMkLst>
            <pc:docMk/>
            <pc:sldMk cId="3281920715" sldId="271"/>
            <ac:spMk id="23554" creationId="{00000000-0000-0000-0000-000000000000}"/>
          </ac:spMkLst>
        </pc:spChg>
        <pc:spChg chg="mod">
          <ac:chgData name="Tamas Vamosi" userId="d29b3f17-2c73-4e3f-a1f7-7beee2a70eaf" providerId="ADAL" clId="{1568FEB6-9292-4B07-A13E-F54D2F4E6DFC}" dt="2025-02-06T08:33:42.106" v="47" actId="207"/>
          <ac:spMkLst>
            <pc:docMk/>
            <pc:sldMk cId="3281920715" sldId="271"/>
            <ac:spMk id="72707" creationId="{00000000-0000-0000-0000-000000000000}"/>
          </ac:spMkLst>
        </pc:spChg>
      </pc:sldChg>
      <pc:sldChg chg="modSp mod">
        <pc:chgData name="Tamas Vamosi" userId="d29b3f17-2c73-4e3f-a1f7-7beee2a70eaf" providerId="ADAL" clId="{1568FEB6-9292-4B07-A13E-F54D2F4E6DFC}" dt="2025-02-06T08:34:09.484" v="50" actId="207"/>
        <pc:sldMkLst>
          <pc:docMk/>
          <pc:sldMk cId="1602131775" sldId="272"/>
        </pc:sldMkLst>
        <pc:spChg chg="mod">
          <ac:chgData name="Tamas Vamosi" userId="d29b3f17-2c73-4e3f-a1f7-7beee2a70eaf" providerId="ADAL" clId="{1568FEB6-9292-4B07-A13E-F54D2F4E6DFC}" dt="2025-02-06T08:34:09.484" v="50" actId="207"/>
          <ac:spMkLst>
            <pc:docMk/>
            <pc:sldMk cId="1602131775" sldId="272"/>
            <ac:spMk id="24579" creationId="{00000000-0000-0000-0000-000000000000}"/>
          </ac:spMkLst>
        </pc:spChg>
      </pc:sldChg>
      <pc:sldChg chg="modSp mod">
        <pc:chgData name="Tamas Vamosi" userId="d29b3f17-2c73-4e3f-a1f7-7beee2a70eaf" providerId="ADAL" clId="{1568FEB6-9292-4B07-A13E-F54D2F4E6DFC}" dt="2025-02-06T08:34:38.125" v="53" actId="207"/>
        <pc:sldMkLst>
          <pc:docMk/>
          <pc:sldMk cId="4019018115" sldId="273"/>
        </pc:sldMkLst>
        <pc:spChg chg="mod">
          <ac:chgData name="Tamas Vamosi" userId="d29b3f17-2c73-4e3f-a1f7-7beee2a70eaf" providerId="ADAL" clId="{1568FEB6-9292-4B07-A13E-F54D2F4E6DFC}" dt="2025-02-06T08:34:31.293" v="52" actId="207"/>
          <ac:spMkLst>
            <pc:docMk/>
            <pc:sldMk cId="4019018115" sldId="273"/>
            <ac:spMk id="25602" creationId="{00000000-0000-0000-0000-000000000000}"/>
          </ac:spMkLst>
        </pc:spChg>
        <pc:spChg chg="mod">
          <ac:chgData name="Tamas Vamosi" userId="d29b3f17-2c73-4e3f-a1f7-7beee2a70eaf" providerId="ADAL" clId="{1568FEB6-9292-4B07-A13E-F54D2F4E6DFC}" dt="2025-02-06T08:34:38.125" v="53" actId="207"/>
          <ac:spMkLst>
            <pc:docMk/>
            <pc:sldMk cId="4019018115" sldId="273"/>
            <ac:spMk id="75779" creationId="{00000000-0000-0000-0000-000000000000}"/>
          </ac:spMkLst>
        </pc:spChg>
      </pc:sldChg>
      <pc:sldChg chg="modSp mod">
        <pc:chgData name="Tamas Vamosi" userId="d29b3f17-2c73-4e3f-a1f7-7beee2a70eaf" providerId="ADAL" clId="{1568FEB6-9292-4B07-A13E-F54D2F4E6DFC}" dt="2025-02-06T08:34:57.351" v="55" actId="207"/>
        <pc:sldMkLst>
          <pc:docMk/>
          <pc:sldMk cId="536298297" sldId="274"/>
        </pc:sldMkLst>
        <pc:spChg chg="mod">
          <ac:chgData name="Tamas Vamosi" userId="d29b3f17-2c73-4e3f-a1f7-7beee2a70eaf" providerId="ADAL" clId="{1568FEB6-9292-4B07-A13E-F54D2F4E6DFC}" dt="2025-02-06T08:34:57.351" v="55" actId="207"/>
          <ac:spMkLst>
            <pc:docMk/>
            <pc:sldMk cId="536298297" sldId="274"/>
            <ac:spMk id="2662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0CFA84-EA8E-4755-85BC-9CB9B4900FAA}" type="datetimeFigureOut">
              <a:rPr lang="da-DK" smtClean="0"/>
              <a:t>26.01.2026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FA3FF7-DD95-44BC-965B-2E7208B6D1A6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59503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332F5D4-6706-4441-AB48-6ACCFAA17D1C}" type="slidenum">
              <a:rPr lang="en-US"/>
              <a:pPr/>
              <a:t>7</a:t>
            </a:fld>
            <a:endParaRPr lang="en-US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6575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B5B8F23-B05A-428C-9B33-38B4D382F811}" type="slidenum">
              <a:rPr lang="en-US"/>
              <a:pPr/>
              <a:t>10</a:t>
            </a:fld>
            <a:endParaRPr lang="en-US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708802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4BD0A1A-B787-4D8B-9F33-C3212F7ADA68}" type="slidenum">
              <a:rPr lang="en-US"/>
              <a:pPr/>
              <a:t>12</a:t>
            </a:fld>
            <a:endParaRPr lang="en-US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31704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9CE914F-8D75-4BC4-9FDE-FFC5DFFFCBD0}" type="slidenum">
              <a:rPr lang="en-US"/>
              <a:pPr/>
              <a:t>13</a:t>
            </a:fld>
            <a:endParaRPr lang="en-US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0175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fsnitsoverskri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1-</a:t>
            </a:r>
            <a:fld id="{EB8161F9-2BFB-4DFD-B99F-A0C62EC975B5}" type="slidenum">
              <a:rPr lang="en-US"/>
              <a:pPr/>
              <a:t>‹#›</a:t>
            </a:fld>
            <a:endParaRPr lang="en-US"/>
          </a:p>
          <a:p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McGraw-Hill/Irwin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673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2133600" y="1447800"/>
            <a:ext cx="792480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/>
            <a:r>
              <a:rPr lang="en-US" sz="3200" i="1" dirty="0">
                <a:solidFill>
                  <a:srgbClr val="000066"/>
                </a:solidFill>
              </a:rPr>
              <a:t>Managerial Economics and </a:t>
            </a:r>
            <a:br>
              <a:rPr lang="en-US" sz="3200" i="1" dirty="0">
                <a:solidFill>
                  <a:srgbClr val="000066"/>
                </a:solidFill>
              </a:rPr>
            </a:br>
            <a:r>
              <a:rPr lang="en-US" sz="3200" i="1" dirty="0">
                <a:solidFill>
                  <a:srgbClr val="000066"/>
                </a:solidFill>
              </a:rPr>
              <a:t>Organizational Architecture</a:t>
            </a:r>
            <a:r>
              <a:rPr lang="en-US" sz="3200" dirty="0">
                <a:solidFill>
                  <a:srgbClr val="000066"/>
                </a:solidFill>
              </a:rPr>
              <a:t>, 7e</a:t>
            </a:r>
            <a:br>
              <a:rPr lang="en-US" sz="3200" dirty="0">
                <a:solidFill>
                  <a:srgbClr val="000066"/>
                </a:solidFill>
              </a:rPr>
            </a:br>
            <a:br>
              <a:rPr lang="en-US" sz="4400" dirty="0">
                <a:solidFill>
                  <a:srgbClr val="000066"/>
                </a:solidFill>
              </a:rPr>
            </a:br>
            <a:r>
              <a:rPr lang="en-US" sz="4800" dirty="0">
                <a:solidFill>
                  <a:srgbClr val="000066"/>
                </a:solidFill>
              </a:rPr>
              <a:t>Chapter 3: </a:t>
            </a:r>
          </a:p>
          <a:p>
            <a:pPr algn="ctr" eaLnBrk="0" hangingPunct="0"/>
            <a:r>
              <a:rPr lang="en-US" sz="4800" dirty="0">
                <a:solidFill>
                  <a:srgbClr val="000066"/>
                </a:solidFill>
              </a:rPr>
              <a:t>Exchange and Markets</a:t>
            </a:r>
          </a:p>
        </p:txBody>
      </p:sp>
    </p:spTree>
    <p:extLst>
      <p:ext uri="{BB962C8B-B14F-4D97-AF65-F5344CB8AC3E}">
        <p14:creationId xmlns:p14="http://schemas.microsoft.com/office/powerpoint/2010/main" val="1618776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489" y="549645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>
                <a:solidFill>
                  <a:srgbClr val="C00000"/>
                </a:solidFill>
              </a:rPr>
              <a:t>The Goals of an Economic System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0" y="1905000"/>
            <a:ext cx="82296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>
                <a:solidFill>
                  <a:srgbClr val="C00000"/>
                </a:solidFill>
              </a:rPr>
              <a:t>To satisfy human needs and wants</a:t>
            </a:r>
          </a:p>
          <a:p>
            <a:pPr marL="971550" lvl="1" indent="-514350">
              <a:lnSpc>
                <a:spcPct val="90000"/>
              </a:lnSpc>
              <a:buFont typeface="+mj-lt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What to produce?</a:t>
            </a:r>
          </a:p>
          <a:p>
            <a:pPr marL="971550" lvl="1" indent="-514350">
              <a:lnSpc>
                <a:spcPct val="90000"/>
              </a:lnSpc>
              <a:buFont typeface="+mj-lt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How to produce it?</a:t>
            </a:r>
          </a:p>
          <a:p>
            <a:pPr marL="971550" lvl="1" indent="-514350">
              <a:lnSpc>
                <a:spcPct val="90000"/>
              </a:lnSpc>
              <a:buFont typeface="+mj-lt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Who gets it?</a:t>
            </a:r>
            <a:endParaRPr lang="en-US" dirty="0">
              <a:solidFill>
                <a:srgbClr val="C00000"/>
              </a:solidFill>
              <a:sym typeface="Monotype Sorts" pitchFamily="2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dirty="0">
                <a:solidFill>
                  <a:srgbClr val="C00000"/>
                </a:solidFill>
                <a:sym typeface="Monotype Sorts" pitchFamily="2" charset="2"/>
              </a:rPr>
              <a:t>The answer depends on the allocation mechanisms,</a:t>
            </a:r>
          </a:p>
          <a:p>
            <a:pPr marL="971550" lvl="1" indent="-514350">
              <a:lnSpc>
                <a:spcPct val="90000"/>
              </a:lnSpc>
              <a:buFont typeface="+mj-lt"/>
              <a:buAutoNum type="arabicPeriod"/>
            </a:pPr>
            <a:r>
              <a:rPr lang="en-US" dirty="0">
                <a:solidFill>
                  <a:srgbClr val="C00000"/>
                </a:solidFill>
                <a:sym typeface="Monotype Sorts" pitchFamily="2" charset="2"/>
              </a:rPr>
              <a:t>Free markets</a:t>
            </a:r>
          </a:p>
          <a:p>
            <a:pPr marL="971550" lvl="1" indent="-514350">
              <a:lnSpc>
                <a:spcPct val="90000"/>
              </a:lnSpc>
              <a:buFont typeface="+mj-lt"/>
              <a:buAutoNum type="arabicPeriod"/>
            </a:pPr>
            <a:r>
              <a:rPr lang="en-US" dirty="0">
                <a:solidFill>
                  <a:srgbClr val="C00000"/>
                </a:solidFill>
                <a:sym typeface="Monotype Sorts" pitchFamily="2" charset="2"/>
              </a:rPr>
              <a:t>Central planning</a:t>
            </a:r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9601200" y="5943601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4B7A85BA-B4EF-4D12-A86C-3703C6CBC144}" type="slidenum">
              <a:rPr lang="en-US" sz="1000" smtClean="0"/>
              <a:pPr/>
              <a:t>2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39870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914400"/>
            <a:ext cx="8229600" cy="1143000"/>
          </a:xfrm>
        </p:spPr>
        <p:txBody>
          <a:bodyPr/>
          <a:lstStyle/>
          <a:p>
            <a:pPr eaLnBrk="1" hangingPunct="1"/>
            <a:r>
              <a:rPr lang="en-US" sz="3200" dirty="0">
                <a:solidFill>
                  <a:srgbClr val="C00000"/>
                </a:solidFill>
              </a:rPr>
              <a:t>Comparing</a:t>
            </a:r>
            <a:r>
              <a:rPr lang="en-US" sz="3200" dirty="0"/>
              <a:t> </a:t>
            </a:r>
            <a:r>
              <a:rPr lang="en-US" sz="3200" dirty="0">
                <a:solidFill>
                  <a:srgbClr val="002060"/>
                </a:solidFill>
              </a:rPr>
              <a:t>Effectiveness</a:t>
            </a:r>
            <a:r>
              <a:rPr lang="en-US" sz="3200" dirty="0"/>
              <a:t> of Economic Systems; the need for a </a:t>
            </a:r>
            <a:r>
              <a:rPr lang="en-US" sz="3200" i="1" dirty="0">
                <a:solidFill>
                  <a:srgbClr val="002060"/>
                </a:solidFill>
              </a:rPr>
              <a:t>criteria</a:t>
            </a:r>
            <a:r>
              <a:rPr lang="en-US" sz="3200" i="1" dirty="0">
                <a:solidFill>
                  <a:srgbClr val="FF6600"/>
                </a:solidFill>
              </a:rPr>
              <a:t>.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2667000"/>
            <a:ext cx="6546715" cy="35814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 i="1" dirty="0"/>
              <a:t>A </a:t>
            </a:r>
            <a:r>
              <a:rPr lang="en-US" sz="2800" i="1" dirty="0">
                <a:solidFill>
                  <a:srgbClr val="002060"/>
                </a:solidFill>
              </a:rPr>
              <a:t>resource allocation </a:t>
            </a:r>
            <a:r>
              <a:rPr lang="en-US" sz="2800" i="1" dirty="0"/>
              <a:t>is </a:t>
            </a:r>
            <a:r>
              <a:rPr lang="en-US" sz="2800" i="1" u="sng" dirty="0"/>
              <a:t>Pareto efficient </a:t>
            </a:r>
            <a:r>
              <a:rPr lang="en-US" sz="2800" i="1" dirty="0"/>
              <a:t>if no alternative helps at least one person without harming anyone else!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i="1" dirty="0"/>
              <a:t>In free markets, economic decisions are decentralized to individuals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i="1" dirty="0"/>
              <a:t>In centrally planned economies, government officials make economic decisions </a:t>
            </a:r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9601200" y="5943601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309F9263-29DC-4281-AF3A-B6C062A4F406}" type="slidenum">
              <a:rPr lang="en-US" sz="1000" smtClean="0"/>
              <a:pPr/>
              <a:t>3</a:t>
            </a:fld>
            <a:endParaRPr lang="en-US" sz="1000" dirty="0"/>
          </a:p>
        </p:txBody>
      </p:sp>
      <p:cxnSp>
        <p:nvCxnSpPr>
          <p:cNvPr id="6" name="Lige pilforbindelse 5"/>
          <p:cNvCxnSpPr/>
          <p:nvPr/>
        </p:nvCxnSpPr>
        <p:spPr>
          <a:xfrm>
            <a:off x="7106856" y="1886673"/>
            <a:ext cx="132144" cy="78032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Saturday Morning Breakfast Cereal - Pareto Romantic">
            <a:extLst>
              <a:ext uri="{FF2B5EF4-FFF2-40B4-BE49-F238E27FC236}">
                <a16:creationId xmlns:a16="http://schemas.microsoft.com/office/drawing/2014/main" id="{CF980183-4A6B-72A9-6F8F-CE455ED72D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6214" y="2764276"/>
            <a:ext cx="2692565" cy="2271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72729A-2EDF-62DB-9384-42D862A7CFB9}"/>
              </a:ext>
            </a:extLst>
          </p:cNvPr>
          <p:cNvSpPr txBox="1"/>
          <p:nvPr/>
        </p:nvSpPr>
        <p:spPr>
          <a:xfrm>
            <a:off x="8988357" y="5035684"/>
            <a:ext cx="1851789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Kilde: https://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www.smbc-comics.com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/comic/pareto-romantic</a:t>
            </a:r>
          </a:p>
        </p:txBody>
      </p:sp>
    </p:spTree>
    <p:extLst>
      <p:ext uri="{BB962C8B-B14F-4D97-AF65-F5344CB8AC3E}">
        <p14:creationId xmlns:p14="http://schemas.microsoft.com/office/powerpoint/2010/main" val="1007512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990600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Markets, Property Rights </a:t>
            </a:r>
            <a:br>
              <a:rPr lang="en-US" dirty="0"/>
            </a:br>
            <a:r>
              <a:rPr lang="en-US" dirty="0"/>
              <a:t>and Exchange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0" y="2438400"/>
            <a:ext cx="8229600" cy="3810000"/>
          </a:xfrm>
        </p:spPr>
        <p:txBody>
          <a:bodyPr/>
          <a:lstStyle/>
          <a:p>
            <a:pPr eaLnBrk="1" hangingPunct="1"/>
            <a:r>
              <a:rPr lang="en-US" sz="2800" dirty="0"/>
              <a:t>A </a:t>
            </a:r>
            <a:r>
              <a:rPr lang="en-US" sz="2800" i="1" dirty="0">
                <a:solidFill>
                  <a:srgbClr val="002060"/>
                </a:solidFill>
              </a:rPr>
              <a:t>property right</a:t>
            </a:r>
            <a:r>
              <a:rPr lang="en-US" sz="2800" dirty="0">
                <a:solidFill>
                  <a:srgbClr val="002060"/>
                </a:solidFill>
              </a:rPr>
              <a:t> (</a:t>
            </a:r>
            <a:r>
              <a:rPr lang="en-US" sz="2800" dirty="0" err="1">
                <a:solidFill>
                  <a:srgbClr val="002060"/>
                </a:solidFill>
              </a:rPr>
              <a:t>ejendomsret</a:t>
            </a:r>
            <a:r>
              <a:rPr lang="en-US" sz="2800" dirty="0">
                <a:solidFill>
                  <a:srgbClr val="002060"/>
                </a:solidFill>
              </a:rPr>
              <a:t>) </a:t>
            </a:r>
            <a:r>
              <a:rPr lang="en-US" sz="2800" dirty="0"/>
              <a:t>is a legally enforced right to </a:t>
            </a:r>
            <a:r>
              <a:rPr lang="en-US" sz="2800" dirty="0">
                <a:solidFill>
                  <a:srgbClr val="002060"/>
                </a:solidFill>
              </a:rPr>
              <a:t>select the use </a:t>
            </a:r>
            <a:r>
              <a:rPr lang="en-US" sz="2800" dirty="0"/>
              <a:t>of an economic good</a:t>
            </a:r>
          </a:p>
          <a:p>
            <a:pPr eaLnBrk="1" hangingPunct="1"/>
            <a:r>
              <a:rPr lang="en-US" sz="2800" i="1" dirty="0">
                <a:solidFill>
                  <a:srgbClr val="002060"/>
                </a:solidFill>
              </a:rPr>
              <a:t>A property right </a:t>
            </a:r>
            <a:r>
              <a:rPr lang="en-US" sz="2800" dirty="0">
                <a:solidFill>
                  <a:srgbClr val="002060"/>
                </a:solidFill>
              </a:rPr>
              <a:t>assigned to a specific </a:t>
            </a:r>
            <a:r>
              <a:rPr lang="en-US" sz="2800" u="sng" dirty="0">
                <a:solidFill>
                  <a:srgbClr val="002060"/>
                </a:solidFill>
              </a:rPr>
              <a:t>person</a:t>
            </a:r>
            <a:r>
              <a:rPr lang="en-US" sz="2800" dirty="0">
                <a:solidFill>
                  <a:srgbClr val="002060"/>
                </a:solidFill>
              </a:rPr>
              <a:t> is a </a:t>
            </a:r>
            <a:r>
              <a:rPr lang="en-US" sz="2800" i="1" dirty="0">
                <a:solidFill>
                  <a:srgbClr val="002060"/>
                </a:solidFill>
              </a:rPr>
              <a:t>private right</a:t>
            </a:r>
          </a:p>
          <a:p>
            <a:pPr eaLnBrk="1" hangingPunct="1"/>
            <a:r>
              <a:rPr lang="en-US" sz="2800" dirty="0"/>
              <a:t>Private rights are </a:t>
            </a:r>
            <a:r>
              <a:rPr lang="en-US" sz="2800" i="1" dirty="0">
                <a:solidFill>
                  <a:srgbClr val="002060"/>
                </a:solidFill>
              </a:rPr>
              <a:t>alienable</a:t>
            </a:r>
            <a:r>
              <a:rPr lang="en-US" sz="2800" dirty="0">
                <a:solidFill>
                  <a:srgbClr val="FF6600"/>
                </a:solidFill>
              </a:rPr>
              <a:t> </a:t>
            </a:r>
            <a:r>
              <a:rPr lang="en-US" sz="2800" dirty="0"/>
              <a:t>(</a:t>
            </a:r>
            <a:r>
              <a:rPr lang="en-US" sz="2800" dirty="0" err="1"/>
              <a:t>afhændelige</a:t>
            </a:r>
            <a:r>
              <a:rPr lang="en-US" sz="2800" dirty="0"/>
              <a:t>) in that they can be transferred to another individual, within limits (</a:t>
            </a:r>
            <a:r>
              <a:rPr lang="en-US" sz="2800" dirty="0" err="1"/>
              <a:t>nyre</a:t>
            </a:r>
            <a:r>
              <a:rPr lang="en-US" sz="2800" dirty="0"/>
              <a:t>-ex.)</a:t>
            </a:r>
          </a:p>
          <a:p>
            <a:pPr lvl="1" eaLnBrk="1" hangingPunct="1">
              <a:buFontTx/>
              <a:buChar char="•"/>
            </a:pPr>
            <a:r>
              <a:rPr lang="en-US" dirty="0"/>
              <a:t>individuals have </a:t>
            </a:r>
            <a:r>
              <a:rPr lang="en-US" i="1" dirty="0">
                <a:solidFill>
                  <a:srgbClr val="002060"/>
                </a:solidFill>
              </a:rPr>
              <a:t>use rights </a:t>
            </a:r>
            <a:r>
              <a:rPr lang="en-US" dirty="0"/>
              <a:t>within limits</a:t>
            </a:r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9601200" y="5943601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40609619-65B4-477F-B463-D8DCFFEF78E8}" type="slidenum">
              <a:rPr lang="en-US" sz="1000" smtClean="0"/>
              <a:pPr/>
              <a:t>4</a:t>
            </a:fld>
            <a:endParaRPr lang="en-US" sz="1000" dirty="0"/>
          </a:p>
        </p:txBody>
      </p:sp>
      <p:cxnSp>
        <p:nvCxnSpPr>
          <p:cNvPr id="3" name="Lige pilforbindelse 2"/>
          <p:cNvCxnSpPr/>
          <p:nvPr/>
        </p:nvCxnSpPr>
        <p:spPr>
          <a:xfrm flipH="1">
            <a:off x="5150734" y="4731152"/>
            <a:ext cx="181337" cy="1033040"/>
          </a:xfrm>
          <a:prstGeom prst="straightConnector1">
            <a:avLst/>
          </a:prstGeom>
          <a:ln>
            <a:solidFill>
              <a:srgbClr val="00206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751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6096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Gains From Trade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0" y="1676400"/>
            <a:ext cx="5792821" cy="38862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sz="2800" i="1" dirty="0">
                <a:solidFill>
                  <a:srgbClr val="002060"/>
                </a:solidFill>
              </a:rPr>
              <a:t>Individuals trade something they value less for something they value more</a:t>
            </a:r>
          </a:p>
          <a:p>
            <a:pPr eaLnBrk="1" hangingPunct="1"/>
            <a:r>
              <a:rPr lang="en-US" sz="2800" dirty="0"/>
              <a:t>Trade creates value</a:t>
            </a:r>
          </a:p>
          <a:p>
            <a:pPr eaLnBrk="1" hangingPunct="1"/>
            <a:r>
              <a:rPr lang="en-US" sz="2800" dirty="0"/>
              <a:t>Sources of trade gains</a:t>
            </a:r>
          </a:p>
          <a:p>
            <a:pPr lvl="1" eaLnBrk="1" hangingPunct="1">
              <a:buFontTx/>
              <a:buChar char="•"/>
            </a:pPr>
            <a:r>
              <a:rPr lang="en-US" sz="2800" dirty="0"/>
              <a:t>differences in preferences (buyer/seller of auto)</a:t>
            </a:r>
          </a:p>
          <a:p>
            <a:pPr lvl="1" eaLnBrk="1" hangingPunct="1">
              <a:buFontTx/>
              <a:buChar char="•"/>
            </a:pPr>
            <a:r>
              <a:rPr lang="en-US" sz="2800" dirty="0"/>
              <a:t>comparative advantage (in auto production – the producer!)</a:t>
            </a: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9601200" y="5943601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D95A86BA-3427-46CB-BF17-3EE00BB1E299}" type="slidenum">
              <a:rPr lang="en-US" sz="1000" smtClean="0"/>
              <a:pPr/>
              <a:t>5</a:t>
            </a:fld>
            <a:endParaRPr lang="en-US" sz="1000" dirty="0"/>
          </a:p>
        </p:txBody>
      </p:sp>
      <p:pic>
        <p:nvPicPr>
          <p:cNvPr id="2050" name="Picture 2" descr="This Supermarket Checkout Strategy Makes Life So Much Easier">
            <a:extLst>
              <a:ext uri="{FF2B5EF4-FFF2-40B4-BE49-F238E27FC236}">
                <a16:creationId xmlns:a16="http://schemas.microsoft.com/office/drawing/2014/main" id="{6E1ABCBB-AB57-593B-8261-AE11B691B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3410" y="2096310"/>
            <a:ext cx="3955595" cy="2227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3D7109E-4650-F1A8-DBF1-7D07E617F28D}"/>
              </a:ext>
            </a:extLst>
          </p:cNvPr>
          <p:cNvSpPr txBox="1"/>
          <p:nvPr/>
        </p:nvSpPr>
        <p:spPr>
          <a:xfrm>
            <a:off x="7795098" y="4323943"/>
            <a:ext cx="252344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Kilde: https://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www.thedailymeal.com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/1631476/supermarket-checkout-strategy-easy/</a:t>
            </a:r>
          </a:p>
        </p:txBody>
      </p:sp>
    </p:spTree>
    <p:extLst>
      <p:ext uri="{BB962C8B-B14F-4D97-AF65-F5344CB8AC3E}">
        <p14:creationId xmlns:p14="http://schemas.microsoft.com/office/powerpoint/2010/main" val="3461370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334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Specialization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752601"/>
            <a:ext cx="8229600" cy="4525963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400" dirty="0"/>
              <a:t>Individuals specialize in producing goods for which they have a comparative advantage</a:t>
            </a:r>
          </a:p>
          <a:p>
            <a:pPr eaLnBrk="1" hangingPunct="1"/>
            <a:r>
              <a:rPr lang="en-US" sz="2400" i="1" u="sng" dirty="0">
                <a:solidFill>
                  <a:srgbClr val="002060"/>
                </a:solidFill>
              </a:rPr>
              <a:t>Comparative</a:t>
            </a:r>
            <a:r>
              <a:rPr lang="en-US" sz="2400" i="1" dirty="0">
                <a:solidFill>
                  <a:srgbClr val="002060"/>
                </a:solidFill>
              </a:rPr>
              <a:t> advantage occurs when an individual has a lower </a:t>
            </a:r>
            <a:r>
              <a:rPr lang="en-US" sz="2400" i="1" u="sng" dirty="0">
                <a:solidFill>
                  <a:srgbClr val="002060"/>
                </a:solidFill>
              </a:rPr>
              <a:t>opportunity cost </a:t>
            </a:r>
            <a:r>
              <a:rPr lang="en-US" sz="2400" i="1" dirty="0">
                <a:solidFill>
                  <a:srgbClr val="002060"/>
                </a:solidFill>
              </a:rPr>
              <a:t>of producing a good</a:t>
            </a:r>
            <a:r>
              <a:rPr lang="en-US" sz="2400" dirty="0">
                <a:solidFill>
                  <a:srgbClr val="002060"/>
                </a:solidFill>
              </a:rPr>
              <a:t> (than another individual)</a:t>
            </a:r>
            <a:endParaRPr lang="en-US" sz="2400" i="1" dirty="0">
              <a:solidFill>
                <a:srgbClr val="002060"/>
              </a:solidFill>
            </a:endParaRPr>
          </a:p>
          <a:p>
            <a:pPr eaLnBrk="1" hangingPunct="1"/>
            <a:r>
              <a:rPr lang="en-US" sz="2400" dirty="0">
                <a:solidFill>
                  <a:srgbClr val="C00000"/>
                </a:solidFill>
              </a:rPr>
              <a:t>Specialization and trade make both parties  better off</a:t>
            </a:r>
          </a:p>
        </p:txBody>
      </p:sp>
      <p:sp>
        <p:nvSpPr>
          <p:cNvPr id="9221" name="Rectangle 5"/>
          <p:cNvSpPr>
            <a:spLocks noChangeArrowheads="1"/>
          </p:cNvSpPr>
          <p:nvPr/>
        </p:nvSpPr>
        <p:spPr bwMode="auto">
          <a:xfrm>
            <a:off x="9601200" y="5943601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B618DE54-5F58-4BEB-9A7E-1C979C9BA0DA}" type="slidenum">
              <a:rPr lang="en-US" sz="1000" smtClean="0"/>
              <a:pPr/>
              <a:t>6</a:t>
            </a:fld>
            <a:endParaRPr lang="en-US" sz="1000" dirty="0"/>
          </a:p>
        </p:txBody>
      </p:sp>
      <p:sp>
        <p:nvSpPr>
          <p:cNvPr id="5" name="Tekstboks 4"/>
          <p:cNvSpPr txBox="1"/>
          <p:nvPr/>
        </p:nvSpPr>
        <p:spPr>
          <a:xfrm>
            <a:off x="5715000" y="5422781"/>
            <a:ext cx="1337841" cy="954107"/>
          </a:xfrm>
          <a:prstGeom prst="rect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a-DK" sz="1400" dirty="0"/>
              <a:t>Ramme: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400" dirty="0"/>
              <a:t>P. 68n.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400" dirty="0"/>
              <a:t>P. 71 n. og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400" dirty="0"/>
              <a:t>P. 72 m.!</a:t>
            </a:r>
          </a:p>
        </p:txBody>
      </p:sp>
      <p:sp>
        <p:nvSpPr>
          <p:cNvPr id="6" name="Tekstboks 5"/>
          <p:cNvSpPr txBox="1"/>
          <p:nvPr/>
        </p:nvSpPr>
        <p:spPr>
          <a:xfrm>
            <a:off x="6400800" y="4434820"/>
            <a:ext cx="4267200" cy="523220"/>
          </a:xfrm>
          <a:prstGeom prst="rect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a-DK" sz="1400" dirty="0"/>
              <a:t>Se s. 69! VIGTIGT, læs selv bemærk, at Donna er absolut bedst til at producere både kød og øl!</a:t>
            </a:r>
          </a:p>
        </p:txBody>
      </p:sp>
      <p:cxnSp>
        <p:nvCxnSpPr>
          <p:cNvPr id="3" name="Lige pilforbindelse 2"/>
          <p:cNvCxnSpPr>
            <a:endCxn id="5" idx="3"/>
          </p:cNvCxnSpPr>
          <p:nvPr/>
        </p:nvCxnSpPr>
        <p:spPr>
          <a:xfrm flipH="1">
            <a:off x="7052841" y="4958040"/>
            <a:ext cx="2438401" cy="941795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8524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685800"/>
            <a:ext cx="9144000" cy="1143000"/>
          </a:xfrm>
        </p:spPr>
        <p:txBody>
          <a:bodyPr/>
          <a:lstStyle/>
          <a:p>
            <a:pPr eaLnBrk="1" hangingPunct="1"/>
            <a:r>
              <a:rPr lang="en-US" sz="4000" dirty="0">
                <a:solidFill>
                  <a:srgbClr val="C00000"/>
                </a:solidFill>
              </a:rPr>
              <a:t>Supply and Demand in the PC Industry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676400" y="2362200"/>
            <a:ext cx="4114800" cy="3276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dirty="0"/>
              <a:t>   </a:t>
            </a:r>
            <a:r>
              <a:rPr lang="en-US" dirty="0">
                <a:solidFill>
                  <a:srgbClr val="C00000"/>
                </a:solidFill>
              </a:rPr>
              <a:t>When prices are high, the quantity supplied is greater than quantity demanded, and a surplus exists.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dirty="0">
                <a:solidFill>
                  <a:srgbClr val="C00000"/>
                </a:solidFill>
              </a:rPr>
              <a:t>    When prices are low, the quantity demanded is greater than quantity supplied, and a shortage exists.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dirty="0"/>
              <a:t>    Only the </a:t>
            </a:r>
            <a:r>
              <a:rPr lang="en-US" dirty="0">
                <a:solidFill>
                  <a:srgbClr val="002060"/>
                </a:solidFill>
              </a:rPr>
              <a:t>market-clearing price </a:t>
            </a:r>
            <a:r>
              <a:rPr lang="en-US" dirty="0"/>
              <a:t>avoids surpluses or shortages.</a:t>
            </a:r>
          </a:p>
        </p:txBody>
      </p:sp>
      <p:sp>
        <p:nvSpPr>
          <p:cNvPr id="11268" name="Line 4"/>
          <p:cNvSpPr>
            <a:spLocks noChangeShapeType="1"/>
          </p:cNvSpPr>
          <p:nvPr/>
        </p:nvSpPr>
        <p:spPr bwMode="auto">
          <a:xfrm>
            <a:off x="6248400" y="2057400"/>
            <a:ext cx="0" cy="3505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sm"/>
            <a:tailEnd type="none" w="sm" len="sm"/>
          </a:ln>
        </p:spPr>
        <p:txBody>
          <a:bodyPr/>
          <a:lstStyle/>
          <a:p>
            <a:endParaRPr lang="da-DK"/>
          </a:p>
        </p:txBody>
      </p:sp>
      <p:sp>
        <p:nvSpPr>
          <p:cNvPr id="11269" name="Line 5"/>
          <p:cNvSpPr>
            <a:spLocks noChangeShapeType="1"/>
          </p:cNvSpPr>
          <p:nvPr/>
        </p:nvSpPr>
        <p:spPr bwMode="auto">
          <a:xfrm flipV="1">
            <a:off x="7010400" y="2514600"/>
            <a:ext cx="2514600" cy="2514600"/>
          </a:xfrm>
          <a:prstGeom prst="line">
            <a:avLst/>
          </a:prstGeom>
          <a:noFill/>
          <a:ln w="31750">
            <a:solidFill>
              <a:srgbClr val="000066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da-DK"/>
          </a:p>
        </p:txBody>
      </p:sp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9563100" y="2316164"/>
            <a:ext cx="723900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sz="1200">
                <a:solidFill>
                  <a:srgbClr val="5F5F5F"/>
                </a:solidFill>
              </a:rPr>
              <a:t>Supply</a:t>
            </a:r>
          </a:p>
        </p:txBody>
      </p:sp>
      <p:sp>
        <p:nvSpPr>
          <p:cNvPr id="11271" name="Text Box 7"/>
          <p:cNvSpPr txBox="1">
            <a:spLocks noChangeArrowheads="1"/>
          </p:cNvSpPr>
          <p:nvPr/>
        </p:nvSpPr>
        <p:spPr bwMode="auto">
          <a:xfrm>
            <a:off x="9448800" y="5181600"/>
            <a:ext cx="757238" cy="2746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1200">
                <a:solidFill>
                  <a:srgbClr val="5F5F5F"/>
                </a:solidFill>
              </a:rPr>
              <a:t>Demand</a:t>
            </a:r>
          </a:p>
        </p:txBody>
      </p:sp>
      <p:sp>
        <p:nvSpPr>
          <p:cNvPr id="11272" name="Line 8"/>
          <p:cNvSpPr>
            <a:spLocks noChangeShapeType="1"/>
          </p:cNvSpPr>
          <p:nvPr/>
        </p:nvSpPr>
        <p:spPr bwMode="auto">
          <a:xfrm>
            <a:off x="6781800" y="2667000"/>
            <a:ext cx="2590800" cy="2514600"/>
          </a:xfrm>
          <a:prstGeom prst="line">
            <a:avLst/>
          </a:prstGeom>
          <a:noFill/>
          <a:ln w="31750">
            <a:solidFill>
              <a:srgbClr val="000066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da-DK"/>
          </a:p>
        </p:txBody>
      </p:sp>
      <p:sp>
        <p:nvSpPr>
          <p:cNvPr id="11273" name="Line 9"/>
          <p:cNvSpPr>
            <a:spLocks noChangeShapeType="1"/>
          </p:cNvSpPr>
          <p:nvPr/>
        </p:nvSpPr>
        <p:spPr bwMode="auto">
          <a:xfrm>
            <a:off x="6248400" y="5562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/>
            <a:tailEnd type="triangle"/>
          </a:ln>
        </p:spPr>
        <p:txBody>
          <a:bodyPr/>
          <a:lstStyle/>
          <a:p>
            <a:endParaRPr lang="da-DK"/>
          </a:p>
        </p:txBody>
      </p:sp>
      <p:sp>
        <p:nvSpPr>
          <p:cNvPr id="11274" name="Text Box 10"/>
          <p:cNvSpPr txBox="1">
            <a:spLocks noChangeArrowheads="1"/>
          </p:cNvSpPr>
          <p:nvPr/>
        </p:nvSpPr>
        <p:spPr bwMode="auto">
          <a:xfrm>
            <a:off x="6108700" y="1752601"/>
            <a:ext cx="290464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$</a:t>
            </a:r>
          </a:p>
        </p:txBody>
      </p:sp>
      <p:sp>
        <p:nvSpPr>
          <p:cNvPr id="11275" name="Text Box 11"/>
          <p:cNvSpPr txBox="1">
            <a:spLocks noChangeArrowheads="1"/>
          </p:cNvSpPr>
          <p:nvPr/>
        </p:nvSpPr>
        <p:spPr bwMode="auto">
          <a:xfrm>
            <a:off x="10223500" y="5410201"/>
            <a:ext cx="298480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Q</a:t>
            </a:r>
          </a:p>
        </p:txBody>
      </p:sp>
      <p:sp>
        <p:nvSpPr>
          <p:cNvPr id="94220" name="Text Box 12"/>
          <p:cNvSpPr txBox="1">
            <a:spLocks noChangeArrowheads="1"/>
          </p:cNvSpPr>
          <p:nvPr/>
        </p:nvSpPr>
        <p:spPr bwMode="auto">
          <a:xfrm>
            <a:off x="7924800" y="5638801"/>
            <a:ext cx="404278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Q*</a:t>
            </a:r>
          </a:p>
        </p:txBody>
      </p:sp>
      <p:sp>
        <p:nvSpPr>
          <p:cNvPr id="94221" name="Text Box 13"/>
          <p:cNvSpPr txBox="1">
            <a:spLocks noChangeArrowheads="1"/>
          </p:cNvSpPr>
          <p:nvPr/>
        </p:nvSpPr>
        <p:spPr bwMode="auto">
          <a:xfrm>
            <a:off x="5867401" y="3810000"/>
            <a:ext cx="449263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sz="1400" i="1">
                <a:solidFill>
                  <a:srgbClr val="5F5F5F"/>
                </a:solidFill>
              </a:rPr>
              <a:t>P*</a:t>
            </a:r>
          </a:p>
        </p:txBody>
      </p:sp>
      <p:sp>
        <p:nvSpPr>
          <p:cNvPr id="94222" name="Text Box 14"/>
          <p:cNvSpPr txBox="1">
            <a:spLocks noChangeArrowheads="1"/>
          </p:cNvSpPr>
          <p:nvPr/>
        </p:nvSpPr>
        <p:spPr bwMode="auto">
          <a:xfrm>
            <a:off x="5791201" y="4419601"/>
            <a:ext cx="417487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1400" i="1">
                <a:solidFill>
                  <a:srgbClr val="5F5F5F"/>
                </a:solidFill>
              </a:rPr>
              <a:t>P</a:t>
            </a:r>
            <a:r>
              <a:rPr lang="en-US" sz="1400" i="1" baseline="30000">
                <a:solidFill>
                  <a:srgbClr val="5F5F5F"/>
                </a:solidFill>
              </a:rPr>
              <a:t>LO</a:t>
            </a:r>
            <a:endParaRPr lang="en-US" sz="1400" i="1">
              <a:solidFill>
                <a:srgbClr val="5F5F5F"/>
              </a:solidFill>
            </a:endParaRPr>
          </a:p>
        </p:txBody>
      </p:sp>
      <p:sp>
        <p:nvSpPr>
          <p:cNvPr id="94223" name="Text Box 15"/>
          <p:cNvSpPr txBox="1">
            <a:spLocks noChangeArrowheads="1"/>
          </p:cNvSpPr>
          <p:nvPr/>
        </p:nvSpPr>
        <p:spPr bwMode="auto">
          <a:xfrm>
            <a:off x="5867400" y="3048001"/>
            <a:ext cx="393056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1400" i="1">
                <a:solidFill>
                  <a:srgbClr val="5F5F5F"/>
                </a:solidFill>
              </a:rPr>
              <a:t>P</a:t>
            </a:r>
            <a:r>
              <a:rPr lang="en-US" sz="1400" i="1" baseline="30000">
                <a:solidFill>
                  <a:srgbClr val="5F5F5F"/>
                </a:solidFill>
              </a:rPr>
              <a:t>HI</a:t>
            </a:r>
            <a:endParaRPr lang="en-US" sz="1400" i="1">
              <a:solidFill>
                <a:srgbClr val="5F5F5F"/>
              </a:solidFill>
            </a:endParaRPr>
          </a:p>
        </p:txBody>
      </p:sp>
      <p:sp>
        <p:nvSpPr>
          <p:cNvPr id="11280" name="Text Box 16"/>
          <p:cNvSpPr txBox="1">
            <a:spLocks noChangeArrowheads="1"/>
          </p:cNvSpPr>
          <p:nvPr/>
        </p:nvSpPr>
        <p:spPr bwMode="auto">
          <a:xfrm>
            <a:off x="7640638" y="5930901"/>
            <a:ext cx="1178528" cy="27699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1200">
                <a:solidFill>
                  <a:srgbClr val="5F5F5F"/>
                </a:solidFill>
              </a:rPr>
              <a:t>Quantity of PCs</a:t>
            </a:r>
          </a:p>
        </p:txBody>
      </p:sp>
      <p:sp>
        <p:nvSpPr>
          <p:cNvPr id="11281" name="Text Box 17"/>
          <p:cNvSpPr txBox="1">
            <a:spLocks noChangeArrowheads="1"/>
          </p:cNvSpPr>
          <p:nvPr/>
        </p:nvSpPr>
        <p:spPr bwMode="auto">
          <a:xfrm rot="-5400000">
            <a:off x="5092701" y="3700464"/>
            <a:ext cx="1281113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1200">
                <a:solidFill>
                  <a:srgbClr val="5F5F5F"/>
                </a:solidFill>
              </a:rPr>
              <a:t>Price (in dollars)</a:t>
            </a:r>
          </a:p>
        </p:txBody>
      </p:sp>
      <p:sp>
        <p:nvSpPr>
          <p:cNvPr id="94226" name="Text Box 18"/>
          <p:cNvSpPr txBox="1">
            <a:spLocks noChangeArrowheads="1"/>
          </p:cNvSpPr>
          <p:nvPr/>
        </p:nvSpPr>
        <p:spPr bwMode="auto">
          <a:xfrm>
            <a:off x="7696200" y="4525964"/>
            <a:ext cx="800100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1200">
                <a:solidFill>
                  <a:srgbClr val="5F5F5F"/>
                </a:solidFill>
              </a:rPr>
              <a:t>Shortage</a:t>
            </a:r>
          </a:p>
        </p:txBody>
      </p:sp>
      <p:sp>
        <p:nvSpPr>
          <p:cNvPr id="94227" name="Text Box 19"/>
          <p:cNvSpPr txBox="1">
            <a:spLocks noChangeArrowheads="1"/>
          </p:cNvSpPr>
          <p:nvPr/>
        </p:nvSpPr>
        <p:spPr bwMode="auto">
          <a:xfrm>
            <a:off x="7734300" y="2849564"/>
            <a:ext cx="698500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1200">
                <a:solidFill>
                  <a:srgbClr val="5F5F5F"/>
                </a:solidFill>
              </a:rPr>
              <a:t>Surplus</a:t>
            </a:r>
          </a:p>
        </p:txBody>
      </p:sp>
      <p:sp>
        <p:nvSpPr>
          <p:cNvPr id="94228" name="Line 20"/>
          <p:cNvSpPr>
            <a:spLocks noChangeShapeType="1"/>
          </p:cNvSpPr>
          <p:nvPr/>
        </p:nvSpPr>
        <p:spPr bwMode="auto">
          <a:xfrm>
            <a:off x="6248400" y="4572000"/>
            <a:ext cx="1219200" cy="0"/>
          </a:xfrm>
          <a:prstGeom prst="line">
            <a:avLst/>
          </a:prstGeom>
          <a:noFill/>
          <a:ln w="9525" cap="rnd">
            <a:solidFill>
              <a:srgbClr val="5F5F5F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94229" name="Line 21"/>
          <p:cNvSpPr>
            <a:spLocks noChangeShapeType="1"/>
          </p:cNvSpPr>
          <p:nvPr/>
        </p:nvSpPr>
        <p:spPr bwMode="auto">
          <a:xfrm>
            <a:off x="6248400" y="3962400"/>
            <a:ext cx="1828800" cy="0"/>
          </a:xfrm>
          <a:prstGeom prst="line">
            <a:avLst/>
          </a:prstGeom>
          <a:noFill/>
          <a:ln w="9525" cap="rnd">
            <a:solidFill>
              <a:srgbClr val="5F5F5F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94230" name="Line 22"/>
          <p:cNvSpPr>
            <a:spLocks noChangeShapeType="1"/>
          </p:cNvSpPr>
          <p:nvPr/>
        </p:nvSpPr>
        <p:spPr bwMode="auto">
          <a:xfrm>
            <a:off x="6248400" y="3124200"/>
            <a:ext cx="990600" cy="0"/>
          </a:xfrm>
          <a:prstGeom prst="line">
            <a:avLst/>
          </a:prstGeom>
          <a:noFill/>
          <a:ln w="9525" cap="rnd">
            <a:solidFill>
              <a:srgbClr val="5F5F5F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94231" name="Line 23"/>
          <p:cNvSpPr>
            <a:spLocks noChangeShapeType="1"/>
          </p:cNvSpPr>
          <p:nvPr/>
        </p:nvSpPr>
        <p:spPr bwMode="auto">
          <a:xfrm flipV="1">
            <a:off x="8077200" y="3886200"/>
            <a:ext cx="0" cy="1676400"/>
          </a:xfrm>
          <a:prstGeom prst="line">
            <a:avLst/>
          </a:prstGeom>
          <a:noFill/>
          <a:ln w="9525" cap="rnd">
            <a:solidFill>
              <a:srgbClr val="5F5F5F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94232" name="Line 24"/>
          <p:cNvSpPr>
            <a:spLocks noChangeShapeType="1"/>
          </p:cNvSpPr>
          <p:nvPr/>
        </p:nvSpPr>
        <p:spPr bwMode="auto">
          <a:xfrm>
            <a:off x="7315200" y="3124200"/>
            <a:ext cx="1600200" cy="0"/>
          </a:xfrm>
          <a:prstGeom prst="line">
            <a:avLst/>
          </a:prstGeom>
          <a:noFill/>
          <a:ln w="31750">
            <a:solidFill>
              <a:srgbClr val="FF6600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94233" name="Line 25"/>
          <p:cNvSpPr>
            <a:spLocks noChangeShapeType="1"/>
          </p:cNvSpPr>
          <p:nvPr/>
        </p:nvSpPr>
        <p:spPr bwMode="auto">
          <a:xfrm>
            <a:off x="7467600" y="4572000"/>
            <a:ext cx="1219200" cy="0"/>
          </a:xfrm>
          <a:prstGeom prst="line">
            <a:avLst/>
          </a:prstGeom>
          <a:noFill/>
          <a:ln w="31750">
            <a:solidFill>
              <a:srgbClr val="FF6600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11292" name="Rectangle 28"/>
          <p:cNvSpPr>
            <a:spLocks noChangeArrowheads="1"/>
          </p:cNvSpPr>
          <p:nvPr/>
        </p:nvSpPr>
        <p:spPr bwMode="auto">
          <a:xfrm>
            <a:off x="11314253" y="5930901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B9F45D15-C5CF-4226-BF2B-AE0E76E74422}" type="slidenum">
              <a:rPr lang="en-US" sz="1000" smtClean="0"/>
              <a:pPr/>
              <a:t>7</a:t>
            </a:fld>
            <a:endParaRPr lang="en-US" sz="1000" dirty="0"/>
          </a:p>
        </p:txBody>
      </p:sp>
      <p:sp>
        <p:nvSpPr>
          <p:cNvPr id="27" name="Tekstboks 26"/>
          <p:cNvSpPr txBox="1"/>
          <p:nvPr/>
        </p:nvSpPr>
        <p:spPr>
          <a:xfrm>
            <a:off x="5181600" y="6003409"/>
            <a:ext cx="1371600" cy="3693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da-DK" dirty="0">
                <a:solidFill>
                  <a:schemeClr val="bg1"/>
                </a:solidFill>
              </a:rPr>
              <a:t>’Snapshot’</a:t>
            </a:r>
          </a:p>
        </p:txBody>
      </p:sp>
    </p:spTree>
    <p:extLst>
      <p:ext uri="{BB962C8B-B14F-4D97-AF65-F5344CB8AC3E}">
        <p14:creationId xmlns:p14="http://schemas.microsoft.com/office/powerpoint/2010/main" val="4014947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charRg st="0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4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4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4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charRg st="102" end="2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4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4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4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charRg st="205" end="2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4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94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20" grpId="0"/>
      <p:bldP spid="94221" grpId="0"/>
      <p:bldP spid="94222" grpId="0"/>
      <p:bldP spid="94222" grpId="1"/>
      <p:bldP spid="94223" grpId="0"/>
      <p:bldP spid="94223" grpId="1"/>
      <p:bldP spid="94226" grpId="0"/>
      <p:bldP spid="94227" grpId="0"/>
      <p:bldP spid="94228" grpId="0" animBg="1"/>
      <p:bldP spid="94229" grpId="0" animBg="1"/>
      <p:bldP spid="94230" grpId="0" animBg="1"/>
      <p:bldP spid="94231" grpId="0" animBg="1"/>
      <p:bldP spid="94232" grpId="0" animBg="1"/>
      <p:bldP spid="9423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685800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dirty="0"/>
              <a:t>The Nature and Function of </a:t>
            </a:r>
            <a:r>
              <a:rPr lang="en-US" sz="4000" dirty="0">
                <a:solidFill>
                  <a:srgbClr val="C00000"/>
                </a:solidFill>
              </a:rPr>
              <a:t>Prices</a:t>
            </a:r>
            <a:r>
              <a:rPr lang="en-US" sz="4000" dirty="0"/>
              <a:t>; </a:t>
            </a:r>
            <a:br>
              <a:rPr lang="en-US" sz="4000" dirty="0"/>
            </a:br>
            <a:r>
              <a:rPr lang="en-US" sz="4000" i="1" dirty="0">
                <a:solidFill>
                  <a:srgbClr val="C00000"/>
                </a:solidFill>
              </a:rPr>
              <a:t>a social coordination mechanism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2133601"/>
            <a:ext cx="7290881" cy="4297363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sz="2800" dirty="0">
                <a:solidFill>
                  <a:srgbClr val="C00000"/>
                </a:solidFill>
              </a:rPr>
              <a:t>Prices coordinate consumption and production decisions;</a:t>
            </a:r>
          </a:p>
          <a:p>
            <a:pPr lvl="1" eaLnBrk="1" hangingPunct="1">
              <a:buFontTx/>
              <a:buChar char="•"/>
            </a:pPr>
            <a:r>
              <a:rPr lang="en-US" sz="2800" dirty="0">
                <a:solidFill>
                  <a:srgbClr val="C00000"/>
                </a:solidFill>
              </a:rPr>
              <a:t>price signals give suppliers incentives to shift production to high priced products</a:t>
            </a:r>
          </a:p>
          <a:p>
            <a:pPr lvl="1" eaLnBrk="1" hangingPunct="1">
              <a:buFontTx/>
              <a:buChar char="•"/>
            </a:pPr>
            <a:r>
              <a:rPr lang="en-US" sz="2800" dirty="0">
                <a:solidFill>
                  <a:srgbClr val="C00000"/>
                </a:solidFill>
              </a:rPr>
              <a:t>price signals give consumers incentives to reduce quantity of high price products</a:t>
            </a:r>
          </a:p>
          <a:p>
            <a:pPr lvl="1" eaLnBrk="1" hangingPunct="1">
              <a:buFontTx/>
              <a:buChar char="•"/>
            </a:pPr>
            <a:r>
              <a:rPr lang="en-US" sz="2800" dirty="0">
                <a:solidFill>
                  <a:srgbClr val="C00000"/>
                </a:solidFill>
              </a:rPr>
              <a:t>goods are rationed to those willing to pay</a:t>
            </a:r>
          </a:p>
          <a:p>
            <a:pPr lvl="1" eaLnBrk="1" hangingPunct="1">
              <a:buFontTx/>
              <a:buChar char="•"/>
            </a:pPr>
            <a:r>
              <a:rPr lang="en-US" sz="2800" dirty="0">
                <a:solidFill>
                  <a:srgbClr val="C00000"/>
                </a:solidFill>
              </a:rPr>
              <a:t>equilibrium; ‘the invisible hand’ (A. Smith)</a:t>
            </a:r>
          </a:p>
          <a:p>
            <a:pPr lvl="1" eaLnBrk="1" hangingPunct="1">
              <a:buFontTx/>
              <a:buChar char="•"/>
            </a:pPr>
            <a:r>
              <a:rPr lang="en-US" sz="2800" dirty="0">
                <a:solidFill>
                  <a:srgbClr val="C00000"/>
                </a:solidFill>
              </a:rPr>
              <a:t>prices </a:t>
            </a:r>
            <a:r>
              <a:rPr lang="en-US" sz="2800" u="sng" dirty="0">
                <a:solidFill>
                  <a:srgbClr val="C00000"/>
                </a:solidFill>
              </a:rPr>
              <a:t>signals, control and coordinate!</a:t>
            </a:r>
          </a:p>
        </p:txBody>
      </p:sp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10793392" y="5978325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4A4AC050-978A-45AB-91B8-DE568D733A27}" type="slidenum">
              <a:rPr lang="en-US" sz="1000" smtClean="0"/>
              <a:pPr/>
              <a:t>8</a:t>
            </a:fld>
            <a:endParaRPr lang="en-US" sz="1000" dirty="0"/>
          </a:p>
        </p:txBody>
      </p:sp>
      <p:sp>
        <p:nvSpPr>
          <p:cNvPr id="2" name="5-Point Star 1"/>
          <p:cNvSpPr/>
          <p:nvPr/>
        </p:nvSpPr>
        <p:spPr>
          <a:xfrm>
            <a:off x="10434650" y="389569"/>
            <a:ext cx="1237499" cy="1031966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69817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6096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Gains From Trade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752601"/>
            <a:ext cx="5645285" cy="4525963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500" dirty="0">
                <a:solidFill>
                  <a:srgbClr val="002060"/>
                </a:solidFill>
              </a:rPr>
              <a:t>Consumer surplus </a:t>
            </a:r>
            <a:r>
              <a:rPr lang="en-US" sz="2500" dirty="0"/>
              <a:t>- the difference between what consumers are willing to pay and what they actually pay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500" dirty="0"/>
              <a:t>measured as the area below the demand curve and above the price</a:t>
            </a:r>
          </a:p>
          <a:p>
            <a:pPr eaLnBrk="1" hangingPunct="1">
              <a:lnSpc>
                <a:spcPct val="90000"/>
              </a:lnSpc>
            </a:pPr>
            <a:r>
              <a:rPr lang="en-US" sz="2500" dirty="0">
                <a:solidFill>
                  <a:srgbClr val="002060"/>
                </a:solidFill>
              </a:rPr>
              <a:t>Producer surplus </a:t>
            </a:r>
            <a:r>
              <a:rPr lang="en-US" sz="2500" dirty="0"/>
              <a:t>- the difference between the price received and willingness to produce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500" dirty="0"/>
              <a:t>measured as the area above the supply curve and below the price</a:t>
            </a:r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11094334" y="6106877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45CAC18F-C672-4E18-A4D3-2A96F728630B}" type="slidenum">
              <a:rPr lang="en-US" sz="1000" smtClean="0"/>
              <a:pPr/>
              <a:t>9</a:t>
            </a:fld>
            <a:endParaRPr lang="en-US" sz="1000" dirty="0"/>
          </a:p>
        </p:txBody>
      </p:sp>
      <p:pic>
        <p:nvPicPr>
          <p:cNvPr id="4100" name="Picture 4" descr="Over 70% of people in Denmark bought from second-hand shops - The Copenhagen  Post">
            <a:extLst>
              <a:ext uri="{FF2B5EF4-FFF2-40B4-BE49-F238E27FC236}">
                <a16:creationId xmlns:a16="http://schemas.microsoft.com/office/drawing/2014/main" id="{265D2479-ECAA-6F73-6B2B-C64E44A28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6592" y="1752600"/>
            <a:ext cx="4000309" cy="2448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44FAEA1-4F06-CA52-E4F9-8C48701FB85E}"/>
              </a:ext>
            </a:extLst>
          </p:cNvPr>
          <p:cNvSpPr txBox="1"/>
          <p:nvPr/>
        </p:nvSpPr>
        <p:spPr>
          <a:xfrm>
            <a:off x="7775643" y="4200728"/>
            <a:ext cx="35205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Kilde: https://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cphpost.dk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/2024-11-20/news/environment/over-70-of-people-in-denmark-bought-from-second-hand-shops/</a:t>
            </a:r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3881D0B0-2A31-4F76-6E99-6086F89BEF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6592" y="4479226"/>
            <a:ext cx="2704288" cy="1799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B67BD8-D54B-B2FB-F161-B77FF4FB54F6}"/>
              </a:ext>
            </a:extLst>
          </p:cNvPr>
          <p:cNvSpPr txBox="1"/>
          <p:nvPr/>
        </p:nvSpPr>
        <p:spPr>
          <a:xfrm>
            <a:off x="7775643" y="6248400"/>
            <a:ext cx="291458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Kilde: https://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www.howtoliveindenmark.com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/moving-to-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denmark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/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denmarks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-second-hand-economy/</a:t>
            </a:r>
          </a:p>
        </p:txBody>
      </p:sp>
    </p:spTree>
    <p:extLst>
      <p:ext uri="{BB962C8B-B14F-4D97-AF65-F5344CB8AC3E}">
        <p14:creationId xmlns:p14="http://schemas.microsoft.com/office/powerpoint/2010/main" val="410396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1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/>
              <a:t>Consumer and Producer Surplus</a:t>
            </a:r>
          </a:p>
        </p:txBody>
      </p:sp>
      <p:sp>
        <p:nvSpPr>
          <p:cNvPr id="18435" name="Line 4"/>
          <p:cNvSpPr>
            <a:spLocks noChangeShapeType="1"/>
          </p:cNvSpPr>
          <p:nvPr/>
        </p:nvSpPr>
        <p:spPr bwMode="auto">
          <a:xfrm>
            <a:off x="3581400" y="16764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/>
            <a:tailEnd type="none"/>
          </a:ln>
        </p:spPr>
        <p:txBody>
          <a:bodyPr/>
          <a:lstStyle/>
          <a:p>
            <a:endParaRPr lang="da-DK"/>
          </a:p>
        </p:txBody>
      </p:sp>
      <p:sp>
        <p:nvSpPr>
          <p:cNvPr id="18436" name="Line 5"/>
          <p:cNvSpPr>
            <a:spLocks noChangeShapeType="1"/>
          </p:cNvSpPr>
          <p:nvPr/>
        </p:nvSpPr>
        <p:spPr bwMode="auto">
          <a:xfrm>
            <a:off x="3581400" y="58674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/>
            <a:tailEnd type="triangle"/>
          </a:ln>
        </p:spPr>
        <p:txBody>
          <a:bodyPr/>
          <a:lstStyle/>
          <a:p>
            <a:endParaRPr lang="da-DK"/>
          </a:p>
        </p:txBody>
      </p:sp>
      <p:sp>
        <p:nvSpPr>
          <p:cNvPr id="18437" name="Text Box 6"/>
          <p:cNvSpPr txBox="1">
            <a:spLocks noChangeArrowheads="1"/>
          </p:cNvSpPr>
          <p:nvPr/>
        </p:nvSpPr>
        <p:spPr bwMode="auto">
          <a:xfrm>
            <a:off x="8288338" y="5715001"/>
            <a:ext cx="298480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1400" b="1">
                <a:solidFill>
                  <a:schemeClr val="bg2"/>
                </a:solidFill>
              </a:rPr>
              <a:t>Q</a:t>
            </a:r>
          </a:p>
        </p:txBody>
      </p:sp>
      <p:sp>
        <p:nvSpPr>
          <p:cNvPr id="18438" name="Text Box 7"/>
          <p:cNvSpPr txBox="1">
            <a:spLocks noChangeArrowheads="1"/>
          </p:cNvSpPr>
          <p:nvPr/>
        </p:nvSpPr>
        <p:spPr bwMode="auto">
          <a:xfrm>
            <a:off x="3429000" y="1371601"/>
            <a:ext cx="284052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1400" i="1">
                <a:solidFill>
                  <a:srgbClr val="5F5F5F"/>
                </a:solidFill>
              </a:rPr>
              <a:t>P</a:t>
            </a:r>
          </a:p>
        </p:txBody>
      </p:sp>
      <p:sp>
        <p:nvSpPr>
          <p:cNvPr id="18439" name="Line 8"/>
          <p:cNvSpPr>
            <a:spLocks noChangeShapeType="1"/>
          </p:cNvSpPr>
          <p:nvPr/>
        </p:nvSpPr>
        <p:spPr bwMode="auto">
          <a:xfrm>
            <a:off x="3581400" y="2057400"/>
            <a:ext cx="3962400" cy="3810000"/>
          </a:xfrm>
          <a:prstGeom prst="line">
            <a:avLst/>
          </a:prstGeom>
          <a:noFill/>
          <a:ln w="31750">
            <a:solidFill>
              <a:srgbClr val="FF6600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18440" name="Text Box 9"/>
          <p:cNvSpPr txBox="1">
            <a:spLocks noChangeArrowheads="1"/>
          </p:cNvSpPr>
          <p:nvPr/>
        </p:nvSpPr>
        <p:spPr bwMode="auto">
          <a:xfrm>
            <a:off x="6629400" y="2438401"/>
            <a:ext cx="619080" cy="27699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1200">
                <a:solidFill>
                  <a:srgbClr val="5F5F5F"/>
                </a:solidFill>
              </a:rPr>
              <a:t>Supply</a:t>
            </a:r>
          </a:p>
        </p:txBody>
      </p:sp>
      <p:sp>
        <p:nvSpPr>
          <p:cNvPr id="18441" name="Text Box 10"/>
          <p:cNvSpPr txBox="1">
            <a:spLocks noChangeArrowheads="1"/>
          </p:cNvSpPr>
          <p:nvPr/>
        </p:nvSpPr>
        <p:spPr bwMode="auto">
          <a:xfrm>
            <a:off x="7315200" y="5486400"/>
            <a:ext cx="757238" cy="2746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1200">
                <a:solidFill>
                  <a:srgbClr val="5F5F5F"/>
                </a:solidFill>
              </a:rPr>
              <a:t>Demand</a:t>
            </a:r>
          </a:p>
        </p:txBody>
      </p:sp>
      <p:sp>
        <p:nvSpPr>
          <p:cNvPr id="18442" name="Line 11"/>
          <p:cNvSpPr>
            <a:spLocks noChangeShapeType="1"/>
          </p:cNvSpPr>
          <p:nvPr/>
        </p:nvSpPr>
        <p:spPr bwMode="auto">
          <a:xfrm flipV="1">
            <a:off x="3657600" y="2590800"/>
            <a:ext cx="2971800" cy="3276600"/>
          </a:xfrm>
          <a:prstGeom prst="line">
            <a:avLst/>
          </a:prstGeom>
          <a:noFill/>
          <a:ln w="31750">
            <a:solidFill>
              <a:srgbClr val="000066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18443" name="Text Box 12"/>
          <p:cNvSpPr txBox="1">
            <a:spLocks noChangeArrowheads="1"/>
          </p:cNvSpPr>
          <p:nvPr/>
        </p:nvSpPr>
        <p:spPr bwMode="auto">
          <a:xfrm>
            <a:off x="5257800" y="5867401"/>
            <a:ext cx="390492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10</a:t>
            </a:r>
          </a:p>
        </p:txBody>
      </p:sp>
      <p:sp>
        <p:nvSpPr>
          <p:cNvPr id="18444" name="Text Box 13"/>
          <p:cNvSpPr txBox="1">
            <a:spLocks noChangeArrowheads="1"/>
          </p:cNvSpPr>
          <p:nvPr/>
        </p:nvSpPr>
        <p:spPr bwMode="auto">
          <a:xfrm>
            <a:off x="3101975" y="3733801"/>
            <a:ext cx="496290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$10</a:t>
            </a:r>
          </a:p>
        </p:txBody>
      </p:sp>
      <p:sp>
        <p:nvSpPr>
          <p:cNvPr id="18445" name="Text Box 14"/>
          <p:cNvSpPr txBox="1">
            <a:spLocks noChangeArrowheads="1"/>
          </p:cNvSpPr>
          <p:nvPr/>
        </p:nvSpPr>
        <p:spPr bwMode="auto">
          <a:xfrm>
            <a:off x="3124201" y="1981201"/>
            <a:ext cx="502061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$20</a:t>
            </a:r>
          </a:p>
        </p:txBody>
      </p:sp>
      <p:sp>
        <p:nvSpPr>
          <p:cNvPr id="18446" name="Line 15"/>
          <p:cNvSpPr>
            <a:spLocks noChangeShapeType="1"/>
          </p:cNvSpPr>
          <p:nvPr/>
        </p:nvSpPr>
        <p:spPr bwMode="auto">
          <a:xfrm>
            <a:off x="3581400" y="3886200"/>
            <a:ext cx="1905000" cy="0"/>
          </a:xfrm>
          <a:prstGeom prst="line">
            <a:avLst/>
          </a:prstGeom>
          <a:noFill/>
          <a:ln w="25400">
            <a:solidFill>
              <a:srgbClr val="5F5F5F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18447" name="Line 16"/>
          <p:cNvSpPr>
            <a:spLocks noChangeShapeType="1"/>
          </p:cNvSpPr>
          <p:nvPr/>
        </p:nvSpPr>
        <p:spPr bwMode="auto">
          <a:xfrm flipV="1">
            <a:off x="5486400" y="3886200"/>
            <a:ext cx="0" cy="1981200"/>
          </a:xfrm>
          <a:prstGeom prst="line">
            <a:avLst/>
          </a:prstGeom>
          <a:noFill/>
          <a:ln w="25400">
            <a:solidFill>
              <a:srgbClr val="5F5F5F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97297" name="Text Box 17"/>
          <p:cNvSpPr txBox="1">
            <a:spLocks noChangeArrowheads="1"/>
          </p:cNvSpPr>
          <p:nvPr/>
        </p:nvSpPr>
        <p:spPr bwMode="auto">
          <a:xfrm>
            <a:off x="6680201" y="4435475"/>
            <a:ext cx="2004075" cy="5232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1400" u="sng" dirty="0">
                <a:solidFill>
                  <a:srgbClr val="000066"/>
                </a:solidFill>
              </a:rPr>
              <a:t>Incremental</a:t>
            </a:r>
            <a:r>
              <a:rPr lang="en-US" sz="1400" dirty="0">
                <a:solidFill>
                  <a:srgbClr val="000066"/>
                </a:solidFill>
              </a:rPr>
              <a:t> </a:t>
            </a:r>
            <a:r>
              <a:rPr lang="en-US" sz="1400" dirty="0">
                <a:solidFill>
                  <a:srgbClr val="5F5F5F"/>
                </a:solidFill>
              </a:rPr>
              <a:t>production</a:t>
            </a:r>
          </a:p>
          <a:p>
            <a:r>
              <a:rPr lang="en-US" sz="1400" dirty="0">
                <a:solidFill>
                  <a:srgbClr val="5F5F5F"/>
                </a:solidFill>
              </a:rPr>
              <a:t>Costs (Triangle C)</a:t>
            </a:r>
          </a:p>
        </p:txBody>
      </p:sp>
      <p:sp>
        <p:nvSpPr>
          <p:cNvPr id="97299" name="Text Box 19"/>
          <p:cNvSpPr txBox="1">
            <a:spLocks noChangeArrowheads="1"/>
          </p:cNvSpPr>
          <p:nvPr/>
        </p:nvSpPr>
        <p:spPr bwMode="auto">
          <a:xfrm>
            <a:off x="5943601" y="3673475"/>
            <a:ext cx="1467709" cy="5232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1400" b="1">
                <a:solidFill>
                  <a:srgbClr val="5F5F5F"/>
                </a:solidFill>
              </a:rPr>
              <a:t>Producer surplus</a:t>
            </a:r>
            <a:endParaRPr lang="en-US" sz="1400">
              <a:solidFill>
                <a:srgbClr val="5F5F5F"/>
              </a:solidFill>
            </a:endParaRPr>
          </a:p>
          <a:p>
            <a:r>
              <a:rPr lang="en-US" sz="1400">
                <a:solidFill>
                  <a:srgbClr val="5F5F5F"/>
                </a:solidFill>
              </a:rPr>
              <a:t>(Triangle B)</a:t>
            </a:r>
            <a:endParaRPr lang="en-US" sz="1400" b="1">
              <a:solidFill>
                <a:srgbClr val="5F5F5F"/>
              </a:solidFill>
            </a:endParaRPr>
          </a:p>
        </p:txBody>
      </p:sp>
      <p:sp>
        <p:nvSpPr>
          <p:cNvPr id="97300" name="Text Box 20"/>
          <p:cNvSpPr txBox="1">
            <a:spLocks noChangeArrowheads="1"/>
          </p:cNvSpPr>
          <p:nvPr/>
        </p:nvSpPr>
        <p:spPr bwMode="auto">
          <a:xfrm>
            <a:off x="4495801" y="2362200"/>
            <a:ext cx="1562351" cy="5232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1400" b="1">
                <a:solidFill>
                  <a:srgbClr val="5F5F5F"/>
                </a:solidFill>
              </a:rPr>
              <a:t>Consumer surplus</a:t>
            </a:r>
          </a:p>
          <a:p>
            <a:r>
              <a:rPr lang="en-US" sz="1400">
                <a:solidFill>
                  <a:srgbClr val="5F5F5F"/>
                </a:solidFill>
              </a:rPr>
              <a:t>(Triangle A)</a:t>
            </a:r>
          </a:p>
        </p:txBody>
      </p:sp>
      <p:sp>
        <p:nvSpPr>
          <p:cNvPr id="97302" name="Line 22"/>
          <p:cNvSpPr>
            <a:spLocks noChangeShapeType="1"/>
          </p:cNvSpPr>
          <p:nvPr/>
        </p:nvSpPr>
        <p:spPr bwMode="auto">
          <a:xfrm flipH="1">
            <a:off x="4114800" y="2590800"/>
            <a:ext cx="457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da-DK"/>
          </a:p>
        </p:txBody>
      </p:sp>
      <p:sp>
        <p:nvSpPr>
          <p:cNvPr id="97303" name="Line 23"/>
          <p:cNvSpPr>
            <a:spLocks noChangeShapeType="1"/>
          </p:cNvSpPr>
          <p:nvPr/>
        </p:nvSpPr>
        <p:spPr bwMode="auto">
          <a:xfrm flipH="1">
            <a:off x="4648200" y="3886200"/>
            <a:ext cx="1371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da-DK"/>
          </a:p>
        </p:txBody>
      </p:sp>
      <p:sp>
        <p:nvSpPr>
          <p:cNvPr id="97304" name="Line 24"/>
          <p:cNvSpPr>
            <a:spLocks noChangeShapeType="1"/>
          </p:cNvSpPr>
          <p:nvPr/>
        </p:nvSpPr>
        <p:spPr bwMode="auto">
          <a:xfrm flipH="1">
            <a:off x="5257800" y="4724400"/>
            <a:ext cx="1447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da-DK"/>
          </a:p>
        </p:txBody>
      </p:sp>
      <p:sp>
        <p:nvSpPr>
          <p:cNvPr id="97305" name="Text Box 25"/>
          <p:cNvSpPr txBox="1">
            <a:spLocks noChangeArrowheads="1"/>
          </p:cNvSpPr>
          <p:nvPr/>
        </p:nvSpPr>
        <p:spPr bwMode="auto">
          <a:xfrm>
            <a:off x="4632325" y="5065713"/>
            <a:ext cx="3177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</a:t>
            </a:r>
          </a:p>
        </p:txBody>
      </p:sp>
      <p:sp>
        <p:nvSpPr>
          <p:cNvPr id="97306" name="Text Box 26"/>
          <p:cNvSpPr txBox="1">
            <a:spLocks noChangeArrowheads="1"/>
          </p:cNvSpPr>
          <p:nvPr/>
        </p:nvSpPr>
        <p:spPr bwMode="auto">
          <a:xfrm>
            <a:off x="4070350" y="4205288"/>
            <a:ext cx="336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97307" name="Text Box 27"/>
          <p:cNvSpPr txBox="1">
            <a:spLocks noChangeArrowheads="1"/>
          </p:cNvSpPr>
          <p:nvPr/>
        </p:nvSpPr>
        <p:spPr bwMode="auto">
          <a:xfrm>
            <a:off x="4098925" y="3214688"/>
            <a:ext cx="3080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18458" name="Rectangle 26"/>
          <p:cNvSpPr>
            <a:spLocks noChangeArrowheads="1"/>
          </p:cNvSpPr>
          <p:nvPr/>
        </p:nvSpPr>
        <p:spPr bwMode="auto">
          <a:xfrm>
            <a:off x="11059610" y="6094680"/>
            <a:ext cx="33534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FA84E7C4-10A1-43A6-9C5A-94941F380530}" type="slidenum">
              <a:rPr lang="en-US" sz="1000" smtClean="0"/>
              <a:pPr/>
              <a:t>10</a:t>
            </a:fld>
            <a:endParaRPr lang="en-US" sz="1000" dirty="0"/>
          </a:p>
        </p:txBody>
      </p:sp>
      <p:sp>
        <p:nvSpPr>
          <p:cNvPr id="27" name="Tekstboks 26"/>
          <p:cNvSpPr txBox="1"/>
          <p:nvPr/>
        </p:nvSpPr>
        <p:spPr>
          <a:xfrm>
            <a:off x="9220200" y="4065479"/>
            <a:ext cx="1447800" cy="646331"/>
          </a:xfrm>
          <a:prstGeom prst="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a-DK" dirty="0">
                <a:solidFill>
                  <a:schemeClr val="bg1"/>
                </a:solidFill>
              </a:rPr>
              <a:t>S. 14n., </a:t>
            </a:r>
          </a:p>
          <a:p>
            <a:r>
              <a:rPr lang="da-DK" dirty="0">
                <a:solidFill>
                  <a:schemeClr val="bg1"/>
                </a:solidFill>
              </a:rPr>
              <a:t>note 4 igen</a:t>
            </a:r>
          </a:p>
        </p:txBody>
      </p:sp>
    </p:spTree>
    <p:extLst>
      <p:ext uri="{BB962C8B-B14F-4D97-AF65-F5344CB8AC3E}">
        <p14:creationId xmlns:p14="http://schemas.microsoft.com/office/powerpoint/2010/main" val="1457042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97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7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7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97" grpId="0"/>
      <p:bldP spid="97299" grpId="0"/>
      <p:bldP spid="97300" grpId="0"/>
      <p:bldP spid="97302" grpId="0" animBg="1"/>
      <p:bldP spid="97303" grpId="0" animBg="1"/>
      <p:bldP spid="97304" grpId="0" animBg="1"/>
      <p:bldP spid="97305" grpId="0"/>
      <p:bldP spid="97306" grpId="0"/>
      <p:bldP spid="9730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334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Government Intervention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2133601"/>
            <a:ext cx="6001966" cy="3992563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sz="3200" dirty="0"/>
              <a:t>Consumer and producer surplus can be used to examine the effects of government intervention on gains from trade</a:t>
            </a:r>
          </a:p>
          <a:p>
            <a:pPr eaLnBrk="1" hangingPunct="1"/>
            <a:r>
              <a:rPr lang="en-US" sz="3200" u="sng" dirty="0">
                <a:solidFill>
                  <a:srgbClr val="002060"/>
                </a:solidFill>
              </a:rPr>
              <a:t>Price caps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/>
              <a:t>limit the </a:t>
            </a:r>
            <a:r>
              <a:rPr lang="en-US" sz="3200" u="sng" dirty="0">
                <a:solidFill>
                  <a:srgbClr val="002060"/>
                </a:solidFill>
              </a:rPr>
              <a:t>maximum</a:t>
            </a:r>
            <a:r>
              <a:rPr lang="en-US" sz="3200" dirty="0"/>
              <a:t> price that can be charged</a:t>
            </a:r>
          </a:p>
          <a:p>
            <a:pPr eaLnBrk="1" hangingPunct="1"/>
            <a:r>
              <a:rPr lang="en-US" sz="3200" u="sng" dirty="0">
                <a:solidFill>
                  <a:srgbClr val="002060"/>
                </a:solidFill>
              </a:rPr>
              <a:t>Price floors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/>
              <a:t>are a legally set </a:t>
            </a:r>
            <a:r>
              <a:rPr lang="en-US" sz="3200" u="sng" dirty="0">
                <a:solidFill>
                  <a:srgbClr val="002060"/>
                </a:solidFill>
              </a:rPr>
              <a:t>minimum</a:t>
            </a:r>
            <a:r>
              <a:rPr lang="en-US" sz="3200" dirty="0"/>
              <a:t> price at which goods can be traded</a:t>
            </a:r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11140633" y="6003053"/>
            <a:ext cx="33534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7A4B4072-6F36-44E6-8AC2-0983F5AFD48C}" type="slidenum">
              <a:rPr lang="en-US" sz="1000" smtClean="0"/>
              <a:pPr/>
              <a:t>11</a:t>
            </a:fld>
            <a:endParaRPr lang="en-US" sz="1000" dirty="0"/>
          </a:p>
        </p:txBody>
      </p:sp>
      <p:pic>
        <p:nvPicPr>
          <p:cNvPr id="5122" name="Picture 2" descr="The new interventionism">
            <a:extLst>
              <a:ext uri="{FF2B5EF4-FFF2-40B4-BE49-F238E27FC236}">
                <a16:creationId xmlns:a16="http://schemas.microsoft.com/office/drawing/2014/main" id="{D493AB01-19B8-DFBD-E3DB-CABC7B28EB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5530" y="2296085"/>
            <a:ext cx="3431826" cy="1932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AE8353F-7F19-DA45-7F6C-F4AB353C689C}"/>
              </a:ext>
            </a:extLst>
          </p:cNvPr>
          <p:cNvSpPr txBox="1"/>
          <p:nvPr/>
        </p:nvSpPr>
        <p:spPr>
          <a:xfrm>
            <a:off x="8268510" y="4228290"/>
            <a:ext cx="239360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Kilde: https://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www.economist.com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/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britain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/2013/09/21/the-new-interventionism</a:t>
            </a:r>
          </a:p>
        </p:txBody>
      </p:sp>
    </p:spTree>
    <p:extLst>
      <p:ext uri="{BB962C8B-B14F-4D97-AF65-F5344CB8AC3E}">
        <p14:creationId xmlns:p14="http://schemas.microsoft.com/office/powerpoint/2010/main" val="2133509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Government </a:t>
            </a:r>
            <a:r>
              <a:rPr lang="en-US" sz="4000" dirty="0">
                <a:solidFill>
                  <a:srgbClr val="C00000"/>
                </a:solidFill>
              </a:rPr>
              <a:t>Price Cap</a:t>
            </a:r>
            <a:r>
              <a:rPr lang="en-US" sz="4000" dirty="0"/>
              <a:t> on Gasoline</a:t>
            </a:r>
            <a:endParaRPr lang="en-US" sz="3200" dirty="0"/>
          </a:p>
        </p:txBody>
      </p:sp>
      <p:sp>
        <p:nvSpPr>
          <p:cNvPr id="20483" name="Line 4"/>
          <p:cNvSpPr>
            <a:spLocks noChangeShapeType="1"/>
          </p:cNvSpPr>
          <p:nvPr/>
        </p:nvSpPr>
        <p:spPr bwMode="auto">
          <a:xfrm flipV="1">
            <a:off x="3505200" y="1752600"/>
            <a:ext cx="0" cy="434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/>
            <a:tailEnd type="triangle"/>
          </a:ln>
        </p:spPr>
        <p:txBody>
          <a:bodyPr/>
          <a:lstStyle/>
          <a:p>
            <a:endParaRPr lang="da-DK"/>
          </a:p>
        </p:txBody>
      </p:sp>
      <p:sp>
        <p:nvSpPr>
          <p:cNvPr id="20484" name="Line 5"/>
          <p:cNvSpPr>
            <a:spLocks noChangeShapeType="1"/>
          </p:cNvSpPr>
          <p:nvPr/>
        </p:nvSpPr>
        <p:spPr bwMode="auto">
          <a:xfrm>
            <a:off x="3505200" y="6096000"/>
            <a:ext cx="480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/>
            <a:tailEnd type="triangle"/>
          </a:ln>
        </p:spPr>
        <p:txBody>
          <a:bodyPr/>
          <a:lstStyle/>
          <a:p>
            <a:endParaRPr lang="da-DK"/>
          </a:p>
        </p:txBody>
      </p:sp>
      <p:sp>
        <p:nvSpPr>
          <p:cNvPr id="20485" name="Line 6"/>
          <p:cNvSpPr>
            <a:spLocks noChangeShapeType="1"/>
          </p:cNvSpPr>
          <p:nvPr/>
        </p:nvSpPr>
        <p:spPr bwMode="auto">
          <a:xfrm flipV="1">
            <a:off x="3505200" y="1905000"/>
            <a:ext cx="4343400" cy="320040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0486" name="Line 7"/>
          <p:cNvSpPr>
            <a:spLocks noChangeShapeType="1"/>
          </p:cNvSpPr>
          <p:nvPr/>
        </p:nvSpPr>
        <p:spPr bwMode="auto">
          <a:xfrm>
            <a:off x="3505200" y="2133600"/>
            <a:ext cx="3886200" cy="396240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99336" name="Line 8"/>
          <p:cNvSpPr>
            <a:spLocks noChangeShapeType="1"/>
          </p:cNvSpPr>
          <p:nvPr/>
        </p:nvSpPr>
        <p:spPr bwMode="auto">
          <a:xfrm flipH="1">
            <a:off x="4724400" y="2743200"/>
            <a:ext cx="3048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da-DK"/>
          </a:p>
        </p:txBody>
      </p:sp>
      <p:sp>
        <p:nvSpPr>
          <p:cNvPr id="99337" name="Line 9"/>
          <p:cNvSpPr>
            <a:spLocks noChangeShapeType="1"/>
          </p:cNvSpPr>
          <p:nvPr/>
        </p:nvSpPr>
        <p:spPr bwMode="auto">
          <a:xfrm flipH="1">
            <a:off x="4572000" y="2743200"/>
            <a:ext cx="4572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da-DK"/>
          </a:p>
        </p:txBody>
      </p:sp>
      <p:sp>
        <p:nvSpPr>
          <p:cNvPr id="99338" name="Line 10"/>
          <p:cNvSpPr>
            <a:spLocks noChangeShapeType="1"/>
          </p:cNvSpPr>
          <p:nvPr/>
        </p:nvSpPr>
        <p:spPr bwMode="auto">
          <a:xfrm>
            <a:off x="3505200" y="4419600"/>
            <a:ext cx="441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99340" name="Line 12"/>
          <p:cNvSpPr>
            <a:spLocks noChangeShapeType="1"/>
          </p:cNvSpPr>
          <p:nvPr/>
        </p:nvSpPr>
        <p:spPr bwMode="auto">
          <a:xfrm>
            <a:off x="4419600" y="4419600"/>
            <a:ext cx="0" cy="1676400"/>
          </a:xfrm>
          <a:prstGeom prst="line">
            <a:avLst/>
          </a:prstGeom>
          <a:noFill/>
          <a:ln w="19050">
            <a:solidFill>
              <a:srgbClr val="5F5F5F"/>
            </a:solidFill>
            <a:prstDash val="lgDash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0491" name="Line 13"/>
          <p:cNvSpPr>
            <a:spLocks noChangeShapeType="1"/>
          </p:cNvSpPr>
          <p:nvPr/>
        </p:nvSpPr>
        <p:spPr bwMode="auto">
          <a:xfrm>
            <a:off x="3505200" y="3810000"/>
            <a:ext cx="1676400" cy="0"/>
          </a:xfrm>
          <a:prstGeom prst="line">
            <a:avLst/>
          </a:prstGeom>
          <a:noFill/>
          <a:ln w="19050">
            <a:solidFill>
              <a:srgbClr val="5F5F5F"/>
            </a:solidFill>
            <a:prstDash val="lgDash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99342" name="Line 14"/>
          <p:cNvSpPr>
            <a:spLocks noChangeShapeType="1"/>
          </p:cNvSpPr>
          <p:nvPr/>
        </p:nvSpPr>
        <p:spPr bwMode="auto">
          <a:xfrm>
            <a:off x="5791200" y="4419600"/>
            <a:ext cx="0" cy="1676400"/>
          </a:xfrm>
          <a:prstGeom prst="line">
            <a:avLst/>
          </a:prstGeom>
          <a:noFill/>
          <a:ln w="19050">
            <a:solidFill>
              <a:srgbClr val="5F5F5F"/>
            </a:solidFill>
            <a:prstDash val="lgDash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0493" name="Text Box 16"/>
          <p:cNvSpPr txBox="1">
            <a:spLocks noChangeArrowheads="1"/>
          </p:cNvSpPr>
          <p:nvPr/>
        </p:nvSpPr>
        <p:spPr bwMode="auto">
          <a:xfrm>
            <a:off x="3124200" y="1524001"/>
            <a:ext cx="76014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solidFill>
                  <a:srgbClr val="5F5F5F"/>
                </a:solidFill>
              </a:rPr>
              <a:t>$/Gallon</a:t>
            </a:r>
          </a:p>
        </p:txBody>
      </p:sp>
      <p:sp>
        <p:nvSpPr>
          <p:cNvPr id="99345" name="Text Box 17"/>
          <p:cNvSpPr txBox="1">
            <a:spLocks noChangeArrowheads="1"/>
          </p:cNvSpPr>
          <p:nvPr/>
        </p:nvSpPr>
        <p:spPr bwMode="auto">
          <a:xfrm>
            <a:off x="4648200" y="2133600"/>
            <a:ext cx="97648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Lost gains</a:t>
            </a:r>
          </a:p>
          <a:p>
            <a:r>
              <a:rPr lang="en-US" sz="1400">
                <a:solidFill>
                  <a:srgbClr val="5F5F5F"/>
                </a:solidFill>
              </a:rPr>
              <a:t>from trade</a:t>
            </a:r>
          </a:p>
        </p:txBody>
      </p:sp>
      <p:sp>
        <p:nvSpPr>
          <p:cNvPr id="20495" name="Text Box 18"/>
          <p:cNvSpPr txBox="1">
            <a:spLocks noChangeArrowheads="1"/>
          </p:cNvSpPr>
          <p:nvPr/>
        </p:nvSpPr>
        <p:spPr bwMode="auto">
          <a:xfrm>
            <a:off x="7756525" y="1636714"/>
            <a:ext cx="69281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Supply</a:t>
            </a:r>
          </a:p>
        </p:txBody>
      </p:sp>
      <p:sp>
        <p:nvSpPr>
          <p:cNvPr id="99347" name="Text Box 19"/>
          <p:cNvSpPr txBox="1">
            <a:spLocks noChangeArrowheads="1"/>
          </p:cNvSpPr>
          <p:nvPr/>
        </p:nvSpPr>
        <p:spPr bwMode="auto">
          <a:xfrm>
            <a:off x="5867400" y="3733800"/>
            <a:ext cx="188410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Excess demand</a:t>
            </a:r>
          </a:p>
          <a:p>
            <a:r>
              <a:rPr lang="en-US" sz="1400">
                <a:solidFill>
                  <a:srgbClr val="5F5F5F"/>
                </a:solidFill>
              </a:rPr>
              <a:t>(shortage) for gasoline</a:t>
            </a:r>
          </a:p>
        </p:txBody>
      </p:sp>
      <p:sp>
        <p:nvSpPr>
          <p:cNvPr id="99348" name="Text Box 20"/>
          <p:cNvSpPr txBox="1">
            <a:spLocks noChangeArrowheads="1"/>
          </p:cNvSpPr>
          <p:nvPr/>
        </p:nvSpPr>
        <p:spPr bwMode="auto">
          <a:xfrm>
            <a:off x="8001001" y="4267200"/>
            <a:ext cx="122237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solidFill>
                  <a:srgbClr val="5F5F5F"/>
                </a:solidFill>
              </a:rPr>
              <a:t>$2.00 price cap</a:t>
            </a:r>
          </a:p>
        </p:txBody>
      </p:sp>
      <p:sp>
        <p:nvSpPr>
          <p:cNvPr id="20498" name="Text Box 21"/>
          <p:cNvSpPr txBox="1">
            <a:spLocks noChangeArrowheads="1"/>
          </p:cNvSpPr>
          <p:nvPr/>
        </p:nvSpPr>
        <p:spPr bwMode="auto">
          <a:xfrm>
            <a:off x="7315201" y="5715000"/>
            <a:ext cx="8540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Demand</a:t>
            </a:r>
          </a:p>
        </p:txBody>
      </p:sp>
      <p:sp>
        <p:nvSpPr>
          <p:cNvPr id="99350" name="Text Box 22"/>
          <p:cNvSpPr txBox="1">
            <a:spLocks noChangeArrowheads="1"/>
          </p:cNvSpPr>
          <p:nvPr/>
        </p:nvSpPr>
        <p:spPr bwMode="auto">
          <a:xfrm>
            <a:off x="2819401" y="4267200"/>
            <a:ext cx="78098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5F5F5F"/>
                </a:solidFill>
              </a:rPr>
              <a:t>$2.00</a:t>
            </a:r>
          </a:p>
        </p:txBody>
      </p:sp>
      <p:sp>
        <p:nvSpPr>
          <p:cNvPr id="20500" name="Text Box 23"/>
          <p:cNvSpPr txBox="1">
            <a:spLocks noChangeArrowheads="1"/>
          </p:cNvSpPr>
          <p:nvPr/>
        </p:nvSpPr>
        <p:spPr bwMode="auto">
          <a:xfrm>
            <a:off x="2803526" y="3617913"/>
            <a:ext cx="78098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5F5F5F"/>
                </a:solidFill>
              </a:rPr>
              <a:t>$3.00</a:t>
            </a:r>
          </a:p>
        </p:txBody>
      </p:sp>
      <p:sp>
        <p:nvSpPr>
          <p:cNvPr id="99353" name="Text Box 25"/>
          <p:cNvSpPr txBox="1">
            <a:spLocks noChangeArrowheads="1"/>
          </p:cNvSpPr>
          <p:nvPr/>
        </p:nvSpPr>
        <p:spPr bwMode="auto">
          <a:xfrm>
            <a:off x="4479925" y="3846513"/>
            <a:ext cx="336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99354" name="Text Box 26"/>
          <p:cNvSpPr txBox="1">
            <a:spLocks noChangeArrowheads="1"/>
          </p:cNvSpPr>
          <p:nvPr/>
        </p:nvSpPr>
        <p:spPr bwMode="auto">
          <a:xfrm>
            <a:off x="4479925" y="3465513"/>
            <a:ext cx="3080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20503" name="Text Box 27"/>
          <p:cNvSpPr txBox="1">
            <a:spLocks noChangeArrowheads="1"/>
          </p:cNvSpPr>
          <p:nvPr/>
        </p:nvSpPr>
        <p:spPr bwMode="auto">
          <a:xfrm>
            <a:off x="8213725" y="5903913"/>
            <a:ext cx="33054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5F5F5F"/>
                </a:solidFill>
              </a:rPr>
              <a:t>Q</a:t>
            </a:r>
          </a:p>
        </p:txBody>
      </p:sp>
      <p:sp>
        <p:nvSpPr>
          <p:cNvPr id="99356" name="Text Box 28"/>
          <p:cNvSpPr txBox="1">
            <a:spLocks noChangeArrowheads="1"/>
          </p:cNvSpPr>
          <p:nvPr/>
        </p:nvSpPr>
        <p:spPr bwMode="auto">
          <a:xfrm>
            <a:off x="4184650" y="6056313"/>
            <a:ext cx="4187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5F5F5F"/>
                </a:solidFill>
              </a:rPr>
              <a:t>Q</a:t>
            </a:r>
            <a:r>
              <a:rPr lang="en-US" baseline="-25000">
                <a:solidFill>
                  <a:srgbClr val="5F5F5F"/>
                </a:solidFill>
              </a:rPr>
              <a:t>S</a:t>
            </a:r>
          </a:p>
        </p:txBody>
      </p:sp>
      <p:sp>
        <p:nvSpPr>
          <p:cNvPr id="99357" name="Text Box 29"/>
          <p:cNvSpPr txBox="1">
            <a:spLocks noChangeArrowheads="1"/>
          </p:cNvSpPr>
          <p:nvPr/>
        </p:nvSpPr>
        <p:spPr bwMode="auto">
          <a:xfrm>
            <a:off x="5622925" y="6056313"/>
            <a:ext cx="42992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5F5F5F"/>
                </a:solidFill>
              </a:rPr>
              <a:t>Q</a:t>
            </a:r>
            <a:r>
              <a:rPr lang="en-US" baseline="-25000">
                <a:solidFill>
                  <a:srgbClr val="5F5F5F"/>
                </a:solidFill>
              </a:rPr>
              <a:t>D</a:t>
            </a:r>
          </a:p>
        </p:txBody>
      </p:sp>
      <p:sp>
        <p:nvSpPr>
          <p:cNvPr id="99359" name="Line 31"/>
          <p:cNvSpPr>
            <a:spLocks noChangeShapeType="1"/>
          </p:cNvSpPr>
          <p:nvPr/>
        </p:nvSpPr>
        <p:spPr bwMode="auto">
          <a:xfrm flipV="1">
            <a:off x="4419600" y="3048000"/>
            <a:ext cx="0" cy="1371600"/>
          </a:xfrm>
          <a:prstGeom prst="line">
            <a:avLst/>
          </a:prstGeom>
          <a:noFill/>
          <a:ln w="19050">
            <a:solidFill>
              <a:srgbClr val="5F5F5F"/>
            </a:solidFill>
            <a:prstDash val="lgDash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99360" name="Line 32"/>
          <p:cNvSpPr>
            <a:spLocks noChangeShapeType="1"/>
          </p:cNvSpPr>
          <p:nvPr/>
        </p:nvSpPr>
        <p:spPr bwMode="auto">
          <a:xfrm>
            <a:off x="4419600" y="4419600"/>
            <a:ext cx="1295400" cy="0"/>
          </a:xfrm>
          <a:prstGeom prst="line">
            <a:avLst/>
          </a:prstGeom>
          <a:noFill/>
          <a:ln w="31750">
            <a:solidFill>
              <a:srgbClr val="800000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0509" name="Rectangle 29"/>
          <p:cNvSpPr>
            <a:spLocks noChangeArrowheads="1"/>
          </p:cNvSpPr>
          <p:nvPr/>
        </p:nvSpPr>
        <p:spPr bwMode="auto">
          <a:xfrm>
            <a:off x="10828116" y="5994758"/>
            <a:ext cx="33534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0ACA7676-96A0-4EAF-BEF2-70F9E71B63E7}" type="slidenum">
              <a:rPr lang="en-US" sz="1000" smtClean="0"/>
              <a:pPr/>
              <a:t>12</a:t>
            </a:fld>
            <a:endParaRPr lang="en-US" sz="1000" dirty="0"/>
          </a:p>
        </p:txBody>
      </p:sp>
      <p:sp>
        <p:nvSpPr>
          <p:cNvPr id="2" name="Tekstboks 1"/>
          <p:cNvSpPr txBox="1"/>
          <p:nvPr/>
        </p:nvSpPr>
        <p:spPr>
          <a:xfrm>
            <a:off x="3733800" y="3984626"/>
            <a:ext cx="450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00" dirty="0">
                <a:solidFill>
                  <a:srgbClr val="FF6600"/>
                </a:solidFill>
              </a:rPr>
              <a:t>C?</a:t>
            </a:r>
          </a:p>
        </p:txBody>
      </p:sp>
      <p:pic>
        <p:nvPicPr>
          <p:cNvPr id="4" name="Graphic 3" descr="Loudly crying face outline with solid fill">
            <a:extLst>
              <a:ext uri="{FF2B5EF4-FFF2-40B4-BE49-F238E27FC236}">
                <a16:creationId xmlns:a16="http://schemas.microsoft.com/office/drawing/2014/main" id="{F8045561-245D-EDA9-B9FF-22DD8F0DC2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16563" y="2295991"/>
            <a:ext cx="233197" cy="233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63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9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99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9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9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99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99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6" grpId="0" animBg="1"/>
      <p:bldP spid="99337" grpId="0" animBg="1"/>
      <p:bldP spid="99338" grpId="0" animBg="1"/>
      <p:bldP spid="99340" grpId="0" animBg="1"/>
      <p:bldP spid="99342" grpId="0" animBg="1"/>
      <p:bldP spid="99345" grpId="0"/>
      <p:bldP spid="99347" grpId="0"/>
      <p:bldP spid="99348" grpId="0"/>
      <p:bldP spid="99353" grpId="0"/>
      <p:bldP spid="99354" grpId="0"/>
      <p:bldP spid="99356" grpId="0"/>
      <p:bldP spid="99357" grpId="0"/>
      <p:bldP spid="99359" grpId="0" animBg="1"/>
      <p:bldP spid="9936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4572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rgbClr val="00B050"/>
                </a:solidFill>
              </a:rPr>
              <a:t>Minimum Wage</a:t>
            </a:r>
            <a:r>
              <a:rPr lang="en-US" dirty="0"/>
              <a:t> Laws</a:t>
            </a:r>
            <a:endParaRPr lang="en-US" sz="3600" dirty="0"/>
          </a:p>
        </p:txBody>
      </p:sp>
      <p:sp>
        <p:nvSpPr>
          <p:cNvPr id="21507" name="Line 4"/>
          <p:cNvSpPr>
            <a:spLocks noChangeShapeType="1"/>
          </p:cNvSpPr>
          <p:nvPr/>
        </p:nvSpPr>
        <p:spPr bwMode="auto">
          <a:xfrm>
            <a:off x="3886200" y="1752600"/>
            <a:ext cx="0" cy="411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1508" name="Line 5"/>
          <p:cNvSpPr>
            <a:spLocks noChangeShapeType="1"/>
          </p:cNvSpPr>
          <p:nvPr/>
        </p:nvSpPr>
        <p:spPr bwMode="auto">
          <a:xfrm>
            <a:off x="3886200" y="5867400"/>
            <a:ext cx="464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/>
          </a:ln>
        </p:spPr>
        <p:txBody>
          <a:bodyPr/>
          <a:lstStyle/>
          <a:p>
            <a:endParaRPr lang="da-DK"/>
          </a:p>
        </p:txBody>
      </p:sp>
      <p:sp>
        <p:nvSpPr>
          <p:cNvPr id="21509" name="Line 6"/>
          <p:cNvSpPr>
            <a:spLocks noChangeShapeType="1"/>
          </p:cNvSpPr>
          <p:nvPr/>
        </p:nvSpPr>
        <p:spPr bwMode="auto">
          <a:xfrm flipV="1">
            <a:off x="3886200" y="2133600"/>
            <a:ext cx="2819400" cy="365760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1510" name="Line 7"/>
          <p:cNvSpPr>
            <a:spLocks noChangeShapeType="1"/>
          </p:cNvSpPr>
          <p:nvPr/>
        </p:nvSpPr>
        <p:spPr bwMode="auto">
          <a:xfrm>
            <a:off x="3886200" y="2057400"/>
            <a:ext cx="2895600" cy="381000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101384" name="Line 8"/>
          <p:cNvSpPr>
            <a:spLocks noChangeShapeType="1"/>
          </p:cNvSpPr>
          <p:nvPr/>
        </p:nvSpPr>
        <p:spPr bwMode="auto">
          <a:xfrm>
            <a:off x="3886200" y="2743200"/>
            <a:ext cx="3048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101385" name="Line 9"/>
          <p:cNvSpPr>
            <a:spLocks noChangeShapeType="1"/>
          </p:cNvSpPr>
          <p:nvPr/>
        </p:nvSpPr>
        <p:spPr bwMode="auto">
          <a:xfrm>
            <a:off x="4419600" y="2743200"/>
            <a:ext cx="0" cy="3124200"/>
          </a:xfrm>
          <a:prstGeom prst="line">
            <a:avLst/>
          </a:prstGeom>
          <a:noFill/>
          <a:ln w="15875">
            <a:solidFill>
              <a:schemeClr val="bg2"/>
            </a:solidFill>
            <a:prstDash val="lgDash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101386" name="Line 10"/>
          <p:cNvSpPr>
            <a:spLocks noChangeShapeType="1"/>
          </p:cNvSpPr>
          <p:nvPr/>
        </p:nvSpPr>
        <p:spPr bwMode="auto">
          <a:xfrm>
            <a:off x="6248400" y="2743200"/>
            <a:ext cx="0" cy="3048000"/>
          </a:xfrm>
          <a:prstGeom prst="line">
            <a:avLst/>
          </a:prstGeom>
          <a:noFill/>
          <a:ln w="15875">
            <a:solidFill>
              <a:schemeClr val="bg2"/>
            </a:solidFill>
            <a:prstDash val="lgDash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1514" name="Line 11"/>
          <p:cNvSpPr>
            <a:spLocks noChangeShapeType="1"/>
          </p:cNvSpPr>
          <p:nvPr/>
        </p:nvSpPr>
        <p:spPr bwMode="auto">
          <a:xfrm>
            <a:off x="3886200" y="3886200"/>
            <a:ext cx="1447800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1515" name="Line 12"/>
          <p:cNvSpPr>
            <a:spLocks noChangeShapeType="1"/>
          </p:cNvSpPr>
          <p:nvPr/>
        </p:nvSpPr>
        <p:spPr bwMode="auto">
          <a:xfrm>
            <a:off x="5334000" y="3886200"/>
            <a:ext cx="0" cy="190500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101389" name="Line 13"/>
          <p:cNvSpPr>
            <a:spLocks noChangeShapeType="1"/>
          </p:cNvSpPr>
          <p:nvPr/>
        </p:nvSpPr>
        <p:spPr bwMode="auto">
          <a:xfrm flipH="1" flipV="1">
            <a:off x="4953000" y="3657600"/>
            <a:ext cx="1447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da-DK"/>
          </a:p>
        </p:txBody>
      </p:sp>
      <p:sp>
        <p:nvSpPr>
          <p:cNvPr id="101390" name="Line 14"/>
          <p:cNvSpPr>
            <a:spLocks noChangeShapeType="1"/>
          </p:cNvSpPr>
          <p:nvPr/>
        </p:nvSpPr>
        <p:spPr bwMode="auto">
          <a:xfrm flipH="1">
            <a:off x="4953000" y="3886200"/>
            <a:ext cx="1447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da-DK"/>
          </a:p>
        </p:txBody>
      </p:sp>
      <p:sp>
        <p:nvSpPr>
          <p:cNvPr id="21518" name="Text Box 15"/>
          <p:cNvSpPr txBox="1">
            <a:spLocks noChangeArrowheads="1"/>
          </p:cNvSpPr>
          <p:nvPr/>
        </p:nvSpPr>
        <p:spPr bwMode="auto">
          <a:xfrm>
            <a:off x="3276601" y="3733801"/>
            <a:ext cx="65274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$4.00</a:t>
            </a:r>
          </a:p>
        </p:txBody>
      </p:sp>
      <p:sp>
        <p:nvSpPr>
          <p:cNvPr id="101392" name="Text Box 16"/>
          <p:cNvSpPr txBox="1">
            <a:spLocks noChangeArrowheads="1"/>
          </p:cNvSpPr>
          <p:nvPr/>
        </p:nvSpPr>
        <p:spPr bwMode="auto">
          <a:xfrm>
            <a:off x="3260726" y="2601914"/>
            <a:ext cx="64318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$5.15</a:t>
            </a:r>
          </a:p>
        </p:txBody>
      </p:sp>
      <p:sp>
        <p:nvSpPr>
          <p:cNvPr id="101393" name="Text Box 17"/>
          <p:cNvSpPr txBox="1">
            <a:spLocks noChangeArrowheads="1"/>
          </p:cNvSpPr>
          <p:nvPr/>
        </p:nvSpPr>
        <p:spPr bwMode="auto">
          <a:xfrm>
            <a:off x="4876800" y="1600200"/>
            <a:ext cx="1320618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Unemployment</a:t>
            </a:r>
          </a:p>
          <a:p>
            <a:r>
              <a:rPr lang="en-US" sz="1400">
                <a:solidFill>
                  <a:srgbClr val="5F5F5F"/>
                </a:solidFill>
              </a:rPr>
              <a:t>(excess supply</a:t>
            </a:r>
          </a:p>
          <a:p>
            <a:r>
              <a:rPr lang="en-US" sz="1400">
                <a:solidFill>
                  <a:srgbClr val="5F5F5F"/>
                </a:solidFill>
              </a:rPr>
              <a:t>of labor)</a:t>
            </a:r>
          </a:p>
        </p:txBody>
      </p:sp>
      <p:sp>
        <p:nvSpPr>
          <p:cNvPr id="101394" name="Line 18"/>
          <p:cNvSpPr>
            <a:spLocks noChangeShapeType="1"/>
          </p:cNvSpPr>
          <p:nvPr/>
        </p:nvSpPr>
        <p:spPr bwMode="auto">
          <a:xfrm flipH="1">
            <a:off x="5029200" y="23622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da-DK"/>
          </a:p>
        </p:txBody>
      </p:sp>
      <p:sp>
        <p:nvSpPr>
          <p:cNvPr id="21522" name="Text Box 19"/>
          <p:cNvSpPr txBox="1">
            <a:spLocks noChangeArrowheads="1"/>
          </p:cNvSpPr>
          <p:nvPr/>
        </p:nvSpPr>
        <p:spPr bwMode="auto">
          <a:xfrm>
            <a:off x="6781800" y="1905001"/>
            <a:ext cx="116891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Labor Supply</a:t>
            </a:r>
          </a:p>
        </p:txBody>
      </p:sp>
      <p:sp>
        <p:nvSpPr>
          <p:cNvPr id="101396" name="Text Box 20"/>
          <p:cNvSpPr txBox="1">
            <a:spLocks noChangeArrowheads="1"/>
          </p:cNvSpPr>
          <p:nvPr/>
        </p:nvSpPr>
        <p:spPr bwMode="auto">
          <a:xfrm>
            <a:off x="6934200" y="2590800"/>
            <a:ext cx="14160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Minimum Wage</a:t>
            </a:r>
          </a:p>
        </p:txBody>
      </p:sp>
      <p:sp>
        <p:nvSpPr>
          <p:cNvPr id="101397" name="Text Box 21"/>
          <p:cNvSpPr txBox="1">
            <a:spLocks noChangeArrowheads="1"/>
          </p:cNvSpPr>
          <p:nvPr/>
        </p:nvSpPr>
        <p:spPr bwMode="auto">
          <a:xfrm>
            <a:off x="6400800" y="3810000"/>
            <a:ext cx="134838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Lost gains from</a:t>
            </a:r>
          </a:p>
          <a:p>
            <a:r>
              <a:rPr lang="en-US" sz="1400">
                <a:solidFill>
                  <a:srgbClr val="5F5F5F"/>
                </a:solidFill>
              </a:rPr>
              <a:t>trade </a:t>
            </a:r>
            <a:endParaRPr lang="en-US">
              <a:solidFill>
                <a:srgbClr val="5F5F5F"/>
              </a:solidFill>
            </a:endParaRPr>
          </a:p>
        </p:txBody>
      </p:sp>
      <p:sp>
        <p:nvSpPr>
          <p:cNvPr id="21525" name="Text Box 22"/>
          <p:cNvSpPr txBox="1">
            <a:spLocks noChangeArrowheads="1"/>
          </p:cNvSpPr>
          <p:nvPr/>
        </p:nvSpPr>
        <p:spPr bwMode="auto">
          <a:xfrm>
            <a:off x="6689725" y="5446714"/>
            <a:ext cx="130356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Labor Demand</a:t>
            </a:r>
          </a:p>
        </p:txBody>
      </p:sp>
      <p:sp>
        <p:nvSpPr>
          <p:cNvPr id="21526" name="Text Box 23"/>
          <p:cNvSpPr txBox="1">
            <a:spLocks noChangeArrowheads="1"/>
          </p:cNvSpPr>
          <p:nvPr/>
        </p:nvSpPr>
        <p:spPr bwMode="auto">
          <a:xfrm>
            <a:off x="5334001" y="6248400"/>
            <a:ext cx="14843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Quantity of labor</a:t>
            </a:r>
          </a:p>
        </p:txBody>
      </p:sp>
      <p:sp>
        <p:nvSpPr>
          <p:cNvPr id="101400" name="Text Box 24"/>
          <p:cNvSpPr txBox="1">
            <a:spLocks noChangeArrowheads="1"/>
          </p:cNvSpPr>
          <p:nvPr/>
        </p:nvSpPr>
        <p:spPr bwMode="auto">
          <a:xfrm>
            <a:off x="4184650" y="5867400"/>
            <a:ext cx="4187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5F5F5F"/>
                </a:solidFill>
              </a:rPr>
              <a:t>Q</a:t>
            </a:r>
            <a:r>
              <a:rPr lang="en-US" baseline="-25000">
                <a:solidFill>
                  <a:srgbClr val="5F5F5F"/>
                </a:solidFill>
              </a:rPr>
              <a:t>S</a:t>
            </a:r>
          </a:p>
        </p:txBody>
      </p:sp>
      <p:sp>
        <p:nvSpPr>
          <p:cNvPr id="101401" name="Text Box 25"/>
          <p:cNvSpPr txBox="1">
            <a:spLocks noChangeArrowheads="1"/>
          </p:cNvSpPr>
          <p:nvPr/>
        </p:nvSpPr>
        <p:spPr bwMode="auto">
          <a:xfrm>
            <a:off x="6019800" y="5867400"/>
            <a:ext cx="42992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5F5F5F"/>
                </a:solidFill>
              </a:rPr>
              <a:t>Q</a:t>
            </a:r>
            <a:r>
              <a:rPr lang="en-US" baseline="-25000">
                <a:solidFill>
                  <a:srgbClr val="5F5F5F"/>
                </a:solidFill>
              </a:rPr>
              <a:t>D</a:t>
            </a:r>
          </a:p>
        </p:txBody>
      </p:sp>
      <p:sp>
        <p:nvSpPr>
          <p:cNvPr id="21529" name="Text Box 26"/>
          <p:cNvSpPr txBox="1">
            <a:spLocks noChangeArrowheads="1"/>
          </p:cNvSpPr>
          <p:nvPr/>
        </p:nvSpPr>
        <p:spPr bwMode="auto">
          <a:xfrm>
            <a:off x="5175250" y="5867400"/>
            <a:ext cx="46519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5F5F5F"/>
                </a:solidFill>
              </a:rPr>
              <a:t>Q*</a:t>
            </a:r>
            <a:endParaRPr lang="en-US" baseline="-25000">
              <a:solidFill>
                <a:srgbClr val="5F5F5F"/>
              </a:solidFill>
            </a:endParaRPr>
          </a:p>
        </p:txBody>
      </p:sp>
      <p:sp>
        <p:nvSpPr>
          <p:cNvPr id="101403" name="Line 27"/>
          <p:cNvSpPr>
            <a:spLocks noChangeShapeType="1"/>
          </p:cNvSpPr>
          <p:nvPr/>
        </p:nvSpPr>
        <p:spPr bwMode="auto">
          <a:xfrm>
            <a:off x="4419600" y="2743200"/>
            <a:ext cx="1828800" cy="0"/>
          </a:xfrm>
          <a:prstGeom prst="line">
            <a:avLst/>
          </a:prstGeom>
          <a:noFill/>
          <a:ln w="31750">
            <a:solidFill>
              <a:srgbClr val="00B050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101404" name="Text Box 28"/>
          <p:cNvSpPr txBox="1">
            <a:spLocks noChangeArrowheads="1"/>
          </p:cNvSpPr>
          <p:nvPr/>
        </p:nvSpPr>
        <p:spPr bwMode="auto">
          <a:xfrm>
            <a:off x="4556125" y="3443288"/>
            <a:ext cx="3080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101405" name="Text Box 29"/>
          <p:cNvSpPr txBox="1">
            <a:spLocks noChangeArrowheads="1"/>
          </p:cNvSpPr>
          <p:nvPr/>
        </p:nvSpPr>
        <p:spPr bwMode="auto">
          <a:xfrm>
            <a:off x="4556125" y="3998913"/>
            <a:ext cx="336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21534" name="Rectangle 30"/>
          <p:cNvSpPr>
            <a:spLocks noChangeArrowheads="1"/>
          </p:cNvSpPr>
          <p:nvPr/>
        </p:nvSpPr>
        <p:spPr bwMode="auto">
          <a:xfrm>
            <a:off x="9601200" y="5943601"/>
            <a:ext cx="33534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BDDDA674-2404-436B-9541-D69B44DA169F}" type="slidenum">
              <a:rPr lang="en-US" sz="1000" smtClean="0"/>
              <a:pPr/>
              <a:t>13</a:t>
            </a:fld>
            <a:endParaRPr lang="en-US" sz="1000" dirty="0"/>
          </a:p>
        </p:txBody>
      </p:sp>
      <p:pic>
        <p:nvPicPr>
          <p:cNvPr id="2" name="Graphic 1" descr="Loudly crying face outline with solid fill">
            <a:extLst>
              <a:ext uri="{FF2B5EF4-FFF2-40B4-BE49-F238E27FC236}">
                <a16:creationId xmlns:a16="http://schemas.microsoft.com/office/drawing/2014/main" id="{6D3B42E2-7142-41DC-D54D-1A54623D4F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01794" y="4083846"/>
            <a:ext cx="249374" cy="249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737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1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01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0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01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01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01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101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4" grpId="0" animBg="1"/>
      <p:bldP spid="101385" grpId="0" animBg="1"/>
      <p:bldP spid="101386" grpId="0" animBg="1"/>
      <p:bldP spid="101389" grpId="0" animBg="1"/>
      <p:bldP spid="101390" grpId="0" animBg="1"/>
      <p:bldP spid="101392" grpId="0"/>
      <p:bldP spid="101393" grpId="0"/>
      <p:bldP spid="101394" grpId="0" animBg="1"/>
      <p:bldP spid="101396" grpId="0"/>
      <p:bldP spid="101397" grpId="0"/>
      <p:bldP spid="101400" grpId="0"/>
      <p:bldP spid="101401" grpId="0"/>
      <p:bldP spid="101403" grpId="0" animBg="1"/>
      <p:bldP spid="101404" grpId="0"/>
      <p:bldP spid="10140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533400"/>
            <a:ext cx="8686800" cy="1143000"/>
          </a:xfrm>
        </p:spPr>
        <p:txBody>
          <a:bodyPr/>
          <a:lstStyle/>
          <a:p>
            <a:pPr eaLnBrk="1" hangingPunct="1"/>
            <a:r>
              <a:rPr lang="en-US" sz="4000"/>
              <a:t>Externalities and the Coase Theorem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539875"/>
            <a:ext cx="6019800" cy="4984142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 i="1" dirty="0">
                <a:solidFill>
                  <a:srgbClr val="002060"/>
                </a:solidFill>
              </a:rPr>
              <a:t>Externalities occur when the actions of one party impose a benefit or cost on another party </a:t>
            </a:r>
            <a:r>
              <a:rPr lang="en-US" sz="2800" i="1" u="sng" dirty="0">
                <a:solidFill>
                  <a:srgbClr val="002060"/>
                </a:solidFill>
              </a:rPr>
              <a:t>outside the exchange relationship</a:t>
            </a:r>
            <a:r>
              <a:rPr lang="en-US" sz="2800" i="1" dirty="0">
                <a:solidFill>
                  <a:srgbClr val="002060"/>
                </a:solidFill>
              </a:rPr>
              <a:t>!!!!</a:t>
            </a:r>
          </a:p>
          <a:p>
            <a:pPr lvl="1" eaLnBrk="1" hangingPunct="1">
              <a:lnSpc>
                <a:spcPct val="90000"/>
              </a:lnSpc>
              <a:buFontTx/>
              <a:buChar char="•"/>
            </a:pPr>
            <a:r>
              <a:rPr lang="en-US" dirty="0"/>
              <a:t>Pollution </a:t>
            </a:r>
            <a:r>
              <a:rPr lang="en-US" i="0" dirty="0"/>
              <a:t>(</a:t>
            </a:r>
            <a:r>
              <a:rPr lang="en-US" i="0" dirty="0">
                <a:solidFill>
                  <a:srgbClr val="002060"/>
                </a:solidFill>
              </a:rPr>
              <a:t>MR=MC?</a:t>
            </a:r>
            <a:r>
              <a:rPr lang="en-US" i="0" dirty="0">
                <a:solidFill>
                  <a:srgbClr val="C00000"/>
                </a:solidFill>
              </a:rPr>
              <a:t>,</a:t>
            </a:r>
            <a:r>
              <a:rPr lang="en-US" i="0" dirty="0">
                <a:solidFill>
                  <a:srgbClr val="002060"/>
                </a:solidFill>
              </a:rPr>
              <a:t> </a:t>
            </a:r>
            <a:r>
              <a:rPr lang="en-US" i="0" dirty="0"/>
              <a:t>noise, graffiti, good music…)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/>
              <a:t>Markets may not be efficient.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/>
              <a:t>(The) </a:t>
            </a:r>
            <a:r>
              <a:rPr lang="en-US" sz="2800" dirty="0" err="1"/>
              <a:t>Coase</a:t>
            </a:r>
            <a:r>
              <a:rPr lang="en-US" sz="2800" dirty="0"/>
              <a:t> (theorem) argue that market exchange will be efficient </a:t>
            </a:r>
            <a:r>
              <a:rPr lang="en-US" sz="2800" b="1" i="1" u="sng" dirty="0">
                <a:solidFill>
                  <a:srgbClr val="002060"/>
                </a:solidFill>
              </a:rPr>
              <a:t>if</a:t>
            </a:r>
            <a:r>
              <a:rPr lang="en-US" sz="2800" dirty="0">
                <a:solidFill>
                  <a:srgbClr val="002060"/>
                </a:solidFill>
              </a:rPr>
              <a:t>:</a:t>
            </a:r>
            <a:r>
              <a:rPr lang="en-US" sz="2800" dirty="0">
                <a:solidFill>
                  <a:srgbClr val="FF6600"/>
                </a:solidFill>
              </a:rPr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>
                <a:solidFill>
                  <a:srgbClr val="002060"/>
                </a:solidFill>
              </a:rPr>
              <a:t>Property rights can be traded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>
                <a:solidFill>
                  <a:srgbClr val="002060"/>
                </a:solidFill>
              </a:rPr>
              <a:t>Transaction </a:t>
            </a:r>
            <a:r>
              <a:rPr lang="en-US" i="0" dirty="0">
                <a:solidFill>
                  <a:srgbClr val="002060"/>
                </a:solidFill>
              </a:rPr>
              <a:t>(</a:t>
            </a:r>
            <a:r>
              <a:rPr lang="en-US" b="1" i="0" u="sng" dirty="0">
                <a:solidFill>
                  <a:srgbClr val="002060"/>
                </a:solidFill>
              </a:rPr>
              <a:t>contracting</a:t>
            </a:r>
            <a:r>
              <a:rPr lang="en-US" i="0" dirty="0">
                <a:solidFill>
                  <a:srgbClr val="002060"/>
                </a:solidFill>
              </a:rPr>
              <a:t>) </a:t>
            </a:r>
            <a:r>
              <a:rPr lang="en-US" dirty="0">
                <a:solidFill>
                  <a:srgbClr val="002060"/>
                </a:solidFill>
              </a:rPr>
              <a:t>costs are sufficiently low regardless centralization/decentralization!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11291104" y="6065838"/>
            <a:ext cx="33534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1CF6DB65-EAD9-40D4-BF68-4D0E6E40FF86}" type="slidenum">
              <a:rPr lang="en-US" sz="1000" smtClean="0"/>
              <a:pPr/>
              <a:t>14</a:t>
            </a:fld>
            <a:endParaRPr lang="en-US" sz="1000" dirty="0"/>
          </a:p>
        </p:txBody>
      </p:sp>
      <p:sp>
        <p:nvSpPr>
          <p:cNvPr id="5" name="Tekstboks 4"/>
          <p:cNvSpPr txBox="1"/>
          <p:nvPr/>
        </p:nvSpPr>
        <p:spPr>
          <a:xfrm>
            <a:off x="8550815" y="1481765"/>
            <a:ext cx="2438400" cy="5232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Ramme 93 - 95ø.!</a:t>
            </a:r>
          </a:p>
          <a:p>
            <a:pPr algn="ctr"/>
            <a:r>
              <a:rPr lang="da-DK" sz="1400" dirty="0">
                <a:solidFill>
                  <a:schemeClr val="bg1"/>
                </a:solidFill>
              </a:rPr>
              <a:t>ESSENTIELLE SIDER I BOGEN</a:t>
            </a:r>
          </a:p>
        </p:txBody>
      </p:sp>
      <p:pic>
        <p:nvPicPr>
          <p:cNvPr id="6146" name="Picture 2" descr="Noisy Neighbor Stock Illustrations – 194 Noisy Neighbor Stock  Illustrations, Vectors &amp; Clipart - Dreamstime">
            <a:extLst>
              <a:ext uri="{FF2B5EF4-FFF2-40B4-BE49-F238E27FC236}">
                <a16:creationId xmlns:a16="http://schemas.microsoft.com/office/drawing/2014/main" id="{58327609-3526-2D1B-BCC0-2A8D2F587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815" y="2541402"/>
            <a:ext cx="3245965" cy="3570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28222CF-7FAC-50D1-2351-66B8071E0923}"/>
              </a:ext>
            </a:extLst>
          </p:cNvPr>
          <p:cNvSpPr txBox="1"/>
          <p:nvPr/>
        </p:nvSpPr>
        <p:spPr>
          <a:xfrm>
            <a:off x="8463064" y="6065838"/>
            <a:ext cx="2048959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Kilde: https://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www.dreamstime.com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/illustration/noisy-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neighbor.html</a:t>
            </a:r>
            <a:endParaRPr lang="en-US" sz="5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5-Point Star 2">
            <a:extLst>
              <a:ext uri="{FF2B5EF4-FFF2-40B4-BE49-F238E27FC236}">
                <a16:creationId xmlns:a16="http://schemas.microsoft.com/office/drawing/2014/main" id="{02AB58A4-D4CD-7960-292F-1A140F36AC6A}"/>
              </a:ext>
            </a:extLst>
          </p:cNvPr>
          <p:cNvSpPr/>
          <p:nvPr/>
        </p:nvSpPr>
        <p:spPr>
          <a:xfrm>
            <a:off x="10771875" y="1160417"/>
            <a:ext cx="1237499" cy="1031966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38444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533401"/>
            <a:ext cx="8686800" cy="1143000"/>
          </a:xfrm>
        </p:spPr>
        <p:txBody>
          <a:bodyPr/>
          <a:lstStyle/>
          <a:p>
            <a:pPr eaLnBrk="1" hangingPunct="1"/>
            <a:r>
              <a:rPr lang="en-US" sz="3600" dirty="0"/>
              <a:t>Free Markets versus Central Planning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76401"/>
            <a:ext cx="6728298" cy="4525963"/>
          </a:xfrm>
        </p:spPr>
        <p:txBody>
          <a:bodyPr/>
          <a:lstStyle/>
          <a:p>
            <a:pPr eaLnBrk="1" hangingPunct="1"/>
            <a:r>
              <a:rPr lang="en-US" sz="2800" i="1" dirty="0">
                <a:solidFill>
                  <a:srgbClr val="002060"/>
                </a:solidFill>
              </a:rPr>
              <a:t>General knowledge; </a:t>
            </a:r>
            <a:r>
              <a:rPr lang="en-US" sz="2800" dirty="0"/>
              <a:t>is freely transferable</a:t>
            </a:r>
          </a:p>
          <a:p>
            <a:pPr eaLnBrk="1" hangingPunct="1"/>
            <a:r>
              <a:rPr lang="en-US" sz="2800" i="1" dirty="0">
                <a:solidFill>
                  <a:srgbClr val="002060"/>
                </a:solidFill>
              </a:rPr>
              <a:t>Specific knowledge; </a:t>
            </a:r>
            <a:r>
              <a:rPr lang="en-US" sz="2800" dirty="0"/>
              <a:t>is expensive to transfer</a:t>
            </a:r>
          </a:p>
          <a:p>
            <a:pPr lvl="1" eaLnBrk="1" hangingPunct="1">
              <a:buFontTx/>
              <a:buChar char="•"/>
            </a:pPr>
            <a:r>
              <a:rPr lang="en-US" dirty="0"/>
              <a:t>Centrally planned economies fail because specific knowledge is not used in the planning process</a:t>
            </a:r>
          </a:p>
          <a:p>
            <a:pPr eaLnBrk="1" hangingPunct="1"/>
            <a:r>
              <a:rPr lang="en-US" sz="2800" dirty="0"/>
              <a:t>Prices ‘deliver’ general knowledge at low cost (Hayek)</a:t>
            </a:r>
          </a:p>
          <a:p>
            <a:pPr eaLnBrk="1" hangingPunct="1"/>
            <a:r>
              <a:rPr lang="en-US" sz="2800" dirty="0" err="1">
                <a:solidFill>
                  <a:srgbClr val="002060"/>
                </a:solidFill>
              </a:rPr>
              <a:t>Ramme</a:t>
            </a:r>
            <a:r>
              <a:rPr lang="en-US" sz="2800" dirty="0">
                <a:solidFill>
                  <a:srgbClr val="002060"/>
                </a:solidFill>
              </a:rPr>
              <a:t> 99ø. -  100ø.! – </a:t>
            </a:r>
            <a:r>
              <a:rPr lang="en-US" sz="2800" dirty="0" err="1">
                <a:solidFill>
                  <a:srgbClr val="002060"/>
                </a:solidFill>
              </a:rPr>
              <a:t>Køb</a:t>
            </a:r>
            <a:r>
              <a:rPr lang="en-US" sz="2800" dirty="0">
                <a:solidFill>
                  <a:srgbClr val="002060"/>
                </a:solidFill>
              </a:rPr>
              <a:t>/</a:t>
            </a:r>
            <a:r>
              <a:rPr lang="en-US" sz="2800" dirty="0" err="1">
                <a:solidFill>
                  <a:srgbClr val="002060"/>
                </a:solidFill>
              </a:rPr>
              <a:t>salg</a:t>
            </a:r>
            <a:r>
              <a:rPr lang="en-US" sz="2800" dirty="0">
                <a:solidFill>
                  <a:srgbClr val="002060"/>
                </a:solidFill>
              </a:rPr>
              <a:t> </a:t>
            </a:r>
            <a:r>
              <a:rPr lang="en-US" sz="2800" dirty="0" err="1">
                <a:solidFill>
                  <a:srgbClr val="002060"/>
                </a:solidFill>
              </a:rPr>
              <a:t>af</a:t>
            </a:r>
            <a:r>
              <a:rPr lang="en-US" sz="2800" dirty="0">
                <a:solidFill>
                  <a:srgbClr val="002060"/>
                </a:solidFill>
              </a:rPr>
              <a:t> </a:t>
            </a:r>
            <a:r>
              <a:rPr lang="en-US" sz="2800" dirty="0" err="1">
                <a:solidFill>
                  <a:srgbClr val="002060"/>
                </a:solidFill>
              </a:rPr>
              <a:t>jord</a:t>
            </a:r>
            <a:r>
              <a:rPr lang="en-US" sz="2800" dirty="0">
                <a:solidFill>
                  <a:srgbClr val="002060"/>
                </a:solidFill>
              </a:rPr>
              <a:t>, </a:t>
            </a:r>
            <a:r>
              <a:rPr lang="en-US" sz="2800" dirty="0" err="1">
                <a:solidFill>
                  <a:srgbClr val="002060"/>
                </a:solidFill>
              </a:rPr>
              <a:t>virksomheder</a:t>
            </a:r>
            <a:r>
              <a:rPr lang="en-US" sz="2800" dirty="0">
                <a:solidFill>
                  <a:srgbClr val="002060"/>
                </a:solidFill>
              </a:rPr>
              <a:t> mm. </a:t>
            </a:r>
            <a:r>
              <a:rPr lang="en-US" sz="2800" dirty="0" err="1">
                <a:solidFill>
                  <a:srgbClr val="002060"/>
                </a:solidFill>
              </a:rPr>
              <a:t>jvf</a:t>
            </a:r>
            <a:r>
              <a:rPr lang="en-US" sz="2800" dirty="0">
                <a:solidFill>
                  <a:srgbClr val="002060"/>
                </a:solidFill>
              </a:rPr>
              <a:t>. Alice’ </a:t>
            </a:r>
            <a:r>
              <a:rPr lang="en-US" sz="2800" dirty="0" err="1">
                <a:solidFill>
                  <a:srgbClr val="002060"/>
                </a:solidFill>
              </a:rPr>
              <a:t>og</a:t>
            </a:r>
            <a:r>
              <a:rPr lang="en-US" sz="2800" dirty="0">
                <a:solidFill>
                  <a:srgbClr val="002060"/>
                </a:solidFill>
              </a:rPr>
              <a:t> </a:t>
            </a:r>
            <a:r>
              <a:rPr lang="en-US" sz="2800" dirty="0" err="1">
                <a:solidFill>
                  <a:srgbClr val="002060"/>
                </a:solidFill>
              </a:rPr>
              <a:t>Jamals</a:t>
            </a:r>
            <a:r>
              <a:rPr lang="en-US" sz="2800" dirty="0">
                <a:solidFill>
                  <a:srgbClr val="002060"/>
                </a:solidFill>
              </a:rPr>
              <a:t> NPV</a:t>
            </a:r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9601200" y="5943601"/>
            <a:ext cx="33534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BBAC2AE5-FFB8-47F0-A871-047758E78166}" type="slidenum">
              <a:rPr lang="en-US" sz="1000" smtClean="0"/>
              <a:pPr/>
              <a:t>15</a:t>
            </a:fld>
            <a:endParaRPr lang="en-US" sz="1000" dirty="0"/>
          </a:p>
        </p:txBody>
      </p:sp>
      <p:pic>
        <p:nvPicPr>
          <p:cNvPr id="7172" name="Picture 4" descr="Nye regler kan gøre det billigere at tanke benzin og diesel | Nordjyske.dk">
            <a:extLst>
              <a:ext uri="{FF2B5EF4-FFF2-40B4-BE49-F238E27FC236}">
                <a16:creationId xmlns:a16="http://schemas.microsoft.com/office/drawing/2014/main" id="{2C6859E0-6EDB-D16B-FA9A-2DF94F270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3315" y="1880681"/>
            <a:ext cx="2852170" cy="1601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5BDD9B8-BB31-23E5-4F1A-E36EC303DD45}"/>
              </a:ext>
            </a:extLst>
          </p:cNvPr>
          <p:cNvSpPr txBox="1"/>
          <p:nvPr/>
        </p:nvSpPr>
        <p:spPr>
          <a:xfrm>
            <a:off x="8936477" y="3482637"/>
            <a:ext cx="3331361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Kilde: https://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nordjyske.dk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/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nyheder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/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danmark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/nye-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regler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-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kan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-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goere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-det-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billigere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-at-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tanke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-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benzin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-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og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-diesel/5838809</a:t>
            </a:r>
          </a:p>
        </p:txBody>
      </p:sp>
      <p:pic>
        <p:nvPicPr>
          <p:cNvPr id="7174" name="Picture 6" descr="2+ Thousand Black Dental Hygienist Royalty-Free Images, Stock Photos &amp;  Pictures | Shutterstock">
            <a:extLst>
              <a:ext uri="{FF2B5EF4-FFF2-40B4-BE49-F238E27FC236}">
                <a16:creationId xmlns:a16="http://schemas.microsoft.com/office/drawing/2014/main" id="{642D02DA-7C16-9491-D159-5CF39A08E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3315" y="3749783"/>
            <a:ext cx="2852170" cy="1901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6A4612D-D12F-C8E7-F822-FEB57969EDD7}"/>
              </a:ext>
            </a:extLst>
          </p:cNvPr>
          <p:cNvSpPr txBox="1"/>
          <p:nvPr/>
        </p:nvSpPr>
        <p:spPr>
          <a:xfrm>
            <a:off x="8936477" y="5589667"/>
            <a:ext cx="3217547" cy="1384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" dirty="0">
                <a:solidFill>
                  <a:schemeClr val="bg2">
                    <a:lumMod val="50000"/>
                  </a:schemeClr>
                </a:solidFill>
              </a:rPr>
              <a:t>Kilde: https://</a:t>
            </a:r>
            <a:r>
              <a:rPr lang="en-US" sz="300" dirty="0" err="1">
                <a:solidFill>
                  <a:schemeClr val="bg2">
                    <a:lumMod val="50000"/>
                  </a:schemeClr>
                </a:solidFill>
              </a:rPr>
              <a:t>www.shutterstock.com</a:t>
            </a:r>
            <a:r>
              <a:rPr lang="en-US" sz="300" dirty="0">
                <a:solidFill>
                  <a:schemeClr val="bg2">
                    <a:lumMod val="50000"/>
                  </a:schemeClr>
                </a:solidFill>
              </a:rPr>
              <a:t>/image-photo/black-female-dentist-examining-small-boys-1963795693?trackingId=ed7242ef-272a-47e2-a248-deb56d02136c&amp;listId=</a:t>
            </a:r>
            <a:r>
              <a:rPr lang="en-US" sz="300" dirty="0" err="1">
                <a:solidFill>
                  <a:schemeClr val="bg2">
                    <a:lumMod val="50000"/>
                  </a:schemeClr>
                </a:solidFill>
              </a:rPr>
              <a:t>searchResults</a:t>
            </a:r>
            <a:endParaRPr lang="en-US" sz="3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4FF95D-22B1-5D27-A68C-B6C44DB2741D}"/>
              </a:ext>
            </a:extLst>
          </p:cNvPr>
          <p:cNvSpPr txBox="1"/>
          <p:nvPr/>
        </p:nvSpPr>
        <p:spPr>
          <a:xfrm rot="16200000">
            <a:off x="8730467" y="2725452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General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6456F7-C8CC-2545-DF78-6D41E454841F}"/>
              </a:ext>
            </a:extLst>
          </p:cNvPr>
          <p:cNvSpPr txBox="1"/>
          <p:nvPr/>
        </p:nvSpPr>
        <p:spPr>
          <a:xfrm rot="16200000">
            <a:off x="8645821" y="4009736"/>
            <a:ext cx="950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Specific</a:t>
            </a:r>
          </a:p>
        </p:txBody>
      </p:sp>
    </p:spTree>
    <p:extLst>
      <p:ext uri="{BB962C8B-B14F-4D97-AF65-F5344CB8AC3E}">
        <p14:creationId xmlns:p14="http://schemas.microsoft.com/office/powerpoint/2010/main" val="3281920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7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334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Specific Knowledge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524001"/>
            <a:ext cx="8229600" cy="4525963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sz="2400" dirty="0"/>
              <a:t>Examples</a:t>
            </a:r>
          </a:p>
          <a:p>
            <a:pPr lvl="1" eaLnBrk="1" hangingPunct="1">
              <a:buFontTx/>
              <a:buChar char="•"/>
            </a:pPr>
            <a:r>
              <a:rPr lang="en-US" sz="2400" dirty="0"/>
              <a:t>complex knowledge of particular circumstances (</a:t>
            </a:r>
            <a:r>
              <a:rPr lang="en-US" sz="2400" dirty="0" err="1"/>
              <a:t>kontekst</a:t>
            </a:r>
            <a:r>
              <a:rPr lang="en-US" sz="2400" dirty="0"/>
              <a:t>, </a:t>
            </a:r>
            <a:r>
              <a:rPr lang="en-US" sz="2400" dirty="0" err="1"/>
              <a:t>bundet</a:t>
            </a:r>
            <a:r>
              <a:rPr lang="en-US" sz="2400" dirty="0"/>
              <a:t> op </a:t>
            </a:r>
            <a:r>
              <a:rPr lang="en-US" sz="2400" dirty="0" err="1"/>
              <a:t>til</a:t>
            </a:r>
            <a:r>
              <a:rPr lang="en-US" sz="2400" dirty="0"/>
              <a:t> </a:t>
            </a:r>
            <a:r>
              <a:rPr lang="en-US" sz="2400" dirty="0" err="1"/>
              <a:t>tid</a:t>
            </a:r>
            <a:r>
              <a:rPr lang="en-US" sz="2400" dirty="0"/>
              <a:t> </a:t>
            </a:r>
            <a:r>
              <a:rPr lang="en-US" sz="2400" dirty="0" err="1"/>
              <a:t>og</a:t>
            </a:r>
            <a:r>
              <a:rPr lang="en-US" sz="2400" dirty="0"/>
              <a:t> </a:t>
            </a:r>
            <a:r>
              <a:rPr lang="en-US" sz="2400" dirty="0" err="1"/>
              <a:t>sted</a:t>
            </a:r>
            <a:r>
              <a:rPr lang="en-US" sz="2400" dirty="0"/>
              <a:t>), </a:t>
            </a:r>
            <a:r>
              <a:rPr lang="en-US" sz="2400" dirty="0" err="1"/>
              <a:t>fylde</a:t>
            </a:r>
            <a:r>
              <a:rPr lang="en-US" sz="2400" dirty="0"/>
              <a:t> </a:t>
            </a:r>
            <a:r>
              <a:rPr lang="en-US" sz="2400" dirty="0" err="1"/>
              <a:t>lastbil</a:t>
            </a:r>
            <a:r>
              <a:rPr lang="en-US" sz="2400" dirty="0"/>
              <a:t>? </a:t>
            </a:r>
            <a:r>
              <a:rPr lang="en-US" sz="2400" dirty="0" err="1"/>
              <a:t>Pris</a:t>
            </a:r>
            <a:r>
              <a:rPr lang="en-US" sz="2400" dirty="0"/>
              <a:t>?</a:t>
            </a:r>
          </a:p>
          <a:p>
            <a:pPr lvl="1" eaLnBrk="1" hangingPunct="1">
              <a:buFontTx/>
              <a:buChar char="•"/>
            </a:pPr>
            <a:r>
              <a:rPr lang="en-US" sz="2400" dirty="0"/>
              <a:t>scientific knowledge (DNA-</a:t>
            </a:r>
            <a:r>
              <a:rPr lang="en-US" sz="2400" dirty="0" err="1"/>
              <a:t>viden</a:t>
            </a:r>
            <a:r>
              <a:rPr lang="en-US" sz="2400" dirty="0"/>
              <a:t>, </a:t>
            </a:r>
            <a:r>
              <a:rPr lang="en-US" sz="2400" dirty="0" err="1"/>
              <a:t>forklar</a:t>
            </a:r>
            <a:r>
              <a:rPr lang="en-US" sz="2400" dirty="0"/>
              <a:t> </a:t>
            </a:r>
            <a:r>
              <a:rPr lang="en-US" sz="2400" dirty="0" err="1"/>
              <a:t>til</a:t>
            </a:r>
            <a:r>
              <a:rPr lang="en-US" sz="2400" dirty="0"/>
              <a:t> </a:t>
            </a:r>
            <a:r>
              <a:rPr lang="en-US" sz="2400" dirty="0" err="1"/>
              <a:t>menigmand</a:t>
            </a:r>
            <a:r>
              <a:rPr lang="en-US" sz="2400" dirty="0"/>
              <a:t>!)</a:t>
            </a:r>
          </a:p>
          <a:p>
            <a:pPr lvl="1" eaLnBrk="1" hangingPunct="1">
              <a:buFontTx/>
              <a:buChar char="•"/>
            </a:pPr>
            <a:r>
              <a:rPr lang="en-US" sz="2400" dirty="0"/>
              <a:t>assembled knowledge (</a:t>
            </a:r>
            <a:r>
              <a:rPr lang="en-US" sz="2400" dirty="0" err="1"/>
              <a:t>samlet</a:t>
            </a:r>
            <a:r>
              <a:rPr lang="en-US" sz="2400" dirty="0"/>
              <a:t>/</a:t>
            </a:r>
            <a:r>
              <a:rPr lang="en-US" sz="2400" dirty="0" err="1"/>
              <a:t>akkumuleret</a:t>
            </a:r>
            <a:r>
              <a:rPr lang="en-US" sz="2400" dirty="0"/>
              <a:t> </a:t>
            </a:r>
            <a:r>
              <a:rPr lang="en-US" sz="2400" dirty="0" err="1"/>
              <a:t>viden</a:t>
            </a:r>
            <a:r>
              <a:rPr lang="en-US" sz="2400" dirty="0"/>
              <a:t> – </a:t>
            </a:r>
            <a:r>
              <a:rPr lang="en-US" sz="2400" dirty="0" err="1"/>
              <a:t>revisor</a:t>
            </a:r>
            <a:r>
              <a:rPr lang="en-US" sz="2400" dirty="0"/>
              <a:t>)</a:t>
            </a:r>
          </a:p>
          <a:p>
            <a:pPr eaLnBrk="1" hangingPunct="1"/>
            <a:r>
              <a:rPr lang="en-US" sz="2400" i="1" dirty="0">
                <a:solidFill>
                  <a:srgbClr val="002060"/>
                </a:solidFill>
              </a:rPr>
              <a:t>Free markets </a:t>
            </a:r>
            <a:r>
              <a:rPr lang="en-US" sz="2400" dirty="0"/>
              <a:t>make superior use of specific knowledge dispersed among many participants (Hayek); </a:t>
            </a:r>
            <a:r>
              <a:rPr lang="en-US" sz="2400" dirty="0" err="1"/>
              <a:t>decen-tralization</a:t>
            </a:r>
            <a:r>
              <a:rPr lang="en-US" sz="2400" dirty="0"/>
              <a:t> towards where the ‘specific knowledge’ is!</a:t>
            </a:r>
          </a:p>
          <a:p>
            <a:pPr eaLnBrk="1" hangingPunct="1"/>
            <a:r>
              <a:rPr lang="en-US" sz="2400" dirty="0">
                <a:solidFill>
                  <a:srgbClr val="002060"/>
                </a:solidFill>
              </a:rPr>
              <a:t>Activities are coordinated by prices. The ‘miracle’ of the price system (</a:t>
            </a:r>
            <a:r>
              <a:rPr lang="en-US" sz="2400" dirty="0" err="1">
                <a:solidFill>
                  <a:srgbClr val="002060"/>
                </a:solidFill>
              </a:rPr>
              <a:t>verdens</a:t>
            </a:r>
            <a:r>
              <a:rPr lang="en-US" sz="2400" dirty="0">
                <a:solidFill>
                  <a:srgbClr val="002060"/>
                </a:solidFill>
              </a:rPr>
              <a:t> 8. </a:t>
            </a:r>
            <a:r>
              <a:rPr lang="en-US" sz="2400" dirty="0" err="1">
                <a:solidFill>
                  <a:srgbClr val="002060"/>
                </a:solidFill>
              </a:rPr>
              <a:t>vidunder</a:t>
            </a:r>
            <a:r>
              <a:rPr lang="en-US" sz="2400" dirty="0">
                <a:solidFill>
                  <a:srgbClr val="002060"/>
                </a:solidFill>
              </a:rPr>
              <a:t>!, Hayek)</a:t>
            </a:r>
          </a:p>
        </p:txBody>
      </p:sp>
      <p:sp>
        <p:nvSpPr>
          <p:cNvPr id="24581" name="Rectangle 5"/>
          <p:cNvSpPr>
            <a:spLocks noChangeArrowheads="1"/>
          </p:cNvSpPr>
          <p:nvPr/>
        </p:nvSpPr>
        <p:spPr bwMode="auto">
          <a:xfrm>
            <a:off x="9601200" y="5943601"/>
            <a:ext cx="33534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7C564481-5EC2-4395-BD21-685C02C30520}" type="slidenum">
              <a:rPr lang="en-US" sz="1000" smtClean="0"/>
              <a:pPr/>
              <a:t>16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021317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7620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rgbClr val="002060"/>
                </a:solidFill>
              </a:rPr>
              <a:t>Why do Firms Exist?</a:t>
            </a:r>
            <a:br>
              <a:rPr lang="en-US" dirty="0">
                <a:solidFill>
                  <a:srgbClr val="002060"/>
                </a:solidFill>
              </a:rPr>
            </a:br>
            <a:r>
              <a:rPr lang="en-US" sz="3200" u="sng" dirty="0"/>
              <a:t>The role of </a:t>
            </a:r>
            <a:r>
              <a:rPr lang="en-US" sz="3200" b="1" u="sng" dirty="0">
                <a:solidFill>
                  <a:srgbClr val="002060"/>
                </a:solidFill>
              </a:rPr>
              <a:t>transaction</a:t>
            </a:r>
            <a:r>
              <a:rPr lang="en-US" sz="3200" u="sng" dirty="0">
                <a:solidFill>
                  <a:srgbClr val="002060"/>
                </a:solidFill>
              </a:rPr>
              <a:t> costs </a:t>
            </a:r>
            <a:r>
              <a:rPr lang="en-US" sz="3200" u="sng" dirty="0"/>
              <a:t>(Williamson)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78476" y="2206753"/>
            <a:ext cx="6047362" cy="4525963"/>
          </a:xfrm>
        </p:spPr>
        <p:txBody>
          <a:bodyPr>
            <a:normAutofit fontScale="92500"/>
          </a:bodyPr>
          <a:lstStyle/>
          <a:p>
            <a:pPr eaLnBrk="1" hangingPunct="1"/>
            <a:r>
              <a:rPr lang="en-US" sz="3200" dirty="0"/>
              <a:t>Types of transaction costs</a:t>
            </a:r>
          </a:p>
          <a:p>
            <a:pPr lvl="1" eaLnBrk="1" hangingPunct="1">
              <a:buFontTx/>
              <a:buChar char="•"/>
            </a:pPr>
            <a:r>
              <a:rPr lang="en-US" sz="3200" dirty="0"/>
              <a:t>search and information costs</a:t>
            </a:r>
          </a:p>
          <a:p>
            <a:pPr lvl="1" eaLnBrk="1" hangingPunct="1">
              <a:buFontTx/>
              <a:buChar char="•"/>
            </a:pPr>
            <a:r>
              <a:rPr lang="en-US" sz="3200" dirty="0"/>
              <a:t>bargaining and decision costs</a:t>
            </a:r>
          </a:p>
          <a:p>
            <a:pPr lvl="1" eaLnBrk="1" hangingPunct="1">
              <a:buFontTx/>
              <a:buChar char="•"/>
            </a:pPr>
            <a:r>
              <a:rPr lang="en-US" sz="3200" dirty="0"/>
              <a:t>policing and enforcement costs</a:t>
            </a:r>
          </a:p>
          <a:p>
            <a:pPr lvl="1" eaLnBrk="1" hangingPunct="1">
              <a:buFontTx/>
              <a:buChar char="•"/>
            </a:pPr>
            <a:r>
              <a:rPr lang="en-US" sz="3200" dirty="0"/>
              <a:t>opportunity cost of inefficient resource allocation</a:t>
            </a:r>
          </a:p>
          <a:p>
            <a:pPr eaLnBrk="1" hangingPunct="1"/>
            <a:r>
              <a:rPr lang="en-US" sz="3200" u="sng" dirty="0">
                <a:solidFill>
                  <a:srgbClr val="002060"/>
                </a:solidFill>
              </a:rPr>
              <a:t>Optimal economic organization minimizes transaction costs!</a:t>
            </a:r>
          </a:p>
        </p:txBody>
      </p:sp>
      <p:sp>
        <p:nvSpPr>
          <p:cNvPr id="25605" name="Rectangle 5"/>
          <p:cNvSpPr>
            <a:spLocks noChangeArrowheads="1"/>
          </p:cNvSpPr>
          <p:nvPr/>
        </p:nvSpPr>
        <p:spPr bwMode="auto">
          <a:xfrm>
            <a:off x="10954512" y="6053329"/>
            <a:ext cx="33534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71349B3F-A5F6-4246-88E7-5A85095871F7}" type="slidenum">
              <a:rPr lang="en-US" sz="1000" smtClean="0"/>
              <a:pPr/>
              <a:t>17</a:t>
            </a:fld>
            <a:endParaRPr lang="en-US" sz="1000" dirty="0"/>
          </a:p>
        </p:txBody>
      </p:sp>
      <p:sp>
        <p:nvSpPr>
          <p:cNvPr id="2" name="5-Point Star 1"/>
          <p:cNvSpPr/>
          <p:nvPr/>
        </p:nvSpPr>
        <p:spPr>
          <a:xfrm>
            <a:off x="10076181" y="619698"/>
            <a:ext cx="1214846" cy="914400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8194" name="Picture 2" descr="Fee Surcharges Cartoons and Comics - funny pictures from CartoonStock">
            <a:extLst>
              <a:ext uri="{FF2B5EF4-FFF2-40B4-BE49-F238E27FC236}">
                <a16:creationId xmlns:a16="http://schemas.microsoft.com/office/drawing/2014/main" id="{DBD1DE3F-A37C-43B5-C52D-B6A9C911AF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56" r="1010"/>
          <a:stretch>
            <a:fillRect/>
          </a:stretch>
        </p:blipFill>
        <p:spPr bwMode="auto">
          <a:xfrm>
            <a:off x="8658037" y="2600528"/>
            <a:ext cx="2807631" cy="308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279330-AE0E-2C58-CCE5-82AB3F95DFFF}"/>
              </a:ext>
            </a:extLst>
          </p:cNvPr>
          <p:cNvSpPr txBox="1"/>
          <p:nvPr/>
        </p:nvSpPr>
        <p:spPr>
          <a:xfrm>
            <a:off x="8608997" y="5614846"/>
            <a:ext cx="207460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Kilde: https://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www.cartoonstock.com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/directory/f/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fee_surcharges.asp</a:t>
            </a:r>
            <a:endParaRPr lang="en-US" sz="5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9018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9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533400"/>
            <a:ext cx="8915400" cy="1143000"/>
          </a:xfrm>
        </p:spPr>
        <p:txBody>
          <a:bodyPr/>
          <a:lstStyle/>
          <a:p>
            <a:pPr eaLnBrk="1" hangingPunct="1"/>
            <a:r>
              <a:rPr lang="en-US" sz="4000"/>
              <a:t>Firms Can Reduce Transaction Costs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801368"/>
            <a:ext cx="9601200" cy="4066032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800" dirty="0">
                <a:solidFill>
                  <a:srgbClr val="002060"/>
                </a:solidFill>
              </a:rPr>
              <a:t>Advantages of firms (organization, hierarchies) over markets</a:t>
            </a:r>
          </a:p>
          <a:p>
            <a:pPr lvl="1" eaLnBrk="1" hangingPunct="1">
              <a:buFontTx/>
              <a:buChar char="•"/>
            </a:pPr>
            <a:r>
              <a:rPr lang="en-US" sz="2800" dirty="0"/>
              <a:t>fewer transactions</a:t>
            </a:r>
          </a:p>
          <a:p>
            <a:pPr lvl="1" eaLnBrk="1" hangingPunct="1">
              <a:buFontTx/>
              <a:buChar char="•"/>
            </a:pPr>
            <a:r>
              <a:rPr lang="en-US" sz="2800" dirty="0"/>
              <a:t>information specialization</a:t>
            </a:r>
          </a:p>
          <a:p>
            <a:pPr lvl="1" eaLnBrk="1" hangingPunct="1">
              <a:buFontTx/>
              <a:buChar char="•"/>
            </a:pPr>
            <a:r>
              <a:rPr lang="en-US" sz="2800" dirty="0"/>
              <a:t>reputational concerns/confidence</a:t>
            </a:r>
          </a:p>
          <a:p>
            <a:pPr eaLnBrk="1" hangingPunct="1"/>
            <a:r>
              <a:rPr lang="en-US" sz="2800" dirty="0">
                <a:solidFill>
                  <a:srgbClr val="002060"/>
                </a:solidFill>
              </a:rPr>
              <a:t>Organize activities in a/the firm if at lower costs than the market</a:t>
            </a:r>
          </a:p>
          <a:p>
            <a:pPr eaLnBrk="1" hangingPunct="1"/>
            <a:r>
              <a:rPr lang="en-US" sz="2800" dirty="0">
                <a:solidFill>
                  <a:srgbClr val="002060"/>
                </a:solidFill>
              </a:rPr>
              <a:t>Why isn’t the economy/a country/the world </a:t>
            </a:r>
            <a:r>
              <a:rPr lang="en-US" sz="2800" u="sng" dirty="0">
                <a:solidFill>
                  <a:srgbClr val="002060"/>
                </a:solidFill>
              </a:rPr>
              <a:t>just one big firm</a:t>
            </a:r>
            <a:r>
              <a:rPr lang="en-US" sz="2800" dirty="0">
                <a:solidFill>
                  <a:srgbClr val="002060"/>
                </a:solidFill>
              </a:rPr>
              <a:t>?</a:t>
            </a:r>
          </a:p>
        </p:txBody>
      </p:sp>
      <p:sp>
        <p:nvSpPr>
          <p:cNvPr id="26629" name="Rectangle 5"/>
          <p:cNvSpPr>
            <a:spLocks noChangeArrowheads="1"/>
          </p:cNvSpPr>
          <p:nvPr/>
        </p:nvSpPr>
        <p:spPr bwMode="auto">
          <a:xfrm>
            <a:off x="9601200" y="5943601"/>
            <a:ext cx="33534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72226E61-C646-43D8-9D19-656D9E8C9BC2}" type="slidenum">
              <a:rPr lang="en-US" sz="1000" smtClean="0"/>
              <a:pPr/>
              <a:t>18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536298297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Brugerdefineret 2">
      <a:dk1>
        <a:sysClr val="windowText" lastClr="000000"/>
      </a:dk1>
      <a:lt1>
        <a:sysClr val="window" lastClr="FFFFFF"/>
      </a:lt1>
      <a:dk2>
        <a:srgbClr val="C00000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Beskæring</Template>
  <TotalTime>166</TotalTime>
  <Words>1157</Words>
  <Application>Microsoft Macintosh PowerPoint</Application>
  <PresentationFormat>Widescreen</PresentationFormat>
  <Paragraphs>188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Franklin Gothic Book</vt:lpstr>
      <vt:lpstr>Monotype Sorts</vt:lpstr>
      <vt:lpstr>Crop</vt:lpstr>
      <vt:lpstr>PowerPoint Presentation</vt:lpstr>
      <vt:lpstr>The Goals of an Economic System</vt:lpstr>
      <vt:lpstr>Comparing Effectiveness of Economic Systems; the need for a criteria.</vt:lpstr>
      <vt:lpstr>Markets, Property Rights  and Exchange</vt:lpstr>
      <vt:lpstr>Gains From Trade</vt:lpstr>
      <vt:lpstr>Specialization</vt:lpstr>
      <vt:lpstr>Supply and Demand in the PC Industry</vt:lpstr>
      <vt:lpstr>The Nature and Function of Prices;  a social coordination mechanism</vt:lpstr>
      <vt:lpstr>Gains From Trade</vt:lpstr>
      <vt:lpstr>Consumer and Producer Surplus</vt:lpstr>
      <vt:lpstr>Government Intervention</vt:lpstr>
      <vt:lpstr>Government Price Cap on Gasoline</vt:lpstr>
      <vt:lpstr>Minimum Wage Laws</vt:lpstr>
      <vt:lpstr>Externalities and the Coase Theorem</vt:lpstr>
      <vt:lpstr>Free Markets versus Central Planning</vt:lpstr>
      <vt:lpstr>Specific Knowledge</vt:lpstr>
      <vt:lpstr>Why do Firms Exist? The role of transaction costs (Williamson)</vt:lpstr>
      <vt:lpstr>Firms Can Reduce Transaction Costs</vt:lpstr>
    </vt:vector>
  </TitlesOfParts>
  <Company>CBS - Copenhagen Business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Tamas Vamosi</dc:creator>
  <cp:lastModifiedBy>Kai Inga Liehr Storm</cp:lastModifiedBy>
  <cp:revision>17</cp:revision>
  <dcterms:created xsi:type="dcterms:W3CDTF">2020-02-07T08:05:02Z</dcterms:created>
  <dcterms:modified xsi:type="dcterms:W3CDTF">2026-01-26T14:08:28Z</dcterms:modified>
</cp:coreProperties>
</file>