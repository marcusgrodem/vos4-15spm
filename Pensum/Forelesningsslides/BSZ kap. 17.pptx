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0000"/>
    <a:srgbClr val="006600"/>
    <a:srgbClr val="00421E"/>
    <a:srgbClr val="006C31"/>
    <a:srgbClr val="009900"/>
    <a:srgbClr val="008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53B6C2-A9AA-49D8-887E-A97228AF9469}" v="45" dt="2025-04-22T07:38:30.5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96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s Vamosi" userId="d29b3f17-2c73-4e3f-a1f7-7beee2a70eaf" providerId="ADAL" clId="{CF53B6C2-A9AA-49D8-887E-A97228AF9469}"/>
    <pc:docChg chg="modSld">
      <pc:chgData name="Tamas Vamosi" userId="d29b3f17-2c73-4e3f-a1f7-7beee2a70eaf" providerId="ADAL" clId="{CF53B6C2-A9AA-49D8-887E-A97228AF9469}" dt="2025-04-22T07:40:20.023" v="54" actId="207"/>
      <pc:docMkLst>
        <pc:docMk/>
      </pc:docMkLst>
      <pc:sldChg chg="modSp mod">
        <pc:chgData name="Tamas Vamosi" userId="d29b3f17-2c73-4e3f-a1f7-7beee2a70eaf" providerId="ADAL" clId="{CF53B6C2-A9AA-49D8-887E-A97228AF9469}" dt="2025-04-07T11:28:52.874" v="1" actId="20577"/>
        <pc:sldMkLst>
          <pc:docMk/>
          <pc:sldMk cId="346076875" sldId="257"/>
        </pc:sldMkLst>
        <pc:spChg chg="mod">
          <ac:chgData name="Tamas Vamosi" userId="d29b3f17-2c73-4e3f-a1f7-7beee2a70eaf" providerId="ADAL" clId="{CF53B6C2-A9AA-49D8-887E-A97228AF9469}" dt="2025-04-07T11:28:52.874" v="1" actId="20577"/>
          <ac:spMkLst>
            <pc:docMk/>
            <pc:sldMk cId="346076875" sldId="257"/>
            <ac:spMk id="2056" creationId="{00000000-0000-0000-0000-000000000000}"/>
          </ac:spMkLst>
        </pc:spChg>
      </pc:sldChg>
      <pc:sldChg chg="modSp mod">
        <pc:chgData name="Tamas Vamosi" userId="d29b3f17-2c73-4e3f-a1f7-7beee2a70eaf" providerId="ADAL" clId="{CF53B6C2-A9AA-49D8-887E-A97228AF9469}" dt="2025-04-22T07:37:25.935" v="40" actId="207"/>
        <pc:sldMkLst>
          <pc:docMk/>
          <pc:sldMk cId="2793764685" sldId="258"/>
        </pc:sldMkLst>
        <pc:spChg chg="mod">
          <ac:chgData name="Tamas Vamosi" userId="d29b3f17-2c73-4e3f-a1f7-7beee2a70eaf" providerId="ADAL" clId="{CF53B6C2-A9AA-49D8-887E-A97228AF9469}" dt="2025-04-22T07:37:25.935" v="40" actId="207"/>
          <ac:spMkLst>
            <pc:docMk/>
            <pc:sldMk cId="2793764685" sldId="258"/>
            <ac:spMk id="4098" creationId="{00000000-0000-0000-0000-000000000000}"/>
          </ac:spMkLst>
        </pc:spChg>
        <pc:spChg chg="mod">
          <ac:chgData name="Tamas Vamosi" userId="d29b3f17-2c73-4e3f-a1f7-7beee2a70eaf" providerId="ADAL" clId="{CF53B6C2-A9AA-49D8-887E-A97228AF9469}" dt="2025-04-22T07:33:56.457" v="30" actId="115"/>
          <ac:spMkLst>
            <pc:docMk/>
            <pc:sldMk cId="2793764685" sldId="258"/>
            <ac:spMk id="4099" creationId="{00000000-0000-0000-0000-000000000000}"/>
          </ac:spMkLst>
        </pc:spChg>
      </pc:sldChg>
      <pc:sldChg chg="modSp modAnim">
        <pc:chgData name="Tamas Vamosi" userId="d29b3f17-2c73-4e3f-a1f7-7beee2a70eaf" providerId="ADAL" clId="{CF53B6C2-A9AA-49D8-887E-A97228AF9469}" dt="2025-04-22T07:37:18.360" v="39" actId="207"/>
        <pc:sldMkLst>
          <pc:docMk/>
          <pc:sldMk cId="4178298691" sldId="259"/>
        </pc:sldMkLst>
        <pc:spChg chg="mod">
          <ac:chgData name="Tamas Vamosi" userId="d29b3f17-2c73-4e3f-a1f7-7beee2a70eaf" providerId="ADAL" clId="{CF53B6C2-A9AA-49D8-887E-A97228AF9469}" dt="2025-04-22T07:37:18.360" v="39" actId="207"/>
          <ac:spMkLst>
            <pc:docMk/>
            <pc:sldMk cId="4178298691" sldId="259"/>
            <ac:spMk id="5123" creationId="{00000000-0000-0000-0000-000000000000}"/>
          </ac:spMkLst>
        </pc:spChg>
      </pc:sldChg>
      <pc:sldChg chg="modSp">
        <pc:chgData name="Tamas Vamosi" userId="d29b3f17-2c73-4e3f-a1f7-7beee2a70eaf" providerId="ADAL" clId="{CF53B6C2-A9AA-49D8-887E-A97228AF9469}" dt="2025-04-22T07:37:05.595" v="37" actId="207"/>
        <pc:sldMkLst>
          <pc:docMk/>
          <pc:sldMk cId="408706249" sldId="261"/>
        </pc:sldMkLst>
        <pc:spChg chg="mod">
          <ac:chgData name="Tamas Vamosi" userId="d29b3f17-2c73-4e3f-a1f7-7beee2a70eaf" providerId="ADAL" clId="{CF53B6C2-A9AA-49D8-887E-A97228AF9469}" dt="2025-04-22T07:37:05.595" v="37" actId="207"/>
          <ac:spMkLst>
            <pc:docMk/>
            <pc:sldMk cId="408706249" sldId="261"/>
            <ac:spMk id="30723" creationId="{00000000-0000-0000-0000-000000000000}"/>
          </ac:spMkLst>
        </pc:spChg>
      </pc:sldChg>
      <pc:sldChg chg="modSp">
        <pc:chgData name="Tamas Vamosi" userId="d29b3f17-2c73-4e3f-a1f7-7beee2a70eaf" providerId="ADAL" clId="{CF53B6C2-A9AA-49D8-887E-A97228AF9469}" dt="2025-04-22T07:36:55.023" v="36" actId="207"/>
        <pc:sldMkLst>
          <pc:docMk/>
          <pc:sldMk cId="2293524861" sldId="262"/>
        </pc:sldMkLst>
        <pc:spChg chg="mod">
          <ac:chgData name="Tamas Vamosi" userId="d29b3f17-2c73-4e3f-a1f7-7beee2a70eaf" providerId="ADAL" clId="{CF53B6C2-A9AA-49D8-887E-A97228AF9469}" dt="2025-04-22T07:36:55.023" v="36" actId="207"/>
          <ac:spMkLst>
            <pc:docMk/>
            <pc:sldMk cId="2293524861" sldId="262"/>
            <ac:spMk id="27651" creationId="{00000000-0000-0000-0000-000000000000}"/>
          </ac:spMkLst>
        </pc:spChg>
      </pc:sldChg>
      <pc:sldChg chg="modSp">
        <pc:chgData name="Tamas Vamosi" userId="d29b3f17-2c73-4e3f-a1f7-7beee2a70eaf" providerId="ADAL" clId="{CF53B6C2-A9AA-49D8-887E-A97228AF9469}" dt="2025-04-22T07:36:46.610" v="35" actId="207"/>
        <pc:sldMkLst>
          <pc:docMk/>
          <pc:sldMk cId="4234628524" sldId="263"/>
        </pc:sldMkLst>
        <pc:spChg chg="mod">
          <ac:chgData name="Tamas Vamosi" userId="d29b3f17-2c73-4e3f-a1f7-7beee2a70eaf" providerId="ADAL" clId="{CF53B6C2-A9AA-49D8-887E-A97228AF9469}" dt="2025-04-22T07:36:46.610" v="35" actId="207"/>
          <ac:spMkLst>
            <pc:docMk/>
            <pc:sldMk cId="4234628524" sldId="263"/>
            <ac:spMk id="34819" creationId="{00000000-0000-0000-0000-000000000000}"/>
          </ac:spMkLst>
        </pc:spChg>
      </pc:sldChg>
      <pc:sldChg chg="modSp">
        <pc:chgData name="Tamas Vamosi" userId="d29b3f17-2c73-4e3f-a1f7-7beee2a70eaf" providerId="ADAL" clId="{CF53B6C2-A9AA-49D8-887E-A97228AF9469}" dt="2025-04-22T07:36:36.162" v="34" actId="207"/>
        <pc:sldMkLst>
          <pc:docMk/>
          <pc:sldMk cId="1825139938" sldId="264"/>
        </pc:sldMkLst>
        <pc:spChg chg="mod">
          <ac:chgData name="Tamas Vamosi" userId="d29b3f17-2c73-4e3f-a1f7-7beee2a70eaf" providerId="ADAL" clId="{CF53B6C2-A9AA-49D8-887E-A97228AF9469}" dt="2025-04-22T07:36:36.162" v="34" actId="207"/>
          <ac:spMkLst>
            <pc:docMk/>
            <pc:sldMk cId="1825139938" sldId="264"/>
            <ac:spMk id="9219" creationId="{00000000-0000-0000-0000-000000000000}"/>
          </ac:spMkLst>
        </pc:spChg>
      </pc:sldChg>
      <pc:sldChg chg="modSp">
        <pc:chgData name="Tamas Vamosi" userId="d29b3f17-2c73-4e3f-a1f7-7beee2a70eaf" providerId="ADAL" clId="{CF53B6C2-A9AA-49D8-887E-A97228AF9469}" dt="2025-04-22T07:36:20.069" v="32" actId="207"/>
        <pc:sldMkLst>
          <pc:docMk/>
          <pc:sldMk cId="1959814166" sldId="266"/>
        </pc:sldMkLst>
        <pc:spChg chg="mod">
          <ac:chgData name="Tamas Vamosi" userId="d29b3f17-2c73-4e3f-a1f7-7beee2a70eaf" providerId="ADAL" clId="{CF53B6C2-A9AA-49D8-887E-A97228AF9469}" dt="2025-04-22T07:36:20.069" v="32" actId="207"/>
          <ac:spMkLst>
            <pc:docMk/>
            <pc:sldMk cId="1959814166" sldId="266"/>
            <ac:spMk id="39939" creationId="{00000000-0000-0000-0000-000000000000}"/>
          </ac:spMkLst>
        </pc:spChg>
      </pc:sldChg>
      <pc:sldChg chg="modSp">
        <pc:chgData name="Tamas Vamosi" userId="d29b3f17-2c73-4e3f-a1f7-7beee2a70eaf" providerId="ADAL" clId="{CF53B6C2-A9AA-49D8-887E-A97228AF9469}" dt="2025-04-22T07:36:09.511" v="31" actId="207"/>
        <pc:sldMkLst>
          <pc:docMk/>
          <pc:sldMk cId="3138596497" sldId="269"/>
        </pc:sldMkLst>
        <pc:spChg chg="mod">
          <ac:chgData name="Tamas Vamosi" userId="d29b3f17-2c73-4e3f-a1f7-7beee2a70eaf" providerId="ADAL" clId="{CF53B6C2-A9AA-49D8-887E-A97228AF9469}" dt="2025-04-22T07:36:09.511" v="31" actId="207"/>
          <ac:spMkLst>
            <pc:docMk/>
            <pc:sldMk cId="3138596497" sldId="269"/>
            <ac:spMk id="13315" creationId="{00000000-0000-0000-0000-000000000000}"/>
          </ac:spMkLst>
        </pc:spChg>
      </pc:sldChg>
      <pc:sldChg chg="modSp">
        <pc:chgData name="Tamas Vamosi" userId="d29b3f17-2c73-4e3f-a1f7-7beee2a70eaf" providerId="ADAL" clId="{CF53B6C2-A9AA-49D8-887E-A97228AF9469}" dt="2025-04-22T07:37:38.290" v="41" actId="207"/>
        <pc:sldMkLst>
          <pc:docMk/>
          <pc:sldMk cId="2853330161" sldId="270"/>
        </pc:sldMkLst>
        <pc:spChg chg="mod">
          <ac:chgData name="Tamas Vamosi" userId="d29b3f17-2c73-4e3f-a1f7-7beee2a70eaf" providerId="ADAL" clId="{CF53B6C2-A9AA-49D8-887E-A97228AF9469}" dt="2025-04-22T07:37:38.290" v="41" actId="207"/>
          <ac:spMkLst>
            <pc:docMk/>
            <pc:sldMk cId="2853330161" sldId="270"/>
            <ac:spMk id="13315" creationId="{00000000-0000-0000-0000-000000000000}"/>
          </ac:spMkLst>
        </pc:spChg>
      </pc:sldChg>
      <pc:sldChg chg="modSp">
        <pc:chgData name="Tamas Vamosi" userId="d29b3f17-2c73-4e3f-a1f7-7beee2a70eaf" providerId="ADAL" clId="{CF53B6C2-A9AA-49D8-887E-A97228AF9469}" dt="2025-04-22T07:37:55.319" v="44" actId="207"/>
        <pc:sldMkLst>
          <pc:docMk/>
          <pc:sldMk cId="3893018923" sldId="271"/>
        </pc:sldMkLst>
        <pc:spChg chg="mod">
          <ac:chgData name="Tamas Vamosi" userId="d29b3f17-2c73-4e3f-a1f7-7beee2a70eaf" providerId="ADAL" clId="{CF53B6C2-A9AA-49D8-887E-A97228AF9469}" dt="2025-04-22T07:37:55.319" v="44" actId="207"/>
          <ac:spMkLst>
            <pc:docMk/>
            <pc:sldMk cId="3893018923" sldId="271"/>
            <ac:spMk id="14339" creationId="{00000000-0000-0000-0000-000000000000}"/>
          </ac:spMkLst>
        </pc:spChg>
      </pc:sldChg>
      <pc:sldChg chg="modSp mod">
        <pc:chgData name="Tamas Vamosi" userId="d29b3f17-2c73-4e3f-a1f7-7beee2a70eaf" providerId="ADAL" clId="{CF53B6C2-A9AA-49D8-887E-A97228AF9469}" dt="2025-04-22T07:38:09.247" v="46" actId="207"/>
        <pc:sldMkLst>
          <pc:docMk/>
          <pc:sldMk cId="3626678934" sldId="273"/>
        </pc:sldMkLst>
        <pc:spChg chg="mod">
          <ac:chgData name="Tamas Vamosi" userId="d29b3f17-2c73-4e3f-a1f7-7beee2a70eaf" providerId="ADAL" clId="{CF53B6C2-A9AA-49D8-887E-A97228AF9469}" dt="2025-04-22T07:38:03.618" v="45" actId="207"/>
          <ac:spMkLst>
            <pc:docMk/>
            <pc:sldMk cId="3626678934" sldId="273"/>
            <ac:spMk id="40962" creationId="{00000000-0000-0000-0000-000000000000}"/>
          </ac:spMkLst>
        </pc:spChg>
        <pc:spChg chg="mod">
          <ac:chgData name="Tamas Vamosi" userId="d29b3f17-2c73-4e3f-a1f7-7beee2a70eaf" providerId="ADAL" clId="{CF53B6C2-A9AA-49D8-887E-A97228AF9469}" dt="2025-04-22T07:38:09.247" v="46" actId="207"/>
          <ac:spMkLst>
            <pc:docMk/>
            <pc:sldMk cId="3626678934" sldId="273"/>
            <ac:spMk id="40963" creationId="{00000000-0000-0000-0000-000000000000}"/>
          </ac:spMkLst>
        </pc:spChg>
      </pc:sldChg>
      <pc:sldChg chg="modSp mod">
        <pc:chgData name="Tamas Vamosi" userId="d29b3f17-2c73-4e3f-a1f7-7beee2a70eaf" providerId="ADAL" clId="{CF53B6C2-A9AA-49D8-887E-A97228AF9469}" dt="2025-04-22T07:38:30.588" v="49" actId="207"/>
        <pc:sldMkLst>
          <pc:docMk/>
          <pc:sldMk cId="173347269" sldId="274"/>
        </pc:sldMkLst>
        <pc:spChg chg="mod">
          <ac:chgData name="Tamas Vamosi" userId="d29b3f17-2c73-4e3f-a1f7-7beee2a70eaf" providerId="ADAL" clId="{CF53B6C2-A9AA-49D8-887E-A97228AF9469}" dt="2025-04-22T07:38:15.159" v="47" actId="207"/>
          <ac:spMkLst>
            <pc:docMk/>
            <pc:sldMk cId="173347269" sldId="274"/>
            <ac:spMk id="38914" creationId="{00000000-0000-0000-0000-000000000000}"/>
          </ac:spMkLst>
        </pc:spChg>
        <pc:spChg chg="mod">
          <ac:chgData name="Tamas Vamosi" userId="d29b3f17-2c73-4e3f-a1f7-7beee2a70eaf" providerId="ADAL" clId="{CF53B6C2-A9AA-49D8-887E-A97228AF9469}" dt="2025-04-22T07:38:30.588" v="49" actId="207"/>
          <ac:spMkLst>
            <pc:docMk/>
            <pc:sldMk cId="173347269" sldId="274"/>
            <ac:spMk id="38915" creationId="{00000000-0000-0000-0000-000000000000}"/>
          </ac:spMkLst>
        </pc:spChg>
      </pc:sldChg>
      <pc:sldChg chg="modSp mod">
        <pc:chgData name="Tamas Vamosi" userId="d29b3f17-2c73-4e3f-a1f7-7beee2a70eaf" providerId="ADAL" clId="{CF53B6C2-A9AA-49D8-887E-A97228AF9469}" dt="2025-04-22T07:40:09.124" v="53" actId="692"/>
        <pc:sldMkLst>
          <pc:docMk/>
          <pc:sldMk cId="578568236" sldId="275"/>
        </pc:sldMkLst>
        <pc:spChg chg="mod">
          <ac:chgData name="Tamas Vamosi" userId="d29b3f17-2c73-4e3f-a1f7-7beee2a70eaf" providerId="ADAL" clId="{CF53B6C2-A9AA-49D8-887E-A97228AF9469}" dt="2025-04-22T07:39:41.301" v="50" actId="207"/>
          <ac:spMkLst>
            <pc:docMk/>
            <pc:sldMk cId="578568236" sldId="275"/>
            <ac:spMk id="40962" creationId="{00000000-0000-0000-0000-000000000000}"/>
          </ac:spMkLst>
        </pc:spChg>
        <pc:spChg chg="mod">
          <ac:chgData name="Tamas Vamosi" userId="d29b3f17-2c73-4e3f-a1f7-7beee2a70eaf" providerId="ADAL" clId="{CF53B6C2-A9AA-49D8-887E-A97228AF9469}" dt="2025-04-22T07:39:52.571" v="52" actId="207"/>
          <ac:spMkLst>
            <pc:docMk/>
            <pc:sldMk cId="578568236" sldId="275"/>
            <ac:spMk id="40963" creationId="{00000000-0000-0000-0000-000000000000}"/>
          </ac:spMkLst>
        </pc:spChg>
        <pc:cxnChg chg="mod">
          <ac:chgData name="Tamas Vamosi" userId="d29b3f17-2c73-4e3f-a1f7-7beee2a70eaf" providerId="ADAL" clId="{CF53B6C2-A9AA-49D8-887E-A97228AF9469}" dt="2025-04-22T07:40:09.124" v="53" actId="692"/>
          <ac:cxnSpMkLst>
            <pc:docMk/>
            <pc:sldMk cId="578568236" sldId="275"/>
            <ac:cxnSpMk id="4" creationId="{00000000-0000-0000-0000-000000000000}"/>
          </ac:cxnSpMkLst>
        </pc:cxnChg>
      </pc:sldChg>
      <pc:sldChg chg="modSp mod">
        <pc:chgData name="Tamas Vamosi" userId="d29b3f17-2c73-4e3f-a1f7-7beee2a70eaf" providerId="ADAL" clId="{CF53B6C2-A9AA-49D8-887E-A97228AF9469}" dt="2025-04-22T07:40:20.023" v="54" actId="207"/>
        <pc:sldMkLst>
          <pc:docMk/>
          <pc:sldMk cId="3985088651" sldId="276"/>
        </pc:sldMkLst>
        <pc:spChg chg="mod">
          <ac:chgData name="Tamas Vamosi" userId="d29b3f17-2c73-4e3f-a1f7-7beee2a70eaf" providerId="ADAL" clId="{CF53B6C2-A9AA-49D8-887E-A97228AF9469}" dt="2025-04-22T07:40:20.023" v="54" actId="207"/>
          <ac:spMkLst>
            <pc:docMk/>
            <pc:sldMk cId="3985088651" sldId="276"/>
            <ac:spMk id="3993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7808C-AC08-4713-8422-C863E21FBAA9}" type="datetimeFigureOut">
              <a:rPr lang="da-DK" smtClean="0"/>
              <a:t>22-04-2025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26D5D-760F-4DD7-A1D8-81056B54BCB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01538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‹nr.›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2232497" y="2079074"/>
            <a:ext cx="7772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/>
            <a:r>
              <a:rPr lang="en-US" sz="3200" i="1" dirty="0">
                <a:solidFill>
                  <a:srgbClr val="000066"/>
                </a:solidFill>
              </a:rPr>
              <a:t>Managerial Economics and </a:t>
            </a:r>
          </a:p>
          <a:p>
            <a:pPr algn="ctr" eaLnBrk="0" hangingPunct="0"/>
            <a:r>
              <a:rPr lang="en-US" sz="3200" i="1" dirty="0">
                <a:solidFill>
                  <a:srgbClr val="000066"/>
                </a:solidFill>
              </a:rPr>
              <a:t>Organizational Architecture</a:t>
            </a:r>
            <a:br>
              <a:rPr lang="en-US" sz="3200" dirty="0">
                <a:solidFill>
                  <a:srgbClr val="000066"/>
                </a:solidFill>
              </a:rPr>
            </a:br>
            <a:br>
              <a:rPr lang="en-US" sz="4400" dirty="0">
                <a:solidFill>
                  <a:srgbClr val="000066"/>
                </a:solidFill>
              </a:rPr>
            </a:br>
            <a:r>
              <a:rPr lang="en-US" sz="4800" dirty="0">
                <a:solidFill>
                  <a:srgbClr val="000066"/>
                </a:solidFill>
              </a:rPr>
              <a:t>Chapter 17:  </a:t>
            </a:r>
          </a:p>
          <a:p>
            <a:pPr algn="ctr" eaLnBrk="0" hangingPunct="0"/>
            <a:r>
              <a:rPr lang="en-US" sz="4800" dirty="0">
                <a:solidFill>
                  <a:srgbClr val="000066"/>
                </a:solidFill>
              </a:rPr>
              <a:t>Divisional 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346076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9650" y="242546"/>
            <a:ext cx="8839200" cy="914400"/>
          </a:xfrm>
        </p:spPr>
        <p:txBody>
          <a:bodyPr/>
          <a:lstStyle/>
          <a:p>
            <a:pPr eaLnBrk="1" hangingPunct="1"/>
            <a:r>
              <a:rPr lang="en-US" dirty="0"/>
              <a:t>Measuring </a:t>
            </a:r>
            <a:r>
              <a:rPr lang="en-US" i="1" dirty="0">
                <a:solidFill>
                  <a:srgbClr val="8E0000"/>
                </a:solidFill>
              </a:rPr>
              <a:t>Divisional</a:t>
            </a:r>
            <a:r>
              <a:rPr lang="en-US" dirty="0"/>
              <a:t> Performance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4772" y="1345473"/>
            <a:ext cx="8985068" cy="4979127"/>
          </a:xfrm>
        </p:spPr>
        <p:txBody>
          <a:bodyPr>
            <a:noAutofit/>
          </a:bodyPr>
          <a:lstStyle/>
          <a:p>
            <a:pPr eaLnBrk="1" hangingPunct="1"/>
            <a:r>
              <a:rPr lang="en-US" sz="3000" dirty="0"/>
              <a:t>Focus on business units within the firm</a:t>
            </a:r>
          </a:p>
          <a:p>
            <a:pPr eaLnBrk="1" hangingPunct="1"/>
            <a:r>
              <a:rPr lang="en-US" sz="3000" dirty="0"/>
              <a:t>Rewards are based on performance evaluations</a:t>
            </a:r>
          </a:p>
          <a:p>
            <a:pPr eaLnBrk="1" hangingPunct="1"/>
            <a:r>
              <a:rPr lang="en-US" sz="3000" dirty="0"/>
              <a:t>Rewards and the performance evaluations must be consistent with decision rights granted to the unit manager</a:t>
            </a:r>
          </a:p>
          <a:p>
            <a:pPr eaLnBrk="1" hangingPunct="1"/>
            <a:r>
              <a:rPr lang="en-US" sz="3000" dirty="0"/>
              <a:t>Units can be characterized into five groups</a:t>
            </a:r>
          </a:p>
          <a:p>
            <a:pPr lvl="1" eaLnBrk="1" hangingPunct="1"/>
            <a:r>
              <a:rPr lang="en-US" sz="3000" dirty="0"/>
              <a:t>Note: </a:t>
            </a:r>
            <a:r>
              <a:rPr lang="en-US" sz="3000" u="sng" dirty="0"/>
              <a:t>Increasing autonomy </a:t>
            </a:r>
            <a:r>
              <a:rPr lang="en-US" sz="3000" i="0" dirty="0"/>
              <a:t>(almost)</a:t>
            </a:r>
            <a:r>
              <a:rPr lang="en-US" sz="3000" dirty="0"/>
              <a:t>!</a:t>
            </a:r>
          </a:p>
          <a:p>
            <a:pPr eaLnBrk="1" hangingPunct="1"/>
            <a:r>
              <a:rPr lang="en-US" sz="3000" dirty="0"/>
              <a:t>The group performance is measured by the accounting system!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9790278" y="6202362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fld id="{E6688D70-B9E8-4001-AD74-FA757A46CF69}" type="slidenum">
              <a:rPr lang="en-US" sz="2800" smtClean="0"/>
              <a:pPr algn="r"/>
              <a:t>2</a:t>
            </a:fld>
            <a:endParaRPr lang="en-US" sz="2800" dirty="0"/>
          </a:p>
        </p:txBody>
      </p:sp>
      <p:sp>
        <p:nvSpPr>
          <p:cNvPr id="5" name="Tekstboks 4"/>
          <p:cNvSpPr txBox="1"/>
          <p:nvPr/>
        </p:nvSpPr>
        <p:spPr>
          <a:xfrm>
            <a:off x="10591800" y="4577181"/>
            <a:ext cx="1600200" cy="92333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Bemærk definitionen af EVA 535m.</a:t>
            </a:r>
          </a:p>
        </p:txBody>
      </p:sp>
    </p:spTree>
    <p:extLst>
      <p:ext uri="{BB962C8B-B14F-4D97-AF65-F5344CB8AC3E}">
        <p14:creationId xmlns:p14="http://schemas.microsoft.com/office/powerpoint/2010/main" val="279376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429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Cost Centers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345473"/>
            <a:ext cx="9993086" cy="4979127"/>
          </a:xfrm>
        </p:spPr>
        <p:txBody>
          <a:bodyPr>
            <a:normAutofit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2400" dirty="0"/>
              <a:t>‘Manufacturing’…. and service…(railroads, banks, hospitals…..p. 537ø.).</a:t>
            </a:r>
          </a:p>
          <a:p>
            <a:pPr eaLnBrk="1" hangingPunct="1">
              <a:buClr>
                <a:srgbClr val="000066"/>
              </a:buClr>
            </a:pPr>
            <a:r>
              <a:rPr lang="en-US" sz="2400" dirty="0"/>
              <a:t>Decision rights are assigned to perform usually in one of the two following dimensions:</a:t>
            </a:r>
          </a:p>
          <a:p>
            <a:pPr lvl="2" eaLnBrk="1" hangingPunct="1">
              <a:buClr>
                <a:srgbClr val="000066"/>
              </a:buClr>
            </a:pPr>
            <a:r>
              <a:rPr lang="en-US" sz="2000" dirty="0">
                <a:solidFill>
                  <a:srgbClr val="8E0000"/>
                </a:solidFill>
              </a:rPr>
              <a:t>minimize costs for </a:t>
            </a:r>
            <a:r>
              <a:rPr lang="en-US" sz="2000" u="sng" dirty="0">
                <a:solidFill>
                  <a:srgbClr val="8E0000"/>
                </a:solidFill>
              </a:rPr>
              <a:t>given</a:t>
            </a:r>
            <a:r>
              <a:rPr lang="en-US" sz="2000" dirty="0">
                <a:solidFill>
                  <a:srgbClr val="8E0000"/>
                </a:solidFill>
              </a:rPr>
              <a:t> output</a:t>
            </a:r>
          </a:p>
          <a:p>
            <a:pPr lvl="2" eaLnBrk="1" hangingPunct="1">
              <a:buClr>
                <a:srgbClr val="000066"/>
              </a:buClr>
            </a:pPr>
            <a:r>
              <a:rPr lang="en-US" sz="2000" dirty="0">
                <a:solidFill>
                  <a:srgbClr val="8E0000"/>
                </a:solidFill>
              </a:rPr>
              <a:t>maximize output for </a:t>
            </a:r>
            <a:r>
              <a:rPr lang="en-US" sz="2000" u="sng" dirty="0">
                <a:solidFill>
                  <a:srgbClr val="8E0000"/>
                </a:solidFill>
              </a:rPr>
              <a:t>given</a:t>
            </a:r>
            <a:r>
              <a:rPr lang="en-US" sz="2000" dirty="0">
                <a:solidFill>
                  <a:srgbClr val="8E0000"/>
                </a:solidFill>
              </a:rPr>
              <a:t> budget</a:t>
            </a:r>
          </a:p>
          <a:p>
            <a:pPr lvl="3">
              <a:buClr>
                <a:srgbClr val="000066"/>
              </a:buClr>
            </a:pPr>
            <a:r>
              <a:rPr lang="en-US" sz="2000" dirty="0">
                <a:solidFill>
                  <a:srgbClr val="8E0000"/>
                </a:solidFill>
              </a:rPr>
              <a:t>beware of quality here</a:t>
            </a:r>
          </a:p>
          <a:p>
            <a:pPr eaLnBrk="1" hangingPunct="1">
              <a:buClr>
                <a:srgbClr val="000066"/>
              </a:buClr>
            </a:pPr>
            <a:r>
              <a:rPr lang="en-US" sz="2400" dirty="0"/>
              <a:t>No focus on revenue or profit since no responsibility/decision rights are assigned for sales</a:t>
            </a:r>
          </a:p>
          <a:p>
            <a:pPr eaLnBrk="1" hangingPunct="1">
              <a:buClr>
                <a:srgbClr val="000066"/>
              </a:buClr>
            </a:pPr>
            <a:r>
              <a:rPr lang="en-US" sz="2400" dirty="0">
                <a:solidFill>
                  <a:srgbClr val="8E0000"/>
                </a:solidFill>
              </a:rPr>
              <a:t>Note: minimizing average cost does not (necessarily) yield profit-maximizing sales level </a:t>
            </a:r>
            <a:r>
              <a:rPr lang="en-US" sz="2400" dirty="0">
                <a:solidFill>
                  <a:srgbClr val="8E0000"/>
                </a:solidFill>
                <a:sym typeface="Wingdings" panose="05000000000000000000" pitchFamily="2" charset="2"/>
              </a:rPr>
              <a:t></a:t>
            </a:r>
            <a:endParaRPr lang="en-US" sz="2400" dirty="0">
              <a:solidFill>
                <a:srgbClr val="8E0000"/>
              </a:solidFill>
            </a:endParaRPr>
          </a:p>
          <a:p>
            <a:pPr eaLnBrk="1" hangingPunct="1">
              <a:buClr>
                <a:srgbClr val="000066"/>
              </a:buClr>
            </a:pPr>
            <a:endParaRPr lang="en-US" dirty="0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9688286" y="601869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fld id="{EDEF9973-0185-4AC3-8113-BC351DE63363}" type="slidenum">
              <a:rPr lang="en-US" sz="2800" smtClean="0"/>
              <a:pPr algn="r"/>
              <a:t>3</a:t>
            </a:fld>
            <a:endParaRPr lang="en-US" sz="2800" dirty="0"/>
          </a:p>
        </p:txBody>
      </p:sp>
      <p:sp>
        <p:nvSpPr>
          <p:cNvPr id="6" name="Tekstboks 5"/>
          <p:cNvSpPr txBox="1"/>
          <p:nvPr/>
        </p:nvSpPr>
        <p:spPr>
          <a:xfrm>
            <a:off x="5669280" y="5817761"/>
            <a:ext cx="1397726" cy="64633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538n.: </a:t>
            </a:r>
            <a:r>
              <a:rPr lang="da-DK" dirty="0" err="1">
                <a:solidFill>
                  <a:schemeClr val="bg1"/>
                </a:solidFill>
              </a:rPr>
              <a:t>Surprise</a:t>
            </a:r>
            <a:r>
              <a:rPr lang="da-DK" dirty="0">
                <a:solidFill>
                  <a:schemeClr val="bg1"/>
                </a:solidFill>
              </a:rPr>
              <a:t>!?</a:t>
            </a:r>
          </a:p>
        </p:txBody>
      </p:sp>
    </p:spTree>
    <p:extLst>
      <p:ext uri="{BB962C8B-B14F-4D97-AF65-F5344CB8AC3E}">
        <p14:creationId xmlns:p14="http://schemas.microsoft.com/office/powerpoint/2010/main" val="417829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57133" y="509523"/>
            <a:ext cx="8229600" cy="1359726"/>
          </a:xfrm>
        </p:spPr>
        <p:txBody>
          <a:bodyPr/>
          <a:lstStyle/>
          <a:p>
            <a:r>
              <a:rPr lang="en-US" sz="3200" dirty="0"/>
              <a:t>Minimizing average cost does not (necessarily)……..</a:t>
            </a:r>
            <a:endParaRPr lang="da-DK" sz="3200" dirty="0"/>
          </a:p>
        </p:txBody>
      </p:sp>
      <p:pic>
        <p:nvPicPr>
          <p:cNvPr id="4" name="Pladsholder til indhold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80000">
            <a:off x="2030479" y="2258279"/>
            <a:ext cx="8229600" cy="3698653"/>
          </a:xfrm>
          <a:prstGeom prst="rect">
            <a:avLst/>
          </a:prstGeom>
        </p:spPr>
      </p:pic>
      <p:sp>
        <p:nvSpPr>
          <p:cNvPr id="7" name="Rektangel 6"/>
          <p:cNvSpPr/>
          <p:nvPr/>
        </p:nvSpPr>
        <p:spPr>
          <a:xfrm>
            <a:off x="1939332" y="1693036"/>
            <a:ext cx="8482673" cy="7048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/>
          <p:cNvSpPr/>
          <p:nvPr/>
        </p:nvSpPr>
        <p:spPr>
          <a:xfrm>
            <a:off x="10010776" y="2371726"/>
            <a:ext cx="432727" cy="34170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ctangle 2"/>
          <p:cNvSpPr/>
          <p:nvPr/>
        </p:nvSpPr>
        <p:spPr>
          <a:xfrm>
            <a:off x="1223889" y="2019300"/>
            <a:ext cx="914400" cy="39876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Rectangle 10"/>
          <p:cNvSpPr/>
          <p:nvPr/>
        </p:nvSpPr>
        <p:spPr>
          <a:xfrm>
            <a:off x="2138289" y="5608316"/>
            <a:ext cx="8234436" cy="6853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27139" y="6293708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smtClean="0"/>
              <a:t>4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3696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949234" y="193766"/>
            <a:ext cx="8229600" cy="1143000"/>
          </a:xfrm>
        </p:spPr>
        <p:txBody>
          <a:bodyPr/>
          <a:lstStyle/>
          <a:p>
            <a:pPr eaLnBrk="1" hangingPunct="1">
              <a:buClr>
                <a:srgbClr val="990033"/>
              </a:buClr>
            </a:pPr>
            <a:r>
              <a:rPr lang="en-US" dirty="0"/>
              <a:t>Expense Centers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0085" y="979714"/>
            <a:ext cx="9601200" cy="5227321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600" dirty="0"/>
              <a:t>Personnel, accounting, patenting, PR, research, development…..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600" dirty="0"/>
              <a:t>Managers are given fixed budget and asked to maximize service/output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600" i="1" dirty="0">
                <a:solidFill>
                  <a:srgbClr val="8E0000"/>
                </a:solidFill>
              </a:rPr>
              <a:t>Output is more subjectively measured than in a cost center</a:t>
            </a:r>
            <a:r>
              <a:rPr lang="en-US" sz="3600" dirty="0">
                <a:solidFill>
                  <a:srgbClr val="8E0000"/>
                </a:solidFill>
              </a:rPr>
              <a:t> (cost c. = exp. c.?), </a:t>
            </a:r>
            <a:r>
              <a:rPr lang="en-US" sz="3600" dirty="0" err="1">
                <a:solidFill>
                  <a:srgbClr val="8E0000"/>
                </a:solidFill>
              </a:rPr>
              <a:t>ramme</a:t>
            </a:r>
            <a:r>
              <a:rPr lang="en-US" sz="3600" dirty="0">
                <a:solidFill>
                  <a:srgbClr val="8E0000"/>
                </a:solidFill>
              </a:rPr>
              <a:t> 539m. – </a:t>
            </a:r>
            <a:r>
              <a:rPr lang="en-US" sz="3600" dirty="0" err="1">
                <a:solidFill>
                  <a:srgbClr val="8E0000"/>
                </a:solidFill>
              </a:rPr>
              <a:t>vigtigt</a:t>
            </a:r>
            <a:r>
              <a:rPr lang="en-US" sz="3600" dirty="0">
                <a:solidFill>
                  <a:srgbClr val="8E0000"/>
                </a:solidFill>
              </a:rPr>
              <a:t>!</a:t>
            </a:r>
            <a:endParaRPr lang="en-US" sz="3600" i="1" dirty="0">
              <a:solidFill>
                <a:srgbClr val="8E0000"/>
              </a:solidFill>
            </a:endParaRP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600" dirty="0"/>
              <a:t>Lack of charge back leads to overuse/-consumption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600" dirty="0"/>
              <a:t>Risk of “empire building”/larger staff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9764485" y="6416041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fld id="{9FA78570-FFC3-4E20-8A76-50EE6215936F}" type="slidenum">
              <a:rPr lang="en-US" sz="2800" smtClean="0"/>
              <a:pPr algn="r"/>
              <a:t>5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870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857795" y="185058"/>
            <a:ext cx="8229600" cy="1143000"/>
          </a:xfrm>
        </p:spPr>
        <p:txBody>
          <a:bodyPr/>
          <a:lstStyle/>
          <a:p>
            <a:pPr eaLnBrk="1" hangingPunct="1">
              <a:buClr>
                <a:srgbClr val="990033"/>
              </a:buClr>
            </a:pPr>
            <a:r>
              <a:rPr lang="en-US" dirty="0"/>
              <a:t>Revenue Centers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27909" y="1201782"/>
            <a:ext cx="9744891" cy="536729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000" i="1" dirty="0">
                <a:solidFill>
                  <a:srgbClr val="006600"/>
                </a:solidFill>
              </a:rPr>
              <a:t>Sales</a:t>
            </a:r>
            <a:r>
              <a:rPr lang="en-US" sz="3000" dirty="0"/>
              <a:t>, distribution, servicing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000" dirty="0"/>
              <a:t>Managers are compensated for selling (a set of) products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000" dirty="0">
                <a:solidFill>
                  <a:srgbClr val="006C31"/>
                </a:solidFill>
              </a:rPr>
              <a:t>Objective is to maximize revenue for </a:t>
            </a:r>
            <a:r>
              <a:rPr lang="en-US" sz="3000" i="1" dirty="0">
                <a:solidFill>
                  <a:srgbClr val="006C31"/>
                </a:solidFill>
              </a:rPr>
              <a:t>a given price </a:t>
            </a:r>
            <a:r>
              <a:rPr lang="en-US" sz="3000" dirty="0">
                <a:solidFill>
                  <a:srgbClr val="006C31"/>
                </a:solidFill>
              </a:rPr>
              <a:t>(or quantity) </a:t>
            </a:r>
            <a:r>
              <a:rPr lang="en-US" sz="3000" i="1" dirty="0">
                <a:solidFill>
                  <a:srgbClr val="006C31"/>
                </a:solidFill>
              </a:rPr>
              <a:t>and budget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000" dirty="0">
                <a:solidFill>
                  <a:srgbClr val="8E0000"/>
                </a:solidFill>
              </a:rPr>
              <a:t>May not be consistent with value maximization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  <a:buFontTx/>
              <a:buChar char="•"/>
            </a:pPr>
            <a:r>
              <a:rPr lang="en-US" sz="3000" dirty="0">
                <a:solidFill>
                  <a:srgbClr val="8E0000"/>
                </a:solidFill>
              </a:rPr>
              <a:t>Revenue maximized when MR=0…., not MR=MC</a:t>
            </a:r>
          </a:p>
          <a:p>
            <a:pPr lvl="2">
              <a:lnSpc>
                <a:spcPct val="90000"/>
              </a:lnSpc>
              <a:buClr>
                <a:srgbClr val="000066"/>
              </a:buClr>
              <a:buFontTx/>
              <a:buChar char="•"/>
            </a:pPr>
            <a:r>
              <a:rPr lang="en-US" sz="2800" dirty="0">
                <a:solidFill>
                  <a:srgbClr val="8E0000"/>
                </a:solidFill>
              </a:rPr>
              <a:t>(husk; </a:t>
            </a:r>
            <a:r>
              <a:rPr lang="en-US" sz="2800" dirty="0" err="1">
                <a:solidFill>
                  <a:srgbClr val="8E0000"/>
                </a:solidFill>
              </a:rPr>
              <a:t>hvis</a:t>
            </a:r>
            <a:r>
              <a:rPr lang="en-US" sz="2800" dirty="0">
                <a:solidFill>
                  <a:srgbClr val="8E0000"/>
                </a:solidFill>
              </a:rPr>
              <a:t> MR = 0, </a:t>
            </a:r>
            <a:r>
              <a:rPr lang="en-US" sz="2800" dirty="0" err="1">
                <a:solidFill>
                  <a:srgbClr val="8E0000"/>
                </a:solidFill>
              </a:rPr>
              <a:t>maksimeres</a:t>
            </a:r>
            <a:r>
              <a:rPr lang="en-US" sz="2800" dirty="0">
                <a:solidFill>
                  <a:srgbClr val="8E0000"/>
                </a:solidFill>
              </a:rPr>
              <a:t> TR. HVIS MC = 0, </a:t>
            </a:r>
            <a:r>
              <a:rPr lang="en-US" sz="2800" dirty="0" err="1">
                <a:solidFill>
                  <a:srgbClr val="8E0000"/>
                </a:solidFill>
              </a:rPr>
              <a:t>er</a:t>
            </a:r>
            <a:r>
              <a:rPr lang="en-US" sz="2800" dirty="0">
                <a:solidFill>
                  <a:srgbClr val="8E0000"/>
                </a:solidFill>
              </a:rPr>
              <a:t> </a:t>
            </a:r>
            <a:r>
              <a:rPr lang="en-US" sz="2800" dirty="0" err="1">
                <a:solidFill>
                  <a:srgbClr val="8E0000"/>
                </a:solidFill>
              </a:rPr>
              <a:t>TRmax</a:t>
            </a:r>
            <a:r>
              <a:rPr lang="en-US" sz="2800" dirty="0">
                <a:solidFill>
                  <a:srgbClr val="8E0000"/>
                </a:solidFill>
              </a:rPr>
              <a:t> = </a:t>
            </a:r>
            <a:r>
              <a:rPr lang="en-US" sz="2800" dirty="0" err="1">
                <a:solidFill>
                  <a:srgbClr val="8E0000"/>
                </a:solidFill>
              </a:rPr>
              <a:t>profitmax</a:t>
            </a:r>
            <a:r>
              <a:rPr lang="en-US" sz="2800" dirty="0">
                <a:solidFill>
                  <a:srgbClr val="8E0000"/>
                </a:solidFill>
              </a:rPr>
              <a:t>, </a:t>
            </a:r>
            <a:r>
              <a:rPr lang="en-US" sz="2800" dirty="0" err="1">
                <a:solidFill>
                  <a:srgbClr val="8E0000"/>
                </a:solidFill>
              </a:rPr>
              <a:t>og</a:t>
            </a:r>
            <a:r>
              <a:rPr lang="en-US" sz="2800" dirty="0">
                <a:solidFill>
                  <a:srgbClr val="8E0000"/>
                </a:solidFill>
              </a:rPr>
              <a:t> kun da!)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  <a:buFontTx/>
              <a:buChar char="•"/>
            </a:pPr>
            <a:r>
              <a:rPr lang="en-US" sz="3000" dirty="0">
                <a:solidFill>
                  <a:srgbClr val="8E0000"/>
                </a:solidFill>
              </a:rPr>
              <a:t>But MC may be greater than 0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  <a:buFontTx/>
              <a:buChar char="•"/>
            </a:pPr>
            <a:r>
              <a:rPr lang="en-US" sz="3000" dirty="0" err="1">
                <a:solidFill>
                  <a:srgbClr val="8E0000"/>
                </a:solidFill>
              </a:rPr>
              <a:t>Ramme</a:t>
            </a:r>
            <a:r>
              <a:rPr lang="en-US" sz="3000" dirty="0">
                <a:solidFill>
                  <a:srgbClr val="8E0000"/>
                </a:solidFill>
              </a:rPr>
              <a:t> 540n!!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000" dirty="0"/>
              <a:t>Revenue centers work best when specialized knowledge on demand curves and efficient sales are important elements 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  <a:buFontTx/>
              <a:buChar char="•"/>
            </a:pPr>
            <a:endParaRPr lang="en-US" dirty="0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9706776" y="6133532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fld id="{B144745C-C4B0-4911-BF6F-52D20090ACF6}" type="slidenum">
              <a:rPr lang="en-US" sz="2800" smtClean="0"/>
              <a:pPr algn="r"/>
              <a:t>6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9352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0046" y="74217"/>
            <a:ext cx="8229600" cy="1143000"/>
          </a:xfrm>
        </p:spPr>
        <p:txBody>
          <a:bodyPr/>
          <a:lstStyle/>
          <a:p>
            <a:pPr eaLnBrk="1" hangingPunct="1">
              <a:buClr>
                <a:srgbClr val="990033"/>
              </a:buClr>
            </a:pPr>
            <a:r>
              <a:rPr lang="en-US" dirty="0"/>
              <a:t>Profit Centers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31966" y="1058091"/>
            <a:ext cx="10006148" cy="5617029"/>
          </a:xfrm>
        </p:spPr>
        <p:txBody>
          <a:bodyPr>
            <a:normAutofit lnSpcReduction="10000"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1800" dirty="0">
                <a:solidFill>
                  <a:srgbClr val="8E0000"/>
                </a:solidFill>
              </a:rPr>
              <a:t>Combined cost and revenue centers</a:t>
            </a:r>
          </a:p>
          <a:p>
            <a:pPr eaLnBrk="1" hangingPunct="1">
              <a:buClr>
                <a:srgbClr val="000066"/>
              </a:buClr>
            </a:pPr>
            <a:r>
              <a:rPr lang="en-US" sz="1800" dirty="0">
                <a:solidFill>
                  <a:srgbClr val="8E0000"/>
                </a:solidFill>
              </a:rPr>
              <a:t>Managers are given a fixed capital budget and allocated decision rights for input mix, product mix and selling prices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1800" dirty="0">
                <a:solidFill>
                  <a:srgbClr val="8E0000"/>
                </a:solidFill>
              </a:rPr>
              <a:t>Use this way of organizing when </a:t>
            </a:r>
          </a:p>
          <a:p>
            <a:pPr lvl="2" eaLnBrk="1" hangingPunct="1">
              <a:buClr>
                <a:srgbClr val="000066"/>
              </a:buClr>
            </a:pPr>
            <a:r>
              <a:rPr lang="en-US" sz="1400" dirty="0">
                <a:solidFill>
                  <a:srgbClr val="8E0000"/>
                </a:solidFill>
              </a:rPr>
              <a:t>1) specific knowledge exists on the mentioned and </a:t>
            </a:r>
          </a:p>
          <a:p>
            <a:pPr lvl="2" eaLnBrk="1" hangingPunct="1">
              <a:buClr>
                <a:srgbClr val="000066"/>
              </a:buClr>
            </a:pPr>
            <a:r>
              <a:rPr lang="en-US" sz="1400" dirty="0">
                <a:solidFill>
                  <a:srgbClr val="8E0000"/>
                </a:solidFill>
              </a:rPr>
              <a:t>2) the specific knowledge is costly to transfer</a:t>
            </a:r>
          </a:p>
          <a:p>
            <a:pPr eaLnBrk="1" hangingPunct="1">
              <a:buClr>
                <a:srgbClr val="000066"/>
              </a:buClr>
            </a:pPr>
            <a:r>
              <a:rPr lang="en-US" sz="1800" dirty="0">
                <a:solidFill>
                  <a:srgbClr val="8E0000"/>
                </a:solidFill>
              </a:rPr>
              <a:t>Profit centers are often evaluated on the </a:t>
            </a:r>
            <a:r>
              <a:rPr lang="en-US" sz="1800" u="sng" dirty="0">
                <a:solidFill>
                  <a:srgbClr val="8E0000"/>
                </a:solidFill>
              </a:rPr>
              <a:t>difference between actual and budgeted accounting profits</a:t>
            </a:r>
          </a:p>
          <a:p>
            <a:pPr eaLnBrk="1" hangingPunct="1">
              <a:buClr>
                <a:srgbClr val="000066"/>
              </a:buClr>
            </a:pPr>
            <a:r>
              <a:rPr lang="en-US" sz="1800" dirty="0">
                <a:solidFill>
                  <a:srgbClr val="8E0000"/>
                </a:solidFill>
              </a:rPr>
              <a:t>Firms must be aware of organizational units maximizing profits at the expense of maximizing value of the whole firm!</a:t>
            </a:r>
          </a:p>
          <a:p>
            <a:pPr eaLnBrk="1" hangingPunct="1">
              <a:buClr>
                <a:srgbClr val="000066"/>
              </a:buClr>
            </a:pPr>
            <a:r>
              <a:rPr lang="en-US" sz="1800" dirty="0">
                <a:solidFill>
                  <a:srgbClr val="8E0000"/>
                </a:solidFill>
              </a:rPr>
              <a:t>Does interdependency among business units exist?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1800" dirty="0">
                <a:solidFill>
                  <a:srgbClr val="8E0000"/>
                </a:solidFill>
              </a:rPr>
              <a:t>Risk of externalities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1800" dirty="0">
                <a:solidFill>
                  <a:srgbClr val="8E0000"/>
                </a:solidFill>
              </a:rPr>
              <a:t>Risk of free riding</a:t>
            </a:r>
          </a:p>
          <a:p>
            <a:pPr eaLnBrk="1" hangingPunct="1">
              <a:buClr>
                <a:srgbClr val="000066"/>
              </a:buClr>
            </a:pPr>
            <a:r>
              <a:rPr lang="en-US" sz="1800" dirty="0">
                <a:solidFill>
                  <a:srgbClr val="8E0000"/>
                </a:solidFill>
              </a:rPr>
              <a:t>Complications</a:t>
            </a:r>
          </a:p>
          <a:p>
            <a:pPr lvl="1" eaLnBrk="1" hangingPunct="1">
              <a:buClr>
                <a:srgbClr val="000066"/>
              </a:buClr>
              <a:buFontTx/>
              <a:buChar char="•"/>
            </a:pPr>
            <a:r>
              <a:rPr lang="en-US" sz="1800" dirty="0">
                <a:solidFill>
                  <a:srgbClr val="8E0000"/>
                </a:solidFill>
              </a:rPr>
              <a:t>Selection of transfer price!! </a:t>
            </a:r>
            <a:r>
              <a:rPr lang="en-US" sz="1800" dirty="0" err="1">
                <a:solidFill>
                  <a:srgbClr val="8E0000"/>
                </a:solidFill>
              </a:rPr>
              <a:t>Snarest</a:t>
            </a:r>
            <a:r>
              <a:rPr lang="en-US" sz="1800" dirty="0">
                <a:solidFill>
                  <a:srgbClr val="8E0000"/>
                </a:solidFill>
              </a:rPr>
              <a:t> </a:t>
            </a:r>
            <a:r>
              <a:rPr lang="en-US" sz="1800" i="0" dirty="0">
                <a:solidFill>
                  <a:srgbClr val="8E0000"/>
                </a:solidFill>
              </a:rPr>
              <a:t>(5 </a:t>
            </a:r>
            <a:r>
              <a:rPr lang="en-US" sz="1800" i="0" dirty="0" err="1">
                <a:solidFill>
                  <a:srgbClr val="8E0000"/>
                </a:solidFill>
              </a:rPr>
              <a:t>minutter</a:t>
            </a:r>
            <a:r>
              <a:rPr lang="en-US" sz="1800" i="0" dirty="0">
                <a:solidFill>
                  <a:srgbClr val="8E0000"/>
                </a:solidFill>
              </a:rPr>
              <a:t>)!</a:t>
            </a:r>
            <a:endParaRPr lang="en-US" sz="1800" dirty="0">
              <a:solidFill>
                <a:srgbClr val="8E0000"/>
              </a:solidFill>
            </a:endParaRPr>
          </a:p>
          <a:p>
            <a:pPr lvl="1" eaLnBrk="1" hangingPunct="1">
              <a:buClr>
                <a:srgbClr val="000066"/>
              </a:buClr>
              <a:buFontTx/>
              <a:buChar char="•"/>
            </a:pPr>
            <a:r>
              <a:rPr lang="en-US" sz="1800" dirty="0">
                <a:solidFill>
                  <a:srgbClr val="8E0000"/>
                </a:solidFill>
              </a:rPr>
              <a:t>Overhead allocation!! </a:t>
            </a:r>
            <a:r>
              <a:rPr lang="en-US" sz="1800" dirty="0" err="1">
                <a:solidFill>
                  <a:srgbClr val="8E0000"/>
                </a:solidFill>
              </a:rPr>
              <a:t>Snarest</a:t>
            </a:r>
            <a:r>
              <a:rPr lang="en-US" sz="1800" dirty="0">
                <a:solidFill>
                  <a:srgbClr val="8E0000"/>
                </a:solidFill>
              </a:rPr>
              <a:t> </a:t>
            </a:r>
            <a:r>
              <a:rPr lang="en-US" sz="1800" i="0" dirty="0">
                <a:solidFill>
                  <a:srgbClr val="8E0000"/>
                </a:solidFill>
              </a:rPr>
              <a:t>(VØS (5))!!</a:t>
            </a:r>
          </a:p>
          <a:p>
            <a:pPr lvl="1" eaLnBrk="1" hangingPunct="1">
              <a:buClr>
                <a:srgbClr val="000066"/>
              </a:buClr>
              <a:buFontTx/>
              <a:buChar char="•"/>
            </a:pPr>
            <a:r>
              <a:rPr lang="en-US" sz="1800" dirty="0" err="1">
                <a:solidFill>
                  <a:srgbClr val="8E0000"/>
                </a:solidFill>
              </a:rPr>
              <a:t>Ramme</a:t>
            </a:r>
            <a:r>
              <a:rPr lang="en-US" sz="1800" dirty="0">
                <a:solidFill>
                  <a:srgbClr val="8E0000"/>
                </a:solidFill>
              </a:rPr>
              <a:t> 541n. (1) – VIGTIGT.</a:t>
            </a:r>
          </a:p>
          <a:p>
            <a:pPr eaLnBrk="1" hangingPunct="1">
              <a:buClr>
                <a:srgbClr val="000066"/>
              </a:buClr>
            </a:pPr>
            <a:endParaRPr lang="en-US" dirty="0"/>
          </a:p>
          <a:p>
            <a:pPr eaLnBrk="1" hangingPunct="1">
              <a:buClr>
                <a:srgbClr val="000066"/>
              </a:buClr>
            </a:pPr>
            <a:endParaRPr lang="en-US" dirty="0"/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9646920" y="6337664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fld id="{632DBCA4-6755-4F13-A30B-981B15E06FEB}" type="slidenum">
              <a:rPr lang="en-US" sz="2800" smtClean="0"/>
              <a:pPr algn="r"/>
              <a:t>7</a:t>
            </a:fld>
            <a:endParaRPr lang="en-US" sz="2800" dirty="0"/>
          </a:p>
        </p:txBody>
      </p:sp>
      <p:cxnSp>
        <p:nvCxnSpPr>
          <p:cNvPr id="3" name="Lige pilforbindelse 2"/>
          <p:cNvCxnSpPr/>
          <p:nvPr/>
        </p:nvCxnSpPr>
        <p:spPr>
          <a:xfrm flipH="1" flipV="1">
            <a:off x="2783751" y="1317557"/>
            <a:ext cx="2585084" cy="10287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Lige pilforbindelse 6"/>
          <p:cNvCxnSpPr/>
          <p:nvPr/>
        </p:nvCxnSpPr>
        <p:spPr>
          <a:xfrm flipH="1" flipV="1">
            <a:off x="3873409" y="1317557"/>
            <a:ext cx="1495426" cy="10287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62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40562" y="11538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Investment Centers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0562" y="992777"/>
            <a:ext cx="10032238" cy="5628488"/>
          </a:xfrm>
        </p:spPr>
        <p:txBody>
          <a:bodyPr>
            <a:normAutofit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2400" dirty="0"/>
              <a:t>Definition: Profit centers with decision rights over </a:t>
            </a:r>
            <a:r>
              <a:rPr lang="en-US" sz="2400" i="1" dirty="0">
                <a:solidFill>
                  <a:srgbClr val="006600"/>
                </a:solidFill>
              </a:rPr>
              <a:t>capital expenditures regarding </a:t>
            </a:r>
            <a:r>
              <a:rPr lang="en-US" sz="2400" i="1" u="sng" dirty="0">
                <a:solidFill>
                  <a:srgbClr val="006600"/>
                </a:solidFill>
              </a:rPr>
              <a:t>operational decisions</a:t>
            </a:r>
            <a:r>
              <a:rPr lang="en-US" sz="2400" i="1" dirty="0">
                <a:solidFill>
                  <a:srgbClr val="006600"/>
                </a:solidFill>
              </a:rPr>
              <a:t>!</a:t>
            </a:r>
            <a:r>
              <a:rPr lang="en-US" sz="2400" i="1" dirty="0">
                <a:solidFill>
                  <a:srgbClr val="008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Ramme</a:t>
            </a:r>
            <a:r>
              <a:rPr lang="en-US" sz="2400" dirty="0">
                <a:solidFill>
                  <a:srgbClr val="C00000"/>
                </a:solidFill>
              </a:rPr>
              <a:t> 541n. (2)</a:t>
            </a:r>
            <a:endParaRPr lang="en-US" sz="2400" i="1" dirty="0">
              <a:solidFill>
                <a:srgbClr val="C00000"/>
              </a:solidFill>
            </a:endParaRPr>
          </a:p>
          <a:p>
            <a:pPr lvl="1" eaLnBrk="1" hangingPunct="1">
              <a:buClr>
                <a:srgbClr val="000066"/>
              </a:buClr>
            </a:pPr>
            <a:r>
              <a:rPr lang="en-US" sz="2400" dirty="0"/>
              <a:t>appropriate when specific knowledge on investment opportunities exists</a:t>
            </a:r>
          </a:p>
          <a:p>
            <a:pPr eaLnBrk="1" hangingPunct="1">
              <a:buClr>
                <a:srgbClr val="000066"/>
              </a:buClr>
            </a:pPr>
            <a:r>
              <a:rPr lang="en-US" sz="2400" dirty="0"/>
              <a:t>Investment centers are usually evaluated on basis of return on capital</a:t>
            </a:r>
          </a:p>
          <a:p>
            <a:pPr lvl="1" eaLnBrk="1" hangingPunct="1">
              <a:buClr>
                <a:srgbClr val="000066"/>
              </a:buClr>
              <a:buFontTx/>
              <a:buChar char="•"/>
            </a:pPr>
            <a:r>
              <a:rPr lang="en-US" sz="2400" dirty="0"/>
              <a:t>Return on assets</a:t>
            </a:r>
          </a:p>
          <a:p>
            <a:pPr lvl="2" eaLnBrk="1" hangingPunct="1">
              <a:buClr>
                <a:srgbClr val="000066"/>
              </a:buClr>
            </a:pPr>
            <a:r>
              <a:rPr lang="en-US" sz="2400" dirty="0"/>
              <a:t>For the investment center – the ratio of accounting net income to the total assets invested in the center</a:t>
            </a:r>
          </a:p>
          <a:p>
            <a:pPr lvl="2" eaLnBrk="1" hangingPunct="1">
              <a:buClr>
                <a:srgbClr val="000066"/>
              </a:buClr>
            </a:pPr>
            <a:r>
              <a:rPr lang="en-US" sz="2400" dirty="0" err="1"/>
              <a:t>Afkastningsgrad</a:t>
            </a:r>
            <a:r>
              <a:rPr lang="en-US" sz="2400" dirty="0"/>
              <a:t>, intern </a:t>
            </a:r>
            <a:r>
              <a:rPr lang="en-US" sz="2400" dirty="0" err="1"/>
              <a:t>rentefod</a:t>
            </a:r>
            <a:r>
              <a:rPr lang="en-US" sz="2400" dirty="0"/>
              <a:t>….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dirty="0" err="1">
                <a:sym typeface="Wingdings" pitchFamily="2" charset="2"/>
              </a:rPr>
              <a:t>kombiner</a:t>
            </a:r>
            <a:r>
              <a:rPr lang="en-US" sz="2400" dirty="0">
                <a:sym typeface="Wingdings" pitchFamily="2" charset="2"/>
              </a:rPr>
              <a:t> med </a:t>
            </a:r>
            <a:r>
              <a:rPr lang="en-US" sz="2400" dirty="0" err="1">
                <a:sym typeface="Wingdings" pitchFamily="2" charset="2"/>
              </a:rPr>
              <a:t>en</a:t>
            </a:r>
            <a:r>
              <a:rPr lang="en-US" sz="2400" dirty="0">
                <a:sym typeface="Wingdings" pitchFamily="2" charset="2"/>
              </a:rPr>
              <a:t> NPV-</a:t>
            </a:r>
            <a:r>
              <a:rPr lang="en-US" sz="2400" dirty="0" err="1">
                <a:sym typeface="Wingdings" pitchFamily="2" charset="2"/>
              </a:rPr>
              <a:t>beregning</a:t>
            </a:r>
            <a:endParaRPr lang="en-US" sz="2400" dirty="0"/>
          </a:p>
          <a:p>
            <a:pPr lvl="1" eaLnBrk="1" hangingPunct="1">
              <a:buClr>
                <a:srgbClr val="000066"/>
              </a:buClr>
              <a:buFontTx/>
              <a:buChar char="•"/>
            </a:pPr>
            <a:r>
              <a:rPr lang="en-US" sz="2400" dirty="0"/>
              <a:t>Economic Value Added (EVA, def. p. 535m., </a:t>
            </a:r>
            <a:r>
              <a:rPr lang="en-US" sz="2400" dirty="0" err="1"/>
              <a:t>igen</a:t>
            </a:r>
            <a:r>
              <a:rPr lang="en-US" sz="2400" dirty="0"/>
              <a:t>..)</a:t>
            </a:r>
          </a:p>
          <a:p>
            <a:pPr lvl="1" eaLnBrk="1" hangingPunct="1">
              <a:buClr>
                <a:srgbClr val="000066"/>
              </a:buClr>
              <a:buFontTx/>
              <a:buChar char="•"/>
            </a:pPr>
            <a:r>
              <a:rPr lang="en-US" sz="2400" dirty="0">
                <a:solidFill>
                  <a:srgbClr val="8E0000"/>
                </a:solidFill>
              </a:rPr>
              <a:t>Not good on long term investment decisions</a:t>
            </a:r>
          </a:p>
          <a:p>
            <a:pPr lvl="2" eaLnBrk="1" hangingPunct="1">
              <a:buClr>
                <a:srgbClr val="000066"/>
              </a:buClr>
            </a:pPr>
            <a:r>
              <a:rPr lang="en-US" sz="2400" dirty="0">
                <a:solidFill>
                  <a:srgbClr val="8E0000"/>
                </a:solidFill>
              </a:rPr>
              <a:t>Ram hele p. 543 </a:t>
            </a:r>
            <a:r>
              <a:rPr lang="en-US" sz="2400" dirty="0" err="1">
                <a:solidFill>
                  <a:srgbClr val="8E0000"/>
                </a:solidFill>
              </a:rPr>
              <a:t>og</a:t>
            </a:r>
            <a:r>
              <a:rPr lang="en-US" sz="2400" dirty="0">
                <a:solidFill>
                  <a:srgbClr val="8E0000"/>
                </a:solidFill>
              </a:rPr>
              <a:t> 544 (men </a:t>
            </a:r>
            <a:r>
              <a:rPr lang="en-US" sz="2400" dirty="0" err="1">
                <a:solidFill>
                  <a:srgbClr val="8E0000"/>
                </a:solidFill>
              </a:rPr>
              <a:t>en</a:t>
            </a:r>
            <a:r>
              <a:rPr lang="en-US" sz="2400" dirty="0">
                <a:solidFill>
                  <a:srgbClr val="8E0000"/>
                </a:solidFill>
              </a:rPr>
              <a:t> </a:t>
            </a:r>
            <a:r>
              <a:rPr lang="en-US" sz="2400" dirty="0" err="1">
                <a:solidFill>
                  <a:srgbClr val="8E0000"/>
                </a:solidFill>
              </a:rPr>
              <a:t>fejl</a:t>
            </a:r>
            <a:r>
              <a:rPr lang="en-US" sz="2400" dirty="0">
                <a:solidFill>
                  <a:srgbClr val="8E0000"/>
                </a:solidFill>
              </a:rPr>
              <a:t>. p. 544)!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9906000" y="6238421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fld id="{B16BF4C4-05EF-4A30-B67D-FC0EA8E29079}" type="slidenum">
              <a:rPr lang="en-US" sz="2800" smtClean="0"/>
              <a:pPr algn="r"/>
              <a:t>8</a:t>
            </a:fld>
            <a:endParaRPr lang="en-US" sz="2800" dirty="0"/>
          </a:p>
        </p:txBody>
      </p:sp>
      <p:sp>
        <p:nvSpPr>
          <p:cNvPr id="2" name="Tekstboks 1"/>
          <p:cNvSpPr txBox="1"/>
          <p:nvPr/>
        </p:nvSpPr>
        <p:spPr>
          <a:xfrm>
            <a:off x="8537510" y="4761093"/>
            <a:ext cx="3654490" cy="1477328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Dyb vejrtrækning efter centertyper:</a:t>
            </a:r>
          </a:p>
          <a:p>
            <a:r>
              <a:rPr lang="da-DK" dirty="0">
                <a:solidFill>
                  <a:schemeClr val="bg1"/>
                </a:solidFill>
              </a:rPr>
              <a:t>Nu; TP</a:t>
            </a:r>
          </a:p>
          <a:p>
            <a:r>
              <a:rPr lang="da-DK" dirty="0">
                <a:solidFill>
                  <a:schemeClr val="bg1"/>
                </a:solidFill>
              </a:rPr>
              <a:t>Herefter sluttelig i kapitlet brobygning mellem centertyper og TP!</a:t>
            </a:r>
          </a:p>
        </p:txBody>
      </p:sp>
    </p:spTree>
    <p:extLst>
      <p:ext uri="{BB962C8B-B14F-4D97-AF65-F5344CB8AC3E}">
        <p14:creationId xmlns:p14="http://schemas.microsoft.com/office/powerpoint/2010/main" val="182513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8326" y="15795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Transfer Pricing (TP)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8325" y="1072955"/>
            <a:ext cx="9934137" cy="5496121"/>
          </a:xfrm>
        </p:spPr>
        <p:txBody>
          <a:bodyPr>
            <a:normAutofit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2800" b="1" u="sng" dirty="0" err="1">
                <a:solidFill>
                  <a:srgbClr val="8E0000"/>
                </a:solidFill>
              </a:rPr>
              <a:t>Siderne</a:t>
            </a:r>
            <a:r>
              <a:rPr lang="en-US" sz="2800" b="1" u="sng" dirty="0">
                <a:solidFill>
                  <a:srgbClr val="8E0000"/>
                </a:solidFill>
              </a:rPr>
              <a:t> 546 – 557m. </a:t>
            </a:r>
            <a:r>
              <a:rPr lang="en-US" sz="2800" b="1" u="sng" dirty="0" err="1">
                <a:solidFill>
                  <a:srgbClr val="8E0000"/>
                </a:solidFill>
              </a:rPr>
              <a:t>er</a:t>
            </a:r>
            <a:r>
              <a:rPr lang="en-US" sz="2800" b="1" u="sng" dirty="0">
                <a:solidFill>
                  <a:srgbClr val="8E0000"/>
                </a:solidFill>
              </a:rPr>
              <a:t> </a:t>
            </a:r>
            <a:r>
              <a:rPr lang="en-US" sz="2800" b="1" u="sng" dirty="0" err="1">
                <a:solidFill>
                  <a:srgbClr val="8E0000"/>
                </a:solidFill>
              </a:rPr>
              <a:t>helt</a:t>
            </a:r>
            <a:r>
              <a:rPr lang="en-US" sz="2800" b="1" u="sng" dirty="0">
                <a:solidFill>
                  <a:srgbClr val="8E0000"/>
                </a:solidFill>
              </a:rPr>
              <a:t> </a:t>
            </a:r>
            <a:r>
              <a:rPr lang="en-US" sz="2800" b="1" u="sng" dirty="0" err="1">
                <a:solidFill>
                  <a:srgbClr val="8E0000"/>
                </a:solidFill>
              </a:rPr>
              <a:t>essentielle</a:t>
            </a:r>
            <a:r>
              <a:rPr lang="en-US" sz="2800" b="1" u="sng" dirty="0">
                <a:solidFill>
                  <a:srgbClr val="8E0000"/>
                </a:solidFill>
              </a:rPr>
              <a:t>!!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>
                <a:solidFill>
                  <a:srgbClr val="8E0000"/>
                </a:solidFill>
              </a:rPr>
              <a:t>Def. TP.: Price paid for </a:t>
            </a:r>
            <a:r>
              <a:rPr lang="en-US" sz="2800" u="sng" dirty="0">
                <a:solidFill>
                  <a:srgbClr val="8E0000"/>
                </a:solidFill>
              </a:rPr>
              <a:t>intra-organizational</a:t>
            </a:r>
            <a:r>
              <a:rPr lang="en-US" sz="2800" dirty="0">
                <a:solidFill>
                  <a:srgbClr val="8E0000"/>
                </a:solidFill>
              </a:rPr>
              <a:t> transfers of goods and services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>
                <a:solidFill>
                  <a:srgbClr val="8E0000"/>
                </a:solidFill>
              </a:rPr>
              <a:t>The choice of TP-</a:t>
            </a:r>
            <a:r>
              <a:rPr lang="en-US" sz="2800" dirty="0" err="1">
                <a:solidFill>
                  <a:srgbClr val="8E0000"/>
                </a:solidFill>
              </a:rPr>
              <a:t>methode</a:t>
            </a:r>
            <a:r>
              <a:rPr lang="en-US" sz="2800" dirty="0">
                <a:solidFill>
                  <a:srgbClr val="8E0000"/>
                </a:solidFill>
              </a:rPr>
              <a:t> determines both 1) distribution of profits among units and 2) overall profits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800" dirty="0">
                <a:solidFill>
                  <a:srgbClr val="8E0000"/>
                </a:solidFill>
              </a:rPr>
              <a:t>“Managers make investment, purchasing and production decisions based on the transfer prices they face” </a:t>
            </a:r>
            <a:r>
              <a:rPr lang="en-US" sz="2800" dirty="0"/>
              <a:t>(p. 546m., </a:t>
            </a:r>
            <a:r>
              <a:rPr lang="en-US" sz="2800" dirty="0" err="1"/>
              <a:t>jvf</a:t>
            </a:r>
            <a:r>
              <a:rPr lang="en-US" sz="2800" dirty="0"/>
              <a:t>. </a:t>
            </a:r>
            <a:r>
              <a:rPr lang="en-US" sz="2800" dirty="0" err="1"/>
              <a:t>Coase</a:t>
            </a:r>
            <a:r>
              <a:rPr lang="en-US" sz="2800" dirty="0"/>
              <a:t>, Smith..)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/>
              <a:t>If transfer prices are </a:t>
            </a:r>
            <a:r>
              <a:rPr lang="en-US" sz="2800" dirty="0" err="1"/>
              <a:t>mis</a:t>
            </a:r>
            <a:r>
              <a:rPr lang="en-US" sz="2800" dirty="0"/>
              <a:t>-measured (ex. MR’s, MC’s),managers in various divisions will make inappropriate decisions (hele p. 546 </a:t>
            </a:r>
            <a:r>
              <a:rPr lang="en-US" sz="2800" dirty="0" err="1"/>
              <a:t>er</a:t>
            </a:r>
            <a:r>
              <a:rPr lang="en-US" sz="2800" dirty="0"/>
              <a:t> HELT central!)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9835663" y="6037405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fld id="{14BC2AC7-0398-4C69-BDA9-D3BB3FA0DEFE}" type="slidenum">
              <a:rPr lang="en-US" sz="2800" smtClean="0"/>
              <a:pPr algn="r"/>
              <a:t>9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9762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97987" y="342900"/>
            <a:ext cx="8229600" cy="1143000"/>
          </a:xfrm>
        </p:spPr>
        <p:txBody>
          <a:bodyPr/>
          <a:lstStyle/>
          <a:p>
            <a:pPr eaLnBrk="1" hangingPunct="1">
              <a:buClr>
                <a:srgbClr val="990033"/>
              </a:buClr>
            </a:pPr>
            <a:r>
              <a:rPr lang="en-US" dirty="0"/>
              <a:t>Transfer Pricing (2)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153551"/>
            <a:ext cx="9896622" cy="5269474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700" i="1" dirty="0">
                <a:solidFill>
                  <a:srgbClr val="8E0000"/>
                </a:solidFill>
              </a:rPr>
              <a:t>The optimal transfer price for a product or service is its opportunity cost!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700" i="1" dirty="0">
                <a:solidFill>
                  <a:srgbClr val="8E0000"/>
                </a:solidFill>
              </a:rPr>
              <a:t>A lot of transfer price disputes are going on! In particular if reward systems are connected to centers performance.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700" dirty="0"/>
              <a:t>Often it is difficult to measure and implement the use of opportunity costs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700" dirty="0"/>
              <a:t>Measurement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700" dirty="0"/>
              <a:t>Costless information:</a:t>
            </a:r>
          </a:p>
          <a:p>
            <a:pPr lvl="2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700" dirty="0"/>
              <a:t>Opportunity cost is the marginal cost (</a:t>
            </a:r>
            <a:r>
              <a:rPr lang="en-US" sz="2700" dirty="0" err="1"/>
              <a:t>ramme</a:t>
            </a:r>
            <a:r>
              <a:rPr lang="en-US" sz="2700" dirty="0"/>
              <a:t> 548ø.)</a:t>
            </a:r>
            <a:endParaRPr lang="en-US" sz="2700" dirty="0">
              <a:sym typeface="Wingdings" pitchFamily="2" charset="2"/>
            </a:endParaRP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700" dirty="0"/>
              <a:t>Asymmetric information:</a:t>
            </a:r>
          </a:p>
          <a:p>
            <a:pPr lvl="2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700" dirty="0"/>
              <a:t>Managers may have incentives to hide true costs and may charge monopoly price instead of price equal to MC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9919648" y="617855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fld id="{C448FCA9-568C-4822-962B-6E0D0FD3213A}" type="slidenum">
              <a:rPr lang="en-US" sz="2800" smtClean="0"/>
              <a:pPr algn="r"/>
              <a:t>10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5981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73844"/>
            <a:ext cx="8229600" cy="990600"/>
          </a:xfrm>
        </p:spPr>
        <p:txBody>
          <a:bodyPr/>
          <a:lstStyle/>
          <a:p>
            <a:pPr eaLnBrk="1" hangingPunct="1"/>
            <a:r>
              <a:rPr lang="en-US"/>
              <a:t>Profit-Maximizing Product Price</a:t>
            </a:r>
          </a:p>
        </p:txBody>
      </p:sp>
      <p:sp>
        <p:nvSpPr>
          <p:cNvPr id="11271" name="Line 7"/>
          <p:cNvSpPr>
            <a:spLocks noChangeShapeType="1"/>
          </p:cNvSpPr>
          <p:nvPr/>
        </p:nvSpPr>
        <p:spPr bwMode="auto">
          <a:xfrm flipV="1">
            <a:off x="4114800" y="1981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4114800" y="5562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>
            <a:off x="4114800" y="4876800"/>
            <a:ext cx="350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74" name="Line 10"/>
          <p:cNvSpPr>
            <a:spLocks noChangeShapeType="1"/>
          </p:cNvSpPr>
          <p:nvPr/>
        </p:nvSpPr>
        <p:spPr bwMode="auto">
          <a:xfrm>
            <a:off x="4114800" y="2590800"/>
            <a:ext cx="3733800" cy="297180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76" name="Line 12"/>
          <p:cNvSpPr>
            <a:spLocks noChangeShapeType="1"/>
          </p:cNvSpPr>
          <p:nvPr/>
        </p:nvSpPr>
        <p:spPr bwMode="auto">
          <a:xfrm>
            <a:off x="4114800" y="3733800"/>
            <a:ext cx="1447800" cy="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77" name="Line 13"/>
          <p:cNvSpPr>
            <a:spLocks noChangeShapeType="1"/>
          </p:cNvSpPr>
          <p:nvPr/>
        </p:nvSpPr>
        <p:spPr bwMode="auto">
          <a:xfrm>
            <a:off x="5562600" y="3733800"/>
            <a:ext cx="0" cy="182880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4127501" y="3744914"/>
            <a:ext cx="1412875" cy="1119187"/>
          </a:xfrm>
          <a:prstGeom prst="rect">
            <a:avLst/>
          </a:prstGeom>
          <a:solidFill>
            <a:srgbClr val="FF99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11275" name="Line 11"/>
          <p:cNvSpPr>
            <a:spLocks noChangeShapeType="1"/>
          </p:cNvSpPr>
          <p:nvPr/>
        </p:nvSpPr>
        <p:spPr bwMode="auto">
          <a:xfrm>
            <a:off x="4114800" y="2590800"/>
            <a:ext cx="1981200" cy="3200400"/>
          </a:xfrm>
          <a:prstGeom prst="line">
            <a:avLst/>
          </a:prstGeom>
          <a:noFill/>
          <a:ln w="28575">
            <a:solidFill>
              <a:srgbClr val="000066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>
            <a:off x="3565525" y="2489201"/>
            <a:ext cx="49302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110</a:t>
            </a:r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3683000" y="3627439"/>
            <a:ext cx="3962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60</a:t>
            </a:r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 rot="16200000">
            <a:off x="2451557" y="3674370"/>
            <a:ext cx="140878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Price (in dollars)</a:t>
            </a:r>
          </a:p>
        </p:txBody>
      </p:sp>
      <p:sp>
        <p:nvSpPr>
          <p:cNvPr id="11282" name="Text Box 18"/>
          <p:cNvSpPr txBox="1">
            <a:spLocks noChangeArrowheads="1"/>
          </p:cNvSpPr>
          <p:nvPr/>
        </p:nvSpPr>
        <p:spPr bwMode="auto">
          <a:xfrm>
            <a:off x="3976688" y="1635126"/>
            <a:ext cx="2904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$</a:t>
            </a: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5805489" y="2930525"/>
            <a:ext cx="15763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Firm profit = $500</a:t>
            </a:r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5934075" y="5222876"/>
            <a:ext cx="44114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MR</a:t>
            </a:r>
          </a:p>
        </p:txBody>
      </p:sp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7599363" y="4740275"/>
            <a:ext cx="9572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MC = $10</a:t>
            </a:r>
          </a:p>
        </p:txBody>
      </p: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5346700" y="5583239"/>
            <a:ext cx="39049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10</a:t>
            </a:r>
          </a:p>
        </p:txBody>
      </p:sp>
      <p:sp>
        <p:nvSpPr>
          <p:cNvPr id="11287" name="Text Box 23"/>
          <p:cNvSpPr txBox="1">
            <a:spLocks noChangeArrowheads="1"/>
          </p:cNvSpPr>
          <p:nvPr/>
        </p:nvSpPr>
        <p:spPr bwMode="auto">
          <a:xfrm>
            <a:off x="7654925" y="5573714"/>
            <a:ext cx="3962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22</a:t>
            </a:r>
          </a:p>
        </p:txBody>
      </p:sp>
      <p:sp>
        <p:nvSpPr>
          <p:cNvPr id="11288" name="Text Box 24"/>
          <p:cNvSpPr txBox="1">
            <a:spLocks noChangeArrowheads="1"/>
          </p:cNvSpPr>
          <p:nvPr/>
        </p:nvSpPr>
        <p:spPr bwMode="auto">
          <a:xfrm>
            <a:off x="7821614" y="5221288"/>
            <a:ext cx="3127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D</a:t>
            </a:r>
          </a:p>
        </p:txBody>
      </p:sp>
      <p:sp>
        <p:nvSpPr>
          <p:cNvPr id="11289" name="Text Box 25"/>
          <p:cNvSpPr txBox="1">
            <a:spLocks noChangeArrowheads="1"/>
          </p:cNvSpPr>
          <p:nvPr/>
        </p:nvSpPr>
        <p:spPr bwMode="auto">
          <a:xfrm>
            <a:off x="8453438" y="5421314"/>
            <a:ext cx="30008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Q</a:t>
            </a:r>
          </a:p>
        </p:txBody>
      </p:sp>
      <p:sp>
        <p:nvSpPr>
          <p:cNvPr id="11290" name="Line 26"/>
          <p:cNvSpPr>
            <a:spLocks noChangeShapeType="1"/>
          </p:cNvSpPr>
          <p:nvPr/>
        </p:nvSpPr>
        <p:spPr bwMode="auto">
          <a:xfrm flipH="1">
            <a:off x="4864100" y="3230564"/>
            <a:ext cx="1620838" cy="1158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91" name="Text Box 27"/>
          <p:cNvSpPr txBox="1">
            <a:spLocks noChangeArrowheads="1"/>
          </p:cNvSpPr>
          <p:nvPr/>
        </p:nvSpPr>
        <p:spPr bwMode="auto">
          <a:xfrm>
            <a:off x="5897563" y="5949950"/>
            <a:ext cx="844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</a:t>
            </a:r>
          </a:p>
        </p:txBody>
      </p:sp>
      <p:sp>
        <p:nvSpPr>
          <p:cNvPr id="11292" name="Rectangle 28"/>
          <p:cNvSpPr>
            <a:spLocks noChangeArrowheads="1"/>
          </p:cNvSpPr>
          <p:nvPr/>
        </p:nvSpPr>
        <p:spPr bwMode="auto">
          <a:xfrm>
            <a:off x="9772650" y="6423075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fld id="{52E43371-7AAD-42E1-A68C-D429B711AD5A}" type="slidenum">
              <a:rPr lang="en-US" sz="2800" smtClean="0"/>
              <a:pPr algn="r"/>
              <a:t>11</a:t>
            </a:fld>
            <a:endParaRPr lang="en-US" sz="2800" dirty="0"/>
          </a:p>
        </p:txBody>
      </p:sp>
      <p:sp>
        <p:nvSpPr>
          <p:cNvPr id="25" name="Tekstboks 24"/>
          <p:cNvSpPr txBox="1"/>
          <p:nvPr/>
        </p:nvSpPr>
        <p:spPr>
          <a:xfrm>
            <a:off x="9829800" y="3419278"/>
            <a:ext cx="2352538" cy="2308324"/>
          </a:xfrm>
          <a:prstGeom prst="rect">
            <a:avLst/>
          </a:prstGeom>
          <a:solidFill>
            <a:srgbClr val="00421E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 err="1"/>
              <a:t>Assymmetrisk</a:t>
            </a:r>
            <a:r>
              <a:rPr lang="da-DK" dirty="0"/>
              <a:t> information (= ikke fuld viden) =&gt; overvejelser om decentralisering, ramme 548n. – 549m. </a:t>
            </a:r>
          </a:p>
          <a:p>
            <a:r>
              <a:rPr lang="da-DK" dirty="0"/>
              <a:t>Meget vigtigt!</a:t>
            </a:r>
          </a:p>
        </p:txBody>
      </p:sp>
      <p:sp>
        <p:nvSpPr>
          <p:cNvPr id="26" name="Tekstboks 25"/>
          <p:cNvSpPr txBox="1"/>
          <p:nvPr/>
        </p:nvSpPr>
        <p:spPr>
          <a:xfrm>
            <a:off x="8877300" y="1847850"/>
            <a:ext cx="1790700" cy="923330"/>
          </a:xfrm>
          <a:prstGeom prst="rect">
            <a:avLst/>
          </a:prstGeom>
          <a:solidFill>
            <a:srgbClr val="00421E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/>
              <a:t>Med fuld viden/</a:t>
            </a:r>
          </a:p>
          <a:p>
            <a:r>
              <a:rPr lang="da-DK" dirty="0"/>
              <a:t>ingen </a:t>
            </a:r>
            <a:r>
              <a:rPr lang="da-DK" dirty="0" err="1"/>
              <a:t>decen-tralisering</a:t>
            </a:r>
            <a:r>
              <a:rPr lang="da-DK" dirty="0"/>
              <a:t>!</a:t>
            </a:r>
          </a:p>
        </p:txBody>
      </p:sp>
      <p:cxnSp>
        <p:nvCxnSpPr>
          <p:cNvPr id="28" name="Lige pilforbindelse 27"/>
          <p:cNvCxnSpPr>
            <a:cxnSpLocks/>
          </p:cNvCxnSpPr>
          <p:nvPr/>
        </p:nvCxnSpPr>
        <p:spPr>
          <a:xfrm flipH="1">
            <a:off x="7381876" y="2400300"/>
            <a:ext cx="1419224" cy="122713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559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2" name="Rectangle 24"/>
          <p:cNvSpPr>
            <a:spLocks noChangeArrowheads="1"/>
          </p:cNvSpPr>
          <p:nvPr/>
        </p:nvSpPr>
        <p:spPr bwMode="auto">
          <a:xfrm>
            <a:off x="6657976" y="3352801"/>
            <a:ext cx="328613" cy="536575"/>
          </a:xfrm>
          <a:prstGeom prst="rect">
            <a:avLst/>
          </a:prstGeom>
          <a:solidFill>
            <a:srgbClr val="FF99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3438526" y="3925888"/>
            <a:ext cx="695325" cy="1109662"/>
          </a:xfrm>
          <a:prstGeom prst="rect">
            <a:avLst/>
          </a:prstGeom>
          <a:solidFill>
            <a:srgbClr val="FF99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78716" y="198439"/>
            <a:ext cx="82296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Decentralized Firm</a:t>
            </a:r>
            <a:br>
              <a:rPr lang="en-US" dirty="0"/>
            </a:br>
            <a:r>
              <a:rPr lang="en-US" dirty="0"/>
              <a:t>Transfer Price</a:t>
            </a: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V="1">
            <a:off x="3422650" y="2555875"/>
            <a:ext cx="12700" cy="2719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296" name="Line 8"/>
          <p:cNvSpPr>
            <a:spLocks noChangeShapeType="1"/>
          </p:cNvSpPr>
          <p:nvPr/>
        </p:nvSpPr>
        <p:spPr bwMode="auto">
          <a:xfrm>
            <a:off x="3446464" y="5276850"/>
            <a:ext cx="2414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297" name="Line 9"/>
          <p:cNvSpPr>
            <a:spLocks noChangeShapeType="1"/>
          </p:cNvSpPr>
          <p:nvPr/>
        </p:nvSpPr>
        <p:spPr bwMode="auto">
          <a:xfrm flipV="1">
            <a:off x="6645275" y="2544764"/>
            <a:ext cx="12700" cy="2719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auto">
          <a:xfrm>
            <a:off x="6646864" y="5264150"/>
            <a:ext cx="2414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299" name="Line 11"/>
          <p:cNvSpPr>
            <a:spLocks noChangeShapeType="1"/>
          </p:cNvSpPr>
          <p:nvPr/>
        </p:nvSpPr>
        <p:spPr bwMode="auto">
          <a:xfrm>
            <a:off x="3422651" y="2767013"/>
            <a:ext cx="1654175" cy="250825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>
            <a:off x="3435350" y="2836863"/>
            <a:ext cx="831850" cy="2508250"/>
          </a:xfrm>
          <a:prstGeom prst="line">
            <a:avLst/>
          </a:prstGeom>
          <a:noFill/>
          <a:ln w="28575">
            <a:solidFill>
              <a:srgbClr val="000066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>
            <a:off x="3446464" y="3914775"/>
            <a:ext cx="727075" cy="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302" name="Line 14"/>
          <p:cNvSpPr>
            <a:spLocks noChangeShapeType="1"/>
          </p:cNvSpPr>
          <p:nvPr/>
        </p:nvSpPr>
        <p:spPr bwMode="auto">
          <a:xfrm>
            <a:off x="4160838" y="3892551"/>
            <a:ext cx="0" cy="1382713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303" name="Line 15"/>
          <p:cNvSpPr>
            <a:spLocks noChangeShapeType="1"/>
          </p:cNvSpPr>
          <p:nvPr/>
        </p:nvSpPr>
        <p:spPr bwMode="auto">
          <a:xfrm>
            <a:off x="3435350" y="5053013"/>
            <a:ext cx="20272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 flipH="1">
            <a:off x="3692525" y="2989263"/>
            <a:ext cx="1195388" cy="1465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305" name="Line 17"/>
          <p:cNvSpPr>
            <a:spLocks noChangeShapeType="1"/>
          </p:cNvSpPr>
          <p:nvPr/>
        </p:nvSpPr>
        <p:spPr bwMode="auto">
          <a:xfrm>
            <a:off x="6635750" y="3903663"/>
            <a:ext cx="18875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306" name="Line 18"/>
          <p:cNvSpPr>
            <a:spLocks noChangeShapeType="1"/>
          </p:cNvSpPr>
          <p:nvPr/>
        </p:nvSpPr>
        <p:spPr bwMode="auto">
          <a:xfrm>
            <a:off x="6646864" y="2754314"/>
            <a:ext cx="1582737" cy="2509837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307" name="Line 19"/>
          <p:cNvSpPr>
            <a:spLocks noChangeShapeType="1"/>
          </p:cNvSpPr>
          <p:nvPr/>
        </p:nvSpPr>
        <p:spPr bwMode="auto">
          <a:xfrm>
            <a:off x="6646863" y="2778125"/>
            <a:ext cx="844550" cy="2590800"/>
          </a:xfrm>
          <a:prstGeom prst="line">
            <a:avLst/>
          </a:prstGeom>
          <a:noFill/>
          <a:ln w="28575">
            <a:solidFill>
              <a:srgbClr val="000066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308" name="Line 20"/>
          <p:cNvSpPr>
            <a:spLocks noChangeShapeType="1"/>
          </p:cNvSpPr>
          <p:nvPr/>
        </p:nvSpPr>
        <p:spPr bwMode="auto">
          <a:xfrm>
            <a:off x="6657976" y="3330576"/>
            <a:ext cx="352425" cy="11113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309" name="Line 21"/>
          <p:cNvSpPr>
            <a:spLocks noChangeShapeType="1"/>
          </p:cNvSpPr>
          <p:nvPr/>
        </p:nvSpPr>
        <p:spPr bwMode="auto">
          <a:xfrm>
            <a:off x="6999288" y="3341688"/>
            <a:ext cx="0" cy="1922462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310" name="Line 22"/>
          <p:cNvSpPr>
            <a:spLocks noChangeShapeType="1"/>
          </p:cNvSpPr>
          <p:nvPr/>
        </p:nvSpPr>
        <p:spPr bwMode="auto">
          <a:xfrm flipH="1">
            <a:off x="6778626" y="2889251"/>
            <a:ext cx="854075" cy="682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313" name="Text Box 25"/>
          <p:cNvSpPr txBox="1">
            <a:spLocks noChangeArrowheads="1"/>
          </p:cNvSpPr>
          <p:nvPr/>
        </p:nvSpPr>
        <p:spPr bwMode="auto">
          <a:xfrm>
            <a:off x="2906713" y="2671764"/>
            <a:ext cx="49302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110</a:t>
            </a:r>
          </a:p>
        </p:txBody>
      </p:sp>
      <p:sp>
        <p:nvSpPr>
          <p:cNvPr id="12314" name="Text Box 26"/>
          <p:cNvSpPr txBox="1">
            <a:spLocks noChangeArrowheads="1"/>
          </p:cNvSpPr>
          <p:nvPr/>
        </p:nvSpPr>
        <p:spPr bwMode="auto">
          <a:xfrm>
            <a:off x="2992438" y="3768726"/>
            <a:ext cx="3962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60</a:t>
            </a:r>
          </a:p>
        </p:txBody>
      </p:sp>
      <p:sp>
        <p:nvSpPr>
          <p:cNvPr id="12315" name="Text Box 27"/>
          <p:cNvSpPr txBox="1">
            <a:spLocks noChangeArrowheads="1"/>
          </p:cNvSpPr>
          <p:nvPr/>
        </p:nvSpPr>
        <p:spPr bwMode="auto">
          <a:xfrm>
            <a:off x="3003550" y="4891089"/>
            <a:ext cx="39049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10</a:t>
            </a:r>
          </a:p>
        </p:txBody>
      </p:sp>
      <p:sp>
        <p:nvSpPr>
          <p:cNvPr id="12316" name="Text Box 28"/>
          <p:cNvSpPr txBox="1">
            <a:spLocks noChangeArrowheads="1"/>
          </p:cNvSpPr>
          <p:nvPr/>
        </p:nvSpPr>
        <p:spPr bwMode="auto">
          <a:xfrm rot="16200000">
            <a:off x="1812395" y="3929164"/>
            <a:ext cx="144885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9900"/>
                </a:solidFill>
              </a:rPr>
              <a:t>Costs (in dollars)</a:t>
            </a:r>
          </a:p>
        </p:txBody>
      </p:sp>
      <p:sp>
        <p:nvSpPr>
          <p:cNvPr id="12317" name="Text Box 29"/>
          <p:cNvSpPr txBox="1">
            <a:spLocks noChangeArrowheads="1"/>
          </p:cNvSpPr>
          <p:nvPr/>
        </p:nvSpPr>
        <p:spPr bwMode="auto">
          <a:xfrm>
            <a:off x="3932238" y="5305426"/>
            <a:ext cx="2904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5</a:t>
            </a:r>
          </a:p>
        </p:txBody>
      </p:sp>
      <p:sp>
        <p:nvSpPr>
          <p:cNvPr id="12318" name="Text Box 30"/>
          <p:cNvSpPr txBox="1">
            <a:spLocks noChangeArrowheads="1"/>
          </p:cNvSpPr>
          <p:nvPr/>
        </p:nvSpPr>
        <p:spPr bwMode="auto">
          <a:xfrm>
            <a:off x="4832351" y="5316539"/>
            <a:ext cx="39299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11</a:t>
            </a:r>
          </a:p>
        </p:txBody>
      </p:sp>
      <p:sp>
        <p:nvSpPr>
          <p:cNvPr id="12319" name="Text Box 31"/>
          <p:cNvSpPr txBox="1">
            <a:spLocks noChangeArrowheads="1"/>
          </p:cNvSpPr>
          <p:nvPr/>
        </p:nvSpPr>
        <p:spPr bwMode="auto">
          <a:xfrm>
            <a:off x="4176713" y="5613400"/>
            <a:ext cx="844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</a:t>
            </a:r>
          </a:p>
        </p:txBody>
      </p:sp>
      <p:sp>
        <p:nvSpPr>
          <p:cNvPr id="12320" name="Text Box 32"/>
          <p:cNvSpPr txBox="1">
            <a:spLocks noChangeArrowheads="1"/>
          </p:cNvSpPr>
          <p:nvPr/>
        </p:nvSpPr>
        <p:spPr bwMode="auto">
          <a:xfrm>
            <a:off x="5018089" y="5037138"/>
            <a:ext cx="3127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D</a:t>
            </a:r>
          </a:p>
        </p:txBody>
      </p:sp>
      <p:sp>
        <p:nvSpPr>
          <p:cNvPr id="12321" name="Text Box 33"/>
          <p:cNvSpPr txBox="1">
            <a:spLocks noChangeArrowheads="1"/>
          </p:cNvSpPr>
          <p:nvPr/>
        </p:nvSpPr>
        <p:spPr bwMode="auto">
          <a:xfrm>
            <a:off x="4222750" y="5037139"/>
            <a:ext cx="44114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MR</a:t>
            </a:r>
          </a:p>
        </p:txBody>
      </p:sp>
      <p:sp>
        <p:nvSpPr>
          <p:cNvPr id="12322" name="Text Box 34"/>
          <p:cNvSpPr txBox="1">
            <a:spLocks noChangeArrowheads="1"/>
          </p:cNvSpPr>
          <p:nvPr/>
        </p:nvSpPr>
        <p:spPr bwMode="auto">
          <a:xfrm>
            <a:off x="5468938" y="4878389"/>
            <a:ext cx="43473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MC</a:t>
            </a:r>
          </a:p>
        </p:txBody>
      </p:sp>
      <p:sp>
        <p:nvSpPr>
          <p:cNvPr id="12323" name="Text Box 35"/>
          <p:cNvSpPr txBox="1">
            <a:spLocks noChangeArrowheads="1"/>
          </p:cNvSpPr>
          <p:nvPr/>
        </p:nvSpPr>
        <p:spPr bwMode="auto">
          <a:xfrm>
            <a:off x="5857875" y="5135564"/>
            <a:ext cx="30008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Q</a:t>
            </a:r>
          </a:p>
        </p:txBody>
      </p:sp>
      <p:sp>
        <p:nvSpPr>
          <p:cNvPr id="12324" name="Text Box 36"/>
          <p:cNvSpPr txBox="1">
            <a:spLocks noChangeArrowheads="1"/>
          </p:cNvSpPr>
          <p:nvPr/>
        </p:nvSpPr>
        <p:spPr bwMode="auto">
          <a:xfrm>
            <a:off x="3284538" y="2220914"/>
            <a:ext cx="2904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$</a:t>
            </a:r>
          </a:p>
        </p:txBody>
      </p:sp>
      <p:sp>
        <p:nvSpPr>
          <p:cNvPr id="12325" name="Text Box 37"/>
          <p:cNvSpPr txBox="1">
            <a:spLocks noChangeArrowheads="1"/>
          </p:cNvSpPr>
          <p:nvPr/>
        </p:nvSpPr>
        <p:spPr bwMode="auto">
          <a:xfrm>
            <a:off x="4271963" y="2684463"/>
            <a:ext cx="1282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Profits = $250</a:t>
            </a:r>
          </a:p>
        </p:txBody>
      </p:sp>
      <p:sp>
        <p:nvSpPr>
          <p:cNvPr id="12326" name="Text Box 38"/>
          <p:cNvSpPr txBox="1">
            <a:spLocks noChangeArrowheads="1"/>
          </p:cNvSpPr>
          <p:nvPr/>
        </p:nvSpPr>
        <p:spPr bwMode="auto">
          <a:xfrm>
            <a:off x="3552826" y="5915026"/>
            <a:ext cx="191270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FF9900"/>
                </a:solidFill>
              </a:rPr>
              <a:t>Manufacturing division</a:t>
            </a:r>
          </a:p>
        </p:txBody>
      </p:sp>
      <p:sp>
        <p:nvSpPr>
          <p:cNvPr id="12327" name="Text Box 39"/>
          <p:cNvSpPr txBox="1">
            <a:spLocks noChangeArrowheads="1"/>
          </p:cNvSpPr>
          <p:nvPr/>
        </p:nvSpPr>
        <p:spPr bwMode="auto">
          <a:xfrm>
            <a:off x="6503988" y="2233614"/>
            <a:ext cx="2904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$</a:t>
            </a:r>
          </a:p>
        </p:txBody>
      </p:sp>
      <p:sp>
        <p:nvSpPr>
          <p:cNvPr id="12328" name="Text Box 40"/>
          <p:cNvSpPr txBox="1">
            <a:spLocks noChangeArrowheads="1"/>
          </p:cNvSpPr>
          <p:nvPr/>
        </p:nvSpPr>
        <p:spPr bwMode="auto">
          <a:xfrm>
            <a:off x="6134100" y="2684464"/>
            <a:ext cx="49302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110</a:t>
            </a:r>
          </a:p>
        </p:txBody>
      </p:sp>
      <p:sp>
        <p:nvSpPr>
          <p:cNvPr id="12329" name="Text Box 41"/>
          <p:cNvSpPr txBox="1">
            <a:spLocks noChangeArrowheads="1"/>
          </p:cNvSpPr>
          <p:nvPr/>
        </p:nvSpPr>
        <p:spPr bwMode="auto">
          <a:xfrm>
            <a:off x="6223000" y="3195639"/>
            <a:ext cx="3962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85</a:t>
            </a:r>
          </a:p>
        </p:txBody>
      </p:sp>
      <p:sp>
        <p:nvSpPr>
          <p:cNvPr id="12330" name="Text Box 42"/>
          <p:cNvSpPr txBox="1">
            <a:spLocks noChangeArrowheads="1"/>
          </p:cNvSpPr>
          <p:nvPr/>
        </p:nvSpPr>
        <p:spPr bwMode="auto">
          <a:xfrm>
            <a:off x="6211888" y="3768726"/>
            <a:ext cx="3962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60</a:t>
            </a:r>
          </a:p>
        </p:txBody>
      </p:sp>
      <p:sp>
        <p:nvSpPr>
          <p:cNvPr id="12331" name="Text Box 43"/>
          <p:cNvSpPr txBox="1">
            <a:spLocks noChangeArrowheads="1"/>
          </p:cNvSpPr>
          <p:nvPr/>
        </p:nvSpPr>
        <p:spPr bwMode="auto">
          <a:xfrm>
            <a:off x="6832600" y="5305426"/>
            <a:ext cx="2904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5</a:t>
            </a:r>
          </a:p>
        </p:txBody>
      </p:sp>
      <p:sp>
        <p:nvSpPr>
          <p:cNvPr id="12332" name="Text Box 44"/>
          <p:cNvSpPr txBox="1">
            <a:spLocks noChangeArrowheads="1"/>
          </p:cNvSpPr>
          <p:nvPr/>
        </p:nvSpPr>
        <p:spPr bwMode="auto">
          <a:xfrm>
            <a:off x="7178676" y="5307014"/>
            <a:ext cx="39299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11</a:t>
            </a:r>
          </a:p>
        </p:txBody>
      </p:sp>
      <p:sp>
        <p:nvSpPr>
          <p:cNvPr id="12333" name="Text Box 45"/>
          <p:cNvSpPr txBox="1">
            <a:spLocks noChangeArrowheads="1"/>
          </p:cNvSpPr>
          <p:nvPr/>
        </p:nvSpPr>
        <p:spPr bwMode="auto">
          <a:xfrm>
            <a:off x="8040688" y="5292726"/>
            <a:ext cx="3962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22</a:t>
            </a:r>
          </a:p>
        </p:txBody>
      </p:sp>
      <p:sp>
        <p:nvSpPr>
          <p:cNvPr id="12334" name="Text Box 46"/>
          <p:cNvSpPr txBox="1">
            <a:spLocks noChangeArrowheads="1"/>
          </p:cNvSpPr>
          <p:nvPr/>
        </p:nvSpPr>
        <p:spPr bwMode="auto">
          <a:xfrm>
            <a:off x="7373938" y="5618163"/>
            <a:ext cx="844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</a:t>
            </a:r>
          </a:p>
        </p:txBody>
      </p:sp>
      <p:sp>
        <p:nvSpPr>
          <p:cNvPr id="12335" name="Text Box 47"/>
          <p:cNvSpPr txBox="1">
            <a:spLocks noChangeArrowheads="1"/>
          </p:cNvSpPr>
          <p:nvPr/>
        </p:nvSpPr>
        <p:spPr bwMode="auto">
          <a:xfrm>
            <a:off x="8232775" y="4970463"/>
            <a:ext cx="312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D</a:t>
            </a:r>
          </a:p>
        </p:txBody>
      </p:sp>
      <p:sp>
        <p:nvSpPr>
          <p:cNvPr id="12336" name="Text Box 48"/>
          <p:cNvSpPr txBox="1">
            <a:spLocks noChangeArrowheads="1"/>
          </p:cNvSpPr>
          <p:nvPr/>
        </p:nvSpPr>
        <p:spPr bwMode="auto">
          <a:xfrm>
            <a:off x="7450138" y="4970464"/>
            <a:ext cx="44114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MR</a:t>
            </a:r>
          </a:p>
        </p:txBody>
      </p:sp>
      <p:sp>
        <p:nvSpPr>
          <p:cNvPr id="12337" name="Text Box 49"/>
          <p:cNvSpPr txBox="1">
            <a:spLocks noChangeArrowheads="1"/>
          </p:cNvSpPr>
          <p:nvPr/>
        </p:nvSpPr>
        <p:spPr bwMode="auto">
          <a:xfrm>
            <a:off x="9058275" y="5081589"/>
            <a:ext cx="30008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Q</a:t>
            </a:r>
          </a:p>
        </p:txBody>
      </p:sp>
      <p:sp>
        <p:nvSpPr>
          <p:cNvPr id="12338" name="Text Box 50"/>
          <p:cNvSpPr txBox="1">
            <a:spLocks noChangeArrowheads="1"/>
          </p:cNvSpPr>
          <p:nvPr/>
        </p:nvSpPr>
        <p:spPr bwMode="auto">
          <a:xfrm>
            <a:off x="8528050" y="3733801"/>
            <a:ext cx="43473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MC</a:t>
            </a:r>
          </a:p>
        </p:txBody>
      </p:sp>
      <p:sp>
        <p:nvSpPr>
          <p:cNvPr id="12339" name="Text Box 51"/>
          <p:cNvSpPr txBox="1">
            <a:spLocks noChangeArrowheads="1"/>
          </p:cNvSpPr>
          <p:nvPr/>
        </p:nvSpPr>
        <p:spPr bwMode="auto">
          <a:xfrm>
            <a:off x="7148513" y="2549525"/>
            <a:ext cx="1282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Profits = $125</a:t>
            </a:r>
          </a:p>
        </p:txBody>
      </p:sp>
      <p:sp>
        <p:nvSpPr>
          <p:cNvPr id="12340" name="Text Box 52"/>
          <p:cNvSpPr txBox="1">
            <a:spLocks noChangeArrowheads="1"/>
          </p:cNvSpPr>
          <p:nvPr/>
        </p:nvSpPr>
        <p:spPr bwMode="auto">
          <a:xfrm>
            <a:off x="6827838" y="5932489"/>
            <a:ext cx="16866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FF9900"/>
                </a:solidFill>
              </a:rPr>
              <a:t>Distribution division</a:t>
            </a:r>
          </a:p>
        </p:txBody>
      </p:sp>
      <p:sp>
        <p:nvSpPr>
          <p:cNvPr id="12341" name="Rectangle 53"/>
          <p:cNvSpPr>
            <a:spLocks noChangeArrowheads="1"/>
          </p:cNvSpPr>
          <p:nvPr/>
        </p:nvSpPr>
        <p:spPr bwMode="auto">
          <a:xfrm>
            <a:off x="9763125" y="6330071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fld id="{5C05F2C0-3639-4E8F-BE30-C14B8DDB3E88}" type="slidenum">
              <a:rPr lang="en-US" sz="2800" smtClean="0"/>
              <a:pPr algn="r"/>
              <a:t>12</a:t>
            </a:fld>
            <a:endParaRPr lang="en-US" sz="2800" dirty="0"/>
          </a:p>
        </p:txBody>
      </p:sp>
      <p:sp>
        <p:nvSpPr>
          <p:cNvPr id="50" name="Tekstboks 49"/>
          <p:cNvSpPr txBox="1"/>
          <p:nvPr/>
        </p:nvSpPr>
        <p:spPr>
          <a:xfrm>
            <a:off x="8858250" y="2190750"/>
            <a:ext cx="1363663" cy="92333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tx1"/>
                </a:solidFill>
              </a:rPr>
              <a:t>Konklusion </a:t>
            </a:r>
          </a:p>
          <a:p>
            <a:r>
              <a:rPr lang="da-DK" dirty="0">
                <a:solidFill>
                  <a:schemeClr val="tx1"/>
                </a:solidFill>
              </a:rPr>
              <a:t>p. 550m.!! – 552n.!!!!</a:t>
            </a:r>
          </a:p>
        </p:txBody>
      </p:sp>
      <p:sp>
        <p:nvSpPr>
          <p:cNvPr id="51" name="Tekstboks 50"/>
          <p:cNvSpPr txBox="1"/>
          <p:nvPr/>
        </p:nvSpPr>
        <p:spPr>
          <a:xfrm>
            <a:off x="9979682" y="3261081"/>
            <a:ext cx="2212318" cy="147732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tx1"/>
                </a:solidFill>
              </a:rPr>
              <a:t>Derfor citatet af Holmstrøm &amp; </a:t>
            </a:r>
            <a:r>
              <a:rPr lang="da-DK" dirty="0" err="1">
                <a:solidFill>
                  <a:schemeClr val="tx1"/>
                </a:solidFill>
              </a:rPr>
              <a:t>Tirole</a:t>
            </a:r>
            <a:r>
              <a:rPr lang="da-DK" dirty="0">
                <a:solidFill>
                  <a:schemeClr val="tx1"/>
                </a:solidFill>
              </a:rPr>
              <a:t> (1991), p. 552n.! Stor økonomisk tænkning!</a:t>
            </a:r>
          </a:p>
        </p:txBody>
      </p:sp>
      <p:cxnSp>
        <p:nvCxnSpPr>
          <p:cNvPr id="4" name="Lige pilforbindelse 3"/>
          <p:cNvCxnSpPr/>
          <p:nvPr/>
        </p:nvCxnSpPr>
        <p:spPr>
          <a:xfrm flipH="1" flipV="1">
            <a:off x="4290220" y="4021138"/>
            <a:ext cx="2915443" cy="690562"/>
          </a:xfrm>
          <a:prstGeom prst="straightConnector1">
            <a:avLst/>
          </a:prstGeom>
          <a:ln w="38100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 rot="731173">
            <a:off x="5595260" y="4025595"/>
            <a:ext cx="721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dirty="0"/>
              <a:t>=</a:t>
            </a:r>
          </a:p>
        </p:txBody>
      </p:sp>
      <p:sp>
        <p:nvSpPr>
          <p:cNvPr id="54" name="Tekstboks 50"/>
          <p:cNvSpPr txBox="1"/>
          <p:nvPr/>
        </p:nvSpPr>
        <p:spPr>
          <a:xfrm>
            <a:off x="9979682" y="5010202"/>
            <a:ext cx="2212318" cy="92333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tx1"/>
                </a:solidFill>
              </a:rPr>
              <a:t>Holmstrøm (&amp; Hart) fik Nobelprisen i Økonomi i 2016.</a:t>
            </a:r>
          </a:p>
        </p:txBody>
      </p:sp>
      <p:sp>
        <p:nvSpPr>
          <p:cNvPr id="55" name="Text Box 28"/>
          <p:cNvSpPr txBox="1">
            <a:spLocks noChangeArrowheads="1"/>
          </p:cNvSpPr>
          <p:nvPr/>
        </p:nvSpPr>
        <p:spPr bwMode="auto">
          <a:xfrm rot="16200000">
            <a:off x="5362046" y="3541810"/>
            <a:ext cx="144885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9900"/>
                </a:solidFill>
              </a:rPr>
              <a:t>Costs (in dollars)</a:t>
            </a:r>
          </a:p>
        </p:txBody>
      </p:sp>
    </p:spTree>
    <p:extLst>
      <p:ext uri="{BB962C8B-B14F-4D97-AF65-F5344CB8AC3E}">
        <p14:creationId xmlns:p14="http://schemas.microsoft.com/office/powerpoint/2010/main" val="958471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4576" y="376237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Transfer-Pricing Methods (1)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4577" y="1658938"/>
            <a:ext cx="9900088" cy="4910138"/>
          </a:xfrm>
        </p:spPr>
        <p:txBody>
          <a:bodyPr>
            <a:normAutofit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3200" dirty="0"/>
              <a:t>Opportunity cost – the correct but impossible!</a:t>
            </a:r>
          </a:p>
          <a:p>
            <a:pPr eaLnBrk="1" hangingPunct="1">
              <a:buClr>
                <a:srgbClr val="000066"/>
              </a:buClr>
            </a:pPr>
            <a:r>
              <a:rPr lang="en-US" sz="3200" dirty="0"/>
              <a:t>Market based – if competitive external market exists – </a:t>
            </a:r>
            <a:r>
              <a:rPr lang="en-US" sz="3200" dirty="0" err="1"/>
              <a:t>ramme</a:t>
            </a:r>
            <a:r>
              <a:rPr lang="en-US" sz="3200" dirty="0"/>
              <a:t> 553n. – 554ø.</a:t>
            </a:r>
          </a:p>
          <a:p>
            <a:pPr eaLnBrk="1" hangingPunct="1">
              <a:buClr>
                <a:srgbClr val="000066"/>
              </a:buClr>
            </a:pPr>
            <a:r>
              <a:rPr lang="en-US" sz="3200" dirty="0"/>
              <a:t>Marginal cost – fin def. 554m.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200" dirty="0">
                <a:solidFill>
                  <a:srgbClr val="8E0000"/>
                </a:solidFill>
              </a:rPr>
              <a:t>But what about the fixed costs? Are they covered? </a:t>
            </a:r>
            <a:r>
              <a:rPr lang="en-US" sz="3200" dirty="0">
                <a:solidFill>
                  <a:srgbClr val="8E0000"/>
                </a:solidFill>
                <a:sym typeface="Wingdings" pitchFamily="2" charset="2"/>
              </a:rPr>
              <a:t> fixed fee + mc.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200" dirty="0">
                <a:solidFill>
                  <a:srgbClr val="8E0000"/>
                </a:solidFill>
                <a:sym typeface="Wingdings" pitchFamily="2" charset="2"/>
              </a:rPr>
              <a:t>Is mc constant?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200" dirty="0">
                <a:solidFill>
                  <a:srgbClr val="8E0000"/>
                </a:solidFill>
                <a:sym typeface="Wingdings" pitchFamily="2" charset="2"/>
              </a:rPr>
              <a:t>What if close to full capacity?</a:t>
            </a:r>
            <a:endParaRPr lang="en-US" sz="3200" dirty="0">
              <a:solidFill>
                <a:srgbClr val="8E0000"/>
              </a:solidFill>
            </a:endParaRP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9808699" y="6324601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fld id="{D575DCEF-E753-4359-BBD1-F7E0091685C8}" type="slidenum">
              <a:rPr lang="en-US" sz="2800" smtClean="0"/>
              <a:pPr algn="r"/>
              <a:t>13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3859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85446" y="157896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Transfer-Pricing Methods (2)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265" y="1300896"/>
            <a:ext cx="10227212" cy="5254112"/>
          </a:xfrm>
        </p:spPr>
        <p:txBody>
          <a:bodyPr>
            <a:noAutofit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2700" dirty="0"/>
              <a:t>Full cost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700" dirty="0"/>
              <a:t>Simple, easy to measure and thereby cheep and thereby reduces influence costs =&gt; quite common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700" dirty="0"/>
              <a:t>The risk; exceeds opportunity costs </a:t>
            </a:r>
            <a:r>
              <a:rPr lang="en-US" sz="2700" dirty="0">
                <a:sym typeface="Wingdings" pitchFamily="2" charset="2"/>
              </a:rPr>
              <a:t> vol. becomes too low…….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700" dirty="0">
                <a:sym typeface="Wingdings" pitchFamily="2" charset="2"/>
              </a:rPr>
              <a:t>Good when changes in capacity, MC up is captured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700" dirty="0">
                <a:sym typeface="Wingdings" pitchFamily="2" charset="2"/>
              </a:rPr>
              <a:t>What about allocated overhead?</a:t>
            </a:r>
            <a:endParaRPr lang="en-US" sz="2700" dirty="0"/>
          </a:p>
          <a:p>
            <a:pPr eaLnBrk="1" hangingPunct="1">
              <a:buClr>
                <a:srgbClr val="000066"/>
              </a:buClr>
            </a:pPr>
            <a:r>
              <a:rPr lang="en-US" sz="2700" dirty="0"/>
              <a:t>Negotiated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700" dirty="0">
                <a:solidFill>
                  <a:srgbClr val="8E0000"/>
                </a:solidFill>
              </a:rPr>
              <a:t>Often close to opportunity costs because…. 556m.  - VIGTIGT!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700" dirty="0"/>
              <a:t>Time consuming 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700" dirty="0"/>
              <a:t>What about negotiating skills?</a:t>
            </a: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9744501" y="5860157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fld id="{D575DCEF-E753-4359-BBD1-F7E0091685C8}" type="slidenum">
              <a:rPr lang="en-US" sz="2800" smtClean="0"/>
              <a:pPr algn="r"/>
              <a:t>14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5333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10627" y="187887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Internal Accounting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330887"/>
            <a:ext cx="9601200" cy="5367998"/>
          </a:xfrm>
        </p:spPr>
        <p:txBody>
          <a:bodyPr>
            <a:normAutofit lnSpcReduction="10000"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2900" dirty="0"/>
              <a:t>The accounting system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900" dirty="0">
                <a:solidFill>
                  <a:srgbClr val="8E0000"/>
                </a:solidFill>
              </a:rPr>
              <a:t>Decision management </a:t>
            </a:r>
            <a:r>
              <a:rPr lang="en-US" sz="2900" dirty="0"/>
              <a:t>requires estimates of </a:t>
            </a:r>
            <a:r>
              <a:rPr lang="en-US" sz="2900" b="1" dirty="0">
                <a:solidFill>
                  <a:srgbClr val="006600"/>
                </a:solidFill>
              </a:rPr>
              <a:t>future</a:t>
            </a:r>
            <a:r>
              <a:rPr lang="en-US" sz="2900" b="1" dirty="0">
                <a:solidFill>
                  <a:srgbClr val="008000"/>
                </a:solidFill>
              </a:rPr>
              <a:t> </a:t>
            </a:r>
            <a:r>
              <a:rPr lang="en-US" sz="2900" dirty="0"/>
              <a:t>benefits and costs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900" b="1" dirty="0">
                <a:solidFill>
                  <a:srgbClr val="006600"/>
                </a:solidFill>
              </a:rPr>
              <a:t>Backward-looking</a:t>
            </a:r>
            <a:r>
              <a:rPr lang="en-US" sz="2900" b="1" dirty="0">
                <a:solidFill>
                  <a:srgbClr val="008000"/>
                </a:solidFill>
              </a:rPr>
              <a:t> </a:t>
            </a:r>
            <a:r>
              <a:rPr lang="en-US" sz="2900" dirty="0"/>
              <a:t>accounting systems support </a:t>
            </a:r>
            <a:r>
              <a:rPr lang="en-US" sz="2900" dirty="0">
                <a:solidFill>
                  <a:srgbClr val="8E0000"/>
                </a:solidFill>
              </a:rPr>
              <a:t>decision control</a:t>
            </a:r>
          </a:p>
          <a:p>
            <a:pPr eaLnBrk="1" hangingPunct="1">
              <a:buClr>
                <a:srgbClr val="000066"/>
              </a:buClr>
            </a:pPr>
            <a:r>
              <a:rPr lang="en-US" sz="2900" dirty="0"/>
              <a:t>Tradeoffs between </a:t>
            </a:r>
            <a:r>
              <a:rPr lang="en-US" sz="2900" dirty="0">
                <a:solidFill>
                  <a:srgbClr val="8E0000"/>
                </a:solidFill>
              </a:rPr>
              <a:t>decision management and control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900" dirty="0"/>
              <a:t>Accounting measures are not under the control of those being monitored </a:t>
            </a:r>
            <a:r>
              <a:rPr lang="en-US" sz="2900" i="0" dirty="0"/>
              <a:t>(the operating managers)</a:t>
            </a:r>
            <a:endParaRPr lang="en-US" sz="2900" dirty="0"/>
          </a:p>
          <a:p>
            <a:pPr lvl="1" eaLnBrk="1" hangingPunct="1">
              <a:buClr>
                <a:srgbClr val="000066"/>
              </a:buClr>
            </a:pPr>
            <a:r>
              <a:rPr lang="en-US" sz="2900" dirty="0"/>
              <a:t>Managers with decision making rights are often dissatisfied with financial measures for making operating decisions </a:t>
            </a:r>
            <a:r>
              <a:rPr lang="en-US" sz="2900" i="0" dirty="0"/>
              <a:t>(because the financial measures are very aggregated)</a:t>
            </a:r>
            <a:endParaRPr lang="en-US" sz="2900" dirty="0"/>
          </a:p>
          <a:p>
            <a:pPr lvl="1" eaLnBrk="1" hangingPunct="1">
              <a:buClr>
                <a:srgbClr val="000066"/>
              </a:buClr>
              <a:buNone/>
            </a:pPr>
            <a:endParaRPr lang="en-US" dirty="0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9906000" y="6122329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fld id="{2EF6BAD9-45DF-4CE7-8272-7C903DD44328}" type="slidenum">
              <a:rPr lang="en-US" sz="2800" smtClean="0"/>
              <a:pPr algn="r"/>
              <a:t>15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9301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27063"/>
            <a:ext cx="9144000" cy="1143000"/>
          </a:xfrm>
        </p:spPr>
        <p:txBody>
          <a:bodyPr/>
          <a:lstStyle/>
          <a:p>
            <a:r>
              <a:rPr lang="en-US" dirty="0"/>
              <a:t>Decision </a:t>
            </a:r>
            <a:r>
              <a:rPr lang="en-US" dirty="0">
                <a:solidFill>
                  <a:srgbClr val="8E0000"/>
                </a:solidFill>
              </a:rPr>
              <a:t>Management</a:t>
            </a:r>
            <a:r>
              <a:rPr lang="en-US" dirty="0"/>
              <a:t> and </a:t>
            </a:r>
            <a:r>
              <a:rPr lang="en-US" dirty="0">
                <a:solidFill>
                  <a:srgbClr val="002060"/>
                </a:solidFill>
              </a:rPr>
              <a:t>Control </a:t>
            </a:r>
            <a:r>
              <a:rPr lang="en-US" dirty="0">
                <a:solidFill>
                  <a:schemeClr val="tx1"/>
                </a:solidFill>
              </a:rPr>
              <a:t>(1)</a:t>
            </a:r>
            <a:br>
              <a:rPr lang="en-US" dirty="0"/>
            </a:br>
            <a:r>
              <a:rPr lang="en-US" sz="2000" dirty="0"/>
              <a:t>(</a:t>
            </a:r>
            <a:r>
              <a:rPr lang="en-US" sz="2000" dirty="0" err="1"/>
              <a:t>meget</a:t>
            </a:r>
            <a:r>
              <a:rPr lang="en-US" sz="2000" dirty="0"/>
              <a:t> </a:t>
            </a:r>
            <a:r>
              <a:rPr lang="en-US" sz="2000" dirty="0" err="1"/>
              <a:t>centralt</a:t>
            </a:r>
            <a:r>
              <a:rPr lang="en-US" sz="2000" dirty="0"/>
              <a:t> </a:t>
            </a:r>
            <a:r>
              <a:rPr lang="en-US" sz="2000" dirty="0" err="1"/>
              <a:t>begrebspar</a:t>
            </a:r>
            <a:r>
              <a:rPr lang="en-US" sz="2000" dirty="0"/>
              <a:t> med </a:t>
            </a:r>
            <a:r>
              <a:rPr lang="en-US" sz="2000" u="sng" dirty="0" err="1"/>
              <a:t>udtalt</a:t>
            </a:r>
            <a:r>
              <a:rPr lang="en-US" sz="2000" dirty="0"/>
              <a:t> </a:t>
            </a:r>
            <a:r>
              <a:rPr lang="en-US" sz="2000" dirty="0" err="1"/>
              <a:t>relevans</a:t>
            </a:r>
            <a:r>
              <a:rPr lang="en-US" sz="2000" dirty="0"/>
              <a:t> </a:t>
            </a:r>
            <a:r>
              <a:rPr lang="en-US" sz="2000" dirty="0" err="1"/>
              <a:t>også</a:t>
            </a:r>
            <a:r>
              <a:rPr lang="en-US" sz="2000" dirty="0"/>
              <a:t> for VØS (5)) (repetition)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962150" y="1620838"/>
            <a:ext cx="8229600" cy="4525962"/>
          </a:xfrm>
        </p:spPr>
        <p:txBody>
          <a:bodyPr/>
          <a:lstStyle/>
          <a:p>
            <a:endParaRPr lang="en-US" i="1" dirty="0">
              <a:solidFill>
                <a:srgbClr val="FF0000"/>
              </a:solidFill>
            </a:endParaRPr>
          </a:p>
          <a:p>
            <a:endParaRPr lang="en-US" i="1" dirty="0">
              <a:solidFill>
                <a:srgbClr val="FF0000"/>
              </a:solidFill>
            </a:endParaRPr>
          </a:p>
          <a:p>
            <a:r>
              <a:rPr lang="en-US" sz="4000" i="1" dirty="0">
                <a:solidFill>
                  <a:srgbClr val="8E0000"/>
                </a:solidFill>
              </a:rPr>
              <a:t>Decision management is the </a:t>
            </a:r>
            <a:r>
              <a:rPr lang="en-US" sz="4000" i="1" u="sng" dirty="0">
                <a:solidFill>
                  <a:srgbClr val="8E0000"/>
                </a:solidFill>
              </a:rPr>
              <a:t>initiation</a:t>
            </a:r>
            <a:r>
              <a:rPr lang="en-US" sz="4000" i="1" dirty="0">
                <a:solidFill>
                  <a:srgbClr val="8E0000"/>
                </a:solidFill>
              </a:rPr>
              <a:t> and </a:t>
            </a:r>
            <a:r>
              <a:rPr lang="en-US" sz="4000" i="1" u="sng" dirty="0">
                <a:solidFill>
                  <a:srgbClr val="8E0000"/>
                </a:solidFill>
              </a:rPr>
              <a:t>implementation</a:t>
            </a:r>
            <a:r>
              <a:rPr lang="en-US" sz="4000" i="1" dirty="0">
                <a:solidFill>
                  <a:srgbClr val="8E0000"/>
                </a:solidFill>
              </a:rPr>
              <a:t> of decisions</a:t>
            </a:r>
          </a:p>
          <a:p>
            <a:r>
              <a:rPr lang="en-US" sz="4000" i="1" dirty="0">
                <a:solidFill>
                  <a:srgbClr val="002060"/>
                </a:solidFill>
              </a:rPr>
              <a:t>Decision control is the </a:t>
            </a:r>
            <a:r>
              <a:rPr lang="en-US" sz="4000" i="1" u="sng" dirty="0">
                <a:solidFill>
                  <a:srgbClr val="002060"/>
                </a:solidFill>
              </a:rPr>
              <a:t>ratifying</a:t>
            </a:r>
            <a:r>
              <a:rPr lang="en-US" sz="4000" i="1" dirty="0">
                <a:solidFill>
                  <a:srgbClr val="002060"/>
                </a:solidFill>
              </a:rPr>
              <a:t> and </a:t>
            </a:r>
            <a:r>
              <a:rPr lang="en-US" sz="4000" i="1" u="sng" dirty="0">
                <a:solidFill>
                  <a:srgbClr val="002060"/>
                </a:solidFill>
              </a:rPr>
              <a:t>monitoring</a:t>
            </a:r>
            <a:r>
              <a:rPr lang="en-US" sz="4000" i="1" dirty="0">
                <a:solidFill>
                  <a:srgbClr val="002060"/>
                </a:solidFill>
              </a:rPr>
              <a:t> of decisions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11089730" y="6146800"/>
            <a:ext cx="56233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fld id="{B2A52ECE-523E-4D8A-855D-DA3CE9B07CFC}" type="slidenum">
              <a:rPr lang="en-US" sz="1000" smtClean="0"/>
              <a:pPr/>
              <a:t>16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26678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415925"/>
            <a:ext cx="8915400" cy="1143000"/>
          </a:xfrm>
        </p:spPr>
        <p:txBody>
          <a:bodyPr>
            <a:normAutofit fontScale="90000"/>
          </a:bodyPr>
          <a:lstStyle/>
          <a:p>
            <a:pPr eaLnBrk="1" hangingPunct="1">
              <a:buClr>
                <a:srgbClr val="990033"/>
              </a:buClr>
            </a:pPr>
            <a:r>
              <a:rPr lang="en-US" dirty="0"/>
              <a:t>Decision </a:t>
            </a:r>
            <a:r>
              <a:rPr lang="en-US" dirty="0">
                <a:solidFill>
                  <a:srgbClr val="8E0000"/>
                </a:solidFill>
              </a:rPr>
              <a:t>Management</a:t>
            </a:r>
            <a:r>
              <a:rPr lang="en-US" dirty="0"/>
              <a:t> and </a:t>
            </a:r>
            <a:r>
              <a:rPr lang="en-US" dirty="0">
                <a:solidFill>
                  <a:srgbClr val="002060"/>
                </a:solidFill>
              </a:rPr>
              <a:t>Control </a:t>
            </a:r>
            <a:r>
              <a:rPr lang="en-US" dirty="0">
                <a:solidFill>
                  <a:schemeClr val="tx1"/>
                </a:solidFill>
              </a:rPr>
              <a:t>(2)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1345474"/>
            <a:ext cx="9601200" cy="452192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dirty="0"/>
              <a:t>Four steps occur (chronologically):</a:t>
            </a:r>
          </a:p>
          <a:p>
            <a:pPr lvl="1">
              <a:lnSpc>
                <a:spcPct val="90000"/>
              </a:lnSpc>
            </a:pPr>
            <a:endParaRPr lang="en-US" sz="3200" dirty="0"/>
          </a:p>
          <a:p>
            <a:pPr marL="1044702" lvl="1" indent="-514350">
              <a:lnSpc>
                <a:spcPct val="90000"/>
              </a:lnSpc>
              <a:buFont typeface="+mj-lt"/>
              <a:buAutoNum type="arabicParenR"/>
            </a:pPr>
            <a:r>
              <a:rPr lang="en-US" sz="3200" dirty="0">
                <a:solidFill>
                  <a:srgbClr val="8E0000"/>
                </a:solidFill>
              </a:rPr>
              <a:t>Initiation</a:t>
            </a:r>
          </a:p>
          <a:p>
            <a:pPr lvl="2">
              <a:lnSpc>
                <a:spcPct val="90000"/>
              </a:lnSpc>
            </a:pPr>
            <a:r>
              <a:rPr lang="en-US" sz="3200" dirty="0">
                <a:solidFill>
                  <a:srgbClr val="8E0000"/>
                </a:solidFill>
              </a:rPr>
              <a:t>Generation of proposals for resources utilization and structuring of contracts</a:t>
            </a:r>
          </a:p>
          <a:p>
            <a:pPr marL="1044702" lvl="1" indent="-514350">
              <a:lnSpc>
                <a:spcPct val="90000"/>
              </a:lnSpc>
              <a:buFont typeface="+mj-lt"/>
              <a:buAutoNum type="arabicParenR"/>
            </a:pPr>
            <a:r>
              <a:rPr lang="en-US" sz="3200" dirty="0">
                <a:solidFill>
                  <a:srgbClr val="002060"/>
                </a:solidFill>
              </a:rPr>
              <a:t>Ratification</a:t>
            </a:r>
          </a:p>
          <a:p>
            <a:pPr lvl="2">
              <a:lnSpc>
                <a:spcPct val="90000"/>
              </a:lnSpc>
            </a:pPr>
            <a:r>
              <a:rPr lang="en-US" sz="3200" dirty="0">
                <a:solidFill>
                  <a:srgbClr val="002060"/>
                </a:solidFill>
              </a:rPr>
              <a:t>Choice of decision initiatives to be implemented</a:t>
            </a:r>
          </a:p>
          <a:p>
            <a:pPr marL="1044702" lvl="1" indent="-514350">
              <a:lnSpc>
                <a:spcPct val="90000"/>
              </a:lnSpc>
              <a:buFont typeface="+mj-lt"/>
              <a:buAutoNum type="arabicParenR"/>
            </a:pPr>
            <a:r>
              <a:rPr lang="en-US" sz="3200" dirty="0">
                <a:solidFill>
                  <a:srgbClr val="8E0000"/>
                </a:solidFill>
              </a:rPr>
              <a:t>Implementation</a:t>
            </a:r>
          </a:p>
          <a:p>
            <a:pPr marL="1044702" lvl="1" indent="-514350">
              <a:lnSpc>
                <a:spcPct val="90000"/>
              </a:lnSpc>
              <a:buFont typeface="+mj-lt"/>
              <a:buAutoNum type="arabicParenR"/>
            </a:pPr>
            <a:r>
              <a:rPr lang="en-US" sz="3200" dirty="0">
                <a:solidFill>
                  <a:srgbClr val="002060"/>
                </a:solidFill>
              </a:rPr>
              <a:t>Monitoring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11099528" y="5882640"/>
            <a:ext cx="5786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fld id="{42107200-3CEC-4576-9EDA-650F6DAD1F69}" type="slidenum">
              <a:rPr lang="en-US" sz="1000" smtClean="0"/>
              <a:pPr/>
              <a:t>17</a:t>
            </a:fld>
            <a:endParaRPr lang="en-US" sz="1000" dirty="0"/>
          </a:p>
        </p:txBody>
      </p:sp>
      <p:sp>
        <p:nvSpPr>
          <p:cNvPr id="5" name="Tekstboks 4"/>
          <p:cNvSpPr txBox="1"/>
          <p:nvPr/>
        </p:nvSpPr>
        <p:spPr>
          <a:xfrm>
            <a:off x="9793111" y="5213449"/>
            <a:ext cx="2359378" cy="369332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Ramme p. 394 – 395!</a:t>
            </a:r>
          </a:p>
        </p:txBody>
      </p:sp>
      <p:sp>
        <p:nvSpPr>
          <p:cNvPr id="2" name="Tekstboks 6">
            <a:extLst>
              <a:ext uri="{FF2B5EF4-FFF2-40B4-BE49-F238E27FC236}">
                <a16:creationId xmlns:a16="http://schemas.microsoft.com/office/drawing/2014/main" id="{2F001A0F-9DF1-AB45-1732-EB0D6F9F6FD9}"/>
              </a:ext>
            </a:extLst>
          </p:cNvPr>
          <p:cNvSpPr txBox="1"/>
          <p:nvPr/>
        </p:nvSpPr>
        <p:spPr>
          <a:xfrm>
            <a:off x="9793111" y="5682734"/>
            <a:ext cx="1828800" cy="369332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Ramme</a:t>
            </a:r>
            <a:r>
              <a:rPr lang="en-US" dirty="0">
                <a:solidFill>
                  <a:schemeClr val="bg1"/>
                </a:solidFill>
              </a:rPr>
              <a:t> 561m.</a:t>
            </a:r>
            <a:endParaRPr lang="da-D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4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27063"/>
            <a:ext cx="9144000" cy="1143000"/>
          </a:xfrm>
        </p:spPr>
        <p:txBody>
          <a:bodyPr/>
          <a:lstStyle/>
          <a:p>
            <a:r>
              <a:rPr lang="en-US" dirty="0"/>
              <a:t>Decision </a:t>
            </a:r>
            <a:r>
              <a:rPr lang="en-US" dirty="0">
                <a:solidFill>
                  <a:srgbClr val="8E0000"/>
                </a:solidFill>
              </a:rPr>
              <a:t>Management</a:t>
            </a:r>
            <a:r>
              <a:rPr lang="en-US" dirty="0"/>
              <a:t> and </a:t>
            </a:r>
            <a:r>
              <a:rPr lang="en-US" dirty="0">
                <a:solidFill>
                  <a:srgbClr val="002060"/>
                </a:solidFill>
              </a:rPr>
              <a:t>Control </a:t>
            </a:r>
            <a:r>
              <a:rPr lang="en-US" dirty="0">
                <a:solidFill>
                  <a:schemeClr val="tx1"/>
                </a:solidFill>
              </a:rPr>
              <a:t>(3)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962150" y="1620838"/>
            <a:ext cx="8229600" cy="4525962"/>
          </a:xfrm>
        </p:spPr>
        <p:txBody>
          <a:bodyPr>
            <a:normAutofit/>
          </a:bodyPr>
          <a:lstStyle/>
          <a:p>
            <a:r>
              <a:rPr lang="en-US" sz="2800" dirty="0"/>
              <a:t>Basic principle/’rule of thumb’:</a:t>
            </a:r>
          </a:p>
          <a:p>
            <a:pPr lvl="1"/>
            <a:r>
              <a:rPr lang="en-US" sz="2800" dirty="0"/>
              <a:t>If decision makers do not bear the </a:t>
            </a:r>
            <a:r>
              <a:rPr lang="en-US" sz="2800" dirty="0">
                <a:solidFill>
                  <a:srgbClr val="006600"/>
                </a:solidFill>
              </a:rPr>
              <a:t>major wealth effects of their decisions</a:t>
            </a:r>
            <a:r>
              <a:rPr lang="en-US" sz="2800" dirty="0">
                <a:solidFill>
                  <a:srgbClr val="008000"/>
                </a:solidFill>
              </a:rPr>
              <a:t> </a:t>
            </a:r>
            <a:r>
              <a:rPr lang="en-US" sz="2800" dirty="0"/>
              <a:t>- if they are neither owners, nor </a:t>
            </a:r>
            <a:r>
              <a:rPr lang="en-US" sz="2800" dirty="0">
                <a:solidFill>
                  <a:srgbClr val="8E0000"/>
                </a:solidFill>
              </a:rPr>
              <a:t>residual claimants </a:t>
            </a:r>
            <a:r>
              <a:rPr lang="en-US" sz="2800" dirty="0"/>
              <a:t>- decision </a:t>
            </a:r>
            <a:r>
              <a:rPr lang="en-US" sz="2800" dirty="0">
                <a:solidFill>
                  <a:srgbClr val="8E0000"/>
                </a:solidFill>
              </a:rPr>
              <a:t>management</a:t>
            </a:r>
            <a:r>
              <a:rPr lang="en-US" sz="2800" dirty="0"/>
              <a:t> and decision </a:t>
            </a:r>
            <a:r>
              <a:rPr lang="en-US" sz="2800" dirty="0">
                <a:solidFill>
                  <a:srgbClr val="002060"/>
                </a:solidFill>
              </a:rPr>
              <a:t>control</a:t>
            </a:r>
            <a:r>
              <a:rPr lang="en-US" sz="2800" dirty="0"/>
              <a:t> should be held by separate decision makers!!!</a:t>
            </a: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11391715" y="6317292"/>
            <a:ext cx="68262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fld id="{B2A52ECE-523E-4D8A-855D-DA3CE9B07CFC}" type="slidenum">
              <a:rPr lang="en-US" sz="1000" smtClean="0"/>
              <a:pPr/>
              <a:t>18</a:t>
            </a:fld>
            <a:endParaRPr lang="en-US" sz="1000" dirty="0"/>
          </a:p>
        </p:txBody>
      </p:sp>
      <p:sp>
        <p:nvSpPr>
          <p:cNvPr id="2" name="Tekstboks 1"/>
          <p:cNvSpPr txBox="1"/>
          <p:nvPr/>
        </p:nvSpPr>
        <p:spPr>
          <a:xfrm>
            <a:off x="892884" y="2594561"/>
            <a:ext cx="1567543" cy="338554"/>
          </a:xfrm>
          <a:prstGeom prst="rect">
            <a:avLst/>
          </a:prstGeom>
          <a:solidFill>
            <a:srgbClr val="FF9900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da-DK" sz="1600" dirty="0">
                <a:solidFill>
                  <a:srgbClr val="003300"/>
                </a:solidFill>
              </a:rPr>
              <a:t>Eksternaliteter!</a:t>
            </a:r>
          </a:p>
        </p:txBody>
      </p:sp>
      <p:cxnSp>
        <p:nvCxnSpPr>
          <p:cNvPr id="4" name="Lige pilforbindelse 3"/>
          <p:cNvCxnSpPr/>
          <p:nvPr/>
        </p:nvCxnSpPr>
        <p:spPr>
          <a:xfrm>
            <a:off x="7236824" y="3304903"/>
            <a:ext cx="1950207" cy="987398"/>
          </a:xfrm>
          <a:prstGeom prst="straightConnector1">
            <a:avLst/>
          </a:prstGeom>
          <a:ln w="34925">
            <a:solidFill>
              <a:srgbClr val="8E0000">
                <a:alpha val="74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280185" y="4378300"/>
            <a:ext cx="4557485" cy="1631216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261938" lvl="2"/>
            <a:r>
              <a:rPr lang="en-US" sz="2000" dirty="0">
                <a:solidFill>
                  <a:srgbClr val="860000"/>
                </a:solidFill>
              </a:rPr>
              <a:t>Def.: “Residual claimant; the person with the legal right to the profits of the enterprise once all the other </a:t>
            </a:r>
            <a:r>
              <a:rPr lang="en-US" sz="2000" dirty="0" err="1">
                <a:solidFill>
                  <a:srgbClr val="860000"/>
                </a:solidFill>
              </a:rPr>
              <a:t>clai-mants</a:t>
            </a:r>
            <a:r>
              <a:rPr lang="en-US" sz="2000" dirty="0">
                <a:solidFill>
                  <a:srgbClr val="860000"/>
                </a:solidFill>
              </a:rPr>
              <a:t> of the firm (ex. bond-holders, employees) are paid”! (p. 394n).</a:t>
            </a:r>
          </a:p>
        </p:txBody>
      </p:sp>
      <p:sp>
        <p:nvSpPr>
          <p:cNvPr id="7" name="Tekstfelt 6"/>
          <p:cNvSpPr txBox="1"/>
          <p:nvPr/>
        </p:nvSpPr>
        <p:spPr>
          <a:xfrm>
            <a:off x="892884" y="4378300"/>
            <a:ext cx="5992009" cy="2062103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860000"/>
                </a:solidFill>
              </a:rPr>
              <a:t>The Controllability Principle:</a:t>
            </a:r>
            <a:endParaRPr lang="da-DK" sz="2000" dirty="0">
              <a:solidFill>
                <a:srgbClr val="860000"/>
              </a:solidFill>
            </a:endParaRPr>
          </a:p>
          <a:p>
            <a:r>
              <a:rPr lang="en-US" dirty="0">
                <a:solidFill>
                  <a:srgbClr val="860000"/>
                </a:solidFill>
              </a:rPr>
              <a:t>’Holding managers (and other agents, TV) responsible for only those decisions for which they are given authority ((decision rights) … ‘and therefor can control’, TV)’.</a:t>
            </a:r>
            <a:endParaRPr lang="da-DK" dirty="0">
              <a:solidFill>
                <a:srgbClr val="860000"/>
              </a:solidFill>
            </a:endParaRPr>
          </a:p>
          <a:p>
            <a:endParaRPr lang="en-US" dirty="0">
              <a:solidFill>
                <a:srgbClr val="860000"/>
              </a:solidFill>
            </a:endParaRPr>
          </a:p>
          <a:p>
            <a:r>
              <a:rPr lang="en-US" dirty="0">
                <a:solidFill>
                  <a:srgbClr val="860000"/>
                </a:solidFill>
              </a:rPr>
              <a:t>(Zimmerman. J. (2020), p. 654: Accounting for Decision Making and Control)</a:t>
            </a:r>
            <a:endParaRPr lang="da-DK" dirty="0">
              <a:solidFill>
                <a:srgbClr val="86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568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579438"/>
            <a:ext cx="9144000" cy="1143000"/>
          </a:xfrm>
        </p:spPr>
        <p:txBody>
          <a:bodyPr/>
          <a:lstStyle/>
          <a:p>
            <a:r>
              <a:rPr lang="en-US" dirty="0"/>
              <a:t>Decision </a:t>
            </a:r>
            <a:r>
              <a:rPr lang="en-US" dirty="0">
                <a:solidFill>
                  <a:srgbClr val="8E0000"/>
                </a:solidFill>
              </a:rPr>
              <a:t>Management</a:t>
            </a:r>
            <a:r>
              <a:rPr lang="en-US" dirty="0"/>
              <a:t> and </a:t>
            </a:r>
            <a:r>
              <a:rPr lang="en-US" dirty="0">
                <a:solidFill>
                  <a:srgbClr val="002060"/>
                </a:solidFill>
              </a:rPr>
              <a:t>Control </a:t>
            </a:r>
            <a:r>
              <a:rPr lang="en-US" dirty="0">
                <a:solidFill>
                  <a:schemeClr val="tx1"/>
                </a:solidFill>
              </a:rPr>
              <a:t>(4)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82751"/>
            <a:ext cx="8229600" cy="4525963"/>
          </a:xfrm>
        </p:spPr>
        <p:txBody>
          <a:bodyPr/>
          <a:lstStyle/>
          <a:p>
            <a:endParaRPr lang="en-US" dirty="0"/>
          </a:p>
          <a:p>
            <a:r>
              <a:rPr lang="en-US" sz="3200" dirty="0">
                <a:solidFill>
                  <a:srgbClr val="002060"/>
                </a:solidFill>
              </a:rPr>
              <a:t>The ideas above explain why boards of directors have the ‘ability’ to ratify decisions made by CEOs</a:t>
            </a:r>
          </a:p>
          <a:p>
            <a:r>
              <a:rPr lang="en-US" sz="3200" dirty="0">
                <a:solidFill>
                  <a:srgbClr val="002060"/>
                </a:solidFill>
              </a:rPr>
              <a:t>Boards also have monitoring authority</a:t>
            </a:r>
          </a:p>
          <a:p>
            <a:r>
              <a:rPr lang="en-US" sz="3200" dirty="0">
                <a:solidFill>
                  <a:srgbClr val="002060"/>
                </a:solidFill>
              </a:rPr>
              <a:t>Monitoring authority is also held by large shareholders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11461191" y="6307699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2CC69D11-888F-4108-B181-57A3B4753160}" type="slidenum">
              <a:rPr lang="en-US" sz="1000" smtClean="0"/>
              <a:pPr/>
              <a:t>19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8508865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601</TotalTime>
  <Words>1417</Words>
  <Application>Microsoft Office PowerPoint</Application>
  <PresentationFormat>Widescreen</PresentationFormat>
  <Paragraphs>204</Paragraphs>
  <Slides>19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19</vt:i4>
      </vt:variant>
    </vt:vector>
  </HeadingPairs>
  <TitlesOfParts>
    <vt:vector size="23" baseType="lpstr">
      <vt:lpstr>Calibri</vt:lpstr>
      <vt:lpstr>Franklin Gothic Book</vt:lpstr>
      <vt:lpstr>Wingdings</vt:lpstr>
      <vt:lpstr>Crop</vt:lpstr>
      <vt:lpstr>PowerPoint-præsentation</vt:lpstr>
      <vt:lpstr>Measuring Divisional Performance</vt:lpstr>
      <vt:lpstr>Cost Centers</vt:lpstr>
      <vt:lpstr>Minimizing average cost does not (necessarily)……..</vt:lpstr>
      <vt:lpstr>Expense Centers</vt:lpstr>
      <vt:lpstr>Revenue Centers</vt:lpstr>
      <vt:lpstr>Profit Centers</vt:lpstr>
      <vt:lpstr>Investment Centers</vt:lpstr>
      <vt:lpstr>Transfer Pricing (TP)</vt:lpstr>
      <vt:lpstr>Transfer Pricing (2)</vt:lpstr>
      <vt:lpstr>Profit-Maximizing Product Price</vt:lpstr>
      <vt:lpstr>Decentralized Firm Transfer Price</vt:lpstr>
      <vt:lpstr>Transfer-Pricing Methods (1)</vt:lpstr>
      <vt:lpstr>Transfer-Pricing Methods (2)</vt:lpstr>
      <vt:lpstr>Internal Accounting</vt:lpstr>
      <vt:lpstr>Decision Management and Control (1) (meget centralt begrebspar med udtalt relevans også for VØS (5)) (repetition)</vt:lpstr>
      <vt:lpstr>Decision Management and Control (2)</vt:lpstr>
      <vt:lpstr>Decision Management and Control (3)</vt:lpstr>
      <vt:lpstr>Decision Management and Control (4)</vt:lpstr>
    </vt:vector>
  </TitlesOfParts>
  <Company>CBS - Copenhagen Business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Tamas Vamosi</dc:creator>
  <cp:lastModifiedBy>Tamas Vamosi</cp:lastModifiedBy>
  <cp:revision>32</cp:revision>
  <dcterms:created xsi:type="dcterms:W3CDTF">2020-04-15T09:16:53Z</dcterms:created>
  <dcterms:modified xsi:type="dcterms:W3CDTF">2025-04-22T07:40:20Z</dcterms:modified>
</cp:coreProperties>
</file>