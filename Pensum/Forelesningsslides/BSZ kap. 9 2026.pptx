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3E04"/>
    <a:srgbClr val="FF6600"/>
    <a:srgbClr val="7A0000"/>
    <a:srgbClr val="9A3E00"/>
    <a:srgbClr val="FF9900"/>
    <a:srgbClr val="BC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DD23E-9D27-4DCE-AA1E-B04355E0A4B9}" v="13" dt="2025-02-12T09:25:28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3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C74DD23E-9D27-4DCE-AA1E-B04355E0A4B9}"/>
    <pc:docChg chg="modSld">
      <pc:chgData name="Tamas Vamosi" userId="d29b3f17-2c73-4e3f-a1f7-7beee2a70eaf" providerId="ADAL" clId="{C74DD23E-9D27-4DCE-AA1E-B04355E0A4B9}" dt="2025-02-12T09:25:28.301" v="15" actId="207"/>
      <pc:docMkLst>
        <pc:docMk/>
      </pc:docMkLst>
      <pc:sldChg chg="modSp">
        <pc:chgData name="Tamas Vamosi" userId="d29b3f17-2c73-4e3f-a1f7-7beee2a70eaf" providerId="ADAL" clId="{C74DD23E-9D27-4DCE-AA1E-B04355E0A4B9}" dt="2025-02-12T09:21:13.304" v="0" actId="115"/>
        <pc:sldMkLst>
          <pc:docMk/>
          <pc:sldMk cId="1187092619" sldId="259"/>
        </pc:sldMkLst>
        <pc:spChg chg="mod">
          <ac:chgData name="Tamas Vamosi" userId="d29b3f17-2c73-4e3f-a1f7-7beee2a70eaf" providerId="ADAL" clId="{C74DD23E-9D27-4DCE-AA1E-B04355E0A4B9}" dt="2025-02-12T09:21:13.304" v="0" actId="115"/>
          <ac:spMkLst>
            <pc:docMk/>
            <pc:sldMk cId="1187092619" sldId="259"/>
            <ac:spMk id="101379" creationId="{00000000-0000-0000-0000-000000000000}"/>
          </ac:spMkLst>
        </pc:spChg>
      </pc:sldChg>
      <pc:sldChg chg="modSp mod">
        <pc:chgData name="Tamas Vamosi" userId="d29b3f17-2c73-4e3f-a1f7-7beee2a70eaf" providerId="ADAL" clId="{C74DD23E-9D27-4DCE-AA1E-B04355E0A4B9}" dt="2025-02-12T09:21:46.802" v="1" actId="207"/>
        <pc:sldMkLst>
          <pc:docMk/>
          <pc:sldMk cId="803261385" sldId="260"/>
        </pc:sldMkLst>
        <pc:spChg chg="mod">
          <ac:chgData name="Tamas Vamosi" userId="d29b3f17-2c73-4e3f-a1f7-7beee2a70eaf" providerId="ADAL" clId="{C74DD23E-9D27-4DCE-AA1E-B04355E0A4B9}" dt="2025-02-12T09:21:46.802" v="1" actId="207"/>
          <ac:spMkLst>
            <pc:docMk/>
            <pc:sldMk cId="803261385" sldId="260"/>
            <ac:spMk id="102403" creationId="{00000000-0000-0000-0000-000000000000}"/>
          </ac:spMkLst>
        </pc:spChg>
      </pc:sldChg>
      <pc:sldChg chg="modSp">
        <pc:chgData name="Tamas Vamosi" userId="d29b3f17-2c73-4e3f-a1f7-7beee2a70eaf" providerId="ADAL" clId="{C74DD23E-9D27-4DCE-AA1E-B04355E0A4B9}" dt="2025-02-12T09:22:44.455" v="4" actId="207"/>
        <pc:sldMkLst>
          <pc:docMk/>
          <pc:sldMk cId="2773444667" sldId="262"/>
        </pc:sldMkLst>
        <pc:spChg chg="mod">
          <ac:chgData name="Tamas Vamosi" userId="d29b3f17-2c73-4e3f-a1f7-7beee2a70eaf" providerId="ADAL" clId="{C74DD23E-9D27-4DCE-AA1E-B04355E0A4B9}" dt="2025-02-12T09:22:44.455" v="4" actId="207"/>
          <ac:spMkLst>
            <pc:docMk/>
            <pc:sldMk cId="2773444667" sldId="262"/>
            <ac:spMk id="104451" creationId="{00000000-0000-0000-0000-000000000000}"/>
          </ac:spMkLst>
        </pc:spChg>
      </pc:sldChg>
      <pc:sldChg chg="modSp">
        <pc:chgData name="Tamas Vamosi" userId="d29b3f17-2c73-4e3f-a1f7-7beee2a70eaf" providerId="ADAL" clId="{C74DD23E-9D27-4DCE-AA1E-B04355E0A4B9}" dt="2025-02-12T09:23:31.531" v="5" actId="207"/>
        <pc:sldMkLst>
          <pc:docMk/>
          <pc:sldMk cId="181746800" sldId="265"/>
        </pc:sldMkLst>
        <pc:spChg chg="mod">
          <ac:chgData name="Tamas Vamosi" userId="d29b3f17-2c73-4e3f-a1f7-7beee2a70eaf" providerId="ADAL" clId="{C74DD23E-9D27-4DCE-AA1E-B04355E0A4B9}" dt="2025-02-12T09:23:31.531" v="5" actId="207"/>
          <ac:spMkLst>
            <pc:docMk/>
            <pc:sldMk cId="181746800" sldId="265"/>
            <ac:spMk id="106499" creationId="{00000000-0000-0000-0000-000000000000}"/>
          </ac:spMkLst>
        </pc:spChg>
      </pc:sldChg>
      <pc:sldChg chg="modSp mod">
        <pc:chgData name="Tamas Vamosi" userId="d29b3f17-2c73-4e3f-a1f7-7beee2a70eaf" providerId="ADAL" clId="{C74DD23E-9D27-4DCE-AA1E-B04355E0A4B9}" dt="2025-02-12T09:24:11.358" v="10" actId="207"/>
        <pc:sldMkLst>
          <pc:docMk/>
          <pc:sldMk cId="2741077035" sldId="268"/>
        </pc:sldMkLst>
        <pc:spChg chg="mod">
          <ac:chgData name="Tamas Vamosi" userId="d29b3f17-2c73-4e3f-a1f7-7beee2a70eaf" providerId="ADAL" clId="{C74DD23E-9D27-4DCE-AA1E-B04355E0A4B9}" dt="2025-02-12T09:23:57.530" v="6" actId="207"/>
          <ac:spMkLst>
            <pc:docMk/>
            <pc:sldMk cId="2741077035" sldId="268"/>
            <ac:spMk id="14338" creationId="{00000000-0000-0000-0000-000000000000}"/>
          </ac:spMkLst>
        </pc:spChg>
        <pc:spChg chg="mod">
          <ac:chgData name="Tamas Vamosi" userId="d29b3f17-2c73-4e3f-a1f7-7beee2a70eaf" providerId="ADAL" clId="{C74DD23E-9D27-4DCE-AA1E-B04355E0A4B9}" dt="2025-02-12T09:24:11.358" v="10" actId="207"/>
          <ac:spMkLst>
            <pc:docMk/>
            <pc:sldMk cId="2741077035" sldId="268"/>
            <ac:spMk id="111619" creationId="{00000000-0000-0000-0000-000000000000}"/>
          </ac:spMkLst>
        </pc:spChg>
      </pc:sldChg>
      <pc:sldChg chg="modSp mod">
        <pc:chgData name="Tamas Vamosi" userId="d29b3f17-2c73-4e3f-a1f7-7beee2a70eaf" providerId="ADAL" clId="{C74DD23E-9D27-4DCE-AA1E-B04355E0A4B9}" dt="2025-02-12T09:24:31.811" v="12" actId="207"/>
        <pc:sldMkLst>
          <pc:docMk/>
          <pc:sldMk cId="486949272" sldId="269"/>
        </pc:sldMkLst>
        <pc:spChg chg="mod">
          <ac:chgData name="Tamas Vamosi" userId="d29b3f17-2c73-4e3f-a1f7-7beee2a70eaf" providerId="ADAL" clId="{C74DD23E-9D27-4DCE-AA1E-B04355E0A4B9}" dt="2025-02-12T09:24:31.811" v="12" actId="207"/>
          <ac:spMkLst>
            <pc:docMk/>
            <pc:sldMk cId="486949272" sldId="269"/>
            <ac:spMk id="15362" creationId="{00000000-0000-0000-0000-000000000000}"/>
          </ac:spMkLst>
        </pc:spChg>
      </pc:sldChg>
      <pc:sldChg chg="modSp">
        <pc:chgData name="Tamas Vamosi" userId="d29b3f17-2c73-4e3f-a1f7-7beee2a70eaf" providerId="ADAL" clId="{C74DD23E-9D27-4DCE-AA1E-B04355E0A4B9}" dt="2025-02-12T09:25:05.950" v="13" actId="207"/>
        <pc:sldMkLst>
          <pc:docMk/>
          <pc:sldMk cId="491475012" sldId="270"/>
        </pc:sldMkLst>
        <pc:spChg chg="mod">
          <ac:chgData name="Tamas Vamosi" userId="d29b3f17-2c73-4e3f-a1f7-7beee2a70eaf" providerId="ADAL" clId="{C74DD23E-9D27-4DCE-AA1E-B04355E0A4B9}" dt="2025-02-12T09:25:05.950" v="13" actId="207"/>
          <ac:spMkLst>
            <pc:docMk/>
            <pc:sldMk cId="491475012" sldId="270"/>
            <ac:spMk id="113667" creationId="{00000000-0000-0000-0000-000000000000}"/>
          </ac:spMkLst>
        </pc:spChg>
      </pc:sldChg>
      <pc:sldChg chg="modSp">
        <pc:chgData name="Tamas Vamosi" userId="d29b3f17-2c73-4e3f-a1f7-7beee2a70eaf" providerId="ADAL" clId="{C74DD23E-9D27-4DCE-AA1E-B04355E0A4B9}" dt="2025-02-12T09:25:28.301" v="15" actId="207"/>
        <pc:sldMkLst>
          <pc:docMk/>
          <pc:sldMk cId="213010039" sldId="271"/>
        </pc:sldMkLst>
        <pc:spChg chg="mod">
          <ac:chgData name="Tamas Vamosi" userId="d29b3f17-2c73-4e3f-a1f7-7beee2a70eaf" providerId="ADAL" clId="{C74DD23E-9D27-4DCE-AA1E-B04355E0A4B9}" dt="2025-02-12T09:25:28.301" v="15" actId="207"/>
          <ac:spMkLst>
            <pc:docMk/>
            <pc:sldMk cId="213010039" sldId="271"/>
            <ac:spMk id="11469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classictvmoments/videos/100000-steal/2294216330611721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09800" y="15240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Managerial Economics and </a:t>
            </a:r>
          </a:p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Organizational Architecture</a:t>
            </a:r>
            <a:br>
              <a:rPr lang="en-US" sz="32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Chapter 9: Economics of Strategy: Game Theory</a:t>
            </a:r>
          </a:p>
        </p:txBody>
      </p:sp>
    </p:spTree>
    <p:extLst>
      <p:ext uri="{BB962C8B-B14F-4D97-AF65-F5344CB8AC3E}">
        <p14:creationId xmlns:p14="http://schemas.microsoft.com/office/powerpoint/2010/main" val="1186368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DBA27-DFC6-BE0F-CF3E-2EA86860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30F9B9F-9F0F-7B62-278F-B739CBB41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9992" y="384048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Game Theory 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123ABA7-544E-BFD2-8146-BEA8D0AE18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975104"/>
            <a:ext cx="9601200" cy="3892296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200" dirty="0"/>
              <a:t>Managers must put themselves in their rival’s shoes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Determine how rivals will respond to your actions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Assume 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all decision agents are rational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each attempts to anticipate actions of rivals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non cooperative games is used in this chapter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01FF5DE3-B618-81F7-6253-DFA1A1CD1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1608" y="613867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A4BC3F71-3B98-4BFE-A291-F519077606CC}" type="slidenum">
              <a:rPr lang="en-US" sz="1000" smtClean="0"/>
              <a:pPr/>
              <a:t>2</a:t>
            </a:fld>
            <a:endParaRPr lang="en-US" sz="1000" dirty="0"/>
          </a:p>
        </p:txBody>
      </p:sp>
      <p:sp>
        <p:nvSpPr>
          <p:cNvPr id="5" name="Tekstboks 4">
            <a:extLst>
              <a:ext uri="{FF2B5EF4-FFF2-40B4-BE49-F238E27FC236}">
                <a16:creationId xmlns:a16="http://schemas.microsoft.com/office/drawing/2014/main" id="{D290337A-E42F-D3F9-B64F-A1952C23F2F3}"/>
              </a:ext>
            </a:extLst>
          </p:cNvPr>
          <p:cNvSpPr txBox="1"/>
          <p:nvPr/>
        </p:nvSpPr>
        <p:spPr>
          <a:xfrm>
            <a:off x="10483834" y="3494477"/>
            <a:ext cx="1708166" cy="646331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a-DK" dirty="0"/>
              <a:t>294m.</a:t>
            </a:r>
          </a:p>
          <a:p>
            <a:pPr marL="342900" indent="-342900">
              <a:buAutoNum type="arabicParenR"/>
            </a:pPr>
            <a:r>
              <a:rPr lang="da-DK" dirty="0"/>
              <a:t>Note 2 + 3</a:t>
            </a:r>
          </a:p>
        </p:txBody>
      </p:sp>
    </p:spTree>
    <p:extLst>
      <p:ext uri="{BB962C8B-B14F-4D97-AF65-F5344CB8AC3E}">
        <p14:creationId xmlns:p14="http://schemas.microsoft.com/office/powerpoint/2010/main" val="97013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59992" y="384048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Game Theory 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1341608" y="613867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A4BC3F71-3B98-4BFE-A291-F519077606CC}" type="slidenum">
              <a:rPr lang="en-US" sz="1000" smtClean="0"/>
              <a:pPr/>
              <a:t>3</a:t>
            </a:fld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B085D-BAFD-34FD-BAA8-C855F3B126C1}"/>
              </a:ext>
            </a:extLst>
          </p:cNvPr>
          <p:cNvSpPr txBox="1"/>
          <p:nvPr/>
        </p:nvSpPr>
        <p:spPr>
          <a:xfrm>
            <a:off x="1459992" y="5892451"/>
            <a:ext cx="9157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https://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www.facebook.com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classictvmoments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/videos/100000-steal/2294216330611721/</a:t>
            </a:r>
          </a:p>
        </p:txBody>
      </p:sp>
      <p:sp>
        <p:nvSpPr>
          <p:cNvPr id="6" name="Action Button: Movie 5">
            <a:hlinkClick r:id="rId2" highlightClick="1"/>
            <a:extLst>
              <a:ext uri="{FF2B5EF4-FFF2-40B4-BE49-F238E27FC236}">
                <a16:creationId xmlns:a16="http://schemas.microsoft.com/office/drawing/2014/main" id="{D40CAAD4-B691-2971-B060-243121DD7F18}"/>
              </a:ext>
            </a:extLst>
          </p:cNvPr>
          <p:cNvSpPr/>
          <p:nvPr/>
        </p:nvSpPr>
        <p:spPr>
          <a:xfrm>
            <a:off x="3412565" y="2444376"/>
            <a:ext cx="1183341" cy="902448"/>
          </a:xfrm>
          <a:prstGeom prst="actionButtonMov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2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99032" y="762000"/>
            <a:ext cx="923544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u="sng" dirty="0"/>
              <a:t>Simultaneous</a:t>
            </a:r>
            <a:r>
              <a:rPr lang="en-US" dirty="0"/>
              <a:t>-Move, </a:t>
            </a:r>
            <a:br>
              <a:rPr lang="en-US" dirty="0"/>
            </a:br>
            <a:r>
              <a:rPr lang="en-US" dirty="0"/>
              <a:t>Non-Repeated Interaction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332038"/>
            <a:ext cx="8229600" cy="3916362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600" dirty="0"/>
              <a:t>Simultaneous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600" dirty="0"/>
              <a:t>Rivals must make decisions </a:t>
            </a:r>
            <a:r>
              <a:rPr lang="en-US" sz="3600" u="sng" dirty="0">
                <a:solidFill>
                  <a:srgbClr val="7A0000"/>
                </a:solidFill>
              </a:rPr>
              <a:t>without</a:t>
            </a:r>
            <a:r>
              <a:rPr lang="en-US" sz="3600" dirty="0">
                <a:solidFill>
                  <a:srgbClr val="7A0000"/>
                </a:solidFill>
              </a:rPr>
              <a:t> </a:t>
            </a:r>
            <a:r>
              <a:rPr lang="en-US" sz="3600" dirty="0"/>
              <a:t> knowledge of each other’s decisions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Non repeated (in the beginning)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600" dirty="0"/>
              <a:t>The interaction occurs only once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1475720" y="585520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21455715-2852-40DD-A976-2E423D33DB0D}" type="slidenum">
              <a:rPr lang="en-US" sz="1000" smtClean="0"/>
              <a:pPr/>
              <a:t>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8709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uiExpand="1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24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084832"/>
            <a:ext cx="9601200" cy="3782568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Boeing and Airbus individually choose and simultaneously choose price (high or low) for 10 planes (p. 296ø.)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Each cell represents the payoffs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>
                <a:solidFill>
                  <a:srgbClr val="002060"/>
                </a:solidFill>
              </a:rPr>
              <a:t>A </a:t>
            </a:r>
            <a:r>
              <a:rPr lang="en-US" sz="3600" i="1" dirty="0">
                <a:solidFill>
                  <a:srgbClr val="002060"/>
                </a:solidFill>
              </a:rPr>
              <a:t>dominant strategy</a:t>
            </a:r>
            <a:r>
              <a:rPr lang="en-US" sz="3600" dirty="0">
                <a:solidFill>
                  <a:srgbClr val="002060"/>
                </a:solidFill>
              </a:rPr>
              <a:t> is one the firm chooses no matter what its rival does.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1484864" y="6194426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60AFA836-BB20-444B-9756-6854524E7F82}" type="slidenum">
              <a:rPr lang="en-US" sz="1000" smtClean="0"/>
              <a:pPr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0326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50" name="Oval 1062"/>
          <p:cNvSpPr>
            <a:spLocks noChangeArrowheads="1"/>
          </p:cNvSpPr>
          <p:nvPr/>
        </p:nvSpPr>
        <p:spPr bwMode="auto">
          <a:xfrm>
            <a:off x="5105400" y="5105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8949" name="Oval 1061"/>
          <p:cNvSpPr>
            <a:spLocks noChangeArrowheads="1"/>
          </p:cNvSpPr>
          <p:nvPr/>
        </p:nvSpPr>
        <p:spPr bwMode="auto">
          <a:xfrm>
            <a:off x="5029200" y="2819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8948" name="Oval 1060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8947" name="Oval 1059"/>
          <p:cNvSpPr>
            <a:spLocks noChangeArrowheads="1"/>
          </p:cNvSpPr>
          <p:nvPr/>
        </p:nvSpPr>
        <p:spPr bwMode="auto">
          <a:xfrm>
            <a:off x="3962400" y="1981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8946" name="Rectangle 1058"/>
          <p:cNvSpPr>
            <a:spLocks noChangeArrowheads="1"/>
          </p:cNvSpPr>
          <p:nvPr/>
        </p:nvSpPr>
        <p:spPr bwMode="auto">
          <a:xfrm>
            <a:off x="3352800" y="1752600"/>
            <a:ext cx="2895600" cy="2286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381000"/>
            <a:ext cx="8763000" cy="1143000"/>
          </a:xfrm>
        </p:spPr>
        <p:txBody>
          <a:bodyPr/>
          <a:lstStyle/>
          <a:p>
            <a:pPr eaLnBrk="1" hangingPunct="1"/>
            <a:r>
              <a:rPr lang="en-US" dirty="0"/>
              <a:t>Strategic Form, Dominant Strategy </a:t>
            </a:r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3352800" y="1752600"/>
            <a:ext cx="5791200" cy="44958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8916" name="Line 5"/>
          <p:cNvSpPr>
            <a:spLocks noChangeShapeType="1"/>
          </p:cNvSpPr>
          <p:nvPr/>
        </p:nvSpPr>
        <p:spPr bwMode="auto">
          <a:xfrm>
            <a:off x="6248400" y="1752600"/>
            <a:ext cx="0" cy="449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8917" name="Line 6"/>
          <p:cNvSpPr>
            <a:spLocks noChangeShapeType="1"/>
          </p:cNvSpPr>
          <p:nvPr/>
        </p:nvSpPr>
        <p:spPr bwMode="auto">
          <a:xfrm flipV="1">
            <a:off x="3352800" y="4038600"/>
            <a:ext cx="5791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8918" name="Line 7"/>
          <p:cNvSpPr>
            <a:spLocks noChangeShapeType="1"/>
          </p:cNvSpPr>
          <p:nvPr/>
        </p:nvSpPr>
        <p:spPr bwMode="auto">
          <a:xfrm flipH="1">
            <a:off x="3352800" y="1752600"/>
            <a:ext cx="2895600" cy="2286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8919" name="Line 8"/>
          <p:cNvSpPr>
            <a:spLocks noChangeShapeType="1"/>
          </p:cNvSpPr>
          <p:nvPr/>
        </p:nvSpPr>
        <p:spPr bwMode="auto">
          <a:xfrm flipH="1">
            <a:off x="3429000" y="1752600"/>
            <a:ext cx="563880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8920" name="Line 9"/>
          <p:cNvSpPr>
            <a:spLocks noChangeShapeType="1"/>
          </p:cNvSpPr>
          <p:nvPr/>
        </p:nvSpPr>
        <p:spPr bwMode="auto">
          <a:xfrm flipH="1">
            <a:off x="6248400" y="4038600"/>
            <a:ext cx="28194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3962401" y="22098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$500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3886200" y="4648200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$0</a:t>
            </a: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5029201" y="5257800"/>
            <a:ext cx="850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$1000</a:t>
            </a: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5105401" y="29718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$500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6750051" y="2286000"/>
            <a:ext cx="850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$1000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8045450" y="2971800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$0</a:t>
            </a: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6699251" y="4662488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$750</a:t>
            </a: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7918451" y="53340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$750</a:t>
            </a:r>
          </a:p>
        </p:txBody>
      </p:sp>
      <p:sp>
        <p:nvSpPr>
          <p:cNvPr id="73746" name="Text Box 18"/>
          <p:cNvSpPr txBox="1">
            <a:spLocks noChangeArrowheads="1"/>
          </p:cNvSpPr>
          <p:nvPr/>
        </p:nvSpPr>
        <p:spPr bwMode="auto">
          <a:xfrm rot="16200000">
            <a:off x="1935957" y="2483644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Low Price</a:t>
            </a:r>
          </a:p>
        </p:txBody>
      </p:sp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3657600" y="1371600"/>
            <a:ext cx="17782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Low Price</a:t>
            </a:r>
          </a:p>
        </p:txBody>
      </p:sp>
      <p:sp>
        <p:nvSpPr>
          <p:cNvPr id="38933" name="Text Box 22"/>
          <p:cNvSpPr txBox="1">
            <a:spLocks noChangeArrowheads="1"/>
          </p:cNvSpPr>
          <p:nvPr/>
        </p:nvSpPr>
        <p:spPr bwMode="auto">
          <a:xfrm>
            <a:off x="5797551" y="1233488"/>
            <a:ext cx="7922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Airbus</a:t>
            </a:r>
          </a:p>
        </p:txBody>
      </p:sp>
      <p:sp>
        <p:nvSpPr>
          <p:cNvPr id="38934" name="Text Box 23"/>
          <p:cNvSpPr txBox="1">
            <a:spLocks noChangeArrowheads="1"/>
          </p:cNvSpPr>
          <p:nvPr/>
        </p:nvSpPr>
        <p:spPr bwMode="auto">
          <a:xfrm>
            <a:off x="2041526" y="3824288"/>
            <a:ext cx="856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Boeing</a:t>
            </a:r>
          </a:p>
        </p:txBody>
      </p:sp>
      <p:sp>
        <p:nvSpPr>
          <p:cNvPr id="2" name="Text Box 18"/>
          <p:cNvSpPr txBox="1">
            <a:spLocks noChangeArrowheads="1"/>
          </p:cNvSpPr>
          <p:nvPr/>
        </p:nvSpPr>
        <p:spPr bwMode="auto">
          <a:xfrm rot="16200000">
            <a:off x="1946276" y="4987926"/>
            <a:ext cx="21129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High Price</a:t>
            </a:r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6705600" y="1371600"/>
            <a:ext cx="18341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High Price</a:t>
            </a:r>
          </a:p>
        </p:txBody>
      </p:sp>
      <p:sp>
        <p:nvSpPr>
          <p:cNvPr id="38951" name="Rectangle 1063"/>
          <p:cNvSpPr>
            <a:spLocks noChangeArrowheads="1"/>
          </p:cNvSpPr>
          <p:nvPr/>
        </p:nvSpPr>
        <p:spPr bwMode="auto">
          <a:xfrm>
            <a:off x="11052230" y="598154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309DAF6E-8086-4DC4-8AD8-E72A00F6ADAD}" type="slidenum">
              <a:rPr lang="en-US" sz="1000" smtClean="0"/>
              <a:pPr/>
              <a:t>6</a:t>
            </a:fld>
            <a:endParaRPr lang="en-US" sz="1000" dirty="0"/>
          </a:p>
        </p:txBody>
      </p:sp>
      <p:cxnSp>
        <p:nvCxnSpPr>
          <p:cNvPr id="30" name="Lige pilforbindelse 29"/>
          <p:cNvCxnSpPr>
            <a:endCxn id="73741" idx="0"/>
          </p:cNvCxnSpPr>
          <p:nvPr/>
        </p:nvCxnSpPr>
        <p:spPr>
          <a:xfrm>
            <a:off x="5257800" y="1600200"/>
            <a:ext cx="209239" cy="1371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pilforbindelse 32"/>
          <p:cNvCxnSpPr/>
          <p:nvPr/>
        </p:nvCxnSpPr>
        <p:spPr>
          <a:xfrm>
            <a:off x="5029200" y="1752600"/>
            <a:ext cx="342900" cy="327922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ge pilforbindelse 34"/>
          <p:cNvCxnSpPr>
            <a:endCxn id="73743" idx="0"/>
          </p:cNvCxnSpPr>
          <p:nvPr/>
        </p:nvCxnSpPr>
        <p:spPr>
          <a:xfrm>
            <a:off x="8077200" y="1600200"/>
            <a:ext cx="195235" cy="1371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pilforbindelse 36"/>
          <p:cNvCxnSpPr>
            <a:endCxn id="73745" idx="0"/>
          </p:cNvCxnSpPr>
          <p:nvPr/>
        </p:nvCxnSpPr>
        <p:spPr>
          <a:xfrm>
            <a:off x="7848600" y="1600200"/>
            <a:ext cx="431489" cy="37338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/>
          <p:cNvCxnSpPr/>
          <p:nvPr/>
        </p:nvCxnSpPr>
        <p:spPr>
          <a:xfrm flipV="1">
            <a:off x="3300456" y="2579132"/>
            <a:ext cx="804553" cy="30480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ge pilforbindelse 40"/>
          <p:cNvCxnSpPr/>
          <p:nvPr/>
        </p:nvCxnSpPr>
        <p:spPr>
          <a:xfrm flipV="1">
            <a:off x="3452856" y="2693430"/>
            <a:ext cx="3228292" cy="342902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ige pilforbindelse 41"/>
          <p:cNvCxnSpPr/>
          <p:nvPr/>
        </p:nvCxnSpPr>
        <p:spPr>
          <a:xfrm flipV="1">
            <a:off x="3422979" y="4969872"/>
            <a:ext cx="534927" cy="223396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ge pilforbindelse 42"/>
          <p:cNvCxnSpPr/>
          <p:nvPr/>
        </p:nvCxnSpPr>
        <p:spPr>
          <a:xfrm flipV="1">
            <a:off x="3422979" y="4991099"/>
            <a:ext cx="3258170" cy="636811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885047" y="1981200"/>
            <a:ext cx="2024743" cy="3970318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Hvis den ene virksomhed sætter en høj pris og den anden sætter en lav pris, går ordren til virk-somheden med den lave pris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Hvis begge sætter enten høj/høj eller lav/lav pris, deles payoff</a:t>
            </a:r>
          </a:p>
        </p:txBody>
      </p:sp>
    </p:spTree>
    <p:extLst>
      <p:ext uri="{BB962C8B-B14F-4D97-AF65-F5344CB8AC3E}">
        <p14:creationId xmlns:p14="http://schemas.microsoft.com/office/powerpoint/2010/main" val="7156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50" grpId="0" animBg="1"/>
      <p:bldP spid="38949" grpId="0" animBg="1"/>
      <p:bldP spid="38948" grpId="0" animBg="1"/>
      <p:bldP spid="38947" grpId="0" animBg="1"/>
      <p:bldP spid="389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69985" y="762000"/>
            <a:ext cx="874081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Nash Equilibrium, </a:t>
            </a:r>
            <a:r>
              <a:rPr lang="en-US" sz="3600" dirty="0"/>
              <a:t>revisited</a:t>
            </a:r>
            <a:endParaRPr lang="en-US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2133601"/>
            <a:ext cx="5902960" cy="3840163"/>
          </a:xfrm>
        </p:spPr>
        <p:txBody>
          <a:bodyPr>
            <a:no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500" dirty="0"/>
              <a:t>In the </a:t>
            </a:r>
            <a:r>
              <a:rPr lang="en-US" sz="2500" dirty="0">
                <a:solidFill>
                  <a:srgbClr val="002060"/>
                </a:solidFill>
              </a:rPr>
              <a:t>absence</a:t>
            </a:r>
            <a:r>
              <a:rPr lang="en-US" sz="2500" dirty="0">
                <a:solidFill>
                  <a:srgbClr val="FF6600"/>
                </a:solidFill>
              </a:rPr>
              <a:t> </a:t>
            </a:r>
            <a:r>
              <a:rPr lang="en-US" sz="2500" dirty="0"/>
              <a:t>of a dominant strategy (remember, a dominant strategy is one the firm chooses </a:t>
            </a:r>
            <a:r>
              <a:rPr lang="en-US" sz="2500" dirty="0">
                <a:solidFill>
                  <a:srgbClr val="002060"/>
                </a:solidFill>
              </a:rPr>
              <a:t>no matter what its rival does</a:t>
            </a:r>
            <a:r>
              <a:rPr lang="en-US" sz="2500" dirty="0"/>
              <a:t>), a </a:t>
            </a:r>
            <a:r>
              <a:rPr lang="en-US" sz="2500" i="1" u="sng" dirty="0"/>
              <a:t>Nash equilibrium</a:t>
            </a:r>
            <a:r>
              <a:rPr lang="en-US" sz="2500" u="sng" dirty="0"/>
              <a:t> </a:t>
            </a:r>
            <a:r>
              <a:rPr lang="en-US" sz="2500" dirty="0"/>
              <a:t>may predict outcome: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500" dirty="0"/>
              <a:t>A Nash equilibrium is a set of strategies where a firm does its best </a:t>
            </a:r>
            <a:r>
              <a:rPr lang="en-US" sz="2500" dirty="0">
                <a:solidFill>
                  <a:srgbClr val="002060"/>
                </a:solidFill>
              </a:rPr>
              <a:t>given</a:t>
            </a:r>
            <a:r>
              <a:rPr lang="en-US" sz="2500" dirty="0"/>
              <a:t> rival’s actions</a:t>
            </a:r>
          </a:p>
          <a:p>
            <a:pPr eaLnBrk="1" hangingPunct="1">
              <a:buClr>
                <a:srgbClr val="000066"/>
              </a:buClr>
            </a:pPr>
            <a:r>
              <a:rPr lang="en-US" sz="2500" dirty="0"/>
              <a:t>Use </a:t>
            </a:r>
            <a:r>
              <a:rPr lang="en-US" sz="2500" i="1" dirty="0"/>
              <a:t>circle technique</a:t>
            </a:r>
            <a:r>
              <a:rPr lang="en-US" sz="2500" dirty="0"/>
              <a:t> to identify Nash equilibrium…. (or do whatever you like)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1128094" y="585065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06A5379D-A3A2-4876-A0CB-120E26F9E129}" type="slidenum">
              <a:rPr lang="en-US" sz="1000" smtClean="0"/>
              <a:pPr/>
              <a:t>7</a:t>
            </a:fld>
            <a:endParaRPr lang="en-US" sz="1000" dirty="0"/>
          </a:p>
        </p:txBody>
      </p:sp>
      <p:pic>
        <p:nvPicPr>
          <p:cNvPr id="1026" name="Picture 2" descr="In this March 24, 2002 file photo, John Nash, left, and his wife Alicia, arrive at the 74th annual Academy Awards, in Los Angeles. Nash, the Nobel Prize-winning mathematician whose struggle with schizophrenia was chronicled in the 2001 movie &quot;A Beautiful Mind,” died in a car crash along with his wife in New Jersey on Saturday, May 23, 2015, police said. (AP)">
            <a:extLst>
              <a:ext uri="{FF2B5EF4-FFF2-40B4-BE49-F238E27FC236}">
                <a16:creationId xmlns:a16="http://schemas.microsoft.com/office/drawing/2014/main" id="{3ABF1211-8709-D611-0A6A-513788C3B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040" y="3250339"/>
            <a:ext cx="3863340" cy="257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65A6EF-BFD1-13BB-80AB-82AFA90CFFFE}"/>
              </a:ext>
            </a:extLst>
          </p:cNvPr>
          <p:cNvSpPr txBox="1"/>
          <p:nvPr/>
        </p:nvSpPr>
        <p:spPr>
          <a:xfrm>
            <a:off x="7721600" y="5804486"/>
            <a:ext cx="279756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www.wbur.org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onpoint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/2015/05/29/beautiful-mind-game-theory-john-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nash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-death</a:t>
            </a:r>
          </a:p>
        </p:txBody>
      </p:sp>
      <p:pic>
        <p:nvPicPr>
          <p:cNvPr id="1028" name="Picture 4" descr="A Beautiful Mind (2001) - IMDb">
            <a:extLst>
              <a:ext uri="{FF2B5EF4-FFF2-40B4-BE49-F238E27FC236}">
                <a16:creationId xmlns:a16="http://schemas.microsoft.com/office/drawing/2014/main" id="{14729159-DCFF-8BA7-131F-799955F2B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710" y="1109239"/>
            <a:ext cx="1735670" cy="2577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431C3B-774B-8CB3-9177-22CC27D81018}"/>
              </a:ext>
            </a:extLst>
          </p:cNvPr>
          <p:cNvSpPr txBox="1"/>
          <p:nvPr/>
        </p:nvSpPr>
        <p:spPr>
          <a:xfrm>
            <a:off x="9877868" y="3602150"/>
            <a:ext cx="14654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www.imdb.com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/title/tt0268978/</a:t>
            </a:r>
          </a:p>
        </p:txBody>
      </p:sp>
    </p:spTree>
    <p:extLst>
      <p:ext uri="{BB962C8B-B14F-4D97-AF65-F5344CB8AC3E}">
        <p14:creationId xmlns:p14="http://schemas.microsoft.com/office/powerpoint/2010/main" val="277344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ChangeArrowheads="1"/>
          </p:cNvSpPr>
          <p:nvPr/>
        </p:nvSpPr>
        <p:spPr bwMode="auto">
          <a:xfrm>
            <a:off x="3352800" y="4038600"/>
            <a:ext cx="2895600" cy="2209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9967" name="Oval 1055"/>
          <p:cNvSpPr>
            <a:spLocks noChangeArrowheads="1"/>
          </p:cNvSpPr>
          <p:nvPr/>
        </p:nvSpPr>
        <p:spPr bwMode="auto">
          <a:xfrm>
            <a:off x="5029200" y="5029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9966" name="Oval 1054"/>
          <p:cNvSpPr>
            <a:spLocks noChangeArrowheads="1"/>
          </p:cNvSpPr>
          <p:nvPr/>
        </p:nvSpPr>
        <p:spPr bwMode="auto">
          <a:xfrm>
            <a:off x="5029200" y="2819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9965" name="Oval 1053"/>
          <p:cNvSpPr>
            <a:spLocks noChangeArrowheads="1"/>
          </p:cNvSpPr>
          <p:nvPr/>
        </p:nvSpPr>
        <p:spPr bwMode="auto">
          <a:xfrm>
            <a:off x="6781800" y="2057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9964" name="Oval 1052"/>
          <p:cNvSpPr>
            <a:spLocks noChangeArrowheads="1"/>
          </p:cNvSpPr>
          <p:nvPr/>
        </p:nvSpPr>
        <p:spPr bwMode="auto">
          <a:xfrm>
            <a:off x="3886200" y="44958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66850" y="162203"/>
            <a:ext cx="8763000" cy="1143000"/>
          </a:xfrm>
        </p:spPr>
        <p:txBody>
          <a:bodyPr/>
          <a:lstStyle/>
          <a:p>
            <a:pPr eaLnBrk="1" hangingPunct="1"/>
            <a:r>
              <a:rPr lang="en-US" dirty="0"/>
              <a:t>Nash Equilibrium 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3352800" y="1752600"/>
            <a:ext cx="5791200" cy="44958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>
            <a:off x="6248400" y="1752600"/>
            <a:ext cx="0" cy="449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2" name="Line 6"/>
          <p:cNvSpPr>
            <a:spLocks noChangeShapeType="1"/>
          </p:cNvSpPr>
          <p:nvPr/>
        </p:nvSpPr>
        <p:spPr bwMode="auto">
          <a:xfrm flipV="1">
            <a:off x="3352800" y="4038600"/>
            <a:ext cx="5791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 flipH="1">
            <a:off x="3352800" y="1752600"/>
            <a:ext cx="2895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4" name="Line 8"/>
          <p:cNvSpPr>
            <a:spLocks noChangeShapeType="1"/>
          </p:cNvSpPr>
          <p:nvPr/>
        </p:nvSpPr>
        <p:spPr bwMode="auto">
          <a:xfrm flipH="1">
            <a:off x="3429000" y="1752600"/>
            <a:ext cx="563880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 flipH="1">
            <a:off x="6248400" y="4038600"/>
            <a:ext cx="28194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3946526" y="2246313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$500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3886201" y="46482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$600</a:t>
            </a: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5029201" y="5257800"/>
            <a:ext cx="850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$1000</a:t>
            </a: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5105401" y="29718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$500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6750051" y="2286000"/>
            <a:ext cx="850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$1000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8045450" y="2971800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$0</a:t>
            </a: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6699251" y="4662488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$750</a:t>
            </a: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7918451" y="53340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$750</a:t>
            </a:r>
          </a:p>
        </p:txBody>
      </p:sp>
      <p:sp>
        <p:nvSpPr>
          <p:cNvPr id="73746" name="Text Box 18"/>
          <p:cNvSpPr txBox="1">
            <a:spLocks noChangeArrowheads="1"/>
          </p:cNvSpPr>
          <p:nvPr/>
        </p:nvSpPr>
        <p:spPr bwMode="auto">
          <a:xfrm rot="16200000">
            <a:off x="1754982" y="2636044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Low Price</a:t>
            </a:r>
          </a:p>
        </p:txBody>
      </p:sp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3657600" y="1371600"/>
            <a:ext cx="17782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Low Price</a:t>
            </a:r>
          </a:p>
        </p:txBody>
      </p:sp>
      <p:sp>
        <p:nvSpPr>
          <p:cNvPr id="39956" name="Text Box 22"/>
          <p:cNvSpPr txBox="1">
            <a:spLocks noChangeArrowheads="1"/>
          </p:cNvSpPr>
          <p:nvPr/>
        </p:nvSpPr>
        <p:spPr bwMode="auto">
          <a:xfrm>
            <a:off x="5797551" y="1233488"/>
            <a:ext cx="7922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Airbus</a:t>
            </a:r>
          </a:p>
        </p:txBody>
      </p:sp>
      <p:sp>
        <p:nvSpPr>
          <p:cNvPr id="39957" name="Text Box 23"/>
          <p:cNvSpPr txBox="1">
            <a:spLocks noChangeArrowheads="1"/>
          </p:cNvSpPr>
          <p:nvPr/>
        </p:nvSpPr>
        <p:spPr bwMode="auto">
          <a:xfrm>
            <a:off x="2041526" y="3824288"/>
            <a:ext cx="856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Boeing</a:t>
            </a:r>
          </a:p>
        </p:txBody>
      </p:sp>
      <p:sp>
        <p:nvSpPr>
          <p:cNvPr id="2" name="Text Box 18"/>
          <p:cNvSpPr txBox="1">
            <a:spLocks noChangeArrowheads="1"/>
          </p:cNvSpPr>
          <p:nvPr/>
        </p:nvSpPr>
        <p:spPr bwMode="auto">
          <a:xfrm rot="16200000">
            <a:off x="1792288" y="4987926"/>
            <a:ext cx="2112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High Price</a:t>
            </a:r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6705600" y="1371600"/>
            <a:ext cx="18341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High Price</a:t>
            </a:r>
          </a:p>
        </p:txBody>
      </p:sp>
      <p:sp>
        <p:nvSpPr>
          <p:cNvPr id="39968" name="Rectangle 1056"/>
          <p:cNvSpPr>
            <a:spLocks noChangeArrowheads="1"/>
          </p:cNvSpPr>
          <p:nvPr/>
        </p:nvSpPr>
        <p:spPr bwMode="auto">
          <a:xfrm>
            <a:off x="11413981" y="610465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8A526076-68C5-4ED4-B05E-0E7D065F47F3}" type="slidenum">
              <a:rPr lang="en-US" sz="1000" smtClean="0"/>
              <a:pPr/>
              <a:t>8</a:t>
            </a:fld>
            <a:endParaRPr lang="en-US" sz="1000" dirty="0"/>
          </a:p>
        </p:txBody>
      </p:sp>
      <p:sp>
        <p:nvSpPr>
          <p:cNvPr id="29" name="Tekstboks 28"/>
          <p:cNvSpPr txBox="1"/>
          <p:nvPr/>
        </p:nvSpPr>
        <p:spPr>
          <a:xfrm>
            <a:off x="9598949" y="2971800"/>
            <a:ext cx="2535821" cy="1077218"/>
          </a:xfrm>
          <a:prstGeom prst="rect">
            <a:avLst/>
          </a:prstGeom>
          <a:solidFill>
            <a:srgbClr val="002060"/>
          </a:solidFill>
          <a:ln>
            <a:solidFill>
              <a:srgbClr val="7A0000"/>
            </a:solidFill>
          </a:ln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Airbus har en dominerende strategi (</a:t>
            </a:r>
            <a:r>
              <a:rPr lang="da-DK" sz="1600" dirty="0" err="1">
                <a:solidFill>
                  <a:schemeClr val="bg1"/>
                </a:solidFill>
              </a:rPr>
              <a:t>low</a:t>
            </a:r>
            <a:r>
              <a:rPr lang="da-DK" sz="1600" dirty="0">
                <a:solidFill>
                  <a:schemeClr val="bg1"/>
                </a:solidFill>
              </a:rPr>
              <a:t> </a:t>
            </a:r>
            <a:r>
              <a:rPr lang="da-DK" sz="1600" dirty="0" err="1">
                <a:solidFill>
                  <a:schemeClr val="bg1"/>
                </a:solidFill>
              </a:rPr>
              <a:t>price</a:t>
            </a:r>
            <a:r>
              <a:rPr lang="da-DK" sz="1600" dirty="0">
                <a:solidFill>
                  <a:schemeClr val="bg1"/>
                </a:solidFill>
              </a:rPr>
              <a:t>)</a:t>
            </a:r>
          </a:p>
          <a:p>
            <a:endParaRPr lang="da-DK" sz="1600" dirty="0">
              <a:solidFill>
                <a:schemeClr val="bg1"/>
              </a:solidFill>
            </a:endParaRPr>
          </a:p>
          <a:p>
            <a:r>
              <a:rPr lang="da-DK" sz="1600" dirty="0" err="1">
                <a:solidFill>
                  <a:schemeClr val="bg1"/>
                </a:solidFill>
              </a:rPr>
              <a:t>Boing</a:t>
            </a:r>
            <a:r>
              <a:rPr lang="da-DK" sz="1600" dirty="0">
                <a:solidFill>
                  <a:schemeClr val="bg1"/>
                </a:solidFill>
              </a:rPr>
              <a:t> har ikke!</a:t>
            </a:r>
          </a:p>
        </p:txBody>
      </p:sp>
      <p:cxnSp>
        <p:nvCxnSpPr>
          <p:cNvPr id="5" name="Lige pilforbindelse 4"/>
          <p:cNvCxnSpPr/>
          <p:nvPr/>
        </p:nvCxnSpPr>
        <p:spPr>
          <a:xfrm flipH="1">
            <a:off x="5879690" y="3155156"/>
            <a:ext cx="1863726" cy="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ge pilforbindelse 33"/>
          <p:cNvCxnSpPr/>
          <p:nvPr/>
        </p:nvCxnSpPr>
        <p:spPr>
          <a:xfrm flipH="1" flipV="1">
            <a:off x="6062661" y="5463251"/>
            <a:ext cx="1680755" cy="1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ge pilforbindelse 34"/>
          <p:cNvCxnSpPr/>
          <p:nvPr/>
        </p:nvCxnSpPr>
        <p:spPr>
          <a:xfrm>
            <a:off x="4271059" y="2571987"/>
            <a:ext cx="0" cy="1905001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ge pilforbindelse 38"/>
          <p:cNvCxnSpPr/>
          <p:nvPr/>
        </p:nvCxnSpPr>
        <p:spPr>
          <a:xfrm flipH="1" flipV="1">
            <a:off x="7187878" y="2971800"/>
            <a:ext cx="322" cy="1524000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boks 10"/>
          <p:cNvSpPr txBox="1"/>
          <p:nvPr/>
        </p:nvSpPr>
        <p:spPr>
          <a:xfrm>
            <a:off x="5848350" y="3155156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</a:t>
            </a:r>
          </a:p>
        </p:txBody>
      </p:sp>
      <p:sp>
        <p:nvSpPr>
          <p:cNvPr id="47" name="Tekstboks 46"/>
          <p:cNvSpPr txBox="1"/>
          <p:nvPr/>
        </p:nvSpPr>
        <p:spPr>
          <a:xfrm>
            <a:off x="7607300" y="2100024"/>
            <a:ext cx="40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4</a:t>
            </a:r>
          </a:p>
        </p:txBody>
      </p:sp>
      <p:sp>
        <p:nvSpPr>
          <p:cNvPr id="48" name="Tekstboks 47"/>
          <p:cNvSpPr txBox="1"/>
          <p:nvPr/>
        </p:nvSpPr>
        <p:spPr>
          <a:xfrm>
            <a:off x="4676775" y="4417258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3</a:t>
            </a:r>
          </a:p>
        </p:txBody>
      </p:sp>
      <p:sp>
        <p:nvSpPr>
          <p:cNvPr id="49" name="Tekstboks 48"/>
          <p:cNvSpPr txBox="1"/>
          <p:nvPr/>
        </p:nvSpPr>
        <p:spPr>
          <a:xfrm>
            <a:off x="5864225" y="4774168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</a:t>
            </a:r>
          </a:p>
        </p:txBody>
      </p:sp>
      <p:sp>
        <p:nvSpPr>
          <p:cNvPr id="12" name="Tekstboks 11"/>
          <p:cNvSpPr txBox="1"/>
          <p:nvPr/>
        </p:nvSpPr>
        <p:spPr>
          <a:xfrm>
            <a:off x="10972485" y="1596863"/>
            <a:ext cx="1143000" cy="646331"/>
          </a:xfrm>
          <a:prstGeom prst="rect">
            <a:avLst/>
          </a:prstGeom>
          <a:solidFill>
            <a:srgbClr val="002060"/>
          </a:solidFill>
          <a:ln>
            <a:solidFill>
              <a:srgbClr val="7A0000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Jf. s. 206 + 299m.</a:t>
            </a:r>
          </a:p>
        </p:txBody>
      </p:sp>
    </p:spTree>
    <p:extLst>
      <p:ext uri="{BB962C8B-B14F-4D97-AF65-F5344CB8AC3E}">
        <p14:creationId xmlns:p14="http://schemas.microsoft.com/office/powerpoint/2010/main" val="178606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nimBg="1"/>
      <p:bldP spid="39967" grpId="0" animBg="1"/>
      <p:bldP spid="39966" grpId="0" animBg="1"/>
      <p:bldP spid="39965" grpId="0" animBg="1"/>
      <p:bldP spid="3996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r>
              <a:rPr lang="en-US" dirty="0"/>
              <a:t>Nash Equilibrium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This is a stable outcome</a:t>
            </a:r>
          </a:p>
          <a:p>
            <a:r>
              <a:rPr lang="en-US" sz="3200" dirty="0"/>
              <a:t>No firm has an incentive to make another choice…..</a:t>
            </a:r>
          </a:p>
          <a:p>
            <a:r>
              <a:rPr lang="en-US" sz="3200" dirty="0"/>
              <a:t>When dominant strategies exist, firms have strong incentives to choose them.</a:t>
            </a:r>
          </a:p>
          <a:p>
            <a:r>
              <a:rPr lang="en-US" sz="3200" dirty="0"/>
              <a:t>A Nash Equilibrium is more likely to occur when rivals have good information about potential payoffs.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11321970" y="5867400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B48DF7FC-6EE3-4E17-A214-2A4A4ADE7016}" type="slidenum">
              <a:rPr lang="en-US" sz="1000" smtClean="0"/>
              <a:pPr/>
              <a:t>9</a:t>
            </a:fld>
            <a:endParaRPr lang="en-US" sz="1000" dirty="0"/>
          </a:p>
        </p:txBody>
      </p:sp>
      <p:sp>
        <p:nvSpPr>
          <p:cNvPr id="4" name="Tekstfelt 3"/>
          <p:cNvSpPr txBox="1"/>
          <p:nvPr/>
        </p:nvSpPr>
        <p:spPr>
          <a:xfrm>
            <a:off x="11010478" y="4076700"/>
            <a:ext cx="1142999" cy="923330"/>
          </a:xfrm>
          <a:prstGeom prst="rect">
            <a:avLst/>
          </a:prstGeom>
          <a:solidFill>
            <a:srgbClr val="002060"/>
          </a:solidFill>
          <a:ln>
            <a:solidFill>
              <a:srgbClr val="7A0000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Ramme p. 300ø. og 300m.</a:t>
            </a:r>
          </a:p>
        </p:txBody>
      </p:sp>
    </p:spTree>
    <p:extLst>
      <p:ext uri="{BB962C8B-B14F-4D97-AF65-F5344CB8AC3E}">
        <p14:creationId xmlns:p14="http://schemas.microsoft.com/office/powerpoint/2010/main" val="183174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33400"/>
            <a:ext cx="8458200" cy="1143000"/>
          </a:xfrm>
        </p:spPr>
        <p:txBody>
          <a:bodyPr/>
          <a:lstStyle/>
          <a:p>
            <a:pPr eaLnBrk="1" hangingPunct="1"/>
            <a:r>
              <a:rPr lang="en-US"/>
              <a:t>Competition Versus Cooperation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76401"/>
            <a:ext cx="8229600" cy="4770698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Boeing and Airbus make simultaneous choices of new communication systems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two technologies: Alpha &amp; Beta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>
                <a:solidFill>
                  <a:srgbClr val="002060"/>
                </a:solidFill>
              </a:rPr>
              <a:t>Boeing and Airbus both benefit with </a:t>
            </a:r>
            <a:r>
              <a:rPr lang="en-US" sz="3200" u="sng" dirty="0">
                <a:solidFill>
                  <a:srgbClr val="002060"/>
                </a:solidFill>
              </a:rPr>
              <a:t>same</a:t>
            </a:r>
            <a:r>
              <a:rPr lang="en-US" sz="3200" dirty="0">
                <a:solidFill>
                  <a:srgbClr val="002060"/>
                </a:solidFill>
              </a:rPr>
              <a:t> choice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Results in two Nash </a:t>
            </a:r>
            <a:r>
              <a:rPr lang="en-US" sz="3200" dirty="0" err="1"/>
              <a:t>equilibria</a:t>
            </a:r>
            <a:endParaRPr lang="en-US" sz="3200" dirty="0"/>
          </a:p>
          <a:p>
            <a:pPr lvl="1" eaLnBrk="1" hangingPunct="1">
              <a:buClr>
                <a:srgbClr val="000066"/>
              </a:buClr>
            </a:pPr>
            <a:r>
              <a:rPr lang="en-US" sz="3200" dirty="0"/>
              <a:t>benefits from pre-commitment communication</a:t>
            </a:r>
          </a:p>
          <a:p>
            <a:pPr eaLnBrk="1" hangingPunct="1">
              <a:buClr>
                <a:srgbClr val="000066"/>
              </a:buClr>
            </a:pPr>
            <a:endParaRPr lang="en-US" dirty="0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1314253" y="595614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4E40BD56-294B-41E8-8581-B4928CE27740}" type="slidenum">
              <a:rPr lang="en-US" sz="1000" smtClean="0"/>
              <a:pPr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174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533400"/>
            <a:ext cx="8763000" cy="1143000"/>
          </a:xfrm>
        </p:spPr>
        <p:txBody>
          <a:bodyPr/>
          <a:lstStyle/>
          <a:p>
            <a:pPr eaLnBrk="1" hangingPunct="1"/>
            <a:r>
              <a:rPr lang="en-US"/>
              <a:t>Coordination Game: </a:t>
            </a:r>
            <a:r>
              <a:rPr lang="en-US" sz="2800"/>
              <a:t>Two Nash Equilibria</a:t>
            </a:r>
          </a:p>
        </p:txBody>
      </p:sp>
      <p:grpSp>
        <p:nvGrpSpPr>
          <p:cNvPr id="42013" name="Group 1053"/>
          <p:cNvGrpSpPr>
            <a:grpSpLocks/>
          </p:cNvGrpSpPr>
          <p:nvPr/>
        </p:nvGrpSpPr>
        <p:grpSpPr bwMode="auto">
          <a:xfrm>
            <a:off x="3352800" y="1981200"/>
            <a:ext cx="5791200" cy="4495800"/>
            <a:chOff x="1152" y="1104"/>
            <a:chExt cx="3648" cy="2832"/>
          </a:xfrm>
        </p:grpSpPr>
        <p:sp>
          <p:nvSpPr>
            <p:cNvPr id="42012" name="Rectangle 1052"/>
            <p:cNvSpPr>
              <a:spLocks noChangeArrowheads="1"/>
            </p:cNvSpPr>
            <p:nvPr/>
          </p:nvSpPr>
          <p:spPr bwMode="auto">
            <a:xfrm>
              <a:off x="2976" y="2544"/>
              <a:ext cx="1824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41986" name="Rectangle 1026"/>
            <p:cNvSpPr>
              <a:spLocks noChangeArrowheads="1"/>
            </p:cNvSpPr>
            <p:nvPr/>
          </p:nvSpPr>
          <p:spPr bwMode="auto">
            <a:xfrm>
              <a:off x="1152" y="1104"/>
              <a:ext cx="1824" cy="14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41987" name="Oval 1027"/>
            <p:cNvSpPr>
              <a:spLocks noChangeArrowheads="1"/>
            </p:cNvSpPr>
            <p:nvPr/>
          </p:nvSpPr>
          <p:spPr bwMode="auto">
            <a:xfrm>
              <a:off x="3984" y="321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41988" name="Oval 1028"/>
            <p:cNvSpPr>
              <a:spLocks noChangeArrowheads="1"/>
            </p:cNvSpPr>
            <p:nvPr/>
          </p:nvSpPr>
          <p:spPr bwMode="auto">
            <a:xfrm>
              <a:off x="2208" y="177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41989" name="Oval 1029"/>
            <p:cNvSpPr>
              <a:spLocks noChangeArrowheads="1"/>
            </p:cNvSpPr>
            <p:nvPr/>
          </p:nvSpPr>
          <p:spPr bwMode="auto">
            <a:xfrm>
              <a:off x="3264" y="2784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41990" name="Oval 1030"/>
            <p:cNvSpPr>
              <a:spLocks noChangeArrowheads="1"/>
            </p:cNvSpPr>
            <p:nvPr/>
          </p:nvSpPr>
          <p:spPr bwMode="auto">
            <a:xfrm>
              <a:off x="1488" y="129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41992" name="Rectangle 4"/>
            <p:cNvSpPr>
              <a:spLocks noChangeArrowheads="1"/>
            </p:cNvSpPr>
            <p:nvPr/>
          </p:nvSpPr>
          <p:spPr bwMode="auto">
            <a:xfrm>
              <a:off x="1152" y="1104"/>
              <a:ext cx="3648" cy="2832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41993" name="Line 5"/>
            <p:cNvSpPr>
              <a:spLocks noChangeShapeType="1"/>
            </p:cNvSpPr>
            <p:nvPr/>
          </p:nvSpPr>
          <p:spPr bwMode="auto">
            <a:xfrm>
              <a:off x="2976" y="1104"/>
              <a:ext cx="0" cy="28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1994" name="Line 6"/>
            <p:cNvSpPr>
              <a:spLocks noChangeShapeType="1"/>
            </p:cNvSpPr>
            <p:nvPr/>
          </p:nvSpPr>
          <p:spPr bwMode="auto">
            <a:xfrm flipV="1">
              <a:off x="1152" y="2544"/>
              <a:ext cx="364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1995" name="Line 7"/>
            <p:cNvSpPr>
              <a:spLocks noChangeShapeType="1"/>
            </p:cNvSpPr>
            <p:nvPr/>
          </p:nvSpPr>
          <p:spPr bwMode="auto">
            <a:xfrm flipH="1">
              <a:off x="1152" y="1104"/>
              <a:ext cx="1824" cy="14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1996" name="Line 8"/>
            <p:cNvSpPr>
              <a:spLocks noChangeShapeType="1"/>
            </p:cNvSpPr>
            <p:nvPr/>
          </p:nvSpPr>
          <p:spPr bwMode="auto">
            <a:xfrm flipH="1">
              <a:off x="1200" y="1104"/>
              <a:ext cx="3552" cy="283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1997" name="Line 9"/>
            <p:cNvSpPr>
              <a:spLocks noChangeShapeType="1"/>
            </p:cNvSpPr>
            <p:nvPr/>
          </p:nvSpPr>
          <p:spPr bwMode="auto">
            <a:xfrm flipH="1">
              <a:off x="2976" y="2544"/>
              <a:ext cx="1776" cy="13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73738" name="Text Box 10"/>
            <p:cNvSpPr txBox="1">
              <a:spLocks noChangeArrowheads="1"/>
            </p:cNvSpPr>
            <p:nvPr/>
          </p:nvSpPr>
          <p:spPr bwMode="auto">
            <a:xfrm>
              <a:off x="1526" y="1415"/>
              <a:ext cx="45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6600"/>
                  </a:solidFill>
                </a:rPr>
                <a:t>$100</a:t>
              </a:r>
            </a:p>
          </p:txBody>
        </p:sp>
        <p:sp>
          <p:nvSpPr>
            <p:cNvPr id="73739" name="Text Box 11"/>
            <p:cNvSpPr txBox="1">
              <a:spLocks noChangeArrowheads="1"/>
            </p:cNvSpPr>
            <p:nvPr/>
          </p:nvSpPr>
          <p:spPr bwMode="auto">
            <a:xfrm>
              <a:off x="1488" y="2928"/>
              <a:ext cx="3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6600"/>
                  </a:solidFill>
                </a:rPr>
                <a:t>$50</a:t>
              </a:r>
            </a:p>
          </p:txBody>
        </p:sp>
        <p:sp>
          <p:nvSpPr>
            <p:cNvPr id="73740" name="Text Box 12"/>
            <p:cNvSpPr txBox="1">
              <a:spLocks noChangeArrowheads="1"/>
            </p:cNvSpPr>
            <p:nvPr/>
          </p:nvSpPr>
          <p:spPr bwMode="auto">
            <a:xfrm>
              <a:off x="2208" y="3312"/>
              <a:ext cx="3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0066"/>
                  </a:solidFill>
                </a:rPr>
                <a:t>$50</a:t>
              </a:r>
            </a:p>
          </p:txBody>
        </p:sp>
        <p:sp>
          <p:nvSpPr>
            <p:cNvPr id="73741" name="Text Box 13"/>
            <p:cNvSpPr txBox="1">
              <a:spLocks noChangeArrowheads="1"/>
            </p:cNvSpPr>
            <p:nvPr/>
          </p:nvSpPr>
          <p:spPr bwMode="auto">
            <a:xfrm>
              <a:off x="2256" y="1872"/>
              <a:ext cx="45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0066"/>
                  </a:solidFill>
                </a:rPr>
                <a:t>$100</a:t>
              </a:r>
            </a:p>
          </p:txBody>
        </p:sp>
        <p:sp>
          <p:nvSpPr>
            <p:cNvPr id="73742" name="Text Box 14"/>
            <p:cNvSpPr txBox="1">
              <a:spLocks noChangeArrowheads="1"/>
            </p:cNvSpPr>
            <p:nvPr/>
          </p:nvSpPr>
          <p:spPr bwMode="auto">
            <a:xfrm>
              <a:off x="3292" y="1440"/>
              <a:ext cx="3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6600"/>
                  </a:solidFill>
                </a:rPr>
                <a:t>$50</a:t>
              </a:r>
            </a:p>
          </p:txBody>
        </p:sp>
        <p:sp>
          <p:nvSpPr>
            <p:cNvPr id="73743" name="Text Box 15"/>
            <p:cNvSpPr txBox="1">
              <a:spLocks noChangeArrowheads="1"/>
            </p:cNvSpPr>
            <p:nvPr/>
          </p:nvSpPr>
          <p:spPr bwMode="auto">
            <a:xfrm>
              <a:off x="4108" y="1872"/>
              <a:ext cx="3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0066"/>
                  </a:solidFill>
                </a:rPr>
                <a:t>$50</a:t>
              </a:r>
            </a:p>
          </p:txBody>
        </p:sp>
        <p:sp>
          <p:nvSpPr>
            <p:cNvPr id="73744" name="Text Box 16"/>
            <p:cNvSpPr txBox="1">
              <a:spLocks noChangeArrowheads="1"/>
            </p:cNvSpPr>
            <p:nvPr/>
          </p:nvSpPr>
          <p:spPr bwMode="auto">
            <a:xfrm>
              <a:off x="3260" y="2937"/>
              <a:ext cx="45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6600"/>
                  </a:solidFill>
                </a:rPr>
                <a:t>$100</a:t>
              </a:r>
            </a:p>
          </p:txBody>
        </p:sp>
        <p:sp>
          <p:nvSpPr>
            <p:cNvPr id="73745" name="Text Box 17"/>
            <p:cNvSpPr txBox="1">
              <a:spLocks noChangeArrowheads="1"/>
            </p:cNvSpPr>
            <p:nvPr/>
          </p:nvSpPr>
          <p:spPr bwMode="auto">
            <a:xfrm>
              <a:off x="4028" y="3360"/>
              <a:ext cx="45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0066"/>
                  </a:solidFill>
                </a:rPr>
                <a:t>$100</a:t>
              </a:r>
            </a:p>
          </p:txBody>
        </p:sp>
      </p:grpSp>
      <p:sp>
        <p:nvSpPr>
          <p:cNvPr id="73746" name="Text Box 18"/>
          <p:cNvSpPr txBox="1">
            <a:spLocks noChangeArrowheads="1"/>
          </p:cNvSpPr>
          <p:nvPr/>
        </p:nvSpPr>
        <p:spPr bwMode="auto">
          <a:xfrm rot="16200000">
            <a:off x="1859757" y="2636044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Alpha</a:t>
            </a:r>
          </a:p>
        </p:txBody>
      </p:sp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3810000" y="1600200"/>
            <a:ext cx="13965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Alpha</a:t>
            </a:r>
          </a:p>
        </p:txBody>
      </p:sp>
      <p:sp>
        <p:nvSpPr>
          <p:cNvPr id="42008" name="Text Box 22"/>
          <p:cNvSpPr txBox="1">
            <a:spLocks noChangeArrowheads="1"/>
          </p:cNvSpPr>
          <p:nvPr/>
        </p:nvSpPr>
        <p:spPr bwMode="auto">
          <a:xfrm>
            <a:off x="5791201" y="1524000"/>
            <a:ext cx="7922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Airbus</a:t>
            </a:r>
          </a:p>
        </p:txBody>
      </p:sp>
      <p:sp>
        <p:nvSpPr>
          <p:cNvPr id="42009" name="Text Box 23"/>
          <p:cNvSpPr txBox="1">
            <a:spLocks noChangeArrowheads="1"/>
          </p:cNvSpPr>
          <p:nvPr/>
        </p:nvSpPr>
        <p:spPr bwMode="auto">
          <a:xfrm>
            <a:off x="1828801" y="3962400"/>
            <a:ext cx="856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Boeing</a:t>
            </a:r>
          </a:p>
        </p:txBody>
      </p:sp>
      <p:sp>
        <p:nvSpPr>
          <p:cNvPr id="2" name="Text Box 18"/>
          <p:cNvSpPr txBox="1">
            <a:spLocks noChangeArrowheads="1"/>
          </p:cNvSpPr>
          <p:nvPr/>
        </p:nvSpPr>
        <p:spPr bwMode="auto">
          <a:xfrm rot="16200000">
            <a:off x="1870076" y="5140326"/>
            <a:ext cx="21129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Beta</a:t>
            </a:r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7086601" y="1600200"/>
            <a:ext cx="13008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Beta</a:t>
            </a:r>
          </a:p>
        </p:txBody>
      </p:sp>
      <p:sp>
        <p:nvSpPr>
          <p:cNvPr id="42014" name="Rectangle 1054"/>
          <p:cNvSpPr>
            <a:spLocks noChangeArrowheads="1"/>
          </p:cNvSpPr>
          <p:nvPr/>
        </p:nvSpPr>
        <p:spPr bwMode="auto">
          <a:xfrm>
            <a:off x="11241528" y="6096000"/>
            <a:ext cx="63023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138C1DB2-2486-44DF-BA2B-0FFC65708C36}" type="slidenum">
              <a:rPr lang="en-US" sz="1000" smtClean="0"/>
              <a:pPr/>
              <a:t>11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22109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ChangeArrowheads="1"/>
          </p:cNvSpPr>
          <p:nvPr/>
        </p:nvSpPr>
        <p:spPr bwMode="auto">
          <a:xfrm>
            <a:off x="6248400" y="4038600"/>
            <a:ext cx="2895600" cy="2209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3011" name="Rectangle 1027"/>
          <p:cNvSpPr>
            <a:spLocks noChangeArrowheads="1"/>
          </p:cNvSpPr>
          <p:nvPr/>
        </p:nvSpPr>
        <p:spPr bwMode="auto">
          <a:xfrm>
            <a:off x="3352800" y="1752600"/>
            <a:ext cx="2895600" cy="2286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3012" name="Oval 1028"/>
          <p:cNvSpPr>
            <a:spLocks noChangeArrowheads="1"/>
          </p:cNvSpPr>
          <p:nvPr/>
        </p:nvSpPr>
        <p:spPr bwMode="auto">
          <a:xfrm>
            <a:off x="7848600" y="5105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3013" name="Oval 1029"/>
          <p:cNvSpPr>
            <a:spLocks noChangeArrowheads="1"/>
          </p:cNvSpPr>
          <p:nvPr/>
        </p:nvSpPr>
        <p:spPr bwMode="auto">
          <a:xfrm>
            <a:off x="5029200" y="2819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3014" name="Oval 1030"/>
          <p:cNvSpPr>
            <a:spLocks noChangeArrowheads="1"/>
          </p:cNvSpPr>
          <p:nvPr/>
        </p:nvSpPr>
        <p:spPr bwMode="auto">
          <a:xfrm>
            <a:off x="6629400" y="44958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3015" name="Oval 1031"/>
          <p:cNvSpPr>
            <a:spLocks noChangeArrowheads="1"/>
          </p:cNvSpPr>
          <p:nvPr/>
        </p:nvSpPr>
        <p:spPr bwMode="auto">
          <a:xfrm>
            <a:off x="3886200" y="2057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30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457200"/>
            <a:ext cx="8763000" cy="1143000"/>
          </a:xfrm>
        </p:spPr>
        <p:txBody>
          <a:bodyPr/>
          <a:lstStyle/>
          <a:p>
            <a:pPr eaLnBrk="1" hangingPunct="1"/>
            <a:r>
              <a:rPr lang="en-US"/>
              <a:t>Coordination/Competition Game</a:t>
            </a:r>
          </a:p>
        </p:txBody>
      </p:sp>
      <p:sp>
        <p:nvSpPr>
          <p:cNvPr id="43017" name="Rectangle 4"/>
          <p:cNvSpPr>
            <a:spLocks noChangeArrowheads="1"/>
          </p:cNvSpPr>
          <p:nvPr/>
        </p:nvSpPr>
        <p:spPr bwMode="auto">
          <a:xfrm>
            <a:off x="3352800" y="1752600"/>
            <a:ext cx="5791200" cy="44958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43018" name="Line 5"/>
          <p:cNvSpPr>
            <a:spLocks noChangeShapeType="1"/>
          </p:cNvSpPr>
          <p:nvPr/>
        </p:nvSpPr>
        <p:spPr bwMode="auto">
          <a:xfrm>
            <a:off x="6248400" y="1752600"/>
            <a:ext cx="0" cy="449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3019" name="Line 6"/>
          <p:cNvSpPr>
            <a:spLocks noChangeShapeType="1"/>
          </p:cNvSpPr>
          <p:nvPr/>
        </p:nvSpPr>
        <p:spPr bwMode="auto">
          <a:xfrm flipV="1">
            <a:off x="3352800" y="4038600"/>
            <a:ext cx="5791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3020" name="Line 7"/>
          <p:cNvSpPr>
            <a:spLocks noChangeShapeType="1"/>
          </p:cNvSpPr>
          <p:nvPr/>
        </p:nvSpPr>
        <p:spPr bwMode="auto">
          <a:xfrm flipH="1">
            <a:off x="3352800" y="1752600"/>
            <a:ext cx="2895600" cy="2286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3021" name="Line 8"/>
          <p:cNvSpPr>
            <a:spLocks noChangeShapeType="1"/>
          </p:cNvSpPr>
          <p:nvPr/>
        </p:nvSpPr>
        <p:spPr bwMode="auto">
          <a:xfrm flipH="1">
            <a:off x="3429000" y="1752600"/>
            <a:ext cx="5638800" cy="449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3022" name="Line 9"/>
          <p:cNvSpPr>
            <a:spLocks noChangeShapeType="1"/>
          </p:cNvSpPr>
          <p:nvPr/>
        </p:nvSpPr>
        <p:spPr bwMode="auto">
          <a:xfrm flipH="1">
            <a:off x="6248400" y="4038600"/>
            <a:ext cx="2819400" cy="2209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3946526" y="2246313"/>
            <a:ext cx="7158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$100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3886201" y="4648200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$25</a:t>
            </a: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5029201" y="5257800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$25</a:t>
            </a: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5105401" y="2971800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$50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6750051" y="2286000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$40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8045451" y="2971800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$40</a:t>
            </a: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6699251" y="4662488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$50</a:t>
            </a: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7918451" y="5334000"/>
            <a:ext cx="7158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$100</a:t>
            </a:r>
          </a:p>
        </p:txBody>
      </p:sp>
      <p:sp>
        <p:nvSpPr>
          <p:cNvPr id="73746" name="Text Box 18"/>
          <p:cNvSpPr txBox="1">
            <a:spLocks noChangeArrowheads="1"/>
          </p:cNvSpPr>
          <p:nvPr/>
        </p:nvSpPr>
        <p:spPr bwMode="auto">
          <a:xfrm rot="16200000">
            <a:off x="1935957" y="2407444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Alpha</a:t>
            </a:r>
          </a:p>
        </p:txBody>
      </p:sp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3962400" y="1371600"/>
            <a:ext cx="13965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Alpha</a:t>
            </a:r>
          </a:p>
        </p:txBody>
      </p:sp>
      <p:sp>
        <p:nvSpPr>
          <p:cNvPr id="43033" name="Text Box 22"/>
          <p:cNvSpPr txBox="1">
            <a:spLocks noChangeArrowheads="1"/>
          </p:cNvSpPr>
          <p:nvPr/>
        </p:nvSpPr>
        <p:spPr bwMode="auto">
          <a:xfrm>
            <a:off x="5791201" y="1295400"/>
            <a:ext cx="7922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Airbus</a:t>
            </a:r>
          </a:p>
        </p:txBody>
      </p:sp>
      <p:sp>
        <p:nvSpPr>
          <p:cNvPr id="43034" name="Text Box 23"/>
          <p:cNvSpPr txBox="1">
            <a:spLocks noChangeArrowheads="1"/>
          </p:cNvSpPr>
          <p:nvPr/>
        </p:nvSpPr>
        <p:spPr bwMode="auto">
          <a:xfrm>
            <a:off x="1905001" y="3886200"/>
            <a:ext cx="856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Boeing</a:t>
            </a:r>
          </a:p>
        </p:txBody>
      </p:sp>
      <p:sp>
        <p:nvSpPr>
          <p:cNvPr id="2" name="Text Box 18"/>
          <p:cNvSpPr txBox="1">
            <a:spLocks noChangeArrowheads="1"/>
          </p:cNvSpPr>
          <p:nvPr/>
        </p:nvSpPr>
        <p:spPr bwMode="auto">
          <a:xfrm rot="16200000">
            <a:off x="1946276" y="4759326"/>
            <a:ext cx="21129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Boeing Beta</a:t>
            </a:r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7086601" y="1371600"/>
            <a:ext cx="13008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Airbus Beta</a:t>
            </a:r>
          </a:p>
        </p:txBody>
      </p:sp>
      <p:sp>
        <p:nvSpPr>
          <p:cNvPr id="43037" name="Rectangle 1053"/>
          <p:cNvSpPr>
            <a:spLocks noChangeArrowheads="1"/>
          </p:cNvSpPr>
          <p:nvPr/>
        </p:nvSpPr>
        <p:spPr bwMode="auto">
          <a:xfrm>
            <a:off x="11029709" y="6007043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000" dirty="0"/>
              <a:t>11</a:t>
            </a:r>
          </a:p>
        </p:txBody>
      </p:sp>
      <p:sp>
        <p:nvSpPr>
          <p:cNvPr id="30" name="Tekstboks 29"/>
          <p:cNvSpPr txBox="1"/>
          <p:nvPr/>
        </p:nvSpPr>
        <p:spPr>
          <a:xfrm>
            <a:off x="9310685" y="3321348"/>
            <a:ext cx="2881315" cy="1200329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De to virksomheder er interesserede i at vælge éns (A,A eller B,B), men har forskellige præferencer! </a:t>
            </a:r>
          </a:p>
        </p:txBody>
      </p:sp>
    </p:spTree>
    <p:extLst>
      <p:ext uri="{BB962C8B-B14F-4D97-AF65-F5344CB8AC3E}">
        <p14:creationId xmlns:p14="http://schemas.microsoft.com/office/powerpoint/2010/main" val="25420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1" grpId="0" animBg="1"/>
      <p:bldP spid="43012" grpId="0" animBg="1"/>
      <p:bldP spid="43013" grpId="0" animBg="1"/>
      <p:bldP spid="43014" grpId="0" animBg="1"/>
      <p:bldP spid="430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914400"/>
          </a:xfrm>
        </p:spPr>
        <p:txBody>
          <a:bodyPr/>
          <a:lstStyle/>
          <a:p>
            <a:pPr eaLnBrk="1" hangingPunct="1"/>
            <a:r>
              <a:rPr lang="en-US" u="sng" dirty="0">
                <a:solidFill>
                  <a:srgbClr val="002060"/>
                </a:solidFill>
              </a:rPr>
              <a:t>Sequential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/>
              <a:t>Interactions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799" y="1676400"/>
            <a:ext cx="8334737" cy="44196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Boeing &amp; Airbus communications technology choice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>
                <a:solidFill>
                  <a:srgbClr val="002060"/>
                </a:solidFill>
              </a:rPr>
              <a:t>Boeing</a:t>
            </a:r>
            <a:r>
              <a:rPr lang="en-US" sz="3200" dirty="0">
                <a:solidFill>
                  <a:srgbClr val="FF6600"/>
                </a:solidFill>
              </a:rPr>
              <a:t> </a:t>
            </a:r>
            <a:r>
              <a:rPr lang="en-US" sz="3200" dirty="0"/>
              <a:t>chooses first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Analyze with </a:t>
            </a:r>
            <a:r>
              <a:rPr lang="en-US" sz="3200" i="1" dirty="0">
                <a:solidFill>
                  <a:srgbClr val="002060"/>
                </a:solidFill>
              </a:rPr>
              <a:t>backward</a:t>
            </a:r>
            <a:r>
              <a:rPr lang="en-US" sz="3200" i="1" dirty="0"/>
              <a:t> induction</a:t>
            </a:r>
            <a:endParaRPr lang="en-US" sz="3200" dirty="0"/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>
                <a:solidFill>
                  <a:srgbClr val="002060"/>
                </a:solidFill>
              </a:rPr>
              <a:t>Boeing must take Airbus’s best response into account in making its choice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Boeing has </a:t>
            </a:r>
            <a:r>
              <a:rPr lang="en-US" sz="3200" i="1" dirty="0">
                <a:solidFill>
                  <a:srgbClr val="002060"/>
                </a:solidFill>
              </a:rPr>
              <a:t>first mover </a:t>
            </a:r>
            <a:r>
              <a:rPr lang="en-US" sz="3200" i="1" dirty="0"/>
              <a:t>advantage</a:t>
            </a:r>
            <a:endParaRPr lang="en-US" sz="3200" dirty="0"/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i="1" dirty="0"/>
              <a:t>Credible commitment</a:t>
            </a:r>
            <a:r>
              <a:rPr lang="en-US" sz="3200" dirty="0"/>
              <a:t> by second mover can change first mover choice (but talk is cheap!)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11319076" y="597288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CDDAAA78-B1D0-4953-99C5-2440702FA5AD}" type="slidenum">
              <a:rPr lang="en-US" sz="1000" smtClean="0"/>
              <a:pPr/>
              <a:t>13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9446871" y="6411686"/>
            <a:ext cx="914400" cy="369332"/>
          </a:xfrm>
          <a:prstGeom prst="rect">
            <a:avLst/>
          </a:prstGeom>
          <a:solidFill>
            <a:srgbClr val="002060"/>
          </a:solidFill>
          <a:ln w="15875">
            <a:solidFill>
              <a:srgbClr val="7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chemeClr val="bg1"/>
                </a:solidFill>
              </a:rPr>
              <a:t>307n.</a:t>
            </a:r>
          </a:p>
        </p:txBody>
      </p:sp>
    </p:spTree>
    <p:extLst>
      <p:ext uri="{BB962C8B-B14F-4D97-AF65-F5344CB8AC3E}">
        <p14:creationId xmlns:p14="http://schemas.microsoft.com/office/powerpoint/2010/main" val="274107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uiExpand="1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5" name="Oval 35"/>
          <p:cNvSpPr>
            <a:spLocks noChangeArrowheads="1"/>
          </p:cNvSpPr>
          <p:nvPr/>
        </p:nvSpPr>
        <p:spPr bwMode="auto">
          <a:xfrm>
            <a:off x="7543800" y="1600200"/>
            <a:ext cx="1219200" cy="11430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a-DK">
              <a:solidFill>
                <a:srgbClr val="FF6600"/>
              </a:solidFill>
            </a:endParaRPr>
          </a:p>
        </p:txBody>
      </p:sp>
      <p:sp>
        <p:nvSpPr>
          <p:cNvPr id="15393" name="Oval 33"/>
          <p:cNvSpPr>
            <a:spLocks noChangeArrowheads="1"/>
          </p:cNvSpPr>
          <p:nvPr/>
        </p:nvSpPr>
        <p:spPr bwMode="auto">
          <a:xfrm>
            <a:off x="7620000" y="5257800"/>
            <a:ext cx="1219200" cy="1143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a-DK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57200"/>
            <a:ext cx="86868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/>
              <a:t>Extensive Form </a:t>
            </a:r>
            <a:r>
              <a:rPr lang="en-US" sz="3600" u="sng" dirty="0">
                <a:solidFill>
                  <a:srgbClr val="002060"/>
                </a:solidFill>
              </a:rPr>
              <a:t>Sequential</a:t>
            </a:r>
            <a:r>
              <a:rPr lang="en-US" sz="3600" dirty="0">
                <a:solidFill>
                  <a:srgbClr val="FF6600"/>
                </a:solidFill>
              </a:rPr>
              <a:t> </a:t>
            </a:r>
            <a:r>
              <a:rPr lang="en-US" sz="3600" dirty="0"/>
              <a:t>Game – </a:t>
            </a:r>
            <a:br>
              <a:rPr lang="en-US" sz="3600" dirty="0"/>
            </a:br>
            <a:r>
              <a:rPr lang="en-US" sz="3600" dirty="0">
                <a:solidFill>
                  <a:srgbClr val="002060"/>
                </a:solidFill>
              </a:rPr>
              <a:t>backward</a:t>
            </a:r>
            <a:r>
              <a:rPr lang="en-US" sz="3600" dirty="0"/>
              <a:t> induction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2362200" y="3810000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5F5F5F"/>
                </a:solidFill>
              </a:rPr>
              <a:t>Boeing</a:t>
            </a: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4953000" y="2743200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5F5F5F"/>
                </a:solidFill>
              </a:rPr>
              <a:t>Airbus</a:t>
            </a:r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4953000" y="4724400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5F5F5F"/>
                </a:solidFill>
              </a:rPr>
              <a:t>Airbus</a:t>
            </a:r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V="1">
            <a:off x="3581400" y="3124200"/>
            <a:ext cx="1371600" cy="9144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 flipV="1">
            <a:off x="6172200" y="2286000"/>
            <a:ext cx="1371600" cy="6096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3581400" y="4191000"/>
            <a:ext cx="1371600" cy="7620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>
            <a:off x="6172200" y="5105400"/>
            <a:ext cx="1371600" cy="6096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 flipV="1">
            <a:off x="6172200" y="4267200"/>
            <a:ext cx="1447800" cy="6858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7604126" y="1889125"/>
            <a:ext cx="1209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/>
              <a:t>Boeing 100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7620001" y="3321050"/>
            <a:ext cx="10969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Boeing 40</a:t>
            </a:r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7620001" y="5486400"/>
            <a:ext cx="10969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Boeing 50</a:t>
            </a:r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7620000" y="217805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/>
              <a:t>Airbus 50</a:t>
            </a:r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7620000" y="354965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Airbus 40</a:t>
            </a:r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7620000" y="419100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Airbus 25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7608888" y="5759450"/>
            <a:ext cx="11541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Airbus 100</a:t>
            </a:r>
          </a:p>
        </p:txBody>
      </p:sp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7589838" y="3962400"/>
            <a:ext cx="10969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Boeing 25</a:t>
            </a:r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 rot="-1786762">
            <a:off x="3825649" y="3243848"/>
            <a:ext cx="6703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Alpha</a:t>
            </a:r>
          </a:p>
        </p:txBody>
      </p:sp>
      <p:sp>
        <p:nvSpPr>
          <p:cNvPr id="15387" name="Text Box 27"/>
          <p:cNvSpPr txBox="1">
            <a:spLocks noChangeArrowheads="1"/>
          </p:cNvSpPr>
          <p:nvPr/>
        </p:nvSpPr>
        <p:spPr bwMode="auto">
          <a:xfrm rot="-1786762">
            <a:off x="6552974" y="4189998"/>
            <a:ext cx="6703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Alpha</a:t>
            </a:r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 rot="-1786762">
            <a:off x="6552974" y="2132598"/>
            <a:ext cx="6703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Alpha</a:t>
            </a: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 rot="1687418">
            <a:off x="3817938" y="4495800"/>
            <a:ext cx="6016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Beta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 rot="1429235">
            <a:off x="6561138" y="5105400"/>
            <a:ext cx="6016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Beta</a:t>
            </a:r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 rot="1429235">
            <a:off x="6553201" y="3048000"/>
            <a:ext cx="601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5F5F5F"/>
                </a:solidFill>
              </a:rPr>
              <a:t>Beta</a:t>
            </a:r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6172200" y="3124200"/>
            <a:ext cx="1371600" cy="6096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2270125" y="5294314"/>
            <a:ext cx="2472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If Boeing chooses Beta,</a:t>
            </a:r>
          </a:p>
          <a:p>
            <a:r>
              <a:rPr lang="en-US">
                <a:solidFill>
                  <a:srgbClr val="5F5F5F"/>
                </a:solidFill>
              </a:rPr>
              <a:t>Airbus chooses Beta</a:t>
            </a:r>
          </a:p>
        </p:txBody>
      </p:sp>
      <p:sp>
        <p:nvSpPr>
          <p:cNvPr id="15396" name="Text Box 36"/>
          <p:cNvSpPr txBox="1">
            <a:spLocks noChangeArrowheads="1"/>
          </p:cNvSpPr>
          <p:nvPr/>
        </p:nvSpPr>
        <p:spPr bwMode="auto">
          <a:xfrm>
            <a:off x="2209800" y="1676401"/>
            <a:ext cx="256833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If Boeing chooses Alpha,</a:t>
            </a:r>
          </a:p>
          <a:p>
            <a:r>
              <a:rPr lang="en-US">
                <a:solidFill>
                  <a:srgbClr val="5F5F5F"/>
                </a:solidFill>
              </a:rPr>
              <a:t>Airbus chooses Alpha</a:t>
            </a:r>
          </a:p>
        </p:txBody>
      </p:sp>
      <p:sp>
        <p:nvSpPr>
          <p:cNvPr id="15397" name="Rectangle 37"/>
          <p:cNvSpPr>
            <a:spLocks noChangeArrowheads="1"/>
          </p:cNvSpPr>
          <p:nvPr/>
        </p:nvSpPr>
        <p:spPr bwMode="auto">
          <a:xfrm>
            <a:off x="10781818" y="597288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DACB6D6A-159C-42DB-A3E3-55EC3268C870}" type="slidenum">
              <a:rPr lang="en-US" sz="1000" smtClean="0"/>
              <a:pPr/>
              <a:t>14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8694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20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4" dur="20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5" grpId="0" animBg="1"/>
      <p:bldP spid="15393" grpId="0" animBg="1"/>
      <p:bldP spid="15367" grpId="0" animBg="1"/>
      <p:bldP spid="15370" grpId="0" animBg="1"/>
      <p:bldP spid="15371" grpId="0" uiExpand="1" build="allAtOnce" animBg="1"/>
      <p:bldP spid="15372" grpId="0" animBg="1"/>
      <p:bldP spid="15373" grpId="0" animBg="1"/>
      <p:bldP spid="15374" grpId="0" animBg="1"/>
      <p:bldP spid="15375" grpId="0" animBg="1"/>
      <p:bldP spid="15376" grpId="0" animBg="1"/>
      <p:bldP spid="15378" grpId="0"/>
      <p:bldP spid="15380" grpId="0"/>
      <p:bldP spid="15384" grpId="0"/>
      <p:bldP spid="15387" grpId="0"/>
      <p:bldP spid="15388" grpId="0"/>
      <p:bldP spid="15389" grpId="0"/>
      <p:bldP spid="15390" grpId="0"/>
      <p:bldP spid="15391" grpId="0"/>
      <p:bldP spid="15392" grpId="0" animBg="1"/>
      <p:bldP spid="15394" grpId="0"/>
      <p:bldP spid="1539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57200"/>
            <a:ext cx="8839200" cy="1143000"/>
          </a:xfrm>
        </p:spPr>
        <p:txBody>
          <a:bodyPr/>
          <a:lstStyle/>
          <a:p>
            <a:pPr eaLnBrk="1" hangingPunct="1"/>
            <a:r>
              <a:rPr lang="en-US" dirty="0"/>
              <a:t>Repeated Strategic Interaction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504708"/>
            <a:ext cx="6065520" cy="535329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Strategic choices can come to incorporate more than short-term payoffs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The cooperative outcome is more likely if 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>
                <a:solidFill>
                  <a:srgbClr val="002060"/>
                </a:solidFill>
              </a:rPr>
              <a:t>Long-run gains from cooperating are greater than short-run gains from not cooperating </a:t>
            </a:r>
            <a:r>
              <a:rPr lang="en-US" sz="3200" i="0" dirty="0">
                <a:solidFill>
                  <a:srgbClr val="002060"/>
                </a:solidFill>
              </a:rPr>
              <a:t>(surprise)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>
                <a:solidFill>
                  <a:srgbClr val="002060"/>
                </a:solidFill>
              </a:rPr>
              <a:t>The expected length of the relationship is long</a:t>
            </a:r>
          </a:p>
          <a:p>
            <a:pPr eaLnBrk="1" hangingPunct="1">
              <a:buClr>
                <a:srgbClr val="000066"/>
              </a:buClr>
            </a:pPr>
            <a:endParaRPr lang="en-US" dirty="0"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1124235" y="604295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67ABC526-2477-4E87-9F51-D3E3369C9B23}" type="slidenum">
              <a:rPr lang="en-US" sz="1000" smtClean="0"/>
              <a:pPr/>
              <a:t>15</a:t>
            </a:fld>
            <a:endParaRPr lang="en-US" sz="1000" dirty="0"/>
          </a:p>
        </p:txBody>
      </p:sp>
      <p:pic>
        <p:nvPicPr>
          <p:cNvPr id="2050" name="Picture 2" descr="Mitmachen und Partypaket gewinne: Wir suchen Hannovers coolste WG-Küche.">
            <a:extLst>
              <a:ext uri="{FF2B5EF4-FFF2-40B4-BE49-F238E27FC236}">
                <a16:creationId xmlns:a16="http://schemas.microsoft.com/office/drawing/2014/main" id="{A5D7EE5A-DFA0-D391-C900-0A673A232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221" y="1914525"/>
            <a:ext cx="4368779" cy="245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51F903-B159-0FA0-C4DA-CF59C5B3681E}"/>
              </a:ext>
            </a:extLst>
          </p:cNvPr>
          <p:cNvSpPr txBox="1"/>
          <p:nvPr/>
        </p:nvSpPr>
        <p:spPr>
          <a:xfrm>
            <a:off x="7437120" y="4374515"/>
            <a:ext cx="482696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www.haz.de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lokales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hannover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/hannovers-coolste-wg-kueche-wohngemeinschaft-aus-linden-gewinnt-gilde-partypaket-TC5EHROIYVE4ZNTXZTVMD4YQ5E.html</a:t>
            </a:r>
          </a:p>
        </p:txBody>
      </p:sp>
      <p:pic>
        <p:nvPicPr>
          <p:cNvPr id="2052" name="Picture 4" descr="12 Lifehacks in der Küche, die ich gerne früher gekannt hätte | Geniale  Food Hacks">
            <a:extLst>
              <a:ext uri="{FF2B5EF4-FFF2-40B4-BE49-F238E27FC236}">
                <a16:creationId xmlns:a16="http://schemas.microsoft.com/office/drawing/2014/main" id="{7CE91459-31EB-8B22-D8A0-06DB6C172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979" y="4612139"/>
            <a:ext cx="3269262" cy="183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A9A040-D634-4391-FAE4-8E4D24601F06}"/>
              </a:ext>
            </a:extLst>
          </p:cNvPr>
          <p:cNvSpPr txBox="1"/>
          <p:nvPr/>
        </p:nvSpPr>
        <p:spPr>
          <a:xfrm>
            <a:off x="8047637" y="6400800"/>
            <a:ext cx="25330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www.genialetricks.de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abwasch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fehler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vermeiden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-a-a/63741678909197</a:t>
            </a:r>
          </a:p>
        </p:txBody>
      </p:sp>
    </p:spTree>
    <p:extLst>
      <p:ext uri="{BB962C8B-B14F-4D97-AF65-F5344CB8AC3E}">
        <p14:creationId xmlns:p14="http://schemas.microsoft.com/office/powerpoint/2010/main" val="49147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1659" y="15221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Strategic Interaction, Organizational Architecture and Principal/Agency - relationships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1064" y="2093615"/>
            <a:ext cx="8229600" cy="4525963"/>
          </a:xfrm>
        </p:spPr>
        <p:txBody>
          <a:bodyPr>
            <a:noAutofit/>
          </a:bodyPr>
          <a:lstStyle/>
          <a:p>
            <a:pPr marL="0" indent="0" eaLnBrk="1" hangingPunct="1">
              <a:buClr>
                <a:srgbClr val="000066"/>
              </a:buClr>
              <a:buNone/>
            </a:pPr>
            <a:r>
              <a:rPr lang="en-US" sz="2800" dirty="0">
                <a:solidFill>
                  <a:srgbClr val="002060"/>
                </a:solidFill>
              </a:rPr>
              <a:t>Game theory pulled into an organizational context: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002060"/>
                </a:solidFill>
              </a:rPr>
              <a:t>Kiana (principal) manages Lenin (agent)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002060"/>
                </a:solidFill>
              </a:rPr>
              <a:t>Len must choose between working and shirking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002060"/>
                </a:solidFill>
              </a:rPr>
              <a:t>Kiana must choose whether to incur monitoring costs or not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002060"/>
                </a:solidFill>
              </a:rPr>
              <a:t>No pure strategy equilibrium exists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b="1" u="sng" dirty="0">
                <a:solidFill>
                  <a:srgbClr val="002060"/>
                </a:solidFill>
              </a:rPr>
              <a:t>A labor contract including incentive compensation (not just fixed salary) may solve this problem (</a:t>
            </a:r>
            <a:r>
              <a:rPr lang="en-US" sz="2800" b="1" u="sng" dirty="0" err="1">
                <a:solidFill>
                  <a:srgbClr val="002060"/>
                </a:solidFill>
              </a:rPr>
              <a:t>kap</a:t>
            </a:r>
            <a:r>
              <a:rPr lang="en-US" sz="2800" b="1" u="sng" dirty="0">
                <a:solidFill>
                  <a:srgbClr val="002060"/>
                </a:solidFill>
              </a:rPr>
              <a:t>. 15)!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236124" y="606610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E0FD8A25-CD60-4B2D-A2A1-4062C1F9475F}" type="slidenum">
              <a:rPr lang="en-US" sz="1000" smtClean="0"/>
              <a:pPr/>
              <a:t>16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01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Oval 2"/>
          <p:cNvSpPr>
            <a:spLocks noChangeArrowheads="1"/>
          </p:cNvSpPr>
          <p:nvPr/>
        </p:nvSpPr>
        <p:spPr bwMode="auto">
          <a:xfrm>
            <a:off x="50292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8131" name="Oval 3"/>
          <p:cNvSpPr>
            <a:spLocks noChangeArrowheads="1"/>
          </p:cNvSpPr>
          <p:nvPr/>
        </p:nvSpPr>
        <p:spPr bwMode="auto">
          <a:xfrm>
            <a:off x="7848600" y="5105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6629400" y="2133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3733800" y="4419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481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0"/>
            <a:ext cx="8763000" cy="1143000"/>
          </a:xfrm>
        </p:spPr>
        <p:txBody>
          <a:bodyPr/>
          <a:lstStyle/>
          <a:p>
            <a:pPr eaLnBrk="1" hangingPunct="1"/>
            <a:r>
              <a:rPr lang="en-US" dirty="0"/>
              <a:t>Mixed Strategy </a:t>
            </a:r>
            <a:r>
              <a:rPr lang="en-US" sz="1800" dirty="0">
                <a:solidFill>
                  <a:srgbClr val="0C3E04"/>
                </a:solidFill>
              </a:rPr>
              <a:t>(randomization, 0,5)</a:t>
            </a:r>
          </a:p>
        </p:txBody>
      </p:sp>
      <p:sp>
        <p:nvSpPr>
          <p:cNvPr id="48135" name="Rectangle 4"/>
          <p:cNvSpPr>
            <a:spLocks noChangeArrowheads="1"/>
          </p:cNvSpPr>
          <p:nvPr/>
        </p:nvSpPr>
        <p:spPr bwMode="auto">
          <a:xfrm>
            <a:off x="3352800" y="1752600"/>
            <a:ext cx="5791200" cy="44958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48136" name="Line 5"/>
          <p:cNvSpPr>
            <a:spLocks noChangeShapeType="1"/>
          </p:cNvSpPr>
          <p:nvPr/>
        </p:nvSpPr>
        <p:spPr bwMode="auto">
          <a:xfrm>
            <a:off x="6248400" y="1752600"/>
            <a:ext cx="0" cy="449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8137" name="Line 6"/>
          <p:cNvSpPr>
            <a:spLocks noChangeShapeType="1"/>
          </p:cNvSpPr>
          <p:nvPr/>
        </p:nvSpPr>
        <p:spPr bwMode="auto">
          <a:xfrm flipV="1">
            <a:off x="3352800" y="4038600"/>
            <a:ext cx="5791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8138" name="Line 7"/>
          <p:cNvSpPr>
            <a:spLocks noChangeShapeType="1"/>
          </p:cNvSpPr>
          <p:nvPr/>
        </p:nvSpPr>
        <p:spPr bwMode="auto">
          <a:xfrm flipH="1">
            <a:off x="3352800" y="1752600"/>
            <a:ext cx="2895600" cy="2286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8139" name="Line 8"/>
          <p:cNvSpPr>
            <a:spLocks noChangeShapeType="1"/>
          </p:cNvSpPr>
          <p:nvPr/>
        </p:nvSpPr>
        <p:spPr bwMode="auto">
          <a:xfrm flipH="1">
            <a:off x="3429000" y="1752600"/>
            <a:ext cx="5638800" cy="449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8140" name="Line 9"/>
          <p:cNvSpPr>
            <a:spLocks noChangeShapeType="1"/>
          </p:cNvSpPr>
          <p:nvPr/>
        </p:nvSpPr>
        <p:spPr bwMode="auto">
          <a:xfrm flipH="1">
            <a:off x="6248400" y="4038600"/>
            <a:ext cx="2819400" cy="2209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3946525" y="2246313"/>
            <a:ext cx="514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-$5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3886200" y="4648200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$0</a:t>
            </a: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5022850" y="5319713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$5</a:t>
            </a: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5105401" y="2971800"/>
            <a:ext cx="5853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$15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6705601" y="2286000"/>
            <a:ext cx="5853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$15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8039101" y="3033713"/>
            <a:ext cx="5811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$10</a:t>
            </a: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6699251" y="4662488"/>
            <a:ext cx="5811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$10</a:t>
            </a: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7924801" y="5257800"/>
            <a:ext cx="5811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$10</a:t>
            </a:r>
          </a:p>
        </p:txBody>
      </p:sp>
      <p:sp>
        <p:nvSpPr>
          <p:cNvPr id="73746" name="Text Box 18"/>
          <p:cNvSpPr txBox="1">
            <a:spLocks noChangeArrowheads="1"/>
          </p:cNvSpPr>
          <p:nvPr/>
        </p:nvSpPr>
        <p:spPr bwMode="auto">
          <a:xfrm rot="16200000">
            <a:off x="1859757" y="2483644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Doesn’t monitor</a:t>
            </a:r>
          </a:p>
        </p:txBody>
      </p:sp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4445000" y="1371601"/>
            <a:ext cx="704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Shirk</a:t>
            </a:r>
          </a:p>
        </p:txBody>
      </p:sp>
      <p:sp>
        <p:nvSpPr>
          <p:cNvPr id="48151" name="Text Box 22"/>
          <p:cNvSpPr txBox="1">
            <a:spLocks noChangeArrowheads="1"/>
          </p:cNvSpPr>
          <p:nvPr/>
        </p:nvSpPr>
        <p:spPr bwMode="auto">
          <a:xfrm>
            <a:off x="5791200" y="1295401"/>
            <a:ext cx="5437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Len</a:t>
            </a:r>
          </a:p>
        </p:txBody>
      </p:sp>
      <p:sp>
        <p:nvSpPr>
          <p:cNvPr id="48152" name="Text Box 23"/>
          <p:cNvSpPr txBox="1">
            <a:spLocks noChangeArrowheads="1"/>
          </p:cNvSpPr>
          <p:nvPr/>
        </p:nvSpPr>
        <p:spPr bwMode="auto">
          <a:xfrm>
            <a:off x="2041525" y="3824288"/>
            <a:ext cx="768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Kiana</a:t>
            </a:r>
          </a:p>
        </p:txBody>
      </p:sp>
      <p:sp>
        <p:nvSpPr>
          <p:cNvPr id="2" name="Text Box 19"/>
          <p:cNvSpPr txBox="1">
            <a:spLocks noChangeArrowheads="1"/>
          </p:cNvSpPr>
          <p:nvPr/>
        </p:nvSpPr>
        <p:spPr bwMode="auto">
          <a:xfrm>
            <a:off x="7112000" y="1371600"/>
            <a:ext cx="15183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Doesn’t shirk</a:t>
            </a:r>
          </a:p>
        </p:txBody>
      </p:sp>
      <p:sp>
        <p:nvSpPr>
          <p:cNvPr id="3" name="Text Box 18"/>
          <p:cNvSpPr txBox="1">
            <a:spLocks noChangeArrowheads="1"/>
          </p:cNvSpPr>
          <p:nvPr/>
        </p:nvSpPr>
        <p:spPr bwMode="auto">
          <a:xfrm rot="16200000">
            <a:off x="2266157" y="4845844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Monitor</a:t>
            </a:r>
          </a:p>
        </p:txBody>
      </p:sp>
      <p:sp>
        <p:nvSpPr>
          <p:cNvPr id="48157" name="Rectangle 29"/>
          <p:cNvSpPr>
            <a:spLocks noChangeArrowheads="1"/>
          </p:cNvSpPr>
          <p:nvPr/>
        </p:nvSpPr>
        <p:spPr bwMode="auto">
          <a:xfrm>
            <a:off x="11291103" y="624840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4764F991-DA67-45BA-9404-C3ADA1777159}" type="slidenum">
              <a:rPr lang="en-US" sz="1000" smtClean="0"/>
              <a:pPr/>
              <a:t>17</a:t>
            </a:fld>
            <a:endParaRPr lang="en-US" sz="1000" dirty="0"/>
          </a:p>
        </p:txBody>
      </p:sp>
      <p:cxnSp>
        <p:nvCxnSpPr>
          <p:cNvPr id="29" name="Lige pilforbindelse 28"/>
          <p:cNvCxnSpPr/>
          <p:nvPr/>
        </p:nvCxnSpPr>
        <p:spPr>
          <a:xfrm>
            <a:off x="5105401" y="1935956"/>
            <a:ext cx="190500" cy="677069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ge pilforbindelse 30"/>
          <p:cNvCxnSpPr>
            <a:endCxn id="73740" idx="0"/>
          </p:cNvCxnSpPr>
          <p:nvPr/>
        </p:nvCxnSpPr>
        <p:spPr>
          <a:xfrm>
            <a:off x="5029200" y="1905000"/>
            <a:ext cx="220635" cy="3414713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pilforbindelse 32"/>
          <p:cNvCxnSpPr/>
          <p:nvPr/>
        </p:nvCxnSpPr>
        <p:spPr>
          <a:xfrm>
            <a:off x="7810501" y="1966913"/>
            <a:ext cx="342900" cy="1066799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ge pilforbindelse 34"/>
          <p:cNvCxnSpPr/>
          <p:nvPr/>
        </p:nvCxnSpPr>
        <p:spPr>
          <a:xfrm>
            <a:off x="7620000" y="1828800"/>
            <a:ext cx="595393" cy="3188732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kstboks 31"/>
          <p:cNvSpPr txBox="1"/>
          <p:nvPr/>
        </p:nvSpPr>
        <p:spPr>
          <a:xfrm>
            <a:off x="9334499" y="1758568"/>
            <a:ext cx="2438400" cy="418576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a-DK" sz="1500" b="1" u="sng" dirty="0">
                <a:solidFill>
                  <a:srgbClr val="0C3E04"/>
                </a:solidFill>
              </a:rPr>
              <a:t>Tallene viser ‘net </a:t>
            </a:r>
            <a:r>
              <a:rPr lang="da-DK" sz="1500" b="1" u="sng" dirty="0" err="1">
                <a:solidFill>
                  <a:srgbClr val="0C3E04"/>
                </a:solidFill>
              </a:rPr>
              <a:t>payoffs</a:t>
            </a:r>
            <a:r>
              <a:rPr lang="da-DK" sz="1500" b="1" u="sng" dirty="0">
                <a:solidFill>
                  <a:srgbClr val="0C3E04"/>
                </a:solidFill>
              </a:rPr>
              <a:t>’:</a:t>
            </a:r>
          </a:p>
          <a:p>
            <a:endParaRPr lang="da-DK" sz="1500" b="1" u="sng" dirty="0">
              <a:solidFill>
                <a:srgbClr val="005828"/>
              </a:solidFill>
            </a:endParaRPr>
          </a:p>
          <a:p>
            <a:r>
              <a:rPr lang="da-DK" sz="1500" b="1" dirty="0">
                <a:solidFill>
                  <a:srgbClr val="0C3E04"/>
                </a:solidFill>
              </a:rPr>
              <a:t>Kiana vil helst ikke monitorere.</a:t>
            </a:r>
          </a:p>
          <a:p>
            <a:endParaRPr lang="da-DK" sz="1500" b="1" u="sng" dirty="0">
              <a:solidFill>
                <a:srgbClr val="0C3E04"/>
              </a:solidFill>
            </a:endParaRPr>
          </a:p>
          <a:p>
            <a:r>
              <a:rPr lang="da-DK" sz="1500" b="1" dirty="0">
                <a:solidFill>
                  <a:srgbClr val="0C3E04"/>
                </a:solidFill>
              </a:rPr>
              <a:t>Len vil helst </a:t>
            </a:r>
            <a:r>
              <a:rPr lang="da-DK" sz="1500" b="1" dirty="0" err="1">
                <a:solidFill>
                  <a:srgbClr val="0C3E04"/>
                </a:solidFill>
              </a:rPr>
              <a:t>shirke</a:t>
            </a:r>
            <a:r>
              <a:rPr lang="da-DK" sz="1500" b="1" dirty="0">
                <a:solidFill>
                  <a:srgbClr val="0C3E04"/>
                </a:solidFill>
              </a:rPr>
              <a:t>!</a:t>
            </a:r>
          </a:p>
          <a:p>
            <a:endParaRPr lang="da-DK" sz="1600" dirty="0"/>
          </a:p>
          <a:p>
            <a:r>
              <a:rPr lang="da-DK" sz="1600" b="1" dirty="0">
                <a:solidFill>
                  <a:srgbClr val="0C3E04"/>
                </a:solidFill>
              </a:rPr>
              <a:t>Hvis Len arbejder, vil </a:t>
            </a:r>
            <a:r>
              <a:rPr lang="da-DK" sz="1600" b="1" dirty="0" err="1">
                <a:solidFill>
                  <a:srgbClr val="0C3E04"/>
                </a:solidFill>
              </a:rPr>
              <a:t>Kiana</a:t>
            </a:r>
            <a:r>
              <a:rPr lang="da-DK" sz="1600" b="1" dirty="0">
                <a:solidFill>
                  <a:srgbClr val="0C3E04"/>
                </a:solidFill>
              </a:rPr>
              <a:t> ikke monitorere.</a:t>
            </a:r>
          </a:p>
          <a:p>
            <a:endParaRPr lang="da-DK" sz="1600" b="1" dirty="0">
              <a:solidFill>
                <a:srgbClr val="0C3E04"/>
              </a:solidFill>
            </a:endParaRPr>
          </a:p>
          <a:p>
            <a:r>
              <a:rPr lang="da-DK" sz="1600" b="1" dirty="0">
                <a:solidFill>
                  <a:srgbClr val="0C3E04"/>
                </a:solidFill>
              </a:rPr>
              <a:t>Hvis K. ikke monitorerer, </a:t>
            </a:r>
            <a:r>
              <a:rPr lang="da-DK" sz="1600" b="1" dirty="0" err="1">
                <a:solidFill>
                  <a:srgbClr val="0C3E04"/>
                </a:solidFill>
              </a:rPr>
              <a:t>shirker</a:t>
            </a:r>
            <a:r>
              <a:rPr lang="da-DK" sz="1600" b="1" dirty="0">
                <a:solidFill>
                  <a:srgbClr val="0C3E04"/>
                </a:solidFill>
              </a:rPr>
              <a:t> L.</a:t>
            </a:r>
          </a:p>
          <a:p>
            <a:endParaRPr lang="da-DK" sz="1600" b="1" dirty="0">
              <a:solidFill>
                <a:srgbClr val="0C3E04"/>
              </a:solidFill>
            </a:endParaRPr>
          </a:p>
          <a:p>
            <a:r>
              <a:rPr lang="da-DK" sz="1600" b="1" dirty="0" err="1">
                <a:solidFill>
                  <a:srgbClr val="0C3E04"/>
                </a:solidFill>
              </a:rPr>
              <a:t>No</a:t>
            </a:r>
            <a:r>
              <a:rPr lang="da-DK" sz="1600" b="1" dirty="0">
                <a:solidFill>
                  <a:srgbClr val="0C3E04"/>
                </a:solidFill>
              </a:rPr>
              <a:t> </a:t>
            </a:r>
            <a:r>
              <a:rPr lang="da-DK" sz="1600" b="1" dirty="0" err="1">
                <a:solidFill>
                  <a:srgbClr val="0C3E04"/>
                </a:solidFill>
              </a:rPr>
              <a:t>pure-strategy</a:t>
            </a:r>
            <a:r>
              <a:rPr lang="da-DK" sz="1600" b="1" dirty="0">
                <a:solidFill>
                  <a:srgbClr val="0C3E04"/>
                </a:solidFill>
              </a:rPr>
              <a:t> </a:t>
            </a:r>
            <a:r>
              <a:rPr lang="da-DK" sz="1600" b="1" dirty="0" err="1">
                <a:solidFill>
                  <a:srgbClr val="0C3E04"/>
                </a:solidFill>
              </a:rPr>
              <a:t>eq</a:t>
            </a:r>
            <a:r>
              <a:rPr lang="da-DK" sz="1600" b="1" dirty="0">
                <a:solidFill>
                  <a:srgbClr val="0C3E04"/>
                </a:solidFill>
              </a:rPr>
              <a:t>.</a:t>
            </a:r>
          </a:p>
          <a:p>
            <a:endParaRPr lang="da-DK" sz="1600" b="1" dirty="0">
              <a:solidFill>
                <a:srgbClr val="0C3E04"/>
              </a:solidFill>
            </a:endParaRPr>
          </a:p>
          <a:p>
            <a:r>
              <a:rPr lang="da-DK" sz="1600" b="1" dirty="0">
                <a:solidFill>
                  <a:srgbClr val="0C3E04"/>
                </a:solidFill>
              </a:rPr>
              <a:t>Mixed </a:t>
            </a:r>
            <a:r>
              <a:rPr lang="da-DK" sz="1600" b="1" dirty="0" err="1">
                <a:solidFill>
                  <a:srgbClr val="0C3E04"/>
                </a:solidFill>
              </a:rPr>
              <a:t>strategy</a:t>
            </a:r>
            <a:r>
              <a:rPr lang="da-DK" sz="1600" b="1" dirty="0">
                <a:solidFill>
                  <a:srgbClr val="0C3E04"/>
                </a:solidFill>
              </a:rPr>
              <a:t> </a:t>
            </a:r>
            <a:r>
              <a:rPr lang="da-DK" sz="1600" b="1" dirty="0" err="1">
                <a:solidFill>
                  <a:srgbClr val="0C3E04"/>
                </a:solidFill>
              </a:rPr>
              <a:t>eq</a:t>
            </a:r>
            <a:r>
              <a:rPr lang="da-DK" sz="1600" b="1" dirty="0">
                <a:solidFill>
                  <a:srgbClr val="0C3E04"/>
                </a:solidFill>
              </a:rPr>
              <a:t>. </a:t>
            </a:r>
            <a:r>
              <a:rPr lang="da-DK" sz="1600" b="1" dirty="0" err="1">
                <a:solidFill>
                  <a:srgbClr val="0C3E04"/>
                </a:solidFill>
              </a:rPr>
              <a:t>with</a:t>
            </a:r>
            <a:r>
              <a:rPr lang="da-DK" sz="1600" b="1" dirty="0">
                <a:solidFill>
                  <a:srgbClr val="0C3E04"/>
                </a:solidFill>
              </a:rPr>
              <a:t> </a:t>
            </a:r>
            <a:r>
              <a:rPr lang="da-DK" sz="1600" b="1" dirty="0" err="1">
                <a:solidFill>
                  <a:srgbClr val="0C3E04"/>
                </a:solidFill>
              </a:rPr>
              <a:t>random</a:t>
            </a:r>
            <a:r>
              <a:rPr lang="da-DK" sz="1600" b="1" dirty="0">
                <a:solidFill>
                  <a:srgbClr val="0C3E04"/>
                </a:solidFill>
              </a:rPr>
              <a:t> 0,5.</a:t>
            </a:r>
          </a:p>
        </p:txBody>
      </p:sp>
      <p:sp>
        <p:nvSpPr>
          <p:cNvPr id="4" name="Tekstboks 3"/>
          <p:cNvSpPr txBox="1"/>
          <p:nvPr/>
        </p:nvSpPr>
        <p:spPr>
          <a:xfrm>
            <a:off x="1151718" y="1733370"/>
            <a:ext cx="1168400" cy="1200329"/>
          </a:xfrm>
          <a:prstGeom prst="rect">
            <a:avLst/>
          </a:prstGeom>
          <a:solidFill>
            <a:srgbClr val="0C3E04"/>
          </a:solidFill>
          <a:ln w="28575"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Ramme p. 313ø., 314n. &amp; 315n.! </a:t>
            </a:r>
          </a:p>
        </p:txBody>
      </p:sp>
    </p:spTree>
    <p:extLst>
      <p:ext uri="{BB962C8B-B14F-4D97-AF65-F5344CB8AC3E}">
        <p14:creationId xmlns:p14="http://schemas.microsoft.com/office/powerpoint/2010/main" val="131340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nimBg="1"/>
      <p:bldP spid="48131" grpId="0" animBg="1"/>
      <p:bldP spid="48132" grpId="0" animBg="1"/>
      <p:bldP spid="48133" grpId="0" animBg="1"/>
    </p:bldLst>
  </p:timing>
</p:sld>
</file>

<file path=ppt/theme/theme1.xml><?xml version="1.0" encoding="utf-8"?>
<a:theme xmlns:a="http://schemas.openxmlformats.org/drawingml/2006/main" name="Crop">
  <a:themeElements>
    <a:clrScheme name="Brugerdefineret 2">
      <a:dk1>
        <a:sysClr val="windowText" lastClr="000000"/>
      </a:dk1>
      <a:lt1>
        <a:sysClr val="window" lastClr="FFFFFF"/>
      </a:lt1>
      <a:dk2>
        <a:srgbClr val="C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Beskæring</Template>
  <TotalTime>2049</TotalTime>
  <Words>901</Words>
  <Application>Microsoft Macintosh PowerPoint</Application>
  <PresentationFormat>Widescreen</PresentationFormat>
  <Paragraphs>203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Franklin Gothic Book</vt:lpstr>
      <vt:lpstr>Crop</vt:lpstr>
      <vt:lpstr>PowerPoint Presentation</vt:lpstr>
      <vt:lpstr>Game Theory </vt:lpstr>
      <vt:lpstr>Game Theory </vt:lpstr>
      <vt:lpstr>Simultaneous-Move,  Non-Repeated Interaction</vt:lpstr>
      <vt:lpstr>Example</vt:lpstr>
      <vt:lpstr>Strategic Form, Dominant Strategy </vt:lpstr>
      <vt:lpstr>Nash Equilibrium, revisited</vt:lpstr>
      <vt:lpstr>Nash Equilibrium </vt:lpstr>
      <vt:lpstr>Nash Equilibrium</vt:lpstr>
      <vt:lpstr>Competition Versus Cooperation</vt:lpstr>
      <vt:lpstr>Coordination Game: Two Nash Equilibria</vt:lpstr>
      <vt:lpstr>Coordination/Competition Game</vt:lpstr>
      <vt:lpstr>Sequential Interactions</vt:lpstr>
      <vt:lpstr>Extensive Form Sequential Game –  backward induction</vt:lpstr>
      <vt:lpstr>Repeated Strategic Interaction</vt:lpstr>
      <vt:lpstr>Strategic Interaction, Organizational Architecture and Principal/Agency - relationships</vt:lpstr>
      <vt:lpstr>Mixed Strategy (randomization, 0,5)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Tamas Vamosi</dc:creator>
  <cp:lastModifiedBy>Kai Inga Liehr Storm</cp:lastModifiedBy>
  <cp:revision>24</cp:revision>
  <dcterms:created xsi:type="dcterms:W3CDTF">2020-02-07T08:11:12Z</dcterms:created>
  <dcterms:modified xsi:type="dcterms:W3CDTF">2026-01-28T12:35:43Z</dcterms:modified>
</cp:coreProperties>
</file>