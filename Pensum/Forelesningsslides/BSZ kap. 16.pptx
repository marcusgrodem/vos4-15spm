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7"/>
  </p:notesMasterIdLst>
  <p:sldIdLst>
    <p:sldId id="257" r:id="rId2"/>
    <p:sldId id="258" r:id="rId3"/>
    <p:sldId id="339" r:id="rId4"/>
    <p:sldId id="346" r:id="rId5"/>
    <p:sldId id="259" r:id="rId6"/>
    <p:sldId id="260" r:id="rId7"/>
    <p:sldId id="261" r:id="rId8"/>
    <p:sldId id="262" r:id="rId9"/>
    <p:sldId id="277" r:id="rId10"/>
    <p:sldId id="278"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34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18" autoAdjust="0"/>
    <p:restoredTop sz="94660"/>
  </p:normalViewPr>
  <p:slideViewPr>
    <p:cSldViewPr snapToGrid="0">
      <p:cViewPr varScale="1">
        <p:scale>
          <a:sx n="121" d="100"/>
          <a:sy n="121" d="100"/>
        </p:scale>
        <p:origin x="328" y="16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as Vamosi" userId="d29b3f17-2c73-4e3f-a1f7-7beee2a70eaf" providerId="ADAL" clId="{3988B881-AAC9-4EB5-BD40-D6F069F40D27}"/>
    <pc:docChg chg="custSel modSld">
      <pc:chgData name="Tamas Vamosi" userId="d29b3f17-2c73-4e3f-a1f7-7beee2a70eaf" providerId="ADAL" clId="{3988B881-AAC9-4EB5-BD40-D6F069F40D27}" dt="2025-03-31T11:53:41.421" v="6" actId="33524"/>
      <pc:docMkLst>
        <pc:docMk/>
      </pc:docMkLst>
      <pc:sldChg chg="modSp mod">
        <pc:chgData name="Tamas Vamosi" userId="d29b3f17-2c73-4e3f-a1f7-7beee2a70eaf" providerId="ADAL" clId="{3988B881-AAC9-4EB5-BD40-D6F069F40D27}" dt="2025-03-31T11:48:06.858" v="1" actId="20577"/>
        <pc:sldMkLst>
          <pc:docMk/>
          <pc:sldMk cId="979503466" sldId="257"/>
        </pc:sldMkLst>
        <pc:spChg chg="mod">
          <ac:chgData name="Tamas Vamosi" userId="d29b3f17-2c73-4e3f-a1f7-7beee2a70eaf" providerId="ADAL" clId="{3988B881-AAC9-4EB5-BD40-D6F069F40D27}" dt="2025-03-31T11:48:06.858" v="1" actId="20577"/>
          <ac:spMkLst>
            <pc:docMk/>
            <pc:sldMk cId="979503466" sldId="257"/>
            <ac:spMk id="2056" creationId="{00000000-0000-0000-0000-000000000000}"/>
          </ac:spMkLst>
        </pc:spChg>
      </pc:sldChg>
      <pc:sldChg chg="modSp mod">
        <pc:chgData name="Tamas Vamosi" userId="d29b3f17-2c73-4e3f-a1f7-7beee2a70eaf" providerId="ADAL" clId="{3988B881-AAC9-4EB5-BD40-D6F069F40D27}" dt="2025-03-31T11:48:44.294" v="5" actId="20577"/>
        <pc:sldMkLst>
          <pc:docMk/>
          <pc:sldMk cId="2248655266" sldId="259"/>
        </pc:sldMkLst>
        <pc:spChg chg="mod">
          <ac:chgData name="Tamas Vamosi" userId="d29b3f17-2c73-4e3f-a1f7-7beee2a70eaf" providerId="ADAL" clId="{3988B881-AAC9-4EB5-BD40-D6F069F40D27}" dt="2025-03-31T11:48:44.294" v="5" actId="20577"/>
          <ac:spMkLst>
            <pc:docMk/>
            <pc:sldMk cId="2248655266" sldId="259"/>
            <ac:spMk id="4098" creationId="{00000000-0000-0000-0000-000000000000}"/>
          </ac:spMkLst>
        </pc:spChg>
      </pc:sldChg>
      <pc:sldChg chg="modSp mod">
        <pc:chgData name="Tamas Vamosi" userId="d29b3f17-2c73-4e3f-a1f7-7beee2a70eaf" providerId="ADAL" clId="{3988B881-AAC9-4EB5-BD40-D6F069F40D27}" dt="2025-03-31T11:53:41.421" v="6" actId="33524"/>
        <pc:sldMkLst>
          <pc:docMk/>
          <pc:sldMk cId="1997505312" sldId="343"/>
        </pc:sldMkLst>
        <pc:spChg chg="mod">
          <ac:chgData name="Tamas Vamosi" userId="d29b3f17-2c73-4e3f-a1f7-7beee2a70eaf" providerId="ADAL" clId="{3988B881-AAC9-4EB5-BD40-D6F069F40D27}" dt="2025-03-31T11:53:41.421" v="6" actId="33524"/>
          <ac:spMkLst>
            <pc:docMk/>
            <pc:sldMk cId="1997505312" sldId="343"/>
            <ac:spMk id="3" creationId="{030AB9CA-894E-4B0A-9FE4-CE30F016698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589A70-E121-4160-B41C-7435306AA86D}" type="datetimeFigureOut">
              <a:rPr lang="da-DK" smtClean="0"/>
              <a:t>06.04.2026</a:t>
            </a:fld>
            <a:endParaRPr lang="da-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242E5-8583-462E-BCB8-60D78F56BAD8}" type="slidenum">
              <a:rPr lang="da-DK" smtClean="0"/>
              <a:t>‹#›</a:t>
            </a:fld>
            <a:endParaRPr lang="da-DK"/>
          </a:p>
        </p:txBody>
      </p:sp>
    </p:spTree>
    <p:extLst>
      <p:ext uri="{BB962C8B-B14F-4D97-AF65-F5344CB8AC3E}">
        <p14:creationId xmlns:p14="http://schemas.microsoft.com/office/powerpoint/2010/main" val="2587151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86A2E134-9825-475F-945C-DBB00711B650}" type="slidenum">
              <a:rPr lang="da-DK" smtClean="0"/>
              <a:pPr/>
              <a:t>3</a:t>
            </a:fld>
            <a:endParaRPr lang="da-DK"/>
          </a:p>
        </p:txBody>
      </p:sp>
    </p:spTree>
    <p:extLst>
      <p:ext uri="{BB962C8B-B14F-4D97-AF65-F5344CB8AC3E}">
        <p14:creationId xmlns:p14="http://schemas.microsoft.com/office/powerpoint/2010/main" val="948678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4A571FAE-2A70-4D25-819F-FEE6CE4DAA85}" type="datetime1">
              <a:rPr lang="en-US" smtClean="0"/>
              <a:t>4/6/26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216CED-72FF-45D6-91DA-EDF3166BEB30}" type="datetime1">
              <a:rPr lang="en-US" smtClean="0"/>
              <a:t>4/6/26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9E5A070D-8010-4313-A0B1-2F50B34B4FA5}" type="datetime1">
              <a:rPr lang="en-US" smtClean="0"/>
              <a:t>4/6/26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B96074-1614-4A69-834F-1A5A36AAFB68}" type="datetime1">
              <a:rPr lang="en-US" smtClean="0"/>
              <a:t>4/6/26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BB27D1-444E-4814-B1A9-6E8FD0072D8C}" type="datetime1">
              <a:rPr lang="en-US" smtClean="0"/>
              <a:t>4/6/26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1E99FB-3C90-40ED-A10B-3C58473FEC83}" type="datetime1">
              <a:rPr lang="en-US" smtClean="0"/>
              <a:t>4/6/26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B72561-86BA-4E41-9FAF-2D668FD55190}" type="datetime1">
              <a:rPr lang="en-US" smtClean="0"/>
              <a:t>4/6/26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E691D00F-EB03-47D9-933F-C3B9503167B9}" type="datetime1">
              <a:rPr lang="en-US" smtClean="0"/>
              <a:t>4/6/26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1857EA07-098E-41B8-9A7A-7AD8974A8E57}" type="datetime1">
              <a:rPr lang="en-US" smtClean="0"/>
              <a:t>4/6/26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7BFBBC-184C-4267-A7D0-89D49CA94249}" type="datetime1">
              <a:rPr lang="en-US" smtClean="0"/>
              <a:t>4/6/26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33F985-2169-466C-925D-B4010C129D46}" type="datetime1">
              <a:rPr lang="en-US" smtClean="0"/>
              <a:t>4/6/26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A12F5A2B-7F1D-41C1-B919-A44DE3E0B0DF}" type="datetime1">
              <a:rPr lang="en-US" smtClean="0"/>
              <a:t>4/6/26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8"/>
          <p:cNvSpPr>
            <a:spLocks noChangeArrowheads="1"/>
          </p:cNvSpPr>
          <p:nvPr/>
        </p:nvSpPr>
        <p:spPr bwMode="auto">
          <a:xfrm>
            <a:off x="2299648" y="2044889"/>
            <a:ext cx="7772400" cy="2819400"/>
          </a:xfrm>
          <a:prstGeom prst="rect">
            <a:avLst/>
          </a:prstGeom>
          <a:noFill/>
          <a:ln w="9525">
            <a:noFill/>
            <a:miter lim="800000"/>
            <a:headEnd/>
            <a:tailEnd/>
          </a:ln>
          <a:effectLst/>
        </p:spPr>
        <p:txBody>
          <a:bodyPr anchor="ctr"/>
          <a:lstStyle/>
          <a:p>
            <a:pPr algn="ctr" eaLnBrk="0" hangingPunct="0"/>
            <a:r>
              <a:rPr lang="en-US" sz="3200" i="1" dirty="0">
                <a:solidFill>
                  <a:srgbClr val="FFFFCC"/>
                </a:solidFill>
              </a:rPr>
              <a:t>Managerial Economics and </a:t>
            </a:r>
          </a:p>
          <a:p>
            <a:pPr algn="ctr" eaLnBrk="0" hangingPunct="0"/>
            <a:r>
              <a:rPr lang="en-US" sz="3200" i="1" dirty="0">
                <a:solidFill>
                  <a:srgbClr val="FFFFCC"/>
                </a:solidFill>
              </a:rPr>
              <a:t>Organizational Architecture</a:t>
            </a:r>
            <a:br>
              <a:rPr lang="en-US" sz="3200" dirty="0">
                <a:solidFill>
                  <a:srgbClr val="FFFFCC"/>
                </a:solidFill>
              </a:rPr>
            </a:br>
            <a:br>
              <a:rPr lang="en-US" sz="4400" dirty="0">
                <a:solidFill>
                  <a:srgbClr val="FFFFCC"/>
                </a:solidFill>
              </a:rPr>
            </a:br>
            <a:r>
              <a:rPr lang="en-US" sz="4800" dirty="0">
                <a:solidFill>
                  <a:srgbClr val="FFFFCC"/>
                </a:solidFill>
              </a:rPr>
              <a:t>Chapter 16:  </a:t>
            </a:r>
          </a:p>
          <a:p>
            <a:pPr algn="ctr" eaLnBrk="0" hangingPunct="0"/>
            <a:r>
              <a:rPr lang="en-US" sz="4800" dirty="0">
                <a:solidFill>
                  <a:srgbClr val="FFFFCC"/>
                </a:solidFill>
              </a:rPr>
              <a:t>Individual Performance Evaluation</a:t>
            </a:r>
          </a:p>
        </p:txBody>
      </p:sp>
    </p:spTree>
    <p:extLst>
      <p:ext uri="{BB962C8B-B14F-4D97-AF65-F5344CB8AC3E}">
        <p14:creationId xmlns:p14="http://schemas.microsoft.com/office/powerpoint/2010/main" val="979503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p:nvPr>
        </p:nvSpPr>
        <p:spPr>
          <a:xfrm>
            <a:off x="1027611" y="97970"/>
            <a:ext cx="8229600" cy="1143000"/>
          </a:xfrm>
        </p:spPr>
        <p:txBody>
          <a:bodyPr/>
          <a:lstStyle/>
          <a:p>
            <a:r>
              <a:rPr lang="en-US" dirty="0"/>
              <a:t>Performance </a:t>
            </a:r>
            <a:r>
              <a:rPr lang="en-US" dirty="0">
                <a:solidFill>
                  <a:srgbClr val="C00000"/>
                </a:solidFill>
              </a:rPr>
              <a:t>Evaluation</a:t>
            </a:r>
          </a:p>
        </p:txBody>
      </p:sp>
      <p:sp>
        <p:nvSpPr>
          <p:cNvPr id="27651" name="Rectangle 1027"/>
          <p:cNvSpPr>
            <a:spLocks noGrp="1" noChangeArrowheads="1"/>
          </p:cNvSpPr>
          <p:nvPr>
            <p:ph type="body" idx="1"/>
          </p:nvPr>
        </p:nvSpPr>
        <p:spPr>
          <a:xfrm>
            <a:off x="1371600" y="1698171"/>
            <a:ext cx="9601200" cy="4169229"/>
          </a:xfrm>
        </p:spPr>
        <p:txBody>
          <a:bodyPr>
            <a:noAutofit/>
          </a:bodyPr>
          <a:lstStyle/>
          <a:p>
            <a:pPr marL="0" indent="0">
              <a:buNone/>
            </a:pPr>
            <a:r>
              <a:rPr lang="en-US" sz="3200" dirty="0" err="1">
                <a:solidFill>
                  <a:srgbClr val="FFFFCC"/>
                </a:solidFill>
              </a:rPr>
              <a:t>Læs</a:t>
            </a:r>
            <a:r>
              <a:rPr lang="en-US" sz="3200" dirty="0">
                <a:solidFill>
                  <a:srgbClr val="FFFFCC"/>
                </a:solidFill>
              </a:rPr>
              <a:t> Lincoln Electric!  </a:t>
            </a:r>
            <a:r>
              <a:rPr lang="en-US" sz="3200" dirty="0" err="1">
                <a:solidFill>
                  <a:srgbClr val="FFFFCC"/>
                </a:solidFill>
              </a:rPr>
              <a:t>Essentiel</a:t>
            </a:r>
            <a:r>
              <a:rPr lang="en-US" sz="3200" dirty="0">
                <a:solidFill>
                  <a:srgbClr val="FFFFCC"/>
                </a:solidFill>
              </a:rPr>
              <a:t> case, p. 498 – 500ø.</a:t>
            </a:r>
          </a:p>
          <a:p>
            <a:pPr marL="514350" indent="-514350">
              <a:buFont typeface="+mj-lt"/>
              <a:buAutoNum type="arabicPeriod"/>
            </a:pPr>
            <a:endParaRPr lang="en-US" sz="3200" dirty="0">
              <a:solidFill>
                <a:srgbClr val="FFFFCC"/>
              </a:solidFill>
            </a:endParaRPr>
          </a:p>
          <a:p>
            <a:pPr marL="514350" indent="-514350">
              <a:buFont typeface="+mj-lt"/>
              <a:buAutoNum type="arabicPeriod"/>
            </a:pPr>
            <a:r>
              <a:rPr lang="en-US" sz="3200" dirty="0">
                <a:solidFill>
                  <a:srgbClr val="C00000"/>
                </a:solidFill>
              </a:rPr>
              <a:t>Evaluations</a:t>
            </a:r>
            <a:r>
              <a:rPr lang="en-US" sz="3200" dirty="0">
                <a:solidFill>
                  <a:srgbClr val="FFFFCC"/>
                </a:solidFill>
              </a:rPr>
              <a:t> provide employees feedback on achievement and ways to improve</a:t>
            </a:r>
          </a:p>
          <a:p>
            <a:pPr marL="514350" indent="-514350">
              <a:buFont typeface="+mj-lt"/>
              <a:buAutoNum type="arabicPeriod"/>
            </a:pPr>
            <a:r>
              <a:rPr lang="en-US" sz="3200" dirty="0">
                <a:solidFill>
                  <a:srgbClr val="C00000"/>
                </a:solidFill>
              </a:rPr>
              <a:t>Evaluations</a:t>
            </a:r>
            <a:r>
              <a:rPr lang="en-US" sz="3200" dirty="0">
                <a:solidFill>
                  <a:srgbClr val="FFFFCC"/>
                </a:solidFill>
              </a:rPr>
              <a:t> are used to determine rewards and sanctions (</a:t>
            </a:r>
            <a:r>
              <a:rPr lang="en-US" sz="3200" dirty="0" err="1">
                <a:solidFill>
                  <a:srgbClr val="FFFFCC"/>
                </a:solidFill>
              </a:rPr>
              <a:t>kap</a:t>
            </a:r>
            <a:r>
              <a:rPr lang="en-US" sz="3200" dirty="0">
                <a:solidFill>
                  <a:srgbClr val="FFFFCC"/>
                </a:solidFill>
              </a:rPr>
              <a:t>. 16)</a:t>
            </a:r>
          </a:p>
          <a:p>
            <a:pPr marL="514350" indent="-514350">
              <a:buFont typeface="+mj-lt"/>
              <a:buAutoNum type="arabicPeriod"/>
            </a:pPr>
            <a:r>
              <a:rPr lang="en-US" sz="3200" dirty="0">
                <a:solidFill>
                  <a:srgbClr val="C00000"/>
                </a:solidFill>
              </a:rPr>
              <a:t>Evaluations</a:t>
            </a:r>
            <a:r>
              <a:rPr lang="en-US" sz="3200" dirty="0">
                <a:solidFill>
                  <a:srgbClr val="FFFFCC"/>
                </a:solidFill>
              </a:rPr>
              <a:t> regard evaluating employees as well as subunits of the firm (</a:t>
            </a:r>
            <a:r>
              <a:rPr lang="en-US" sz="3200" dirty="0" err="1">
                <a:solidFill>
                  <a:srgbClr val="FFFFCC"/>
                </a:solidFill>
              </a:rPr>
              <a:t>kap</a:t>
            </a:r>
            <a:r>
              <a:rPr lang="en-US" sz="3200" dirty="0">
                <a:solidFill>
                  <a:srgbClr val="FFFFCC"/>
                </a:solidFill>
              </a:rPr>
              <a:t>. 17).</a:t>
            </a:r>
          </a:p>
        </p:txBody>
      </p:sp>
      <p:sp>
        <p:nvSpPr>
          <p:cNvPr id="27652" name="Rectangle 1028"/>
          <p:cNvSpPr>
            <a:spLocks noChangeArrowheads="1"/>
          </p:cNvSpPr>
          <p:nvPr/>
        </p:nvSpPr>
        <p:spPr bwMode="auto">
          <a:xfrm>
            <a:off x="9906000" y="6080126"/>
            <a:ext cx="2133600" cy="244475"/>
          </a:xfrm>
          <a:prstGeom prst="rect">
            <a:avLst/>
          </a:prstGeom>
          <a:noFill/>
          <a:ln w="9525">
            <a:noFill/>
            <a:miter lim="800000"/>
            <a:headEnd/>
            <a:tailEnd/>
          </a:ln>
          <a:effectLst/>
        </p:spPr>
        <p:txBody>
          <a:bodyPr/>
          <a:lstStyle/>
          <a:p>
            <a:pPr algn="ctr"/>
            <a:fld id="{2E6A2329-FC8B-45D0-B8A4-8E156BA46B31}" type="slidenum">
              <a:rPr lang="en-US" sz="2000" smtClean="0"/>
              <a:pPr algn="ctr"/>
              <a:t>2</a:t>
            </a:fld>
            <a:endParaRPr lang="en-US" sz="2000" dirty="0"/>
          </a:p>
        </p:txBody>
      </p:sp>
      <p:sp>
        <p:nvSpPr>
          <p:cNvPr id="3" name="Slide Number Placeholder 2"/>
          <p:cNvSpPr>
            <a:spLocks noGrp="1"/>
          </p:cNvSpPr>
          <p:nvPr>
            <p:ph type="sldNum" sz="quarter" idx="12"/>
          </p:nvPr>
        </p:nvSpPr>
        <p:spPr/>
        <p:txBody>
          <a:bodyPr/>
          <a:lstStyle/>
          <a:p>
            <a:fld id="{69E57DC2-970A-4B3E-BB1C-7A09969E49DF}" type="slidenum">
              <a:rPr lang="en-US" smtClean="0"/>
              <a:t>2</a:t>
            </a:fld>
            <a:endParaRPr lang="en-US" dirty="0"/>
          </a:p>
        </p:txBody>
      </p:sp>
    </p:spTree>
    <p:extLst>
      <p:ext uri="{BB962C8B-B14F-4D97-AF65-F5344CB8AC3E}">
        <p14:creationId xmlns:p14="http://schemas.microsoft.com/office/powerpoint/2010/main" val="398381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4AE21-340B-1561-BDFA-B03943735025}"/>
              </a:ext>
            </a:extLst>
          </p:cNvPr>
          <p:cNvSpPr>
            <a:spLocks noGrp="1"/>
          </p:cNvSpPr>
          <p:nvPr>
            <p:ph type="title"/>
          </p:nvPr>
        </p:nvSpPr>
        <p:spPr/>
        <p:txBody>
          <a:bodyPr/>
          <a:lstStyle/>
          <a:p>
            <a:r>
              <a:rPr lang="en-DK" dirty="0">
                <a:solidFill>
                  <a:schemeClr val="bg1"/>
                </a:solidFill>
              </a:rPr>
              <a:t>Hvorfor præstationsmåle?</a:t>
            </a:r>
          </a:p>
        </p:txBody>
      </p:sp>
      <p:sp>
        <p:nvSpPr>
          <p:cNvPr id="3" name="Content Placeholder 2">
            <a:extLst>
              <a:ext uri="{FF2B5EF4-FFF2-40B4-BE49-F238E27FC236}">
                <a16:creationId xmlns:a16="http://schemas.microsoft.com/office/drawing/2014/main" id="{23058249-CE12-5F30-9D0F-C608F253A639}"/>
              </a:ext>
            </a:extLst>
          </p:cNvPr>
          <p:cNvSpPr>
            <a:spLocks noGrp="1"/>
          </p:cNvSpPr>
          <p:nvPr>
            <p:ph sz="half" idx="1"/>
          </p:nvPr>
        </p:nvSpPr>
        <p:spPr>
          <a:xfrm>
            <a:off x="1981200" y="1600201"/>
            <a:ext cx="4326310" cy="4525963"/>
          </a:xfrm>
        </p:spPr>
        <p:txBody>
          <a:bodyPr>
            <a:normAutofit fontScale="85000" lnSpcReduction="20000"/>
          </a:bodyPr>
          <a:lstStyle/>
          <a:p>
            <a:pPr marL="514350" indent="-457200">
              <a:buFont typeface="+mj-lt"/>
              <a:buAutoNum type="arabicPeriod"/>
            </a:pPr>
            <a:r>
              <a:rPr lang="da-DK" b="1" dirty="0">
                <a:solidFill>
                  <a:schemeClr val="bg1"/>
                </a:solidFill>
                <a:latin typeface="Times New Roman"/>
                <a:ea typeface="Calibri" panose="020F0502020204030204" pitchFamily="34" charset="0"/>
                <a:cs typeface="Times New Roman"/>
              </a:rPr>
              <a:t>For at give medarbejdere feedback</a:t>
            </a:r>
          </a:p>
          <a:p>
            <a:pPr lvl="1"/>
            <a:r>
              <a:rPr lang="da-DK" dirty="0">
                <a:latin typeface="Times New Roman"/>
                <a:ea typeface="Calibri" panose="020F0502020204030204" pitchFamily="34" charset="0"/>
                <a:cs typeface="Times New Roman"/>
              </a:rPr>
              <a:t>Medvirker til at løse koordinationsproblemet!</a:t>
            </a:r>
          </a:p>
          <a:p>
            <a:pPr lvl="1"/>
            <a:endParaRPr lang="da-DK" dirty="0">
              <a:solidFill>
                <a:srgbClr val="C00000"/>
              </a:solidFill>
              <a:latin typeface="Times New Roman"/>
              <a:ea typeface="Calibri" panose="020F0502020204030204" pitchFamily="34" charset="0"/>
              <a:cs typeface="Times New Roman"/>
            </a:endParaRPr>
          </a:p>
          <a:p>
            <a:pPr marL="457200" indent="-457200">
              <a:buFont typeface="+mj-lt"/>
              <a:buAutoNum type="arabicPeriod"/>
            </a:pPr>
            <a:r>
              <a:rPr lang="da-DK" b="1" dirty="0">
                <a:solidFill>
                  <a:schemeClr val="bg1"/>
                </a:solidFill>
                <a:latin typeface="Times New Roman"/>
                <a:ea typeface="Calibri" panose="020F0502020204030204" pitchFamily="34" charset="0"/>
                <a:cs typeface="Times New Roman"/>
              </a:rPr>
              <a:t>For at bestemme belønninger (‘</a:t>
            </a:r>
            <a:r>
              <a:rPr lang="da-DK" b="1" dirty="0" err="1">
                <a:solidFill>
                  <a:schemeClr val="bg1"/>
                </a:solidFill>
                <a:latin typeface="Times New Roman"/>
                <a:ea typeface="Calibri" panose="020F0502020204030204" pitchFamily="34" charset="0"/>
                <a:cs typeface="Times New Roman"/>
              </a:rPr>
              <a:t>rewards</a:t>
            </a:r>
            <a:r>
              <a:rPr lang="da-DK" b="1" dirty="0">
                <a:solidFill>
                  <a:schemeClr val="bg1"/>
                </a:solidFill>
                <a:latin typeface="Times New Roman"/>
                <a:ea typeface="Calibri" panose="020F0502020204030204" pitchFamily="34" charset="0"/>
                <a:cs typeface="Times New Roman"/>
              </a:rPr>
              <a:t>’) og sanktioner</a:t>
            </a:r>
          </a:p>
          <a:p>
            <a:pPr marL="857250" lvl="1" indent="-457200"/>
            <a:r>
              <a:rPr lang="da-DK" dirty="0">
                <a:latin typeface="Times New Roman"/>
                <a:ea typeface="Calibri" panose="020F0502020204030204" pitchFamily="34" charset="0"/>
                <a:cs typeface="Times New Roman"/>
              </a:rPr>
              <a:t>Medvirker til at løse motivationsproblemet!</a:t>
            </a:r>
          </a:p>
          <a:p>
            <a:pPr marL="400050" lvl="1" indent="0">
              <a:buNone/>
            </a:pPr>
            <a:endParaRPr lang="da-DK" b="1" dirty="0">
              <a:solidFill>
                <a:schemeClr val="accent6"/>
              </a:solidFill>
              <a:ea typeface="Calibri" panose="020F0502020204030204" pitchFamily="34" charset="0"/>
            </a:endParaRPr>
          </a:p>
          <a:p>
            <a:pPr marL="457200" indent="-457200">
              <a:buFont typeface="+mj-lt"/>
              <a:buAutoNum type="arabicPeriod"/>
            </a:pPr>
            <a:r>
              <a:rPr lang="da-DK" b="1" dirty="0">
                <a:solidFill>
                  <a:schemeClr val="bg1"/>
                </a:solidFill>
                <a:latin typeface="Times New Roman"/>
                <a:ea typeface="Calibri" panose="020F0502020204030204" pitchFamily="34" charset="0"/>
                <a:cs typeface="Times New Roman"/>
              </a:rPr>
              <a:t>Præstationsmålinger er en central del af virksomhedens organisatoriske arkitektur (se også kap. 17)</a:t>
            </a:r>
            <a:endParaRPr lang="da-DK" b="1" dirty="0">
              <a:solidFill>
                <a:schemeClr val="bg1"/>
              </a:solidFill>
              <a:ea typeface="Calibri" panose="020F0502020204030204" pitchFamily="34" charset="0"/>
            </a:endParaRPr>
          </a:p>
          <a:p>
            <a:pPr marL="857250" lvl="1" indent="-457200"/>
            <a:r>
              <a:rPr lang="da-DK" dirty="0">
                <a:latin typeface="Times New Roman"/>
                <a:cs typeface="Times New Roman"/>
              </a:rPr>
              <a:t>Præstationsmålinger skal afspejle belønningssystemet</a:t>
            </a:r>
          </a:p>
          <a:p>
            <a:pPr marL="857250" lvl="1" indent="-457200"/>
            <a:r>
              <a:rPr lang="da-DK" dirty="0">
                <a:latin typeface="Times New Roman"/>
                <a:cs typeface="Times New Roman"/>
              </a:rPr>
              <a:t>Præstationsmålinger skal afspejle uddelegering af beslutningsrettigheder </a:t>
            </a:r>
          </a:p>
          <a:p>
            <a:pPr marL="0" indent="0">
              <a:buNone/>
            </a:pPr>
            <a:endParaRPr lang="en-DK" dirty="0"/>
          </a:p>
        </p:txBody>
      </p:sp>
      <p:sp>
        <p:nvSpPr>
          <p:cNvPr id="6" name="Slide Number Placeholder 5">
            <a:extLst>
              <a:ext uri="{FF2B5EF4-FFF2-40B4-BE49-F238E27FC236}">
                <a16:creationId xmlns:a16="http://schemas.microsoft.com/office/drawing/2014/main" id="{12CEF31F-A984-4459-62E9-E89FB20587C3}"/>
              </a:ext>
            </a:extLst>
          </p:cNvPr>
          <p:cNvSpPr>
            <a:spLocks noGrp="1"/>
          </p:cNvSpPr>
          <p:nvPr>
            <p:ph type="sldNum" sz="quarter" idx="12"/>
          </p:nvPr>
        </p:nvSpPr>
        <p:spPr/>
        <p:txBody>
          <a:bodyPr/>
          <a:lstStyle/>
          <a:p>
            <a:fld id="{2976E088-A841-40CF-B287-80586A084F56}" type="slidenum">
              <a:rPr lang="da-DK" smtClean="0"/>
              <a:pPr/>
              <a:t>3</a:t>
            </a:fld>
            <a:endParaRPr lang="da-DK"/>
          </a:p>
        </p:txBody>
      </p:sp>
      <p:grpSp>
        <p:nvGrpSpPr>
          <p:cNvPr id="7" name="Group 6">
            <a:extLst>
              <a:ext uri="{FF2B5EF4-FFF2-40B4-BE49-F238E27FC236}">
                <a16:creationId xmlns:a16="http://schemas.microsoft.com/office/drawing/2014/main" id="{30EE486F-B520-9578-3C52-17C46E187142}"/>
              </a:ext>
            </a:extLst>
          </p:cNvPr>
          <p:cNvGrpSpPr/>
          <p:nvPr/>
        </p:nvGrpSpPr>
        <p:grpSpPr>
          <a:xfrm>
            <a:off x="5849231" y="1848841"/>
            <a:ext cx="4455939" cy="3160318"/>
            <a:chOff x="4678678" y="2136783"/>
            <a:chExt cx="4455939" cy="3160318"/>
          </a:xfrm>
        </p:grpSpPr>
        <p:sp>
          <p:nvSpPr>
            <p:cNvPr id="8" name="TextBox 7">
              <a:extLst>
                <a:ext uri="{FF2B5EF4-FFF2-40B4-BE49-F238E27FC236}">
                  <a16:creationId xmlns:a16="http://schemas.microsoft.com/office/drawing/2014/main" id="{E3476BFD-F03A-7419-2DDB-C93AA1427D85}"/>
                </a:ext>
              </a:extLst>
            </p:cNvPr>
            <p:cNvSpPr txBox="1"/>
            <p:nvPr/>
          </p:nvSpPr>
          <p:spPr>
            <a:xfrm>
              <a:off x="5500844" y="2136783"/>
              <a:ext cx="29354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a-DK" b="1" dirty="0">
                  <a:latin typeface="Times New Roman"/>
                  <a:cs typeface="Times New Roman"/>
                </a:rPr>
                <a:t>Organisatoriske arkitektur</a:t>
              </a:r>
              <a:endParaRPr lang="en-US" b="1" dirty="0"/>
            </a:p>
          </p:txBody>
        </p:sp>
        <p:grpSp>
          <p:nvGrpSpPr>
            <p:cNvPr id="9" name="Group 8">
              <a:extLst>
                <a:ext uri="{FF2B5EF4-FFF2-40B4-BE49-F238E27FC236}">
                  <a16:creationId xmlns:a16="http://schemas.microsoft.com/office/drawing/2014/main" id="{EF3E6263-74B1-863D-203F-CDB249878A8C}"/>
                </a:ext>
              </a:extLst>
            </p:cNvPr>
            <p:cNvGrpSpPr/>
            <p:nvPr/>
          </p:nvGrpSpPr>
          <p:grpSpPr>
            <a:xfrm>
              <a:off x="4678678" y="2724063"/>
              <a:ext cx="4455939" cy="2573038"/>
              <a:chOff x="4678678" y="2724063"/>
              <a:chExt cx="4455939" cy="2573038"/>
            </a:xfrm>
          </p:grpSpPr>
          <p:sp>
            <p:nvSpPr>
              <p:cNvPr id="10" name="Oval 9">
                <a:extLst>
                  <a:ext uri="{FF2B5EF4-FFF2-40B4-BE49-F238E27FC236}">
                    <a16:creationId xmlns:a16="http://schemas.microsoft.com/office/drawing/2014/main" id="{59BB6086-0D88-FC1D-A2B6-0C9C72F0CD44}"/>
                  </a:ext>
                </a:extLst>
              </p:cNvPr>
              <p:cNvSpPr/>
              <p:nvPr/>
            </p:nvSpPr>
            <p:spPr>
              <a:xfrm>
                <a:off x="5908709" y="2724063"/>
                <a:ext cx="2041257" cy="646834"/>
              </a:xfrm>
              <a:prstGeom prst="ellipse">
                <a:avLst/>
              </a:prstGeom>
              <a:noFill/>
              <a:ln>
                <a:solidFill>
                  <a:srgbClr val="FFC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11" name="Oval 10">
                <a:extLst>
                  <a:ext uri="{FF2B5EF4-FFF2-40B4-BE49-F238E27FC236}">
                    <a16:creationId xmlns:a16="http://schemas.microsoft.com/office/drawing/2014/main" id="{2EACF6BB-BD1A-267E-D059-9A8042113649}"/>
                  </a:ext>
                </a:extLst>
              </p:cNvPr>
              <p:cNvSpPr/>
              <p:nvPr/>
            </p:nvSpPr>
            <p:spPr>
              <a:xfrm>
                <a:off x="7553434" y="4753525"/>
                <a:ext cx="1397301" cy="543576"/>
              </a:xfrm>
              <a:prstGeom prst="ellipse">
                <a:avLst/>
              </a:prstGeom>
              <a:noFill/>
              <a:ln>
                <a:solidFill>
                  <a:srgbClr val="FFC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grpSp>
            <p:nvGrpSpPr>
              <p:cNvPr id="12" name="Group 11">
                <a:extLst>
                  <a:ext uri="{FF2B5EF4-FFF2-40B4-BE49-F238E27FC236}">
                    <a16:creationId xmlns:a16="http://schemas.microsoft.com/office/drawing/2014/main" id="{C0B08545-4D21-EAB2-5BE6-857BBE158AF9}"/>
                  </a:ext>
                </a:extLst>
              </p:cNvPr>
              <p:cNvGrpSpPr/>
              <p:nvPr/>
            </p:nvGrpSpPr>
            <p:grpSpPr>
              <a:xfrm>
                <a:off x="4678678" y="2852936"/>
                <a:ext cx="4455939" cy="2350005"/>
                <a:chOff x="912721" y="2627353"/>
                <a:chExt cx="7532124" cy="4056566"/>
              </a:xfrm>
            </p:grpSpPr>
            <p:sp>
              <p:nvSpPr>
                <p:cNvPr id="13" name="Tekstboks 15">
                  <a:extLst>
                    <a:ext uri="{FF2B5EF4-FFF2-40B4-BE49-F238E27FC236}">
                      <a16:creationId xmlns:a16="http://schemas.microsoft.com/office/drawing/2014/main" id="{437B6278-B650-6ECE-E587-60EDE5BB944D}"/>
                    </a:ext>
                  </a:extLst>
                </p:cNvPr>
                <p:cNvSpPr txBox="1"/>
                <p:nvPr/>
              </p:nvSpPr>
              <p:spPr>
                <a:xfrm>
                  <a:off x="2670676" y="2627353"/>
                  <a:ext cx="4225579" cy="584410"/>
                </a:xfrm>
                <a:prstGeom prst="rect">
                  <a:avLst/>
                </a:prstGeom>
                <a:noFill/>
              </p:spPr>
              <p:txBody>
                <a:bodyPr wrap="square" rtlCol="0">
                  <a:spAutoFit/>
                </a:bodyPr>
                <a:lstStyle/>
                <a:p>
                  <a:pPr algn="ctr"/>
                  <a:r>
                    <a:rPr lang="da-DK" sz="1600" dirty="0">
                      <a:latin typeface="Times New Roman" panose="02020603050405020304" pitchFamily="18" charset="0"/>
                      <a:cs typeface="Times New Roman" panose="02020603050405020304" pitchFamily="18" charset="0"/>
                    </a:rPr>
                    <a:t>Beslutningsrettigheder</a:t>
                  </a:r>
                </a:p>
              </p:txBody>
            </p:sp>
            <p:sp>
              <p:nvSpPr>
                <p:cNvPr id="14" name="Tekstboks 16">
                  <a:extLst>
                    <a:ext uri="{FF2B5EF4-FFF2-40B4-BE49-F238E27FC236}">
                      <a16:creationId xmlns:a16="http://schemas.microsoft.com/office/drawing/2014/main" id="{7347DF00-2701-D48E-B6B0-C513CBE7F656}"/>
                    </a:ext>
                  </a:extLst>
                </p:cNvPr>
                <p:cNvSpPr txBox="1"/>
                <p:nvPr/>
              </p:nvSpPr>
              <p:spPr>
                <a:xfrm>
                  <a:off x="912721" y="6027023"/>
                  <a:ext cx="4423696" cy="584410"/>
                </a:xfrm>
                <a:prstGeom prst="rect">
                  <a:avLst/>
                </a:prstGeom>
                <a:noFill/>
              </p:spPr>
              <p:txBody>
                <a:bodyPr wrap="square" rtlCol="0">
                  <a:spAutoFit/>
                </a:bodyPr>
                <a:lstStyle/>
                <a:p>
                  <a:pPr algn="ctr"/>
                  <a:r>
                    <a:rPr lang="da-DK" sz="1600" dirty="0">
                      <a:latin typeface="Times New Roman" panose="02020603050405020304" pitchFamily="18" charset="0"/>
                      <a:cs typeface="Times New Roman" panose="02020603050405020304" pitchFamily="18" charset="0"/>
                    </a:rPr>
                    <a:t>Præstationsmålinger</a:t>
                  </a:r>
                  <a:endParaRPr lang="da-DK" sz="2400" dirty="0">
                    <a:latin typeface="Times New Roman" panose="02020603050405020304" pitchFamily="18" charset="0"/>
                    <a:cs typeface="Times New Roman" panose="02020603050405020304" pitchFamily="18" charset="0"/>
                  </a:endParaRPr>
                </a:p>
              </p:txBody>
            </p:sp>
            <p:sp>
              <p:nvSpPr>
                <p:cNvPr id="15" name="Tekstboks 17">
                  <a:extLst>
                    <a:ext uri="{FF2B5EF4-FFF2-40B4-BE49-F238E27FC236}">
                      <a16:creationId xmlns:a16="http://schemas.microsoft.com/office/drawing/2014/main" id="{4B587254-76C0-86F8-59B6-88642B922D58}"/>
                    </a:ext>
                  </a:extLst>
                </p:cNvPr>
                <p:cNvSpPr txBox="1"/>
                <p:nvPr/>
              </p:nvSpPr>
              <p:spPr>
                <a:xfrm>
                  <a:off x="5544608" y="6099509"/>
                  <a:ext cx="2900237" cy="584410"/>
                </a:xfrm>
                <a:prstGeom prst="rect">
                  <a:avLst/>
                </a:prstGeom>
                <a:noFill/>
              </p:spPr>
              <p:txBody>
                <a:bodyPr wrap="square" rtlCol="0">
                  <a:spAutoFit/>
                </a:bodyPr>
                <a:lstStyle/>
                <a:p>
                  <a:pPr algn="ctr"/>
                  <a:r>
                    <a:rPr lang="da-DK" sz="1600" dirty="0">
                      <a:latin typeface="Times New Roman" panose="02020603050405020304" pitchFamily="18" charset="0"/>
                      <a:cs typeface="Times New Roman" panose="02020603050405020304" pitchFamily="18" charset="0"/>
                    </a:rPr>
                    <a:t>Kompensation</a:t>
                  </a:r>
                </a:p>
              </p:txBody>
            </p:sp>
            <p:grpSp>
              <p:nvGrpSpPr>
                <p:cNvPr id="16" name="Group 15">
                  <a:extLst>
                    <a:ext uri="{FF2B5EF4-FFF2-40B4-BE49-F238E27FC236}">
                      <a16:creationId xmlns:a16="http://schemas.microsoft.com/office/drawing/2014/main" id="{54499692-C22B-86FB-95BA-355A55BBD81B}"/>
                    </a:ext>
                  </a:extLst>
                </p:cNvPr>
                <p:cNvGrpSpPr/>
                <p:nvPr/>
              </p:nvGrpSpPr>
              <p:grpSpPr>
                <a:xfrm>
                  <a:off x="3124568" y="3574473"/>
                  <a:ext cx="3317795" cy="2271340"/>
                  <a:chOff x="2773249" y="3096513"/>
                  <a:chExt cx="3240000" cy="2160000"/>
                </a:xfrm>
              </p:grpSpPr>
              <p:sp>
                <p:nvSpPr>
                  <p:cNvPr id="17" name="Trekant 3">
                    <a:extLst>
                      <a:ext uri="{FF2B5EF4-FFF2-40B4-BE49-F238E27FC236}">
                        <a16:creationId xmlns:a16="http://schemas.microsoft.com/office/drawing/2014/main" id="{C99C4626-E19E-CF65-78C3-3F88225F10F5}"/>
                      </a:ext>
                    </a:extLst>
                  </p:cNvPr>
                  <p:cNvSpPr/>
                  <p:nvPr/>
                </p:nvSpPr>
                <p:spPr>
                  <a:xfrm>
                    <a:off x="2773249" y="3096513"/>
                    <a:ext cx="3240000" cy="2160000"/>
                  </a:xfrm>
                  <a:prstGeom prst="triangle">
                    <a:avLst/>
                  </a:prstGeom>
                  <a:solidFill>
                    <a:srgbClr val="FFC000"/>
                  </a:solidFill>
                  <a:ln>
                    <a:solidFill>
                      <a:schemeClr val="accent6">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da-DK"/>
                  </a:p>
                </p:txBody>
              </p:sp>
              <p:pic>
                <p:nvPicPr>
                  <p:cNvPr id="18" name="Picture 23">
                    <a:extLst>
                      <a:ext uri="{FF2B5EF4-FFF2-40B4-BE49-F238E27FC236}">
                        <a16:creationId xmlns:a16="http://schemas.microsoft.com/office/drawing/2014/main" id="{40B8B8EB-AF29-FE21-ADE6-50A00A90D8EE}"/>
                      </a:ext>
                    </a:extLst>
                  </p:cNvPr>
                  <p:cNvPicPr>
                    <a:picLocks noChangeAspect="1"/>
                  </p:cNvPicPr>
                  <p:nvPr/>
                </p:nvPicPr>
                <p:blipFill>
                  <a:blip r:embed="rId3"/>
                  <a:stretch>
                    <a:fillRect/>
                  </a:stretch>
                </p:blipFill>
                <p:spPr>
                  <a:xfrm>
                    <a:off x="3765355" y="3937661"/>
                    <a:ext cx="1255792" cy="1061828"/>
                  </a:xfrm>
                  <a:prstGeom prst="rect">
                    <a:avLst/>
                  </a:prstGeom>
                </p:spPr>
              </p:pic>
            </p:grpSp>
          </p:grpSp>
        </p:grpSp>
      </p:grpSp>
    </p:spTree>
    <p:extLst>
      <p:ext uri="{BB962C8B-B14F-4D97-AF65-F5344CB8AC3E}">
        <p14:creationId xmlns:p14="http://schemas.microsoft.com/office/powerpoint/2010/main" val="1327976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0AB9CA-894E-4B0A-9FE4-CE30F0166987}"/>
              </a:ext>
            </a:extLst>
          </p:cNvPr>
          <p:cNvSpPr>
            <a:spLocks noGrp="1"/>
          </p:cNvSpPr>
          <p:nvPr>
            <p:ph idx="1"/>
          </p:nvPr>
        </p:nvSpPr>
        <p:spPr>
          <a:xfrm>
            <a:off x="1981200" y="1646328"/>
            <a:ext cx="8229600" cy="5134230"/>
          </a:xfrm>
        </p:spPr>
        <p:txBody>
          <a:bodyPr vert="horz" lIns="91440" tIns="45720" rIns="91440" bIns="45720" rtlCol="0" anchor="t">
            <a:noAutofit/>
          </a:bodyPr>
          <a:lstStyle/>
          <a:p>
            <a:pPr marL="0" indent="0">
              <a:buNone/>
            </a:pPr>
            <a:r>
              <a:rPr lang="da-DK" sz="1700" dirty="0">
                <a:solidFill>
                  <a:schemeClr val="bg1"/>
                </a:solidFill>
                <a:latin typeface="Times New Roman"/>
                <a:cs typeface="Times New Roman"/>
              </a:rPr>
              <a:t>Præstationsmåling</a:t>
            </a:r>
          </a:p>
          <a:p>
            <a:pPr>
              <a:buFont typeface="+mj-lt"/>
              <a:buAutoNum type="arabicPeriod"/>
            </a:pPr>
            <a:r>
              <a:rPr lang="da-DK" sz="1700" dirty="0">
                <a:solidFill>
                  <a:schemeClr val="bg1"/>
                </a:solidFill>
                <a:latin typeface="Times New Roman"/>
                <a:cs typeface="Times New Roman"/>
              </a:rPr>
              <a:t>Relative præstationsmålinger</a:t>
            </a:r>
          </a:p>
          <a:p>
            <a:pPr>
              <a:buFont typeface="+mj-lt"/>
              <a:buAutoNum type="arabicPeriod"/>
            </a:pPr>
            <a:r>
              <a:rPr lang="da-DK" sz="1700" dirty="0">
                <a:solidFill>
                  <a:schemeClr val="bg1"/>
                </a:solidFill>
                <a:latin typeface="Times New Roman"/>
                <a:cs typeface="Times New Roman"/>
              </a:rPr>
              <a:t>Absolutte præstationsmålinger</a:t>
            </a:r>
          </a:p>
          <a:p>
            <a:pPr>
              <a:buFont typeface="+mj-lt"/>
              <a:buAutoNum type="arabicPeriod"/>
            </a:pPr>
            <a:r>
              <a:rPr lang="da-DK" sz="1700" dirty="0">
                <a:solidFill>
                  <a:schemeClr val="bg1"/>
                </a:solidFill>
                <a:latin typeface="Times New Roman"/>
                <a:cs typeface="Times New Roman"/>
              </a:rPr>
              <a:t>Objektive præstationsmålinger</a:t>
            </a:r>
          </a:p>
          <a:p>
            <a:pPr>
              <a:buFont typeface="+mj-lt"/>
              <a:buAutoNum type="arabicPeriod"/>
            </a:pPr>
            <a:r>
              <a:rPr lang="da-DK" sz="1700" dirty="0">
                <a:solidFill>
                  <a:schemeClr val="bg1"/>
                </a:solidFill>
                <a:latin typeface="Times New Roman"/>
                <a:cs typeface="Times New Roman"/>
              </a:rPr>
              <a:t>Subjektive præstationsmålinger</a:t>
            </a:r>
          </a:p>
          <a:p>
            <a:pPr>
              <a:buFont typeface="+mj-lt"/>
              <a:buAutoNum type="arabicPeriod"/>
            </a:pPr>
            <a:endParaRPr lang="da-DK" sz="1700" dirty="0">
              <a:solidFill>
                <a:schemeClr val="bg1"/>
              </a:solidFill>
              <a:latin typeface="Times New Roman"/>
              <a:cs typeface="Times New Roman"/>
            </a:endParaRPr>
          </a:p>
          <a:p>
            <a:r>
              <a:rPr lang="da-DK" sz="1700" dirty="0">
                <a:solidFill>
                  <a:schemeClr val="bg1"/>
                </a:solidFill>
                <a:latin typeface="Times New Roman"/>
                <a:cs typeface="Times New Roman"/>
              </a:rPr>
              <a:t>Kombinationer af måltyper</a:t>
            </a:r>
          </a:p>
          <a:p>
            <a:r>
              <a:rPr lang="da-DK" sz="1700" dirty="0">
                <a:solidFill>
                  <a:schemeClr val="bg1"/>
                </a:solidFill>
                <a:latin typeface="Times New Roman"/>
                <a:cs typeface="Times New Roman"/>
              </a:rPr>
              <a:t>Problemer/udfordringer ved forskellige typer af præstationsmålinger</a:t>
            </a:r>
          </a:p>
          <a:p>
            <a:r>
              <a:rPr lang="da-DK" sz="1700" dirty="0">
                <a:solidFill>
                  <a:schemeClr val="bg1"/>
                </a:solidFill>
                <a:latin typeface="Times New Roman"/>
                <a:cs typeface="Times New Roman"/>
              </a:rPr>
              <a:t>Måleomkostninger og ‘</a:t>
            </a:r>
            <a:r>
              <a:rPr lang="da-DK" sz="1700" dirty="0" err="1">
                <a:solidFill>
                  <a:schemeClr val="bg1"/>
                </a:solidFill>
                <a:latin typeface="Times New Roman"/>
                <a:cs typeface="Times New Roman"/>
              </a:rPr>
              <a:t>informativeness</a:t>
            </a:r>
            <a:r>
              <a:rPr lang="da-DK" sz="1700" dirty="0">
                <a:solidFill>
                  <a:schemeClr val="bg1"/>
                </a:solidFill>
                <a:latin typeface="Times New Roman"/>
                <a:cs typeface="Times New Roman"/>
              </a:rPr>
              <a:t>’-princippet</a:t>
            </a:r>
          </a:p>
          <a:p>
            <a:pPr marL="0" indent="0">
              <a:buNone/>
            </a:pPr>
            <a:endParaRPr lang="da-DK" sz="1700" b="1" dirty="0">
              <a:solidFill>
                <a:srgbClr val="C00000"/>
              </a:solidFill>
              <a:latin typeface="Times New Roman"/>
              <a:cs typeface="Times New Roman"/>
            </a:endParaRPr>
          </a:p>
        </p:txBody>
      </p:sp>
      <p:sp>
        <p:nvSpPr>
          <p:cNvPr id="5" name="Slide Number Placeholder 4">
            <a:extLst>
              <a:ext uri="{FF2B5EF4-FFF2-40B4-BE49-F238E27FC236}">
                <a16:creationId xmlns:a16="http://schemas.microsoft.com/office/drawing/2014/main" id="{8662FBFE-E1C2-46EB-B6A0-663904084123}"/>
              </a:ext>
            </a:extLst>
          </p:cNvPr>
          <p:cNvSpPr>
            <a:spLocks noGrp="1"/>
          </p:cNvSpPr>
          <p:nvPr>
            <p:ph type="sldNum" sz="quarter" idx="12"/>
          </p:nvPr>
        </p:nvSpPr>
        <p:spPr/>
        <p:txBody>
          <a:bodyPr/>
          <a:lstStyle/>
          <a:p>
            <a:fld id="{2976E088-A841-40CF-B287-80586A084F56}" type="slidenum">
              <a:rPr lang="da-DK" smtClean="0"/>
              <a:pPr/>
              <a:t>4</a:t>
            </a:fld>
            <a:endParaRPr lang="da-DK"/>
          </a:p>
        </p:txBody>
      </p:sp>
      <p:sp>
        <p:nvSpPr>
          <p:cNvPr id="11" name="Pladsholder til tekst 2">
            <a:extLst>
              <a:ext uri="{FF2B5EF4-FFF2-40B4-BE49-F238E27FC236}">
                <a16:creationId xmlns:a16="http://schemas.microsoft.com/office/drawing/2014/main" id="{8FD9D2C9-52E3-476E-8B56-2C09804A2128}"/>
              </a:ext>
            </a:extLst>
          </p:cNvPr>
          <p:cNvSpPr txBox="1">
            <a:spLocks/>
          </p:cNvSpPr>
          <p:nvPr/>
        </p:nvSpPr>
        <p:spPr>
          <a:xfrm>
            <a:off x="2440781" y="620689"/>
            <a:ext cx="7310438" cy="866747"/>
          </a:xfrm>
          <a:prstGeom prst="rect">
            <a:avLst/>
          </a:prstGeom>
        </p:spPr>
        <p:txBody>
          <a:bodyPr vert="horz" lIns="91440" tIns="45720" rIns="91440" bIns="45720" rtlCol="0" anchor="t">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da-DK" sz="3600" b="1" dirty="0">
                <a:solidFill>
                  <a:schemeClr val="bg1"/>
                </a:solidFill>
                <a:latin typeface="Times New Roman"/>
                <a:cs typeface="Times New Roman"/>
              </a:rPr>
              <a:t>Nedslagspunkter i dag</a:t>
            </a:r>
            <a:endParaRPr lang="en-US" sz="3600" b="1" dirty="0" err="1">
              <a:solidFill>
                <a:schemeClr val="bg1"/>
              </a:solidFill>
              <a:latin typeface="Times New Roman"/>
              <a:cs typeface="Times New Roman"/>
            </a:endParaRPr>
          </a:p>
        </p:txBody>
      </p:sp>
    </p:spTree>
    <p:extLst>
      <p:ext uri="{BB962C8B-B14F-4D97-AF65-F5344CB8AC3E}">
        <p14:creationId xmlns:p14="http://schemas.microsoft.com/office/powerpoint/2010/main" val="1622337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981200" y="609600"/>
            <a:ext cx="8229600" cy="1143000"/>
          </a:xfrm>
        </p:spPr>
        <p:txBody>
          <a:bodyPr/>
          <a:lstStyle/>
          <a:p>
            <a:pPr eaLnBrk="1" hangingPunct="1"/>
            <a:r>
              <a:rPr lang="en-US" dirty="0"/>
              <a:t>Incentive Compensation (again)</a:t>
            </a:r>
          </a:p>
        </p:txBody>
      </p:sp>
      <p:sp>
        <p:nvSpPr>
          <p:cNvPr id="4099" name="Rectangle 3"/>
          <p:cNvSpPr>
            <a:spLocks noGrp="1" noChangeArrowheads="1"/>
          </p:cNvSpPr>
          <p:nvPr>
            <p:ph type="body" idx="1"/>
          </p:nvPr>
        </p:nvSpPr>
        <p:spPr>
          <a:xfrm>
            <a:off x="1981200" y="1828801"/>
            <a:ext cx="8229600" cy="4525963"/>
          </a:xfrm>
        </p:spPr>
        <p:txBody>
          <a:bodyPr/>
          <a:lstStyle/>
          <a:p>
            <a:pPr eaLnBrk="1" hangingPunct="1">
              <a:buClr>
                <a:srgbClr val="000066"/>
              </a:buClr>
            </a:pPr>
            <a:endParaRPr lang="en-US" dirty="0"/>
          </a:p>
          <a:p>
            <a:pPr eaLnBrk="1" hangingPunct="1">
              <a:buClr>
                <a:srgbClr val="000066"/>
              </a:buClr>
            </a:pPr>
            <a:r>
              <a:rPr lang="en-US" sz="2800" dirty="0"/>
              <a:t>Principal-agent model </a:t>
            </a:r>
          </a:p>
          <a:p>
            <a:pPr lvl="1" eaLnBrk="1" hangingPunct="1">
              <a:buClr>
                <a:srgbClr val="000066"/>
              </a:buClr>
            </a:pPr>
            <a:r>
              <a:rPr lang="en-US" sz="2800" dirty="0"/>
              <a:t>Employee output: </a:t>
            </a:r>
            <a:r>
              <a:rPr lang="en-US" sz="2800" i="1" dirty="0">
                <a:solidFill>
                  <a:srgbClr val="FFFF00"/>
                </a:solidFill>
              </a:rPr>
              <a:t>Q = </a:t>
            </a:r>
            <a:r>
              <a:rPr lang="en-US" sz="2800" i="1" dirty="0">
                <a:solidFill>
                  <a:srgbClr val="FFFF00"/>
                </a:solidFill>
                <a:sym typeface="Symbol" pitchFamily="18" charset="2"/>
              </a:rPr>
              <a:t></a:t>
            </a:r>
            <a:r>
              <a:rPr lang="en-US" sz="2800" i="1" dirty="0">
                <a:solidFill>
                  <a:srgbClr val="FFFF00"/>
                </a:solidFill>
              </a:rPr>
              <a:t>e + </a:t>
            </a:r>
            <a:r>
              <a:rPr lang="en-US" sz="2800" i="1" dirty="0">
                <a:solidFill>
                  <a:srgbClr val="FFFF00"/>
                </a:solidFill>
                <a:sym typeface="Symbol" pitchFamily="18" charset="2"/>
              </a:rPr>
              <a:t></a:t>
            </a:r>
            <a:r>
              <a:rPr lang="en-US" sz="2800" dirty="0"/>
              <a:t>  </a:t>
            </a:r>
            <a:r>
              <a:rPr lang="en-US" sz="2800" dirty="0">
                <a:sym typeface="Symbol" pitchFamily="18" charset="2"/>
              </a:rPr>
              <a:t></a:t>
            </a:r>
            <a:r>
              <a:rPr lang="en-US" sz="2800" dirty="0"/>
              <a:t> </a:t>
            </a:r>
          </a:p>
          <a:p>
            <a:pPr marL="457200" lvl="1" indent="0">
              <a:buClr>
                <a:srgbClr val="000066"/>
              </a:buClr>
              <a:buNone/>
            </a:pPr>
            <a:r>
              <a:rPr lang="en-US" sz="2800" dirty="0"/>
              <a:t>   objective performance measure</a:t>
            </a:r>
          </a:p>
          <a:p>
            <a:pPr lvl="1" eaLnBrk="1" hangingPunct="1">
              <a:buClr>
                <a:srgbClr val="000066"/>
              </a:buClr>
            </a:pPr>
            <a:r>
              <a:rPr lang="en-US" sz="2800" dirty="0"/>
              <a:t>Compensation: </a:t>
            </a:r>
            <a:r>
              <a:rPr lang="en-US" sz="2800" i="1" dirty="0">
                <a:solidFill>
                  <a:srgbClr val="FFFF00"/>
                </a:solidFill>
              </a:rPr>
              <a:t>W = W</a:t>
            </a:r>
            <a:r>
              <a:rPr lang="en-US" sz="2800" i="1" baseline="-25000" dirty="0">
                <a:solidFill>
                  <a:srgbClr val="FFFF00"/>
                </a:solidFill>
              </a:rPr>
              <a:t>0</a:t>
            </a:r>
            <a:r>
              <a:rPr lang="en-US" sz="2800" i="1" dirty="0">
                <a:solidFill>
                  <a:srgbClr val="FFFF00"/>
                </a:solidFill>
              </a:rPr>
              <a:t> + </a:t>
            </a:r>
            <a:r>
              <a:rPr lang="en-US" sz="2800" i="1" dirty="0">
                <a:solidFill>
                  <a:srgbClr val="FFFF00"/>
                </a:solidFill>
                <a:sym typeface="Symbol" pitchFamily="18" charset="2"/>
              </a:rPr>
              <a:t></a:t>
            </a:r>
            <a:r>
              <a:rPr lang="en-US" sz="2800" i="1" dirty="0">
                <a:solidFill>
                  <a:srgbClr val="FFFF00"/>
                </a:solidFill>
              </a:rPr>
              <a:t>Q</a:t>
            </a:r>
            <a:r>
              <a:rPr lang="en-US" sz="2800" dirty="0">
                <a:solidFill>
                  <a:srgbClr val="FFFF00"/>
                </a:solidFill>
              </a:rPr>
              <a:t> </a:t>
            </a:r>
            <a:r>
              <a:rPr lang="en-US" sz="2800" dirty="0">
                <a:sym typeface="Symbol" pitchFamily="18" charset="2"/>
              </a:rPr>
              <a:t></a:t>
            </a:r>
            <a:r>
              <a:rPr lang="en-US" sz="2800" dirty="0"/>
              <a:t> </a:t>
            </a:r>
          </a:p>
          <a:p>
            <a:pPr marL="530352" lvl="1" indent="0" eaLnBrk="1" hangingPunct="1">
              <a:buClr>
                <a:srgbClr val="000066"/>
              </a:buClr>
              <a:buNone/>
            </a:pPr>
            <a:r>
              <a:rPr lang="en-US" sz="2800" dirty="0"/>
              <a:t>    compensating differential</a:t>
            </a:r>
          </a:p>
        </p:txBody>
      </p:sp>
      <p:sp>
        <p:nvSpPr>
          <p:cNvPr id="4101" name="Rectangle 5"/>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endParaRPr lang="en-US" sz="1200" dirty="0"/>
          </a:p>
        </p:txBody>
      </p:sp>
      <p:sp>
        <p:nvSpPr>
          <p:cNvPr id="6" name="Tekstboks 5"/>
          <p:cNvSpPr txBox="1"/>
          <p:nvPr/>
        </p:nvSpPr>
        <p:spPr>
          <a:xfrm>
            <a:off x="8305800" y="2133600"/>
            <a:ext cx="990600" cy="369332"/>
          </a:xfrm>
          <a:prstGeom prst="rect">
            <a:avLst/>
          </a:prstGeom>
          <a:solidFill>
            <a:srgbClr val="00206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i="1" dirty="0">
                <a:solidFill>
                  <a:schemeClr val="bg1"/>
                </a:solidFill>
                <a:sym typeface="Symbol" pitchFamily="18" charset="2"/>
              </a:rPr>
              <a:t> = </a:t>
            </a:r>
            <a:r>
              <a:rPr lang="da-DK" dirty="0">
                <a:solidFill>
                  <a:schemeClr val="bg1"/>
                </a:solidFill>
              </a:rPr>
              <a:t>MP!</a:t>
            </a:r>
          </a:p>
        </p:txBody>
      </p:sp>
      <p:cxnSp>
        <p:nvCxnSpPr>
          <p:cNvPr id="8" name="Lige pilforbindelse 7"/>
          <p:cNvCxnSpPr/>
          <p:nvPr/>
        </p:nvCxnSpPr>
        <p:spPr>
          <a:xfrm flipH="1">
            <a:off x="6433851" y="2472154"/>
            <a:ext cx="1795750" cy="513417"/>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9" name="Tekstboks 8"/>
          <p:cNvSpPr txBox="1"/>
          <p:nvPr/>
        </p:nvSpPr>
        <p:spPr>
          <a:xfrm>
            <a:off x="6934200" y="5181601"/>
            <a:ext cx="3048000" cy="646331"/>
          </a:xfrm>
          <a:prstGeom prst="rect">
            <a:avLst/>
          </a:prstGeom>
          <a:solidFill>
            <a:srgbClr val="00206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da-DK" dirty="0"/>
              <a:t>’</a:t>
            </a:r>
            <a:r>
              <a:rPr lang="da-DK" dirty="0" err="1"/>
              <a:t>Præstationslønselasticitet</a:t>
            </a:r>
            <a:r>
              <a:rPr lang="da-DK" dirty="0"/>
              <a:t>’/</a:t>
            </a:r>
          </a:p>
          <a:p>
            <a:r>
              <a:rPr lang="da-DK" dirty="0" err="1"/>
              <a:t>incitamentkoefficienten</a:t>
            </a:r>
            <a:endParaRPr lang="da-DK" dirty="0"/>
          </a:p>
        </p:txBody>
      </p:sp>
      <p:cxnSp>
        <p:nvCxnSpPr>
          <p:cNvPr id="11" name="Lige pilforbindelse 10"/>
          <p:cNvCxnSpPr/>
          <p:nvPr/>
        </p:nvCxnSpPr>
        <p:spPr>
          <a:xfrm flipH="1" flipV="1">
            <a:off x="6934200" y="4167051"/>
            <a:ext cx="1143000" cy="938349"/>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0" name="Tekstboks 9"/>
          <p:cNvSpPr txBox="1"/>
          <p:nvPr/>
        </p:nvSpPr>
        <p:spPr>
          <a:xfrm>
            <a:off x="2743200" y="5181601"/>
            <a:ext cx="2133600" cy="646331"/>
          </a:xfrm>
          <a:prstGeom prst="rect">
            <a:avLst/>
          </a:prstGeom>
          <a:solidFill>
            <a:srgbClr val="002060"/>
          </a:solidFill>
          <a:ln>
            <a:solidFill>
              <a:schemeClr val="tx2"/>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da-DK" dirty="0"/>
              <a:t>Kompensation for at bære risiko</a:t>
            </a:r>
          </a:p>
        </p:txBody>
      </p:sp>
      <p:cxnSp>
        <p:nvCxnSpPr>
          <p:cNvPr id="12" name="Lige pilforbindelse 11"/>
          <p:cNvCxnSpPr/>
          <p:nvPr/>
        </p:nvCxnSpPr>
        <p:spPr>
          <a:xfrm flipV="1">
            <a:off x="4905376" y="4728754"/>
            <a:ext cx="84635" cy="986246"/>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a:xfrm>
            <a:off x="9982200" y="5363634"/>
            <a:ext cx="1596292" cy="404614"/>
          </a:xfrm>
        </p:spPr>
        <p:txBody>
          <a:bodyPr/>
          <a:lstStyle/>
          <a:p>
            <a:fld id="{69E57DC2-970A-4B3E-BB1C-7A09969E49DF}" type="slidenum">
              <a:rPr lang="en-US" sz="2800" smtClean="0"/>
              <a:t>5</a:t>
            </a:fld>
            <a:endParaRPr lang="en-US" sz="2800" dirty="0"/>
          </a:p>
        </p:txBody>
      </p:sp>
    </p:spTree>
    <p:extLst>
      <p:ext uri="{BB962C8B-B14F-4D97-AF65-F5344CB8AC3E}">
        <p14:creationId xmlns:p14="http://schemas.microsoft.com/office/powerpoint/2010/main" val="2248655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280160" y="381000"/>
            <a:ext cx="8702040" cy="1143000"/>
          </a:xfrm>
        </p:spPr>
        <p:txBody>
          <a:bodyPr/>
          <a:lstStyle/>
          <a:p>
            <a:pPr eaLnBrk="1" hangingPunct="1"/>
            <a:r>
              <a:rPr lang="en-US" dirty="0"/>
              <a:t>Implicit Assumptions</a:t>
            </a:r>
          </a:p>
        </p:txBody>
      </p:sp>
      <p:sp>
        <p:nvSpPr>
          <p:cNvPr id="5123" name="Rectangle 3"/>
          <p:cNvSpPr>
            <a:spLocks noGrp="1" noChangeArrowheads="1"/>
          </p:cNvSpPr>
          <p:nvPr>
            <p:ph type="body" idx="1"/>
          </p:nvPr>
        </p:nvSpPr>
        <p:spPr>
          <a:xfrm>
            <a:off x="1371600" y="1447799"/>
            <a:ext cx="8610600" cy="4783183"/>
          </a:xfrm>
        </p:spPr>
        <p:txBody>
          <a:bodyPr>
            <a:normAutofit lnSpcReduction="10000"/>
          </a:bodyPr>
          <a:lstStyle/>
          <a:p>
            <a:pPr eaLnBrk="1" hangingPunct="1">
              <a:lnSpc>
                <a:spcPct val="90000"/>
              </a:lnSpc>
              <a:buClr>
                <a:srgbClr val="000066"/>
              </a:buClr>
            </a:pPr>
            <a:endParaRPr lang="en-US" sz="2800" dirty="0"/>
          </a:p>
          <a:p>
            <a:pPr eaLnBrk="1" hangingPunct="1">
              <a:lnSpc>
                <a:spcPct val="90000"/>
              </a:lnSpc>
              <a:buClr>
                <a:srgbClr val="000066"/>
              </a:buClr>
            </a:pPr>
            <a:r>
              <a:rPr lang="en-US" sz="2800" dirty="0"/>
              <a:t>Principal knows agent’s production function</a:t>
            </a:r>
          </a:p>
          <a:p>
            <a:pPr eaLnBrk="1" hangingPunct="1">
              <a:lnSpc>
                <a:spcPct val="90000"/>
              </a:lnSpc>
              <a:buClr>
                <a:srgbClr val="000066"/>
              </a:buClr>
            </a:pPr>
            <a:r>
              <a:rPr lang="en-US" sz="2800" dirty="0"/>
              <a:t>Output is a single quantitative measure of performance</a:t>
            </a:r>
          </a:p>
          <a:p>
            <a:pPr lvl="1" eaLnBrk="1" hangingPunct="1">
              <a:lnSpc>
                <a:spcPct val="90000"/>
              </a:lnSpc>
              <a:buClr>
                <a:srgbClr val="000066"/>
              </a:buClr>
            </a:pPr>
            <a:r>
              <a:rPr lang="en-US" sz="2800" dirty="0"/>
              <a:t>Employee produces a single output</a:t>
            </a:r>
          </a:p>
          <a:p>
            <a:pPr eaLnBrk="1" hangingPunct="1">
              <a:lnSpc>
                <a:spcPct val="90000"/>
              </a:lnSpc>
              <a:buClr>
                <a:srgbClr val="000066"/>
              </a:buClr>
            </a:pPr>
            <a:r>
              <a:rPr lang="en-US" sz="2800" dirty="0"/>
              <a:t>Output can be observed at zero (or low) cost</a:t>
            </a:r>
          </a:p>
          <a:p>
            <a:pPr eaLnBrk="1" hangingPunct="1">
              <a:lnSpc>
                <a:spcPct val="90000"/>
              </a:lnSpc>
              <a:buClr>
                <a:srgbClr val="000066"/>
              </a:buClr>
            </a:pPr>
            <a:r>
              <a:rPr lang="en-US" sz="2800" dirty="0"/>
              <a:t>Employee cannot game the measure</a:t>
            </a:r>
          </a:p>
          <a:p>
            <a:pPr eaLnBrk="1" hangingPunct="1">
              <a:lnSpc>
                <a:spcPct val="90000"/>
              </a:lnSpc>
              <a:buClr>
                <a:srgbClr val="000066"/>
              </a:buClr>
            </a:pPr>
            <a:r>
              <a:rPr lang="en-US" sz="2800" dirty="0"/>
              <a:t>Mutually beneficial contract is feasible</a:t>
            </a:r>
          </a:p>
          <a:p>
            <a:pPr lvl="1" eaLnBrk="1" hangingPunct="1">
              <a:lnSpc>
                <a:spcPct val="90000"/>
              </a:lnSpc>
              <a:buClr>
                <a:srgbClr val="000066"/>
              </a:buClr>
            </a:pPr>
            <a:r>
              <a:rPr lang="en-US" sz="2800" dirty="0" err="1"/>
              <a:t>Labour</a:t>
            </a:r>
            <a:r>
              <a:rPr lang="en-US" sz="2800" dirty="0"/>
              <a:t> market is unregulated</a:t>
            </a:r>
          </a:p>
          <a:p>
            <a:pPr eaLnBrk="1" hangingPunct="1">
              <a:lnSpc>
                <a:spcPct val="90000"/>
              </a:lnSpc>
              <a:buClr>
                <a:srgbClr val="000066"/>
              </a:buClr>
            </a:pPr>
            <a:r>
              <a:rPr lang="en-US" sz="2800" dirty="0"/>
              <a:t>Employee works independently</a:t>
            </a:r>
            <a:endParaRPr lang="en-US" sz="2800" dirty="0">
              <a:latin typeface="Tahoma" pitchFamily="34" charset="0"/>
            </a:endParaRPr>
          </a:p>
        </p:txBody>
      </p:sp>
      <p:sp>
        <p:nvSpPr>
          <p:cNvPr id="3" name="Slide Number Placeholder 2"/>
          <p:cNvSpPr>
            <a:spLocks noGrp="1"/>
          </p:cNvSpPr>
          <p:nvPr>
            <p:ph type="sldNum" sz="quarter" idx="12"/>
          </p:nvPr>
        </p:nvSpPr>
        <p:spPr>
          <a:xfrm>
            <a:off x="10496318" y="6230982"/>
            <a:ext cx="1596292" cy="404614"/>
          </a:xfrm>
        </p:spPr>
        <p:txBody>
          <a:bodyPr/>
          <a:lstStyle/>
          <a:p>
            <a:fld id="{69E57DC2-970A-4B3E-BB1C-7A09969E49DF}" type="slidenum">
              <a:rPr lang="en-US" sz="2400" smtClean="0"/>
              <a:t>6</a:t>
            </a:fld>
            <a:endParaRPr lang="en-US" sz="2400" dirty="0"/>
          </a:p>
        </p:txBody>
      </p:sp>
    </p:spTree>
    <p:extLst>
      <p:ext uri="{BB962C8B-B14F-4D97-AF65-F5344CB8AC3E}">
        <p14:creationId xmlns:p14="http://schemas.microsoft.com/office/powerpoint/2010/main" val="1258673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2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110343" y="395287"/>
            <a:ext cx="8610600" cy="1143000"/>
          </a:xfrm>
        </p:spPr>
        <p:txBody>
          <a:bodyPr/>
          <a:lstStyle/>
          <a:p>
            <a:pPr eaLnBrk="1" hangingPunct="1"/>
            <a:r>
              <a:rPr lang="en-US" dirty="0"/>
              <a:t>Setting Performance Benchmarks</a:t>
            </a:r>
          </a:p>
        </p:txBody>
      </p:sp>
      <p:sp>
        <p:nvSpPr>
          <p:cNvPr id="6147" name="Rectangle 3"/>
          <p:cNvSpPr>
            <a:spLocks noGrp="1" noChangeArrowheads="1"/>
          </p:cNvSpPr>
          <p:nvPr>
            <p:ph type="body" idx="1"/>
          </p:nvPr>
        </p:nvSpPr>
        <p:spPr>
          <a:xfrm>
            <a:off x="1384663" y="1676400"/>
            <a:ext cx="8864237" cy="4476206"/>
          </a:xfrm>
        </p:spPr>
        <p:txBody>
          <a:bodyPr>
            <a:normAutofit lnSpcReduction="10000"/>
          </a:bodyPr>
          <a:lstStyle/>
          <a:p>
            <a:pPr marL="0" indent="0">
              <a:buClr>
                <a:srgbClr val="000066"/>
              </a:buClr>
              <a:buNone/>
            </a:pPr>
            <a:r>
              <a:rPr lang="en-US" sz="2400" dirty="0"/>
              <a:t>If management has no knowledge on a) effort and </a:t>
            </a:r>
            <a:r>
              <a:rPr lang="en-US" sz="2400" dirty="0">
                <a:sym typeface="Wingdings" pitchFamily="2" charset="2"/>
              </a:rPr>
              <a:t>production or on b) average employee effort? </a:t>
            </a:r>
            <a:endParaRPr lang="en-US" sz="2400" dirty="0"/>
          </a:p>
          <a:p>
            <a:pPr marL="514350" indent="-514350">
              <a:buClr>
                <a:srgbClr val="000066"/>
              </a:buClr>
              <a:buFont typeface="+mj-lt"/>
              <a:buAutoNum type="arabicPeriod"/>
            </a:pPr>
            <a:r>
              <a:rPr lang="en-US" sz="2400" dirty="0"/>
              <a:t>Make time and motion studies</a:t>
            </a:r>
          </a:p>
          <a:p>
            <a:pPr lvl="1" eaLnBrk="1" hangingPunct="1">
              <a:buClr>
                <a:srgbClr val="000066"/>
              </a:buClr>
            </a:pPr>
            <a:r>
              <a:rPr lang="en-US" sz="2400" dirty="0"/>
              <a:t>‘Engineers’ estimate the amount of time a task requires</a:t>
            </a:r>
          </a:p>
          <a:p>
            <a:pPr lvl="1" eaLnBrk="1" hangingPunct="1">
              <a:buClr>
                <a:srgbClr val="000066"/>
              </a:buClr>
            </a:pPr>
            <a:r>
              <a:rPr lang="en-US" sz="2400" dirty="0"/>
              <a:t>Determines most effective work method</a:t>
            </a:r>
          </a:p>
          <a:p>
            <a:pPr marL="514350" indent="-514350">
              <a:buClr>
                <a:srgbClr val="000066"/>
              </a:buClr>
              <a:buFont typeface="+mj-lt"/>
              <a:buAutoNum type="arabicPeriod"/>
            </a:pPr>
            <a:r>
              <a:rPr lang="en-US" sz="2400" dirty="0"/>
              <a:t>Past performance </a:t>
            </a:r>
            <a:r>
              <a:rPr lang="en-US" sz="2400" dirty="0">
                <a:solidFill>
                  <a:srgbClr val="FFFF00"/>
                </a:solidFill>
              </a:rPr>
              <a:t>and ‘ratchet </a:t>
            </a:r>
            <a:r>
              <a:rPr lang="en-US" sz="2400" u="sng" dirty="0">
                <a:solidFill>
                  <a:srgbClr val="FFFF00"/>
                </a:solidFill>
              </a:rPr>
              <a:t>system</a:t>
            </a:r>
            <a:r>
              <a:rPr lang="en-US" sz="2400" dirty="0">
                <a:solidFill>
                  <a:srgbClr val="FFFF00"/>
                </a:solidFill>
              </a:rPr>
              <a:t>’ (def.):</a:t>
            </a:r>
          </a:p>
          <a:p>
            <a:pPr lvl="1">
              <a:buClr>
                <a:srgbClr val="000066"/>
              </a:buClr>
            </a:pPr>
            <a:r>
              <a:rPr lang="en-US" sz="2400" dirty="0">
                <a:solidFill>
                  <a:srgbClr val="FFFF00"/>
                </a:solidFill>
              </a:rPr>
              <a:t>“…refers to basing </a:t>
            </a:r>
            <a:r>
              <a:rPr lang="en-US" sz="2400" u="sng" dirty="0">
                <a:solidFill>
                  <a:srgbClr val="FFFF00"/>
                </a:solidFill>
              </a:rPr>
              <a:t>next</a:t>
            </a:r>
            <a:r>
              <a:rPr lang="en-US" sz="2400" dirty="0">
                <a:solidFill>
                  <a:srgbClr val="FFFF00"/>
                </a:solidFill>
              </a:rPr>
              <a:t> periods standard of performance on </a:t>
            </a:r>
            <a:r>
              <a:rPr lang="en-US" sz="2400" u="sng" dirty="0">
                <a:solidFill>
                  <a:srgbClr val="FFFF00"/>
                </a:solidFill>
              </a:rPr>
              <a:t>this</a:t>
            </a:r>
            <a:r>
              <a:rPr lang="en-US" sz="2400" dirty="0">
                <a:solidFill>
                  <a:srgbClr val="FFFF00"/>
                </a:solidFill>
              </a:rPr>
              <a:t> periods actual performance” </a:t>
            </a:r>
            <a:r>
              <a:rPr lang="en-US" sz="2400" i="0" dirty="0">
                <a:solidFill>
                  <a:srgbClr val="FFFF00"/>
                </a:solidFill>
              </a:rPr>
              <a:t>(BSZ (TV) p. 502n.).</a:t>
            </a:r>
            <a:endParaRPr lang="en-US" sz="2400" dirty="0">
              <a:solidFill>
                <a:srgbClr val="FFFF00"/>
              </a:solidFill>
            </a:endParaRPr>
          </a:p>
          <a:p>
            <a:pPr lvl="1">
              <a:buClr>
                <a:srgbClr val="000066"/>
              </a:buClr>
            </a:pPr>
            <a:r>
              <a:rPr lang="en-US" sz="2400" dirty="0">
                <a:solidFill>
                  <a:srgbClr val="FFFF00"/>
                </a:solidFill>
              </a:rPr>
              <a:t>Ratchet </a:t>
            </a:r>
            <a:r>
              <a:rPr lang="en-US" sz="2400" u="sng" dirty="0">
                <a:solidFill>
                  <a:srgbClr val="FFFF00"/>
                </a:solidFill>
              </a:rPr>
              <a:t>effect</a:t>
            </a:r>
            <a:r>
              <a:rPr lang="en-US" sz="2400" dirty="0">
                <a:solidFill>
                  <a:srgbClr val="FFFF00"/>
                </a:solidFill>
              </a:rPr>
              <a:t>; employees have incentives to only meet the goal and not exceed it/withhold performance</a:t>
            </a:r>
          </a:p>
          <a:p>
            <a:pPr lvl="1">
              <a:buClr>
                <a:srgbClr val="000066"/>
              </a:buClr>
            </a:pPr>
            <a:r>
              <a:rPr lang="en-US" sz="2400" dirty="0" err="1">
                <a:solidFill>
                  <a:srgbClr val="FFFF00"/>
                </a:solidFill>
              </a:rPr>
              <a:t>Ramme</a:t>
            </a:r>
            <a:r>
              <a:rPr lang="en-US" sz="2400" dirty="0">
                <a:solidFill>
                  <a:srgbClr val="FFFF00"/>
                </a:solidFill>
              </a:rPr>
              <a:t> 502n. – 503n.!</a:t>
            </a:r>
          </a:p>
          <a:p>
            <a:pPr lvl="1">
              <a:buClr>
                <a:srgbClr val="000066"/>
              </a:buClr>
            </a:pPr>
            <a:endParaRPr lang="en-US" sz="2400" dirty="0">
              <a:solidFill>
                <a:srgbClr val="FFFF00"/>
              </a:solidFill>
            </a:endParaRPr>
          </a:p>
          <a:p>
            <a:pPr lvl="1" eaLnBrk="1" hangingPunct="1">
              <a:buClr>
                <a:srgbClr val="000066"/>
              </a:buClr>
            </a:pPr>
            <a:endParaRPr lang="en-US" sz="2400" dirty="0">
              <a:solidFill>
                <a:srgbClr val="FFFF00"/>
              </a:solidFill>
            </a:endParaRPr>
          </a:p>
        </p:txBody>
      </p:sp>
      <p:sp>
        <p:nvSpPr>
          <p:cNvPr id="3" name="Slide Number Placeholder 2"/>
          <p:cNvSpPr>
            <a:spLocks noGrp="1"/>
          </p:cNvSpPr>
          <p:nvPr>
            <p:ph type="sldNum" sz="quarter" idx="12"/>
          </p:nvPr>
        </p:nvSpPr>
        <p:spPr>
          <a:xfrm>
            <a:off x="10141476" y="5886105"/>
            <a:ext cx="1596292" cy="404614"/>
          </a:xfrm>
        </p:spPr>
        <p:txBody>
          <a:bodyPr/>
          <a:lstStyle/>
          <a:p>
            <a:fld id="{69E57DC2-970A-4B3E-BB1C-7A09969E49DF}" type="slidenum">
              <a:rPr lang="en-US" sz="2800" smtClean="0"/>
              <a:t>7</a:t>
            </a:fld>
            <a:endParaRPr lang="en-US" sz="2800" dirty="0"/>
          </a:p>
        </p:txBody>
      </p:sp>
      <p:sp>
        <p:nvSpPr>
          <p:cNvPr id="2" name="Tekstfelt 1"/>
          <p:cNvSpPr txBox="1"/>
          <p:nvPr/>
        </p:nvSpPr>
        <p:spPr>
          <a:xfrm>
            <a:off x="8639790" y="5378660"/>
            <a:ext cx="1608463" cy="369332"/>
          </a:xfrm>
          <a:prstGeom prst="rect">
            <a:avLst/>
          </a:prstGeom>
          <a:solidFill>
            <a:srgbClr val="002060"/>
          </a:solidFill>
          <a:ln w="22225">
            <a:solidFill>
              <a:schemeClr val="tx2"/>
            </a:solidFill>
          </a:ln>
        </p:spPr>
        <p:txBody>
          <a:bodyPr wrap="square" rtlCol="0">
            <a:spAutoFit/>
          </a:bodyPr>
          <a:lstStyle/>
          <a:p>
            <a:r>
              <a:rPr lang="da-DK" dirty="0"/>
              <a:t>‘</a:t>
            </a:r>
            <a:r>
              <a:rPr lang="da-DK" dirty="0" err="1"/>
              <a:t>Sandbagging</a:t>
            </a:r>
            <a:r>
              <a:rPr lang="da-DK" dirty="0"/>
              <a:t>’</a:t>
            </a:r>
          </a:p>
        </p:txBody>
      </p:sp>
    </p:spTree>
    <p:extLst>
      <p:ext uri="{BB962C8B-B14F-4D97-AF65-F5344CB8AC3E}">
        <p14:creationId xmlns:p14="http://schemas.microsoft.com/office/powerpoint/2010/main" val="8160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4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053738" y="267789"/>
            <a:ext cx="8229600" cy="1143000"/>
          </a:xfrm>
        </p:spPr>
        <p:txBody>
          <a:bodyPr/>
          <a:lstStyle/>
          <a:p>
            <a:pPr eaLnBrk="1" hangingPunct="1">
              <a:buClr>
                <a:srgbClr val="990033"/>
              </a:buClr>
            </a:pPr>
            <a:r>
              <a:rPr lang="en-US" dirty="0"/>
              <a:t>Measurement Costs</a:t>
            </a:r>
          </a:p>
        </p:txBody>
      </p:sp>
      <p:sp>
        <p:nvSpPr>
          <p:cNvPr id="29699" name="Rectangle 3"/>
          <p:cNvSpPr>
            <a:spLocks noGrp="1" noChangeArrowheads="1"/>
          </p:cNvSpPr>
          <p:nvPr>
            <p:ph type="body" idx="1"/>
          </p:nvPr>
        </p:nvSpPr>
        <p:spPr>
          <a:xfrm>
            <a:off x="1371600" y="1744210"/>
            <a:ext cx="9601200" cy="4741817"/>
          </a:xfrm>
        </p:spPr>
        <p:txBody>
          <a:bodyPr>
            <a:normAutofit/>
          </a:bodyPr>
          <a:lstStyle/>
          <a:p>
            <a:pPr eaLnBrk="1" hangingPunct="1">
              <a:buClr>
                <a:srgbClr val="000066"/>
              </a:buClr>
            </a:pPr>
            <a:r>
              <a:rPr lang="en-US" sz="3200" dirty="0"/>
              <a:t>Everything costs! (</a:t>
            </a:r>
            <a:r>
              <a:rPr lang="en-US" sz="3200" dirty="0" err="1"/>
              <a:t>ramme</a:t>
            </a:r>
            <a:r>
              <a:rPr lang="en-US" sz="3200" dirty="0"/>
              <a:t> p. 504).</a:t>
            </a:r>
          </a:p>
          <a:p>
            <a:pPr eaLnBrk="1" hangingPunct="1">
              <a:buClr>
                <a:srgbClr val="000066"/>
              </a:buClr>
            </a:pPr>
            <a:r>
              <a:rPr lang="en-US" sz="3200" dirty="0"/>
              <a:t>Accounting system(s) may need to be developed.</a:t>
            </a:r>
          </a:p>
          <a:p>
            <a:pPr eaLnBrk="1" hangingPunct="1">
              <a:buClr>
                <a:srgbClr val="000066"/>
              </a:buClr>
            </a:pPr>
            <a:r>
              <a:rPr lang="en-US" sz="3200" dirty="0"/>
              <a:t>The value-maximizing firm should improve measures as long as incremental benefits justify costs (se </a:t>
            </a:r>
            <a:r>
              <a:rPr lang="en-US" sz="3200" dirty="0" err="1"/>
              <a:t>næste</a:t>
            </a:r>
            <a:r>
              <a:rPr lang="en-US" sz="3200" dirty="0"/>
              <a:t> </a:t>
            </a:r>
            <a:r>
              <a:rPr lang="en-US" sz="3200" dirty="0" err="1"/>
              <a:t>planche</a:t>
            </a:r>
            <a:r>
              <a:rPr lang="en-US" sz="3200" dirty="0"/>
              <a:t>).</a:t>
            </a:r>
          </a:p>
          <a:p>
            <a:pPr eaLnBrk="1" hangingPunct="1">
              <a:buClr>
                <a:srgbClr val="000066"/>
              </a:buClr>
            </a:pPr>
            <a:r>
              <a:rPr lang="en-US" sz="3200" dirty="0"/>
              <a:t>If employee compensation incentive is to be  increased, at the same time increase the precision with which effort is measured!</a:t>
            </a:r>
          </a:p>
        </p:txBody>
      </p:sp>
      <p:sp>
        <p:nvSpPr>
          <p:cNvPr id="29700" name="Rectangle 4"/>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endParaRPr lang="en-US" sz="1200" dirty="0"/>
          </a:p>
        </p:txBody>
      </p:sp>
      <p:sp>
        <p:nvSpPr>
          <p:cNvPr id="3" name="Slide Number Placeholder 2"/>
          <p:cNvSpPr>
            <a:spLocks noGrp="1"/>
          </p:cNvSpPr>
          <p:nvPr>
            <p:ph type="sldNum" sz="quarter" idx="12"/>
          </p:nvPr>
        </p:nvSpPr>
        <p:spPr>
          <a:xfrm>
            <a:off x="9984154" y="6042224"/>
            <a:ext cx="1596292" cy="404614"/>
          </a:xfrm>
        </p:spPr>
        <p:txBody>
          <a:bodyPr/>
          <a:lstStyle/>
          <a:p>
            <a:fld id="{69E57DC2-970A-4B3E-BB1C-7A09969E49DF}" type="slidenum">
              <a:rPr lang="en-US" sz="2800" smtClean="0"/>
              <a:t>8</a:t>
            </a:fld>
            <a:endParaRPr lang="en-US" sz="2800" dirty="0"/>
          </a:p>
        </p:txBody>
      </p:sp>
      <p:sp>
        <p:nvSpPr>
          <p:cNvPr id="2" name="Tekstfelt 1"/>
          <p:cNvSpPr txBox="1"/>
          <p:nvPr/>
        </p:nvSpPr>
        <p:spPr>
          <a:xfrm>
            <a:off x="8681291" y="5782866"/>
            <a:ext cx="1531345" cy="923330"/>
          </a:xfrm>
          <a:prstGeom prst="rect">
            <a:avLst/>
          </a:prstGeom>
          <a:solidFill>
            <a:srgbClr val="002060"/>
          </a:solidFill>
          <a:ln w="41275">
            <a:solidFill>
              <a:schemeClr val="tx2"/>
            </a:solidFill>
          </a:ln>
        </p:spPr>
        <p:txBody>
          <a:bodyPr wrap="square" rtlCol="0">
            <a:spAutoFit/>
          </a:bodyPr>
          <a:lstStyle/>
          <a:p>
            <a:pPr algn="ctr"/>
            <a:r>
              <a:rPr lang="da-DK" sz="5400" b="1" dirty="0"/>
              <a:t>=&gt;</a:t>
            </a:r>
          </a:p>
        </p:txBody>
      </p:sp>
    </p:spTree>
    <p:extLst>
      <p:ext uri="{BB962C8B-B14F-4D97-AF65-F5344CB8AC3E}">
        <p14:creationId xmlns:p14="http://schemas.microsoft.com/office/powerpoint/2010/main" val="3113628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295400" y="342900"/>
            <a:ext cx="9677400" cy="1143000"/>
          </a:xfrm>
        </p:spPr>
        <p:txBody>
          <a:bodyPr>
            <a:normAutofit/>
          </a:bodyPr>
          <a:lstStyle/>
          <a:p>
            <a:pPr eaLnBrk="1" hangingPunct="1"/>
            <a:r>
              <a:rPr lang="en-US" dirty="0"/>
              <a:t>Informativeness Principle (p. 505)</a:t>
            </a:r>
          </a:p>
        </p:txBody>
      </p:sp>
      <p:sp>
        <p:nvSpPr>
          <p:cNvPr id="14339" name="Rectangle 3"/>
          <p:cNvSpPr>
            <a:spLocks noGrp="1" noChangeArrowheads="1"/>
          </p:cNvSpPr>
          <p:nvPr>
            <p:ph type="body" idx="1"/>
          </p:nvPr>
        </p:nvSpPr>
        <p:spPr>
          <a:xfrm>
            <a:off x="1371600" y="1698171"/>
            <a:ext cx="9601200" cy="4169229"/>
          </a:xfrm>
        </p:spPr>
        <p:txBody>
          <a:bodyPr>
            <a:normAutofit fontScale="92500" lnSpcReduction="10000"/>
          </a:bodyPr>
          <a:lstStyle/>
          <a:p>
            <a:pPr marL="0" indent="0" eaLnBrk="1" hangingPunct="1">
              <a:lnSpc>
                <a:spcPct val="90000"/>
              </a:lnSpc>
              <a:buClr>
                <a:srgbClr val="000066"/>
              </a:buClr>
              <a:buNone/>
            </a:pPr>
            <a:r>
              <a:rPr lang="en-US" sz="3200" u="sng" dirty="0"/>
              <a:t>Def.: </a:t>
            </a:r>
          </a:p>
          <a:p>
            <a:pPr marL="0" indent="0" algn="just" eaLnBrk="1" hangingPunct="1">
              <a:lnSpc>
                <a:spcPct val="90000"/>
              </a:lnSpc>
              <a:buClr>
                <a:srgbClr val="000066"/>
              </a:buClr>
              <a:buNone/>
            </a:pPr>
            <a:r>
              <a:rPr lang="en-US" sz="2800" dirty="0"/>
              <a:t>“The </a:t>
            </a:r>
            <a:r>
              <a:rPr lang="en-US" sz="2800" dirty="0" err="1"/>
              <a:t>Informativeness</a:t>
            </a:r>
            <a:r>
              <a:rPr lang="en-US" sz="2800" dirty="0"/>
              <a:t> Principle implies that whenever low-cost information is available that allows a more accurate assessment of the employee’s effort, such information should be used in assessing performance”!</a:t>
            </a:r>
          </a:p>
          <a:p>
            <a:pPr marL="0" indent="0" algn="just" eaLnBrk="1" hangingPunct="1">
              <a:lnSpc>
                <a:spcPct val="90000"/>
              </a:lnSpc>
              <a:buClr>
                <a:srgbClr val="000066"/>
              </a:buClr>
              <a:buNone/>
            </a:pPr>
            <a:r>
              <a:rPr lang="en-US" sz="2800" dirty="0"/>
              <a:t>“A value-maximizing firm will go to the point where the incremental cost of increasing the precision of its performance measurement (through more sophisticated accounting and information systems, for instance) equals the incremental benefits. These benefits include the reduction in the risk premium that must be payed to employees.”!  </a:t>
            </a:r>
          </a:p>
          <a:p>
            <a:pPr eaLnBrk="1" hangingPunct="1">
              <a:lnSpc>
                <a:spcPct val="90000"/>
              </a:lnSpc>
              <a:buClr>
                <a:srgbClr val="000066"/>
              </a:buClr>
            </a:pPr>
            <a:endParaRPr lang="en-US" dirty="0"/>
          </a:p>
          <a:p>
            <a:pPr eaLnBrk="1" hangingPunct="1">
              <a:lnSpc>
                <a:spcPct val="90000"/>
              </a:lnSpc>
              <a:buClr>
                <a:srgbClr val="000066"/>
              </a:buClr>
            </a:pPr>
            <a:endParaRPr lang="en-US" dirty="0"/>
          </a:p>
          <a:p>
            <a:pPr eaLnBrk="1" hangingPunct="1">
              <a:lnSpc>
                <a:spcPct val="90000"/>
              </a:lnSpc>
              <a:buClr>
                <a:srgbClr val="000066"/>
              </a:buClr>
            </a:pPr>
            <a:endParaRPr lang="en-US" dirty="0"/>
          </a:p>
        </p:txBody>
      </p:sp>
      <p:sp>
        <p:nvSpPr>
          <p:cNvPr id="14341" name="Rectangle 5"/>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endParaRPr lang="en-US" sz="1200" dirty="0"/>
          </a:p>
        </p:txBody>
      </p:sp>
      <p:sp>
        <p:nvSpPr>
          <p:cNvPr id="3" name="Slide Number Placeholder 2"/>
          <p:cNvSpPr>
            <a:spLocks noGrp="1"/>
          </p:cNvSpPr>
          <p:nvPr>
            <p:ph type="sldNum" sz="quarter" idx="12"/>
          </p:nvPr>
        </p:nvSpPr>
        <p:spPr>
          <a:xfrm>
            <a:off x="10174654" y="6042224"/>
            <a:ext cx="1596292" cy="404614"/>
          </a:xfrm>
        </p:spPr>
        <p:txBody>
          <a:bodyPr/>
          <a:lstStyle/>
          <a:p>
            <a:fld id="{69E57DC2-970A-4B3E-BB1C-7A09969E49DF}" type="slidenum">
              <a:rPr lang="en-US" sz="2800" smtClean="0"/>
              <a:t>9</a:t>
            </a:fld>
            <a:endParaRPr lang="en-US" sz="2800" dirty="0"/>
          </a:p>
        </p:txBody>
      </p:sp>
      <p:sp>
        <p:nvSpPr>
          <p:cNvPr id="7" name="5-Point Star 6"/>
          <p:cNvSpPr/>
          <p:nvPr/>
        </p:nvSpPr>
        <p:spPr>
          <a:xfrm>
            <a:off x="10972800" y="1240971"/>
            <a:ext cx="914400" cy="91440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Tree>
    <p:extLst>
      <p:ext uri="{BB962C8B-B14F-4D97-AF65-F5344CB8AC3E}">
        <p14:creationId xmlns:p14="http://schemas.microsoft.com/office/powerpoint/2010/main" val="1417253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33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295400" y="342900"/>
            <a:ext cx="9296400" cy="1143000"/>
          </a:xfrm>
        </p:spPr>
        <p:txBody>
          <a:bodyPr>
            <a:normAutofit fontScale="90000"/>
          </a:bodyPr>
          <a:lstStyle/>
          <a:p>
            <a:pPr eaLnBrk="1" hangingPunct="1"/>
            <a:r>
              <a:rPr lang="en-US" dirty="0" err="1"/>
              <a:t>Informativeness</a:t>
            </a:r>
            <a:r>
              <a:rPr lang="en-US" dirty="0"/>
              <a:t> Principle (</a:t>
            </a:r>
            <a:r>
              <a:rPr lang="en-US" dirty="0" err="1"/>
              <a:t>igen</a:t>
            </a:r>
            <a:r>
              <a:rPr lang="en-US" dirty="0"/>
              <a:t>, se p. 505)</a:t>
            </a:r>
          </a:p>
        </p:txBody>
      </p:sp>
      <p:sp>
        <p:nvSpPr>
          <p:cNvPr id="14339" name="Rectangle 3"/>
          <p:cNvSpPr>
            <a:spLocks noGrp="1" noChangeArrowheads="1"/>
          </p:cNvSpPr>
          <p:nvPr>
            <p:ph type="body" idx="1"/>
          </p:nvPr>
        </p:nvSpPr>
        <p:spPr>
          <a:xfrm>
            <a:off x="1371600" y="1698171"/>
            <a:ext cx="9601200" cy="4169229"/>
          </a:xfrm>
        </p:spPr>
        <p:txBody>
          <a:bodyPr>
            <a:normAutofit/>
          </a:bodyPr>
          <a:lstStyle/>
          <a:p>
            <a:pPr eaLnBrk="1" hangingPunct="1">
              <a:lnSpc>
                <a:spcPct val="90000"/>
              </a:lnSpc>
              <a:buClr>
                <a:srgbClr val="000066"/>
              </a:buClr>
            </a:pPr>
            <a:r>
              <a:rPr lang="en-US" sz="3200" dirty="0"/>
              <a:t>Use </a:t>
            </a:r>
            <a:r>
              <a:rPr lang="en-US" sz="3200" dirty="0">
                <a:solidFill>
                  <a:srgbClr val="FFFF00"/>
                </a:solidFill>
              </a:rPr>
              <a:t>all</a:t>
            </a:r>
            <a:r>
              <a:rPr lang="en-US" sz="3200" dirty="0"/>
              <a:t> appropriate information when evaluating performance.</a:t>
            </a:r>
          </a:p>
          <a:p>
            <a:pPr eaLnBrk="1" hangingPunct="1">
              <a:lnSpc>
                <a:spcPct val="90000"/>
              </a:lnSpc>
              <a:buClr>
                <a:srgbClr val="000066"/>
              </a:buClr>
            </a:pPr>
            <a:r>
              <a:rPr lang="en-US" sz="3200" dirty="0"/>
              <a:t>Consider </a:t>
            </a:r>
            <a:r>
              <a:rPr lang="en-US" sz="3200" i="1" dirty="0">
                <a:solidFill>
                  <a:srgbClr val="FFFF00"/>
                </a:solidFill>
              </a:rPr>
              <a:t>uncontrollable</a:t>
            </a:r>
            <a:r>
              <a:rPr lang="en-US" sz="3200" dirty="0">
                <a:solidFill>
                  <a:srgbClr val="FF0000"/>
                </a:solidFill>
              </a:rPr>
              <a:t> </a:t>
            </a:r>
            <a:r>
              <a:rPr lang="en-US" sz="3200" dirty="0"/>
              <a:t>factors – ex. market conditions</a:t>
            </a:r>
          </a:p>
          <a:p>
            <a:pPr eaLnBrk="1" hangingPunct="1">
              <a:lnSpc>
                <a:spcPct val="90000"/>
              </a:lnSpc>
              <a:buClr>
                <a:srgbClr val="000066"/>
              </a:buClr>
            </a:pPr>
            <a:r>
              <a:rPr lang="en-US" sz="3200" dirty="0"/>
              <a:t>Select benchmarks to support </a:t>
            </a:r>
            <a:r>
              <a:rPr lang="en-US" sz="3200" i="1" dirty="0">
                <a:solidFill>
                  <a:srgbClr val="FFFF00"/>
                </a:solidFill>
              </a:rPr>
              <a:t>relative</a:t>
            </a:r>
            <a:r>
              <a:rPr lang="en-US" sz="3200" dirty="0">
                <a:solidFill>
                  <a:srgbClr val="FF0000"/>
                </a:solidFill>
              </a:rPr>
              <a:t> </a:t>
            </a:r>
            <a:r>
              <a:rPr lang="en-US" sz="3200" dirty="0"/>
              <a:t>performance measurement (</a:t>
            </a:r>
            <a:r>
              <a:rPr lang="en-US" sz="3200" dirty="0" err="1"/>
              <a:t>uddybes</a:t>
            </a:r>
            <a:r>
              <a:rPr lang="en-US" sz="3200" dirty="0"/>
              <a:t> </a:t>
            </a:r>
            <a:r>
              <a:rPr lang="en-US" sz="3200" dirty="0" err="1"/>
              <a:t>snart</a:t>
            </a:r>
            <a:r>
              <a:rPr lang="en-US" sz="3200" dirty="0"/>
              <a:t>)</a:t>
            </a:r>
          </a:p>
          <a:p>
            <a:pPr eaLnBrk="1" hangingPunct="1">
              <a:lnSpc>
                <a:spcPct val="90000"/>
              </a:lnSpc>
              <a:buClr>
                <a:srgbClr val="000066"/>
              </a:buClr>
            </a:pPr>
            <a:r>
              <a:rPr lang="en-US" sz="3200" dirty="0"/>
              <a:t>By measuring employee effort with more </a:t>
            </a:r>
            <a:r>
              <a:rPr lang="en-US" sz="3200" dirty="0">
                <a:solidFill>
                  <a:srgbClr val="FFFF00"/>
                </a:solidFill>
              </a:rPr>
              <a:t>precision</a:t>
            </a:r>
            <a:r>
              <a:rPr lang="en-US" sz="3200" dirty="0"/>
              <a:t>, effort choice will be more efficient.</a:t>
            </a:r>
          </a:p>
        </p:txBody>
      </p:sp>
      <p:sp>
        <p:nvSpPr>
          <p:cNvPr id="3" name="Slide Number Placeholder 2"/>
          <p:cNvSpPr>
            <a:spLocks noGrp="1"/>
          </p:cNvSpPr>
          <p:nvPr>
            <p:ph type="sldNum" sz="quarter" idx="12"/>
          </p:nvPr>
        </p:nvSpPr>
        <p:spPr>
          <a:xfrm>
            <a:off x="10174654" y="6079671"/>
            <a:ext cx="1596292" cy="404614"/>
          </a:xfrm>
        </p:spPr>
        <p:txBody>
          <a:bodyPr/>
          <a:lstStyle/>
          <a:p>
            <a:fld id="{69E57DC2-970A-4B3E-BB1C-7A09969E49DF}" type="slidenum">
              <a:rPr lang="en-US" sz="2800" smtClean="0"/>
              <a:t>10</a:t>
            </a:fld>
            <a:endParaRPr lang="en-US" sz="2800" dirty="0"/>
          </a:p>
        </p:txBody>
      </p:sp>
      <p:sp>
        <p:nvSpPr>
          <p:cNvPr id="4" name="5-Point Star 3"/>
          <p:cNvSpPr/>
          <p:nvPr/>
        </p:nvSpPr>
        <p:spPr>
          <a:xfrm>
            <a:off x="10972800" y="1240971"/>
            <a:ext cx="914400" cy="91440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Tree>
    <p:extLst>
      <p:ext uri="{BB962C8B-B14F-4D97-AF65-F5344CB8AC3E}">
        <p14:creationId xmlns:p14="http://schemas.microsoft.com/office/powerpoint/2010/main" val="829150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079863" y="228600"/>
            <a:ext cx="8229600" cy="1143000"/>
          </a:xfrm>
        </p:spPr>
        <p:txBody>
          <a:bodyPr/>
          <a:lstStyle/>
          <a:p>
            <a:pPr eaLnBrk="1" hangingPunct="1">
              <a:buClr>
                <a:srgbClr val="990033"/>
              </a:buClr>
            </a:pPr>
            <a:r>
              <a:rPr lang="en-US" dirty="0"/>
              <a:t>Opportunism</a:t>
            </a:r>
          </a:p>
        </p:txBody>
      </p:sp>
      <p:sp>
        <p:nvSpPr>
          <p:cNvPr id="30723" name="Rectangle 3"/>
          <p:cNvSpPr>
            <a:spLocks noGrp="1" noChangeArrowheads="1"/>
          </p:cNvSpPr>
          <p:nvPr>
            <p:ph type="body" idx="1"/>
          </p:nvPr>
        </p:nvSpPr>
        <p:spPr>
          <a:xfrm>
            <a:off x="1371600" y="1600200"/>
            <a:ext cx="9601200" cy="4267200"/>
          </a:xfrm>
        </p:spPr>
        <p:txBody>
          <a:bodyPr>
            <a:noAutofit/>
          </a:bodyPr>
          <a:lstStyle/>
          <a:p>
            <a:pPr eaLnBrk="1" hangingPunct="1">
              <a:buClr>
                <a:srgbClr val="000066"/>
              </a:buClr>
            </a:pPr>
            <a:r>
              <a:rPr lang="en-US" sz="3200" dirty="0"/>
              <a:t>Gaming</a:t>
            </a:r>
          </a:p>
          <a:p>
            <a:pPr lvl="1" eaLnBrk="1" hangingPunct="1">
              <a:buClr>
                <a:srgbClr val="000066"/>
              </a:buClr>
            </a:pPr>
            <a:r>
              <a:rPr lang="en-US" sz="3200" dirty="0"/>
              <a:t>Employees may engage in dysfunctional activities to improve their evaluations</a:t>
            </a:r>
          </a:p>
          <a:p>
            <a:pPr lvl="2" eaLnBrk="1" hangingPunct="1">
              <a:buClr>
                <a:srgbClr val="000066"/>
              </a:buClr>
            </a:pPr>
            <a:r>
              <a:rPr lang="en-US" sz="3200" dirty="0" err="1"/>
              <a:t>Jvf</a:t>
            </a:r>
            <a:r>
              <a:rPr lang="en-US" sz="3200" dirty="0"/>
              <a:t>. </a:t>
            </a:r>
            <a:r>
              <a:rPr lang="en-US" sz="3200" dirty="0" err="1"/>
              <a:t>tidligere</a:t>
            </a:r>
            <a:r>
              <a:rPr lang="en-US" sz="3200" dirty="0"/>
              <a:t> </a:t>
            </a:r>
            <a:r>
              <a:rPr lang="en-US" sz="3200" dirty="0" err="1"/>
              <a:t>eksempler</a:t>
            </a:r>
            <a:r>
              <a:rPr lang="en-US" sz="3200" dirty="0"/>
              <a:t> </a:t>
            </a:r>
            <a:r>
              <a:rPr lang="en-US" sz="3200" dirty="0" err="1"/>
              <a:t>samt</a:t>
            </a:r>
            <a:r>
              <a:rPr lang="en-US" sz="3200" dirty="0"/>
              <a:t> </a:t>
            </a:r>
            <a:r>
              <a:rPr lang="en-US" sz="3200" dirty="0">
                <a:solidFill>
                  <a:srgbClr val="FFC000"/>
                </a:solidFill>
              </a:rPr>
              <a:t>507m. – n.</a:t>
            </a:r>
            <a:r>
              <a:rPr lang="en-US" sz="3200" dirty="0"/>
              <a:t>!</a:t>
            </a:r>
          </a:p>
          <a:p>
            <a:pPr eaLnBrk="1" hangingPunct="1">
              <a:buClr>
                <a:srgbClr val="000066"/>
              </a:buClr>
            </a:pPr>
            <a:r>
              <a:rPr lang="en-US" sz="3200" dirty="0"/>
              <a:t>Horizon problem</a:t>
            </a:r>
          </a:p>
          <a:p>
            <a:pPr lvl="1" eaLnBrk="1" hangingPunct="1">
              <a:buClr>
                <a:srgbClr val="000066"/>
              </a:buClr>
            </a:pPr>
            <a:r>
              <a:rPr lang="en-US" sz="3200" dirty="0"/>
              <a:t>Short-run objective performance measure may cause employees to focus on results that influence their evaluation only over their remaining time with the firm!</a:t>
            </a:r>
          </a:p>
        </p:txBody>
      </p:sp>
      <p:sp>
        <p:nvSpPr>
          <p:cNvPr id="30724" name="Rectangle 4"/>
          <p:cNvSpPr>
            <a:spLocks noChangeArrowheads="1"/>
          </p:cNvSpPr>
          <p:nvPr/>
        </p:nvSpPr>
        <p:spPr bwMode="auto">
          <a:xfrm>
            <a:off x="9636782" y="5745162"/>
            <a:ext cx="2133600" cy="244475"/>
          </a:xfrm>
          <a:prstGeom prst="rect">
            <a:avLst/>
          </a:prstGeom>
          <a:noFill/>
          <a:ln w="9525">
            <a:noFill/>
            <a:miter lim="800000"/>
            <a:headEnd/>
            <a:tailEnd/>
          </a:ln>
          <a:effectLst/>
        </p:spPr>
        <p:txBody>
          <a:bodyPr/>
          <a:lstStyle/>
          <a:p>
            <a:pPr algn="r"/>
            <a:fld id="{9AE9E90F-D315-4E03-AEFC-1593E6BB5C2A}" type="slidenum">
              <a:rPr lang="en-US" sz="2800" smtClean="0"/>
              <a:pPr algn="r"/>
              <a:t>11</a:t>
            </a:fld>
            <a:endParaRPr lang="en-US" sz="2800" dirty="0"/>
          </a:p>
        </p:txBody>
      </p:sp>
    </p:spTree>
    <p:extLst>
      <p:ext uri="{BB962C8B-B14F-4D97-AF65-F5344CB8AC3E}">
        <p14:creationId xmlns:p14="http://schemas.microsoft.com/office/powerpoint/2010/main" val="310376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72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72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7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body" idx="1"/>
          </p:nvPr>
        </p:nvSpPr>
        <p:spPr/>
        <p:txBody>
          <a:bodyPr/>
          <a:lstStyle/>
          <a:p>
            <a:endParaRPr lang="da-DK" dirty="0"/>
          </a:p>
          <a:p>
            <a:pPr eaLnBrk="1" hangingPunct="1">
              <a:buClr>
                <a:srgbClr val="000066"/>
              </a:buClr>
            </a:pPr>
            <a:endParaRPr lang="en-US" dirty="0"/>
          </a:p>
        </p:txBody>
      </p:sp>
      <p:sp>
        <p:nvSpPr>
          <p:cNvPr id="30724" name="Rectangle 4"/>
          <p:cNvSpPr>
            <a:spLocks noChangeArrowheads="1"/>
          </p:cNvSpPr>
          <p:nvPr/>
        </p:nvSpPr>
        <p:spPr bwMode="auto">
          <a:xfrm>
            <a:off x="9791700" y="6046985"/>
            <a:ext cx="2133600" cy="244475"/>
          </a:xfrm>
          <a:prstGeom prst="rect">
            <a:avLst/>
          </a:prstGeom>
          <a:noFill/>
          <a:ln w="9525">
            <a:noFill/>
            <a:miter lim="800000"/>
            <a:headEnd/>
            <a:tailEnd/>
          </a:ln>
          <a:effectLst/>
        </p:spPr>
        <p:txBody>
          <a:bodyPr/>
          <a:lstStyle/>
          <a:p>
            <a:pPr algn="r"/>
            <a:fld id="{9AE9E90F-D315-4E03-AEFC-1593E6BB5C2A}" type="slidenum">
              <a:rPr lang="en-US" sz="2800" smtClean="0"/>
              <a:pPr algn="r"/>
              <a:t>12</a:t>
            </a:fld>
            <a:endParaRPr lang="en-US" sz="2800" dirty="0"/>
          </a:p>
        </p:txBody>
      </p:sp>
      <p:graphicFrame>
        <p:nvGraphicFramePr>
          <p:cNvPr id="5" name="Tabel 4"/>
          <p:cNvGraphicFramePr>
            <a:graphicFrameLocks noGrp="1"/>
          </p:cNvGraphicFramePr>
          <p:nvPr/>
        </p:nvGraphicFramePr>
        <p:xfrm>
          <a:off x="3048002" y="1408333"/>
          <a:ext cx="6400799" cy="4890030"/>
        </p:xfrm>
        <a:graphic>
          <a:graphicData uri="http://schemas.openxmlformats.org/drawingml/2006/table">
            <a:tbl>
              <a:tblPr/>
              <a:tblGrid>
                <a:gridCol w="1552856">
                  <a:extLst>
                    <a:ext uri="{9D8B030D-6E8A-4147-A177-3AD203B41FA5}">
                      <a16:colId xmlns:a16="http://schemas.microsoft.com/office/drawing/2014/main" val="20000"/>
                    </a:ext>
                  </a:extLst>
                </a:gridCol>
                <a:gridCol w="2247223">
                  <a:extLst>
                    <a:ext uri="{9D8B030D-6E8A-4147-A177-3AD203B41FA5}">
                      <a16:colId xmlns:a16="http://schemas.microsoft.com/office/drawing/2014/main" val="20001"/>
                    </a:ext>
                  </a:extLst>
                </a:gridCol>
                <a:gridCol w="820616">
                  <a:extLst>
                    <a:ext uri="{9D8B030D-6E8A-4147-A177-3AD203B41FA5}">
                      <a16:colId xmlns:a16="http://schemas.microsoft.com/office/drawing/2014/main" val="20002"/>
                    </a:ext>
                  </a:extLst>
                </a:gridCol>
                <a:gridCol w="1780104">
                  <a:extLst>
                    <a:ext uri="{9D8B030D-6E8A-4147-A177-3AD203B41FA5}">
                      <a16:colId xmlns:a16="http://schemas.microsoft.com/office/drawing/2014/main" val="20003"/>
                    </a:ext>
                  </a:extLst>
                </a:gridCol>
              </a:tblGrid>
              <a:tr h="638417">
                <a:tc>
                  <a:txBody>
                    <a:bodyPr/>
                    <a:lstStyle/>
                    <a:p>
                      <a:pPr algn="just">
                        <a:lnSpc>
                          <a:spcPct val="200000"/>
                        </a:lnSpc>
                        <a:spcAft>
                          <a:spcPts val="0"/>
                        </a:spcAft>
                      </a:pPr>
                      <a:r>
                        <a:rPr lang="en-US" sz="1100" dirty="0" err="1">
                          <a:solidFill>
                            <a:schemeClr val="bg1"/>
                          </a:solidFill>
                          <a:latin typeface="Times New Roman"/>
                          <a:ea typeface="Times New Roman"/>
                          <a:cs typeface="Times New Roman"/>
                        </a:rPr>
                        <a:t>Kategori</a:t>
                      </a:r>
                      <a:endParaRPr lang="da-DK" sz="1100" dirty="0">
                        <a:solidFill>
                          <a:schemeClr val="bg1"/>
                        </a:solidFill>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45000"/>
                      </a:srgbClr>
                    </a:solidFill>
                  </a:tcPr>
                </a:tc>
                <a:tc>
                  <a:txBody>
                    <a:bodyPr/>
                    <a:lstStyle/>
                    <a:p>
                      <a:pPr algn="just">
                        <a:lnSpc>
                          <a:spcPct val="200000"/>
                        </a:lnSpc>
                        <a:spcAft>
                          <a:spcPts val="0"/>
                        </a:spcAft>
                      </a:pPr>
                      <a:r>
                        <a:rPr lang="en-US" sz="1100">
                          <a:solidFill>
                            <a:schemeClr val="bg1"/>
                          </a:solidFill>
                          <a:latin typeface="Times New Roman"/>
                          <a:ea typeface="Times New Roman"/>
                          <a:cs typeface="Times New Roman"/>
                        </a:rPr>
                        <a:t>Mål</a:t>
                      </a:r>
                      <a:endParaRPr lang="da-DK" sz="1100">
                        <a:solidFill>
                          <a:schemeClr val="bg1"/>
                        </a:solidFill>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39000"/>
                      </a:srgbClr>
                    </a:solidFill>
                  </a:tcPr>
                </a:tc>
                <a:tc>
                  <a:txBody>
                    <a:bodyPr/>
                    <a:lstStyle/>
                    <a:p>
                      <a:pPr algn="just">
                        <a:lnSpc>
                          <a:spcPct val="200000"/>
                        </a:lnSpc>
                        <a:spcAft>
                          <a:spcPts val="0"/>
                        </a:spcAft>
                      </a:pPr>
                      <a:r>
                        <a:rPr lang="en-US" sz="1100" dirty="0" err="1">
                          <a:solidFill>
                            <a:schemeClr val="bg1"/>
                          </a:solidFill>
                          <a:latin typeface="Times New Roman"/>
                          <a:ea typeface="Times New Roman"/>
                          <a:cs typeface="Times New Roman"/>
                        </a:rPr>
                        <a:t>Vægtning</a:t>
                      </a:r>
                      <a:endParaRPr lang="da-DK" sz="1100" dirty="0">
                        <a:solidFill>
                          <a:schemeClr val="bg1"/>
                        </a:solidFill>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39000"/>
                      </a:srgbClr>
                    </a:solidFill>
                  </a:tcPr>
                </a:tc>
                <a:tc>
                  <a:txBody>
                    <a:bodyPr/>
                    <a:lstStyle/>
                    <a:p>
                      <a:pPr algn="just">
                        <a:lnSpc>
                          <a:spcPct val="200000"/>
                        </a:lnSpc>
                        <a:spcAft>
                          <a:spcPts val="0"/>
                        </a:spcAft>
                      </a:pPr>
                      <a:r>
                        <a:rPr lang="en-US" sz="1100" dirty="0">
                          <a:solidFill>
                            <a:schemeClr val="bg1"/>
                          </a:solidFill>
                          <a:latin typeface="Times New Roman"/>
                          <a:ea typeface="Times New Roman"/>
                          <a:cs typeface="Times New Roman"/>
                        </a:rPr>
                        <a:t>Bund-</a:t>
                      </a:r>
                      <a:r>
                        <a:rPr lang="en-US" sz="1100" dirty="0" err="1">
                          <a:solidFill>
                            <a:schemeClr val="bg1"/>
                          </a:solidFill>
                          <a:latin typeface="Times New Roman"/>
                          <a:ea typeface="Times New Roman"/>
                          <a:cs typeface="Times New Roman"/>
                        </a:rPr>
                        <a:t>og</a:t>
                      </a:r>
                      <a:r>
                        <a:rPr lang="en-US" sz="1100" dirty="0">
                          <a:solidFill>
                            <a:schemeClr val="bg1"/>
                          </a:solidFill>
                          <a:latin typeface="Times New Roman"/>
                          <a:ea typeface="Times New Roman"/>
                          <a:cs typeface="Times New Roman"/>
                        </a:rPr>
                        <a:t> </a:t>
                      </a:r>
                      <a:r>
                        <a:rPr lang="en-US" sz="1100" dirty="0" err="1">
                          <a:solidFill>
                            <a:schemeClr val="bg1"/>
                          </a:solidFill>
                          <a:latin typeface="Times New Roman"/>
                          <a:ea typeface="Times New Roman"/>
                          <a:cs typeface="Times New Roman"/>
                        </a:rPr>
                        <a:t>maksimalniveau</a:t>
                      </a:r>
                      <a:endParaRPr lang="da-DK" sz="1100" dirty="0">
                        <a:solidFill>
                          <a:schemeClr val="bg1"/>
                        </a:solidFill>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39000"/>
                      </a:srgbClr>
                    </a:solidFill>
                  </a:tcPr>
                </a:tc>
                <a:extLst>
                  <a:ext uri="{0D108BD9-81ED-4DB2-BD59-A6C34878D82A}">
                    <a16:rowId xmlns:a16="http://schemas.microsoft.com/office/drawing/2014/main" val="10000"/>
                  </a:ext>
                </a:extLst>
              </a:tr>
              <a:tr h="1276835">
                <a:tc>
                  <a:txBody>
                    <a:bodyPr/>
                    <a:lstStyle/>
                    <a:p>
                      <a:pPr algn="just">
                        <a:lnSpc>
                          <a:spcPct val="200000"/>
                        </a:lnSpc>
                        <a:spcAft>
                          <a:spcPts val="0"/>
                        </a:spcAft>
                      </a:pPr>
                      <a:r>
                        <a:rPr lang="en-US" sz="1100" dirty="0" err="1">
                          <a:solidFill>
                            <a:schemeClr val="bg1"/>
                          </a:solidFill>
                          <a:latin typeface="Times New Roman"/>
                          <a:ea typeface="Times New Roman"/>
                          <a:cs typeface="Times New Roman"/>
                        </a:rPr>
                        <a:t>Finansielt</a:t>
                      </a:r>
                      <a:r>
                        <a:rPr lang="en-US" sz="1100" dirty="0">
                          <a:solidFill>
                            <a:schemeClr val="bg1"/>
                          </a:solidFill>
                          <a:latin typeface="Times New Roman"/>
                          <a:ea typeface="Times New Roman"/>
                          <a:cs typeface="Times New Roman"/>
                        </a:rPr>
                        <a:t> (60%).</a:t>
                      </a:r>
                      <a:endParaRPr lang="da-DK" sz="1100" dirty="0">
                        <a:solidFill>
                          <a:schemeClr val="bg1"/>
                        </a:solidFill>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45000"/>
                      </a:srgbClr>
                    </a:solidFill>
                  </a:tcPr>
                </a:tc>
                <a:tc>
                  <a:txBody>
                    <a:bodyPr/>
                    <a:lstStyle/>
                    <a:p>
                      <a:pPr algn="just">
                        <a:lnSpc>
                          <a:spcPct val="200000"/>
                        </a:lnSpc>
                        <a:spcAft>
                          <a:spcPts val="0"/>
                        </a:spcAft>
                      </a:pPr>
                      <a:r>
                        <a:rPr lang="da-DK" sz="1100" dirty="0">
                          <a:latin typeface="Times New Roman"/>
                          <a:ea typeface="Times New Roman"/>
                          <a:cs typeface="Times New Roman"/>
                        </a:rPr>
                        <a:t>1. EVA.</a:t>
                      </a:r>
                    </a:p>
                    <a:p>
                      <a:pPr algn="just">
                        <a:lnSpc>
                          <a:spcPct val="200000"/>
                        </a:lnSpc>
                        <a:spcAft>
                          <a:spcPts val="0"/>
                        </a:spcAft>
                      </a:pPr>
                      <a:r>
                        <a:rPr lang="da-DK" sz="1100" dirty="0">
                          <a:latin typeface="Times New Roman"/>
                          <a:ea typeface="Times New Roman"/>
                          <a:cs typeface="Times New Roman"/>
                        </a:rPr>
                        <a:t>2. Afkastningsgrad i forhold til konkurrenter.</a:t>
                      </a:r>
                    </a:p>
                    <a:p>
                      <a:pPr algn="just">
                        <a:lnSpc>
                          <a:spcPct val="200000"/>
                        </a:lnSpc>
                        <a:spcAft>
                          <a:spcPts val="0"/>
                        </a:spcAft>
                      </a:pPr>
                      <a:r>
                        <a:rPr lang="en-US" sz="1100" dirty="0">
                          <a:latin typeface="Times New Roman"/>
                          <a:ea typeface="Times New Roman"/>
                          <a:cs typeface="Times New Roman"/>
                        </a:rPr>
                        <a:t>3. </a:t>
                      </a:r>
                      <a:r>
                        <a:rPr lang="en-US" sz="1100" dirty="0" err="1">
                          <a:latin typeface="Times New Roman"/>
                          <a:ea typeface="Times New Roman"/>
                          <a:cs typeface="Times New Roman"/>
                        </a:rPr>
                        <a:t>Markedsvækst</a:t>
                      </a:r>
                      <a:r>
                        <a:rPr lang="en-US" sz="1100" dirty="0">
                          <a:latin typeface="Times New Roman"/>
                          <a:ea typeface="Times New Roman"/>
                          <a:cs typeface="Times New Roman"/>
                        </a:rPr>
                        <a:t>.</a:t>
                      </a:r>
                      <a:endParaRPr lang="da-DK" sz="1100" dirty="0">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200000"/>
                        </a:lnSpc>
                        <a:spcAft>
                          <a:spcPts val="0"/>
                        </a:spcAft>
                      </a:pPr>
                      <a:r>
                        <a:rPr lang="en-US" sz="1100" dirty="0">
                          <a:latin typeface="Times New Roman"/>
                          <a:ea typeface="Times New Roman"/>
                          <a:cs typeface="Times New Roman"/>
                        </a:rPr>
                        <a:t>30%</a:t>
                      </a:r>
                      <a:endParaRPr lang="da-DK" sz="1100" dirty="0">
                        <a:latin typeface="Times New Roman"/>
                        <a:ea typeface="Times New Roman"/>
                        <a:cs typeface="Times New Roman"/>
                      </a:endParaRPr>
                    </a:p>
                    <a:p>
                      <a:pPr algn="just">
                        <a:lnSpc>
                          <a:spcPct val="200000"/>
                        </a:lnSpc>
                        <a:spcAft>
                          <a:spcPts val="0"/>
                        </a:spcAft>
                      </a:pPr>
                      <a:r>
                        <a:rPr lang="en-US" sz="1100" dirty="0">
                          <a:latin typeface="Times New Roman"/>
                          <a:ea typeface="Times New Roman"/>
                          <a:cs typeface="Times New Roman"/>
                        </a:rPr>
                        <a:t>20%</a:t>
                      </a:r>
                      <a:endParaRPr lang="da-DK" sz="1100" dirty="0">
                        <a:latin typeface="Times New Roman"/>
                        <a:ea typeface="Times New Roman"/>
                        <a:cs typeface="Times New Roman"/>
                      </a:endParaRPr>
                    </a:p>
                    <a:p>
                      <a:pPr algn="just">
                        <a:lnSpc>
                          <a:spcPct val="200000"/>
                        </a:lnSpc>
                        <a:spcAft>
                          <a:spcPts val="0"/>
                        </a:spcAft>
                      </a:pPr>
                      <a:endParaRPr lang="en-US" sz="1100" dirty="0">
                        <a:latin typeface="Times New Roman"/>
                        <a:ea typeface="Times New Roman"/>
                        <a:cs typeface="Times New Roman"/>
                      </a:endParaRPr>
                    </a:p>
                    <a:p>
                      <a:pPr algn="just">
                        <a:lnSpc>
                          <a:spcPct val="200000"/>
                        </a:lnSpc>
                        <a:spcAft>
                          <a:spcPts val="0"/>
                        </a:spcAft>
                      </a:pPr>
                      <a:r>
                        <a:rPr lang="en-US" sz="1100" dirty="0">
                          <a:latin typeface="Times New Roman"/>
                          <a:ea typeface="Times New Roman"/>
                          <a:cs typeface="Times New Roman"/>
                        </a:rPr>
                        <a:t>10%</a:t>
                      </a:r>
                      <a:endParaRPr lang="da-DK" sz="1100" dirty="0">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200000"/>
                        </a:lnSpc>
                        <a:spcAft>
                          <a:spcPts val="0"/>
                        </a:spcAft>
                      </a:pPr>
                      <a:r>
                        <a:rPr lang="en-US" sz="1100" dirty="0">
                          <a:latin typeface="Times New Roman"/>
                          <a:ea typeface="Times New Roman"/>
                          <a:cs typeface="Times New Roman"/>
                        </a:rPr>
                        <a:t>1.000.000.</a:t>
                      </a:r>
                      <a:endParaRPr lang="da-DK" sz="1100" dirty="0">
                        <a:latin typeface="Times New Roman"/>
                        <a:ea typeface="Times New Roman"/>
                        <a:cs typeface="Times New Roman"/>
                      </a:endParaRPr>
                    </a:p>
                    <a:p>
                      <a:pPr algn="just">
                        <a:lnSpc>
                          <a:spcPct val="200000"/>
                        </a:lnSpc>
                        <a:spcAft>
                          <a:spcPts val="0"/>
                        </a:spcAft>
                      </a:pPr>
                      <a:r>
                        <a:rPr lang="en-US" sz="1100" dirty="0">
                          <a:latin typeface="Times New Roman"/>
                          <a:ea typeface="Times New Roman"/>
                          <a:cs typeface="Times New Roman"/>
                        </a:rPr>
                        <a:t>0 - 10% mere end </a:t>
                      </a:r>
                      <a:r>
                        <a:rPr lang="en-US" sz="1100" dirty="0" err="1">
                          <a:latin typeface="Times New Roman"/>
                          <a:ea typeface="Times New Roman"/>
                          <a:cs typeface="Times New Roman"/>
                        </a:rPr>
                        <a:t>gennemsnittet</a:t>
                      </a:r>
                      <a:r>
                        <a:rPr lang="en-US" sz="1100" dirty="0">
                          <a:latin typeface="Times New Roman"/>
                          <a:ea typeface="Times New Roman"/>
                          <a:cs typeface="Times New Roman"/>
                        </a:rPr>
                        <a:t>.</a:t>
                      </a:r>
                      <a:endParaRPr lang="da-DK" sz="1100" dirty="0">
                        <a:latin typeface="Times New Roman"/>
                        <a:ea typeface="Times New Roman"/>
                        <a:cs typeface="Times New Roman"/>
                      </a:endParaRPr>
                    </a:p>
                    <a:p>
                      <a:pPr algn="just">
                        <a:lnSpc>
                          <a:spcPct val="200000"/>
                        </a:lnSpc>
                        <a:spcAft>
                          <a:spcPts val="0"/>
                        </a:spcAft>
                      </a:pPr>
                      <a:r>
                        <a:rPr lang="en-US" sz="1100" dirty="0">
                          <a:latin typeface="Times New Roman"/>
                          <a:ea typeface="Times New Roman"/>
                          <a:cs typeface="Times New Roman"/>
                        </a:rPr>
                        <a:t>5 - 10%.</a:t>
                      </a:r>
                      <a:endParaRPr lang="da-DK" sz="1100" dirty="0">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57626">
                <a:tc>
                  <a:txBody>
                    <a:bodyPr/>
                    <a:lstStyle/>
                    <a:p>
                      <a:pPr algn="just">
                        <a:lnSpc>
                          <a:spcPct val="200000"/>
                        </a:lnSpc>
                        <a:spcAft>
                          <a:spcPts val="0"/>
                        </a:spcAft>
                      </a:pPr>
                      <a:r>
                        <a:rPr lang="en-US" sz="1100" dirty="0" err="1">
                          <a:solidFill>
                            <a:schemeClr val="bg1"/>
                          </a:solidFill>
                          <a:latin typeface="Times New Roman"/>
                          <a:ea typeface="Times New Roman"/>
                          <a:cs typeface="Times New Roman"/>
                        </a:rPr>
                        <a:t>Kundeperspektiv</a:t>
                      </a:r>
                      <a:r>
                        <a:rPr lang="en-US" sz="1100" dirty="0">
                          <a:solidFill>
                            <a:schemeClr val="bg1"/>
                          </a:solidFill>
                          <a:latin typeface="Times New Roman"/>
                          <a:ea typeface="Times New Roman"/>
                          <a:cs typeface="Times New Roman"/>
                        </a:rPr>
                        <a:t> (20%).</a:t>
                      </a:r>
                      <a:endParaRPr lang="da-DK" sz="1100" dirty="0">
                        <a:solidFill>
                          <a:schemeClr val="bg1"/>
                        </a:solidFill>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45000"/>
                      </a:srgbClr>
                    </a:solidFill>
                  </a:tcPr>
                </a:tc>
                <a:tc>
                  <a:txBody>
                    <a:bodyPr/>
                    <a:lstStyle/>
                    <a:p>
                      <a:pPr algn="just">
                        <a:lnSpc>
                          <a:spcPct val="200000"/>
                        </a:lnSpc>
                        <a:spcAft>
                          <a:spcPts val="0"/>
                        </a:spcAft>
                      </a:pPr>
                      <a:r>
                        <a:rPr lang="en-US" sz="1100" dirty="0">
                          <a:latin typeface="Times New Roman"/>
                          <a:ea typeface="Times New Roman"/>
                          <a:cs typeface="Times New Roman"/>
                        </a:rPr>
                        <a:t>4. </a:t>
                      </a:r>
                      <a:r>
                        <a:rPr lang="en-US" sz="1100" dirty="0" err="1">
                          <a:latin typeface="Times New Roman"/>
                          <a:ea typeface="Times New Roman"/>
                          <a:cs typeface="Times New Roman"/>
                        </a:rPr>
                        <a:t>Markedsandel</a:t>
                      </a:r>
                      <a:r>
                        <a:rPr lang="en-US" sz="1100" dirty="0">
                          <a:latin typeface="Times New Roman"/>
                          <a:ea typeface="Times New Roman"/>
                          <a:cs typeface="Times New Roman"/>
                        </a:rPr>
                        <a:t>.</a:t>
                      </a:r>
                      <a:endParaRPr lang="da-DK" sz="1100" dirty="0">
                        <a:latin typeface="Times New Roman"/>
                        <a:ea typeface="Times New Roman"/>
                        <a:cs typeface="Times New Roman"/>
                      </a:endParaRPr>
                    </a:p>
                    <a:p>
                      <a:pPr algn="just">
                        <a:lnSpc>
                          <a:spcPct val="200000"/>
                        </a:lnSpc>
                        <a:spcAft>
                          <a:spcPts val="0"/>
                        </a:spcAft>
                      </a:pPr>
                      <a:r>
                        <a:rPr lang="en-US" sz="1100" dirty="0">
                          <a:latin typeface="Times New Roman"/>
                          <a:ea typeface="Times New Roman"/>
                          <a:cs typeface="Times New Roman"/>
                        </a:rPr>
                        <a:t>5. </a:t>
                      </a:r>
                      <a:r>
                        <a:rPr lang="en-US" sz="1100" dirty="0" err="1">
                          <a:latin typeface="Times New Roman"/>
                          <a:ea typeface="Times New Roman"/>
                          <a:cs typeface="Times New Roman"/>
                        </a:rPr>
                        <a:t>Kundetilfredshed</a:t>
                      </a:r>
                      <a:r>
                        <a:rPr lang="en-US" sz="1100" dirty="0">
                          <a:latin typeface="Times New Roman"/>
                          <a:ea typeface="Times New Roman"/>
                          <a:cs typeface="Times New Roman"/>
                        </a:rPr>
                        <a:t>.</a:t>
                      </a:r>
                      <a:endParaRPr lang="da-DK" sz="1100" dirty="0">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200000"/>
                        </a:lnSpc>
                        <a:spcAft>
                          <a:spcPts val="0"/>
                        </a:spcAft>
                      </a:pPr>
                      <a:r>
                        <a:rPr lang="en-US" sz="1100">
                          <a:latin typeface="Times New Roman"/>
                          <a:ea typeface="Times New Roman"/>
                          <a:cs typeface="Times New Roman"/>
                        </a:rPr>
                        <a:t>10%</a:t>
                      </a:r>
                      <a:endParaRPr lang="da-DK" sz="1100">
                        <a:latin typeface="Times New Roman"/>
                        <a:ea typeface="Times New Roman"/>
                        <a:cs typeface="Times New Roman"/>
                      </a:endParaRPr>
                    </a:p>
                    <a:p>
                      <a:pPr algn="just">
                        <a:lnSpc>
                          <a:spcPct val="200000"/>
                        </a:lnSpc>
                        <a:spcAft>
                          <a:spcPts val="0"/>
                        </a:spcAft>
                      </a:pPr>
                      <a:r>
                        <a:rPr lang="en-US" sz="1100">
                          <a:latin typeface="Times New Roman"/>
                          <a:ea typeface="Times New Roman"/>
                          <a:cs typeface="Times New Roman"/>
                        </a:rPr>
                        <a:t>10%</a:t>
                      </a:r>
                      <a:endParaRPr lang="da-DK" sz="1100">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200000"/>
                        </a:lnSpc>
                        <a:spcAft>
                          <a:spcPts val="0"/>
                        </a:spcAft>
                      </a:pPr>
                      <a:r>
                        <a:rPr lang="en-US" sz="1100" dirty="0">
                          <a:latin typeface="Times New Roman"/>
                          <a:ea typeface="Times New Roman"/>
                          <a:cs typeface="Times New Roman"/>
                        </a:rPr>
                        <a:t>5% </a:t>
                      </a:r>
                      <a:endParaRPr lang="da-DK" sz="1100" dirty="0">
                        <a:latin typeface="Times New Roman"/>
                        <a:ea typeface="Times New Roman"/>
                        <a:cs typeface="Times New Roman"/>
                      </a:endParaRPr>
                    </a:p>
                    <a:p>
                      <a:pPr algn="just">
                        <a:lnSpc>
                          <a:spcPct val="200000"/>
                        </a:lnSpc>
                        <a:spcAft>
                          <a:spcPts val="0"/>
                        </a:spcAft>
                      </a:pPr>
                      <a:r>
                        <a:rPr lang="en-US" sz="1100" dirty="0">
                          <a:latin typeface="Times New Roman"/>
                          <a:ea typeface="Times New Roman"/>
                          <a:cs typeface="Times New Roman"/>
                        </a:rPr>
                        <a:t>85 - 95% </a:t>
                      </a:r>
                      <a:r>
                        <a:rPr lang="en-US" sz="1100" dirty="0" err="1">
                          <a:latin typeface="Times New Roman"/>
                          <a:ea typeface="Times New Roman"/>
                          <a:cs typeface="Times New Roman"/>
                        </a:rPr>
                        <a:t>tilfredse</a:t>
                      </a:r>
                      <a:r>
                        <a:rPr lang="en-US" sz="1100" dirty="0">
                          <a:latin typeface="Times New Roman"/>
                          <a:ea typeface="Times New Roman"/>
                          <a:cs typeface="Times New Roman"/>
                        </a:rPr>
                        <a:t> </a:t>
                      </a:r>
                      <a:r>
                        <a:rPr lang="en-US" sz="1100" dirty="0" err="1">
                          <a:latin typeface="Times New Roman"/>
                          <a:ea typeface="Times New Roman"/>
                          <a:cs typeface="Times New Roman"/>
                        </a:rPr>
                        <a:t>eller</a:t>
                      </a:r>
                      <a:r>
                        <a:rPr lang="en-US" sz="1100" dirty="0">
                          <a:latin typeface="Times New Roman"/>
                          <a:ea typeface="Times New Roman"/>
                          <a:cs typeface="Times New Roman"/>
                        </a:rPr>
                        <a:t> </a:t>
                      </a:r>
                      <a:r>
                        <a:rPr lang="en-US" sz="1100" dirty="0" err="1">
                          <a:latin typeface="Times New Roman"/>
                          <a:ea typeface="Times New Roman"/>
                          <a:cs typeface="Times New Roman"/>
                        </a:rPr>
                        <a:t>meget</a:t>
                      </a:r>
                      <a:r>
                        <a:rPr lang="en-US" sz="1100" dirty="0">
                          <a:latin typeface="Times New Roman"/>
                          <a:ea typeface="Times New Roman"/>
                          <a:cs typeface="Times New Roman"/>
                        </a:rPr>
                        <a:t> </a:t>
                      </a:r>
                      <a:r>
                        <a:rPr lang="en-US" sz="1100" dirty="0" err="1">
                          <a:latin typeface="Times New Roman"/>
                          <a:ea typeface="Times New Roman"/>
                          <a:cs typeface="Times New Roman"/>
                        </a:rPr>
                        <a:t>tilfredse</a:t>
                      </a:r>
                      <a:r>
                        <a:rPr lang="en-US" sz="1100" dirty="0">
                          <a:latin typeface="Times New Roman"/>
                          <a:ea typeface="Times New Roman"/>
                          <a:cs typeface="Times New Roman"/>
                        </a:rPr>
                        <a:t>.</a:t>
                      </a:r>
                      <a:endParaRPr lang="da-DK" sz="1100" dirty="0">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57626">
                <a:tc>
                  <a:txBody>
                    <a:bodyPr/>
                    <a:lstStyle/>
                    <a:p>
                      <a:pPr algn="l">
                        <a:lnSpc>
                          <a:spcPct val="200000"/>
                        </a:lnSpc>
                        <a:spcAft>
                          <a:spcPts val="0"/>
                        </a:spcAft>
                      </a:pPr>
                      <a:r>
                        <a:rPr lang="en-US" sz="1100" dirty="0">
                          <a:solidFill>
                            <a:schemeClr val="bg1"/>
                          </a:solidFill>
                          <a:latin typeface="Times New Roman"/>
                          <a:ea typeface="Times New Roman"/>
                          <a:cs typeface="Times New Roman"/>
                        </a:rPr>
                        <a:t>Interne </a:t>
                      </a:r>
                      <a:r>
                        <a:rPr lang="en-US" sz="1100" dirty="0" err="1">
                          <a:solidFill>
                            <a:schemeClr val="bg1"/>
                          </a:solidFill>
                          <a:latin typeface="Times New Roman"/>
                          <a:ea typeface="Times New Roman"/>
                          <a:cs typeface="Times New Roman"/>
                        </a:rPr>
                        <a:t>perspektiv</a:t>
                      </a:r>
                      <a:r>
                        <a:rPr lang="en-US" sz="1100" dirty="0">
                          <a:solidFill>
                            <a:schemeClr val="bg1"/>
                          </a:solidFill>
                          <a:latin typeface="Times New Roman"/>
                          <a:ea typeface="Times New Roman"/>
                          <a:cs typeface="Times New Roman"/>
                        </a:rPr>
                        <a:t> (10%).</a:t>
                      </a:r>
                      <a:endParaRPr lang="da-DK" sz="1100" dirty="0">
                        <a:solidFill>
                          <a:schemeClr val="bg1"/>
                        </a:solidFill>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45000"/>
                      </a:srgbClr>
                    </a:solidFill>
                  </a:tcPr>
                </a:tc>
                <a:tc>
                  <a:txBody>
                    <a:bodyPr/>
                    <a:lstStyle/>
                    <a:p>
                      <a:pPr algn="just">
                        <a:lnSpc>
                          <a:spcPct val="200000"/>
                        </a:lnSpc>
                        <a:spcAft>
                          <a:spcPts val="0"/>
                        </a:spcAft>
                      </a:pPr>
                      <a:r>
                        <a:rPr lang="en-US" sz="1100" dirty="0">
                          <a:latin typeface="Times New Roman"/>
                          <a:ea typeface="Times New Roman"/>
                          <a:cs typeface="Times New Roman"/>
                        </a:rPr>
                        <a:t>6. </a:t>
                      </a:r>
                      <a:r>
                        <a:rPr lang="en-US" sz="1100" dirty="0" err="1">
                          <a:latin typeface="Times New Roman"/>
                          <a:ea typeface="Times New Roman"/>
                          <a:cs typeface="Times New Roman"/>
                        </a:rPr>
                        <a:t>Kvalitetsfejl</a:t>
                      </a:r>
                      <a:r>
                        <a:rPr lang="en-US" sz="1100" dirty="0">
                          <a:latin typeface="Times New Roman"/>
                          <a:ea typeface="Times New Roman"/>
                          <a:cs typeface="Times New Roman"/>
                        </a:rPr>
                        <a:t>..</a:t>
                      </a:r>
                      <a:endParaRPr lang="da-DK" sz="1100" dirty="0">
                        <a:latin typeface="Times New Roman"/>
                        <a:ea typeface="Times New Roman"/>
                        <a:cs typeface="Times New Roman"/>
                      </a:endParaRPr>
                    </a:p>
                    <a:p>
                      <a:pPr algn="just">
                        <a:lnSpc>
                          <a:spcPct val="200000"/>
                        </a:lnSpc>
                        <a:spcAft>
                          <a:spcPts val="0"/>
                        </a:spcAft>
                      </a:pPr>
                      <a:r>
                        <a:rPr lang="en-US" sz="1100" dirty="0">
                          <a:latin typeface="Times New Roman"/>
                          <a:ea typeface="Times New Roman"/>
                          <a:cs typeface="Times New Roman"/>
                        </a:rPr>
                        <a:t>7. </a:t>
                      </a:r>
                      <a:r>
                        <a:rPr lang="en-US" sz="1100" dirty="0" err="1">
                          <a:latin typeface="Times New Roman"/>
                          <a:ea typeface="Times New Roman"/>
                          <a:cs typeface="Times New Roman"/>
                        </a:rPr>
                        <a:t>Effektivitet</a:t>
                      </a:r>
                      <a:r>
                        <a:rPr lang="en-US" sz="1100" dirty="0">
                          <a:latin typeface="Times New Roman"/>
                          <a:ea typeface="Times New Roman"/>
                          <a:cs typeface="Times New Roman"/>
                        </a:rPr>
                        <a:t> (</a:t>
                      </a:r>
                      <a:r>
                        <a:rPr lang="en-US" sz="1100" dirty="0" err="1">
                          <a:latin typeface="Times New Roman"/>
                          <a:ea typeface="Times New Roman"/>
                          <a:cs typeface="Times New Roman"/>
                        </a:rPr>
                        <a:t>enhedsomkostninger</a:t>
                      </a:r>
                      <a:r>
                        <a:rPr lang="en-US" sz="1100" dirty="0">
                          <a:latin typeface="Times New Roman"/>
                          <a:ea typeface="Times New Roman"/>
                          <a:cs typeface="Times New Roman"/>
                        </a:rPr>
                        <a:t>).</a:t>
                      </a:r>
                      <a:endParaRPr lang="da-DK" sz="1100" dirty="0">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200000"/>
                        </a:lnSpc>
                        <a:spcAft>
                          <a:spcPts val="0"/>
                        </a:spcAft>
                      </a:pPr>
                      <a:r>
                        <a:rPr lang="en-US" sz="1100">
                          <a:latin typeface="Times New Roman"/>
                          <a:ea typeface="Times New Roman"/>
                          <a:cs typeface="Times New Roman"/>
                        </a:rPr>
                        <a:t>5%</a:t>
                      </a:r>
                      <a:endParaRPr lang="da-DK" sz="1100">
                        <a:latin typeface="Times New Roman"/>
                        <a:ea typeface="Times New Roman"/>
                        <a:cs typeface="Times New Roman"/>
                      </a:endParaRPr>
                    </a:p>
                    <a:p>
                      <a:pPr algn="just">
                        <a:lnSpc>
                          <a:spcPct val="200000"/>
                        </a:lnSpc>
                        <a:spcAft>
                          <a:spcPts val="0"/>
                        </a:spcAft>
                      </a:pPr>
                      <a:r>
                        <a:rPr lang="en-US" sz="1100">
                          <a:latin typeface="Times New Roman"/>
                          <a:ea typeface="Times New Roman"/>
                          <a:cs typeface="Times New Roman"/>
                        </a:rPr>
                        <a:t>5%</a:t>
                      </a:r>
                      <a:endParaRPr lang="da-DK" sz="1100">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200000"/>
                        </a:lnSpc>
                        <a:spcAft>
                          <a:spcPts val="0"/>
                        </a:spcAft>
                      </a:pPr>
                      <a:r>
                        <a:rPr lang="da-DK" sz="1100" dirty="0">
                          <a:latin typeface="Times New Roman"/>
                          <a:ea typeface="Times New Roman"/>
                          <a:cs typeface="Times New Roman"/>
                        </a:rPr>
                        <a:t>95 - 98%</a:t>
                      </a:r>
                      <a:r>
                        <a:rPr lang="da-DK" sz="1100" baseline="0" dirty="0">
                          <a:latin typeface="Times New Roman"/>
                          <a:ea typeface="Times New Roman"/>
                          <a:cs typeface="Times New Roman"/>
                        </a:rPr>
                        <a:t> fejlfrie</a:t>
                      </a:r>
                      <a:endParaRPr lang="da-DK" sz="1100" dirty="0">
                        <a:latin typeface="Times New Roman"/>
                        <a:ea typeface="Times New Roman"/>
                        <a:cs typeface="Times New Roman"/>
                      </a:endParaRPr>
                    </a:p>
                    <a:p>
                      <a:pPr algn="just">
                        <a:lnSpc>
                          <a:spcPct val="200000"/>
                        </a:lnSpc>
                        <a:spcAft>
                          <a:spcPts val="0"/>
                        </a:spcAft>
                      </a:pPr>
                      <a:r>
                        <a:rPr lang="da-DK" sz="1100" dirty="0">
                          <a:latin typeface="Times New Roman"/>
                          <a:ea typeface="Times New Roman"/>
                          <a:cs typeface="Times New Roman"/>
                        </a:rPr>
                        <a:t>2% i forhold til sidste år.</a:t>
                      </a: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46295">
                <a:tc>
                  <a:txBody>
                    <a:bodyPr/>
                    <a:lstStyle/>
                    <a:p>
                      <a:pPr algn="just">
                        <a:lnSpc>
                          <a:spcPct val="200000"/>
                        </a:lnSpc>
                        <a:spcAft>
                          <a:spcPts val="0"/>
                        </a:spcAft>
                      </a:pPr>
                      <a:r>
                        <a:rPr lang="en-US" sz="1100" dirty="0" err="1">
                          <a:solidFill>
                            <a:schemeClr val="bg1"/>
                          </a:solidFill>
                          <a:latin typeface="Times New Roman"/>
                          <a:ea typeface="Times New Roman"/>
                          <a:cs typeface="Times New Roman"/>
                        </a:rPr>
                        <a:t>Læring</a:t>
                      </a:r>
                      <a:r>
                        <a:rPr lang="en-US" sz="1100" dirty="0">
                          <a:solidFill>
                            <a:schemeClr val="bg1"/>
                          </a:solidFill>
                          <a:latin typeface="Times New Roman"/>
                          <a:ea typeface="Times New Roman"/>
                          <a:cs typeface="Times New Roman"/>
                        </a:rPr>
                        <a:t> (10%).</a:t>
                      </a:r>
                      <a:endParaRPr lang="da-DK" sz="1100" dirty="0">
                        <a:solidFill>
                          <a:schemeClr val="bg1"/>
                        </a:solidFill>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45000"/>
                      </a:srgbClr>
                    </a:solidFill>
                  </a:tcPr>
                </a:tc>
                <a:tc>
                  <a:txBody>
                    <a:bodyPr/>
                    <a:lstStyle/>
                    <a:p>
                      <a:pPr algn="just">
                        <a:lnSpc>
                          <a:spcPct val="200000"/>
                        </a:lnSpc>
                        <a:spcAft>
                          <a:spcPts val="0"/>
                        </a:spcAft>
                      </a:pPr>
                      <a:r>
                        <a:rPr lang="en-US" sz="1100" dirty="0">
                          <a:latin typeface="Times New Roman"/>
                          <a:ea typeface="Times New Roman"/>
                          <a:cs typeface="Times New Roman"/>
                        </a:rPr>
                        <a:t>8. </a:t>
                      </a:r>
                      <a:r>
                        <a:rPr lang="en-US" sz="1100" dirty="0" err="1">
                          <a:latin typeface="Times New Roman"/>
                          <a:ea typeface="Times New Roman"/>
                          <a:cs typeface="Times New Roman"/>
                        </a:rPr>
                        <a:t>Medarbejdertilfredshed</a:t>
                      </a:r>
                      <a:r>
                        <a:rPr lang="en-US" sz="1100" dirty="0">
                          <a:latin typeface="Times New Roman"/>
                          <a:ea typeface="Times New Roman"/>
                          <a:cs typeface="Times New Roman"/>
                        </a:rPr>
                        <a:t>.</a:t>
                      </a:r>
                      <a:endParaRPr lang="da-DK" sz="1100" dirty="0">
                        <a:latin typeface="Times New Roman"/>
                        <a:ea typeface="Times New Roman"/>
                        <a:cs typeface="Times New Roman"/>
                      </a:endParaRPr>
                    </a:p>
                    <a:p>
                      <a:pPr algn="just">
                        <a:lnSpc>
                          <a:spcPct val="200000"/>
                        </a:lnSpc>
                        <a:spcAft>
                          <a:spcPts val="0"/>
                        </a:spcAft>
                      </a:pPr>
                      <a:endParaRPr lang="en-US" sz="1100" dirty="0">
                        <a:latin typeface="Times New Roman"/>
                        <a:ea typeface="Times New Roman"/>
                        <a:cs typeface="Times New Roman"/>
                      </a:endParaRPr>
                    </a:p>
                    <a:p>
                      <a:pPr algn="just">
                        <a:lnSpc>
                          <a:spcPct val="200000"/>
                        </a:lnSpc>
                        <a:spcAft>
                          <a:spcPts val="0"/>
                        </a:spcAft>
                      </a:pPr>
                      <a:r>
                        <a:rPr lang="en-US" sz="1100" dirty="0">
                          <a:latin typeface="Times New Roman"/>
                          <a:ea typeface="Times New Roman"/>
                          <a:cs typeface="Times New Roman"/>
                        </a:rPr>
                        <a:t>9. </a:t>
                      </a:r>
                      <a:r>
                        <a:rPr lang="en-US" sz="1100" dirty="0" err="1">
                          <a:latin typeface="Times New Roman"/>
                          <a:ea typeface="Times New Roman"/>
                          <a:cs typeface="Times New Roman"/>
                        </a:rPr>
                        <a:t>Efteruddannelse</a:t>
                      </a:r>
                      <a:r>
                        <a:rPr lang="en-US" sz="1100" dirty="0">
                          <a:latin typeface="Times New Roman"/>
                          <a:ea typeface="Times New Roman"/>
                          <a:cs typeface="Times New Roman"/>
                        </a:rPr>
                        <a:t>.</a:t>
                      </a:r>
                      <a:endParaRPr lang="da-DK" sz="1100" dirty="0">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200000"/>
                        </a:lnSpc>
                        <a:spcAft>
                          <a:spcPts val="0"/>
                        </a:spcAft>
                      </a:pPr>
                      <a:r>
                        <a:rPr lang="en-US" sz="1100" dirty="0">
                          <a:latin typeface="Times New Roman"/>
                          <a:ea typeface="Times New Roman"/>
                          <a:cs typeface="Times New Roman"/>
                        </a:rPr>
                        <a:t>5%</a:t>
                      </a:r>
                      <a:endParaRPr lang="da-DK" sz="1100" dirty="0">
                        <a:latin typeface="Times New Roman"/>
                        <a:ea typeface="Times New Roman"/>
                        <a:cs typeface="Times New Roman"/>
                      </a:endParaRPr>
                    </a:p>
                    <a:p>
                      <a:pPr algn="just">
                        <a:lnSpc>
                          <a:spcPct val="200000"/>
                        </a:lnSpc>
                        <a:spcAft>
                          <a:spcPts val="0"/>
                        </a:spcAft>
                      </a:pPr>
                      <a:endParaRPr lang="en-US" sz="1100" dirty="0">
                        <a:latin typeface="Times New Roman"/>
                        <a:ea typeface="Times New Roman"/>
                        <a:cs typeface="Times New Roman"/>
                      </a:endParaRPr>
                    </a:p>
                    <a:p>
                      <a:pPr algn="just">
                        <a:lnSpc>
                          <a:spcPct val="200000"/>
                        </a:lnSpc>
                        <a:spcAft>
                          <a:spcPts val="0"/>
                        </a:spcAft>
                      </a:pPr>
                      <a:r>
                        <a:rPr lang="en-US" sz="1100" dirty="0">
                          <a:latin typeface="Times New Roman"/>
                          <a:ea typeface="Times New Roman"/>
                          <a:cs typeface="Times New Roman"/>
                        </a:rPr>
                        <a:t>5%</a:t>
                      </a:r>
                      <a:endParaRPr lang="da-DK" sz="1100" dirty="0">
                        <a:latin typeface="Times New Roman"/>
                        <a:ea typeface="Times New Roman"/>
                        <a:cs typeface="Times New Roman"/>
                      </a:endParaRP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200000"/>
                        </a:lnSpc>
                        <a:spcAft>
                          <a:spcPts val="600"/>
                        </a:spcAft>
                      </a:pPr>
                      <a:r>
                        <a:rPr lang="da-DK" sz="1100" dirty="0">
                          <a:latin typeface="Times New Roman"/>
                          <a:ea typeface="Times New Roman"/>
                          <a:cs typeface="Times New Roman"/>
                        </a:rPr>
                        <a:t>90% tilfredse eller meget tilfredse.</a:t>
                      </a:r>
                    </a:p>
                    <a:p>
                      <a:pPr algn="just">
                        <a:lnSpc>
                          <a:spcPct val="200000"/>
                        </a:lnSpc>
                        <a:spcAft>
                          <a:spcPts val="0"/>
                        </a:spcAft>
                      </a:pPr>
                      <a:r>
                        <a:rPr lang="da-DK" sz="1100" dirty="0">
                          <a:latin typeface="Times New Roman"/>
                          <a:ea typeface="Times New Roman"/>
                          <a:cs typeface="Times New Roman"/>
                        </a:rPr>
                        <a:t>10 – 15 arbejdsdage.</a:t>
                      </a:r>
                    </a:p>
                  </a:txBody>
                  <a:tcPr marL="50104" marR="501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049" name="Rectangle 1"/>
          <p:cNvSpPr>
            <a:spLocks noChangeArrowheads="1"/>
          </p:cNvSpPr>
          <p:nvPr/>
        </p:nvSpPr>
        <p:spPr bwMode="auto">
          <a:xfrm>
            <a:off x="792481" y="12414"/>
            <a:ext cx="11040931" cy="1184940"/>
          </a:xfrm>
          <a:prstGeom prst="rect">
            <a:avLst/>
          </a:prstGeom>
          <a:noFill/>
          <a:ln w="9525">
            <a:noFill/>
            <a:miter lim="800000"/>
            <a:headEnd/>
            <a:tailEnd/>
          </a:ln>
          <a:effectLst/>
        </p:spPr>
        <p:txBody>
          <a:bodyPr vert="horz" wrap="square" lIns="91440" tIns="45720" rIns="91440" bIns="0" numCol="1" anchor="ctr" anchorCtr="0" compatLnSpc="1">
            <a:prstTxWarp prst="textNoShape">
              <a:avLst/>
            </a:prstTxWarp>
            <a:spAutoFit/>
          </a:bodyPr>
          <a:lstStyle/>
          <a:p>
            <a:pPr defTabSz="914400" fontAlgn="base">
              <a:spcBef>
                <a:spcPct val="0"/>
              </a:spcBef>
              <a:spcAft>
                <a:spcPct val="0"/>
              </a:spcAft>
            </a:pPr>
            <a:r>
              <a:rPr lang="da-DK" sz="2800" dirty="0">
                <a:latin typeface="Times New Roman" pitchFamily="18" charset="0"/>
                <a:cs typeface="Times New Roman" pitchFamily="18" charset="0"/>
              </a:rPr>
              <a:t>Kompensationsplan koblet til et </a:t>
            </a:r>
            <a:r>
              <a:rPr lang="da-DK" sz="2800" dirty="0" err="1">
                <a:latin typeface="Times New Roman" pitchFamily="18" charset="0"/>
                <a:cs typeface="Times New Roman" pitchFamily="18" charset="0"/>
              </a:rPr>
              <a:t>Balanced</a:t>
            </a:r>
            <a:r>
              <a:rPr lang="da-DK" sz="2800" dirty="0">
                <a:latin typeface="Times New Roman" pitchFamily="18" charset="0"/>
                <a:cs typeface="Times New Roman" pitchFamily="18" charset="0"/>
              </a:rPr>
              <a:t> </a:t>
            </a:r>
            <a:r>
              <a:rPr lang="da-DK" sz="2800" dirty="0" err="1">
                <a:latin typeface="Times New Roman" pitchFamily="18" charset="0"/>
                <a:cs typeface="Times New Roman" pitchFamily="18" charset="0"/>
              </a:rPr>
              <a:t>Scorecard</a:t>
            </a:r>
            <a:r>
              <a:rPr lang="da-DK" sz="2800" dirty="0">
                <a:latin typeface="Times New Roman" pitchFamily="18" charset="0"/>
                <a:cs typeface="Times New Roman" pitchFamily="18" charset="0"/>
              </a:rPr>
              <a:t>, eller; hvordan man undgår opportunisme i et </a:t>
            </a:r>
            <a:r>
              <a:rPr lang="da-DK" sz="2800" dirty="0" err="1">
                <a:latin typeface="Times New Roman" pitchFamily="18" charset="0"/>
                <a:cs typeface="Times New Roman" pitchFamily="18" charset="0"/>
              </a:rPr>
              <a:t>Balanced</a:t>
            </a:r>
            <a:r>
              <a:rPr lang="da-DK" sz="2800" dirty="0">
                <a:latin typeface="Times New Roman" pitchFamily="18" charset="0"/>
                <a:cs typeface="Times New Roman" pitchFamily="18" charset="0"/>
              </a:rPr>
              <a:t> </a:t>
            </a:r>
            <a:r>
              <a:rPr lang="da-DK" sz="2800" dirty="0" err="1">
                <a:latin typeface="Times New Roman" pitchFamily="18" charset="0"/>
                <a:cs typeface="Times New Roman" pitchFamily="18" charset="0"/>
              </a:rPr>
              <a:t>Scorecard</a:t>
            </a:r>
            <a:r>
              <a:rPr lang="da-DK" sz="2800" dirty="0">
                <a:latin typeface="Times New Roman" pitchFamily="18" charset="0"/>
                <a:cs typeface="Times New Roman" pitchFamily="18" charset="0"/>
              </a:rPr>
              <a:t> </a:t>
            </a:r>
          </a:p>
          <a:p>
            <a:pPr defTabSz="914400" eaLnBrk="0" fontAlgn="base" hangingPunct="0">
              <a:spcBef>
                <a:spcPct val="0"/>
              </a:spcBef>
              <a:spcAft>
                <a:spcPct val="0"/>
              </a:spcAft>
            </a:pPr>
            <a:endParaRPr lang="da-DK" dirty="0">
              <a:latin typeface="Arial" pitchFamily="34" charset="0"/>
            </a:endParaRPr>
          </a:p>
        </p:txBody>
      </p:sp>
      <p:sp>
        <p:nvSpPr>
          <p:cNvPr id="7" name="Tekstboks 6"/>
          <p:cNvSpPr txBox="1"/>
          <p:nvPr/>
        </p:nvSpPr>
        <p:spPr>
          <a:xfrm>
            <a:off x="9791700" y="5678270"/>
            <a:ext cx="838200" cy="646331"/>
          </a:xfrm>
          <a:prstGeom prst="rect">
            <a:avLst/>
          </a:prstGeom>
          <a:noFill/>
        </p:spPr>
        <p:txBody>
          <a:bodyPr wrap="square" rtlCol="0">
            <a:spAutoFit/>
          </a:bodyPr>
          <a:lstStyle/>
          <a:p>
            <a:r>
              <a:rPr lang="da-DK" sz="1200" dirty="0"/>
              <a:t>Friis &amp; Vámosi 2005</a:t>
            </a:r>
          </a:p>
        </p:txBody>
      </p:sp>
    </p:spTree>
    <p:extLst>
      <p:ext uri="{BB962C8B-B14F-4D97-AF65-F5344CB8AC3E}">
        <p14:creationId xmlns:p14="http://schemas.microsoft.com/office/powerpoint/2010/main" val="2636405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972670" y="228600"/>
            <a:ext cx="8229600" cy="1143000"/>
          </a:xfrm>
        </p:spPr>
        <p:txBody>
          <a:bodyPr/>
          <a:lstStyle/>
          <a:p>
            <a:pPr eaLnBrk="1" hangingPunct="1">
              <a:buClr>
                <a:srgbClr val="990033"/>
              </a:buClr>
            </a:pPr>
            <a:r>
              <a:rPr lang="en-US" sz="3200" dirty="0" err="1"/>
              <a:t>Opportunisme</a:t>
            </a:r>
            <a:r>
              <a:rPr lang="en-US" sz="3200" dirty="0"/>
              <a:t> </a:t>
            </a:r>
            <a:r>
              <a:rPr lang="en-US" sz="3200" dirty="0" err="1"/>
              <a:t>og</a:t>
            </a:r>
            <a:r>
              <a:rPr lang="en-US" sz="3200" dirty="0"/>
              <a:t> </a:t>
            </a:r>
            <a:r>
              <a:rPr lang="en-US" sz="3200" dirty="0" err="1"/>
              <a:t>Horisontproblemet</a:t>
            </a:r>
            <a:endParaRPr lang="en-US" sz="3200" dirty="0"/>
          </a:p>
        </p:txBody>
      </p:sp>
      <p:graphicFrame>
        <p:nvGraphicFramePr>
          <p:cNvPr id="5" name="Tabel 4"/>
          <p:cNvGraphicFramePr>
            <a:graphicFrameLocks noGrp="1"/>
          </p:cNvGraphicFramePr>
          <p:nvPr>
            <p:extLst>
              <p:ext uri="{D42A27DB-BD31-4B8C-83A1-F6EECF244321}">
                <p14:modId xmlns:p14="http://schemas.microsoft.com/office/powerpoint/2010/main" val="2975765582"/>
              </p:ext>
            </p:extLst>
          </p:nvPr>
        </p:nvGraphicFramePr>
        <p:xfrm>
          <a:off x="2298042" y="1518916"/>
          <a:ext cx="7723094" cy="3630705"/>
        </p:xfrm>
        <a:graphic>
          <a:graphicData uri="http://schemas.openxmlformats.org/drawingml/2006/table">
            <a:tbl>
              <a:tblPr/>
              <a:tblGrid>
                <a:gridCol w="1930378">
                  <a:extLst>
                    <a:ext uri="{9D8B030D-6E8A-4147-A177-3AD203B41FA5}">
                      <a16:colId xmlns:a16="http://schemas.microsoft.com/office/drawing/2014/main" val="20000"/>
                    </a:ext>
                  </a:extLst>
                </a:gridCol>
                <a:gridCol w="1930378">
                  <a:extLst>
                    <a:ext uri="{9D8B030D-6E8A-4147-A177-3AD203B41FA5}">
                      <a16:colId xmlns:a16="http://schemas.microsoft.com/office/drawing/2014/main" val="20001"/>
                    </a:ext>
                  </a:extLst>
                </a:gridCol>
                <a:gridCol w="1931169">
                  <a:extLst>
                    <a:ext uri="{9D8B030D-6E8A-4147-A177-3AD203B41FA5}">
                      <a16:colId xmlns:a16="http://schemas.microsoft.com/office/drawing/2014/main" val="20002"/>
                    </a:ext>
                  </a:extLst>
                </a:gridCol>
                <a:gridCol w="1931169">
                  <a:extLst>
                    <a:ext uri="{9D8B030D-6E8A-4147-A177-3AD203B41FA5}">
                      <a16:colId xmlns:a16="http://schemas.microsoft.com/office/drawing/2014/main" val="20003"/>
                    </a:ext>
                  </a:extLst>
                </a:gridCol>
              </a:tblGrid>
              <a:tr h="726141">
                <a:tc>
                  <a:txBody>
                    <a:bodyPr/>
                    <a:lstStyle/>
                    <a:p>
                      <a:pPr algn="just">
                        <a:lnSpc>
                          <a:spcPct val="200000"/>
                        </a:lnSpc>
                        <a:spcAft>
                          <a:spcPts val="0"/>
                        </a:spcAft>
                      </a:pPr>
                      <a:endParaRPr lang="da-DK" sz="1200" dirty="0">
                        <a:solidFill>
                          <a:schemeClr val="bg1"/>
                        </a:solidFill>
                        <a:latin typeface="Times New Roman"/>
                        <a:ea typeface="Times New Roman"/>
                        <a:cs typeface="Times New Roman"/>
                      </a:endParaRP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45000"/>
                      </a:srgbClr>
                    </a:solidFill>
                  </a:tcPr>
                </a:tc>
                <a:tc>
                  <a:txBody>
                    <a:bodyPr/>
                    <a:lstStyle/>
                    <a:p>
                      <a:pPr algn="just">
                        <a:lnSpc>
                          <a:spcPct val="200000"/>
                        </a:lnSpc>
                        <a:spcAft>
                          <a:spcPts val="0"/>
                        </a:spcAft>
                      </a:pPr>
                      <a:r>
                        <a:rPr lang="da-DK" sz="1200" dirty="0">
                          <a:solidFill>
                            <a:schemeClr val="bg1"/>
                          </a:solidFill>
                          <a:latin typeface="Times New Roman"/>
                          <a:ea typeface="Times New Roman"/>
                          <a:cs typeface="Times New Roman"/>
                        </a:rPr>
                        <a:t>År 1</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45000"/>
                      </a:srgbClr>
                    </a:solidFill>
                  </a:tcPr>
                </a:tc>
                <a:tc>
                  <a:txBody>
                    <a:bodyPr/>
                    <a:lstStyle/>
                    <a:p>
                      <a:pPr algn="just">
                        <a:lnSpc>
                          <a:spcPct val="200000"/>
                        </a:lnSpc>
                        <a:spcAft>
                          <a:spcPts val="0"/>
                        </a:spcAft>
                      </a:pPr>
                      <a:r>
                        <a:rPr lang="da-DK" sz="1200" dirty="0">
                          <a:solidFill>
                            <a:schemeClr val="bg1"/>
                          </a:solidFill>
                          <a:latin typeface="Times New Roman"/>
                          <a:ea typeface="Times New Roman"/>
                          <a:cs typeface="Times New Roman"/>
                        </a:rPr>
                        <a:t>År 2</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45000"/>
                      </a:srgbClr>
                    </a:solidFill>
                  </a:tcPr>
                </a:tc>
                <a:tc>
                  <a:txBody>
                    <a:bodyPr/>
                    <a:lstStyle/>
                    <a:p>
                      <a:pPr algn="just">
                        <a:lnSpc>
                          <a:spcPct val="200000"/>
                        </a:lnSpc>
                        <a:spcAft>
                          <a:spcPts val="0"/>
                        </a:spcAft>
                      </a:pPr>
                      <a:r>
                        <a:rPr lang="da-DK" sz="1200" dirty="0">
                          <a:solidFill>
                            <a:schemeClr val="bg1"/>
                          </a:solidFill>
                          <a:latin typeface="Times New Roman"/>
                          <a:ea typeface="Times New Roman"/>
                          <a:cs typeface="Times New Roman"/>
                        </a:rPr>
                        <a:t>År 3</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45000"/>
                      </a:srgbClr>
                    </a:solidFill>
                  </a:tcPr>
                </a:tc>
                <a:extLst>
                  <a:ext uri="{0D108BD9-81ED-4DB2-BD59-A6C34878D82A}">
                    <a16:rowId xmlns:a16="http://schemas.microsoft.com/office/drawing/2014/main" val="10000"/>
                  </a:ext>
                </a:extLst>
              </a:tr>
              <a:tr h="726141">
                <a:tc>
                  <a:txBody>
                    <a:bodyPr/>
                    <a:lstStyle/>
                    <a:p>
                      <a:pPr algn="just">
                        <a:lnSpc>
                          <a:spcPct val="200000"/>
                        </a:lnSpc>
                        <a:spcAft>
                          <a:spcPts val="0"/>
                        </a:spcAft>
                      </a:pPr>
                      <a:r>
                        <a:rPr lang="da-DK" sz="1200" dirty="0">
                          <a:solidFill>
                            <a:schemeClr val="bg1"/>
                          </a:solidFill>
                          <a:latin typeface="Times New Roman"/>
                          <a:ea typeface="Times New Roman"/>
                          <a:cs typeface="Times New Roman"/>
                        </a:rPr>
                        <a:t>EVA (et </a:t>
                      </a:r>
                      <a:r>
                        <a:rPr lang="da-DK" sz="1200" dirty="0" err="1">
                          <a:solidFill>
                            <a:schemeClr val="bg1"/>
                          </a:solidFill>
                          <a:latin typeface="Times New Roman"/>
                          <a:ea typeface="Times New Roman"/>
                          <a:cs typeface="Times New Roman"/>
                        </a:rPr>
                        <a:t>profitmål</a:t>
                      </a:r>
                      <a:r>
                        <a:rPr lang="da-DK" sz="1200" dirty="0">
                          <a:solidFill>
                            <a:schemeClr val="bg1"/>
                          </a:solidFill>
                          <a:latin typeface="Times New Roman"/>
                          <a:ea typeface="Times New Roman"/>
                          <a:cs typeface="Times New Roman"/>
                        </a:rPr>
                        <a:t>)</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55000"/>
                      </a:srgbClr>
                    </a:solidFill>
                  </a:tcPr>
                </a:tc>
                <a:tc>
                  <a:txBody>
                    <a:bodyPr/>
                    <a:lstStyle/>
                    <a:p>
                      <a:pPr algn="just">
                        <a:lnSpc>
                          <a:spcPct val="200000"/>
                        </a:lnSpc>
                        <a:spcAft>
                          <a:spcPts val="0"/>
                        </a:spcAft>
                      </a:pPr>
                      <a:r>
                        <a:rPr lang="da-DK" sz="1200">
                          <a:latin typeface="Times New Roman"/>
                          <a:ea typeface="Times New Roman"/>
                          <a:cs typeface="Times New Roman"/>
                        </a:rPr>
                        <a:t>10.000</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200000"/>
                        </a:lnSpc>
                        <a:spcAft>
                          <a:spcPts val="0"/>
                        </a:spcAft>
                      </a:pPr>
                      <a:r>
                        <a:rPr lang="da-DK" sz="1200">
                          <a:latin typeface="Times New Roman"/>
                          <a:ea typeface="Times New Roman"/>
                          <a:cs typeface="Times New Roman"/>
                        </a:rPr>
                        <a:t>20.000</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200000"/>
                        </a:lnSpc>
                        <a:spcAft>
                          <a:spcPts val="0"/>
                        </a:spcAft>
                      </a:pPr>
                      <a:r>
                        <a:rPr lang="da-DK" sz="1200">
                          <a:latin typeface="Times New Roman"/>
                          <a:ea typeface="Times New Roman"/>
                          <a:cs typeface="Times New Roman"/>
                        </a:rPr>
                        <a:t>-30.000</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52282">
                <a:tc>
                  <a:txBody>
                    <a:bodyPr/>
                    <a:lstStyle/>
                    <a:p>
                      <a:pPr algn="just">
                        <a:lnSpc>
                          <a:spcPct val="200000"/>
                        </a:lnSpc>
                        <a:spcAft>
                          <a:spcPts val="0"/>
                        </a:spcAft>
                      </a:pPr>
                      <a:r>
                        <a:rPr lang="da-DK" sz="1200" dirty="0">
                          <a:solidFill>
                            <a:schemeClr val="bg1"/>
                          </a:solidFill>
                          <a:latin typeface="Times New Roman"/>
                          <a:ea typeface="Times New Roman"/>
                          <a:cs typeface="Times New Roman"/>
                        </a:rPr>
                        <a:t>Optjent bonus (10% af EVA)</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55000"/>
                      </a:srgbClr>
                    </a:solidFill>
                  </a:tcPr>
                </a:tc>
                <a:tc>
                  <a:txBody>
                    <a:bodyPr/>
                    <a:lstStyle/>
                    <a:p>
                      <a:pPr algn="just">
                        <a:lnSpc>
                          <a:spcPct val="200000"/>
                        </a:lnSpc>
                        <a:spcAft>
                          <a:spcPts val="0"/>
                        </a:spcAft>
                      </a:pPr>
                      <a:r>
                        <a:rPr lang="da-DK" sz="1200">
                          <a:latin typeface="Times New Roman"/>
                          <a:ea typeface="Times New Roman"/>
                          <a:cs typeface="Times New Roman"/>
                        </a:rPr>
                        <a:t>1.000</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200000"/>
                        </a:lnSpc>
                        <a:spcAft>
                          <a:spcPts val="0"/>
                        </a:spcAft>
                      </a:pPr>
                      <a:r>
                        <a:rPr lang="da-DK" sz="1200">
                          <a:latin typeface="Times New Roman"/>
                          <a:ea typeface="Times New Roman"/>
                          <a:cs typeface="Times New Roman"/>
                        </a:rPr>
                        <a:t>2.000</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200000"/>
                        </a:lnSpc>
                        <a:spcAft>
                          <a:spcPts val="0"/>
                        </a:spcAft>
                      </a:pPr>
                      <a:r>
                        <a:rPr lang="da-DK" sz="1200">
                          <a:latin typeface="Times New Roman"/>
                          <a:ea typeface="Times New Roman"/>
                          <a:cs typeface="Times New Roman"/>
                        </a:rPr>
                        <a:t>-3.000</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26141">
                <a:tc>
                  <a:txBody>
                    <a:bodyPr/>
                    <a:lstStyle/>
                    <a:p>
                      <a:pPr algn="just">
                        <a:lnSpc>
                          <a:spcPct val="200000"/>
                        </a:lnSpc>
                        <a:spcAft>
                          <a:spcPts val="0"/>
                        </a:spcAft>
                      </a:pPr>
                      <a:r>
                        <a:rPr lang="da-DK" sz="1200" dirty="0">
                          <a:solidFill>
                            <a:schemeClr val="bg1"/>
                          </a:solidFill>
                          <a:latin typeface="Times New Roman"/>
                          <a:ea typeface="Times New Roman"/>
                          <a:cs typeface="Times New Roman"/>
                        </a:rPr>
                        <a:t>Bonusbank</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00">
                        <a:alpha val="55000"/>
                      </a:srgbClr>
                    </a:solidFill>
                  </a:tcPr>
                </a:tc>
                <a:tc>
                  <a:txBody>
                    <a:bodyPr/>
                    <a:lstStyle/>
                    <a:p>
                      <a:pPr algn="just">
                        <a:lnSpc>
                          <a:spcPct val="200000"/>
                        </a:lnSpc>
                        <a:spcAft>
                          <a:spcPts val="0"/>
                        </a:spcAft>
                      </a:pPr>
                      <a:r>
                        <a:rPr lang="da-DK" sz="1200">
                          <a:latin typeface="Times New Roman"/>
                          <a:ea typeface="Times New Roman"/>
                          <a:cs typeface="Times New Roman"/>
                        </a:rPr>
                        <a:t>1.000</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200000"/>
                        </a:lnSpc>
                        <a:spcAft>
                          <a:spcPts val="0"/>
                        </a:spcAft>
                      </a:pPr>
                      <a:r>
                        <a:rPr lang="da-DK" sz="1200">
                          <a:latin typeface="Times New Roman"/>
                          <a:ea typeface="Times New Roman"/>
                          <a:cs typeface="Times New Roman"/>
                        </a:rPr>
                        <a:t>3.000</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200000"/>
                        </a:lnSpc>
                        <a:spcAft>
                          <a:spcPts val="0"/>
                        </a:spcAft>
                      </a:pPr>
                      <a:r>
                        <a:rPr lang="da-DK" sz="1200" dirty="0">
                          <a:latin typeface="Times New Roman"/>
                          <a:ea typeface="Times New Roman"/>
                          <a:cs typeface="Times New Roman"/>
                        </a:rPr>
                        <a:t>0</a:t>
                      </a:r>
                    </a:p>
                  </a:txBody>
                  <a:tcPr marL="43641" marR="4364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kstboks 7"/>
          <p:cNvSpPr txBox="1"/>
          <p:nvPr/>
        </p:nvSpPr>
        <p:spPr>
          <a:xfrm>
            <a:off x="10314601" y="4872622"/>
            <a:ext cx="1795951" cy="276999"/>
          </a:xfrm>
          <a:prstGeom prst="rect">
            <a:avLst/>
          </a:prstGeom>
          <a:noFill/>
        </p:spPr>
        <p:txBody>
          <a:bodyPr wrap="square" rtlCol="0">
            <a:spAutoFit/>
          </a:bodyPr>
          <a:lstStyle/>
          <a:p>
            <a:r>
              <a:rPr lang="da-DK" sz="1200" dirty="0"/>
              <a:t>Friis &amp; Vámosi 2005</a:t>
            </a:r>
          </a:p>
        </p:txBody>
      </p:sp>
      <p:sp>
        <p:nvSpPr>
          <p:cNvPr id="3" name="Slide Number Placeholder 2"/>
          <p:cNvSpPr>
            <a:spLocks noGrp="1"/>
          </p:cNvSpPr>
          <p:nvPr>
            <p:ph type="sldNum" sz="quarter" idx="12"/>
          </p:nvPr>
        </p:nvSpPr>
        <p:spPr>
          <a:xfrm>
            <a:off x="10414431" y="5757583"/>
            <a:ext cx="1596292" cy="404614"/>
          </a:xfrm>
        </p:spPr>
        <p:txBody>
          <a:bodyPr/>
          <a:lstStyle/>
          <a:p>
            <a:fld id="{69E57DC2-970A-4B3E-BB1C-7A09969E49DF}" type="slidenum">
              <a:rPr lang="en-US" sz="2800" smtClean="0"/>
              <a:t>13</a:t>
            </a:fld>
            <a:endParaRPr lang="en-US" sz="2800" dirty="0"/>
          </a:p>
        </p:txBody>
      </p:sp>
    </p:spTree>
    <p:extLst>
      <p:ext uri="{BB962C8B-B14F-4D97-AF65-F5344CB8AC3E}">
        <p14:creationId xmlns:p14="http://schemas.microsoft.com/office/powerpoint/2010/main" val="3520834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914400" y="333103"/>
            <a:ext cx="9601200" cy="1485900"/>
          </a:xfrm>
        </p:spPr>
        <p:txBody>
          <a:bodyPr/>
          <a:lstStyle/>
          <a:p>
            <a:r>
              <a:rPr lang="da-DK" sz="3200" dirty="0"/>
              <a:t>Traditionel præstationsaflønning</a:t>
            </a:r>
          </a:p>
        </p:txBody>
      </p:sp>
      <p:pic>
        <p:nvPicPr>
          <p:cNvPr id="6" name="Picture 4"/>
          <p:cNvPicPr>
            <a:picLocks noGrp="1" noChangeAspect="1" noChangeArrowheads="1"/>
          </p:cNvPicPr>
          <p:nvPr>
            <p:ph idx="1"/>
          </p:nvPr>
        </p:nvPicPr>
        <p:blipFill>
          <a:blip r:embed="rId2" cstate="print"/>
          <a:srcRect/>
          <a:stretch>
            <a:fillRect/>
          </a:stretch>
        </p:blipFill>
        <p:spPr bwMode="auto">
          <a:xfrm>
            <a:off x="2670543" y="1218584"/>
            <a:ext cx="7287643" cy="4420217"/>
          </a:xfrm>
          <a:prstGeom prst="rect">
            <a:avLst/>
          </a:prstGeom>
          <a:noFill/>
          <a:ln w="9525">
            <a:noFill/>
            <a:miter lim="800000"/>
            <a:headEnd/>
            <a:tailEnd/>
          </a:ln>
          <a:effectLst/>
        </p:spPr>
      </p:pic>
      <p:sp>
        <p:nvSpPr>
          <p:cNvPr id="4" name="Tekstboks 3"/>
          <p:cNvSpPr txBox="1"/>
          <p:nvPr/>
        </p:nvSpPr>
        <p:spPr>
          <a:xfrm>
            <a:off x="10110468" y="5206707"/>
            <a:ext cx="1568355" cy="276999"/>
          </a:xfrm>
          <a:prstGeom prst="rect">
            <a:avLst/>
          </a:prstGeom>
          <a:noFill/>
        </p:spPr>
        <p:txBody>
          <a:bodyPr wrap="square" rtlCol="0">
            <a:spAutoFit/>
          </a:bodyPr>
          <a:lstStyle/>
          <a:p>
            <a:r>
              <a:rPr lang="da-DK" sz="1200" dirty="0"/>
              <a:t>Jensen 2003</a:t>
            </a:r>
          </a:p>
        </p:txBody>
      </p:sp>
      <p:sp>
        <p:nvSpPr>
          <p:cNvPr id="3" name="Slide Number Placeholder 2"/>
          <p:cNvSpPr>
            <a:spLocks noGrp="1"/>
          </p:cNvSpPr>
          <p:nvPr>
            <p:ph type="sldNum" sz="quarter" idx="12"/>
          </p:nvPr>
        </p:nvSpPr>
        <p:spPr>
          <a:xfrm>
            <a:off x="10096500" y="6100466"/>
            <a:ext cx="1596292" cy="404614"/>
          </a:xfrm>
        </p:spPr>
        <p:txBody>
          <a:bodyPr/>
          <a:lstStyle/>
          <a:p>
            <a:fld id="{69E57DC2-970A-4B3E-BB1C-7A09969E49DF}" type="slidenum">
              <a:rPr lang="en-US" sz="2800" smtClean="0"/>
              <a:t>14</a:t>
            </a:fld>
            <a:endParaRPr lang="en-US" sz="2800" dirty="0"/>
          </a:p>
        </p:txBody>
      </p:sp>
    </p:spTree>
    <p:extLst>
      <p:ext uri="{BB962C8B-B14F-4D97-AF65-F5344CB8AC3E}">
        <p14:creationId xmlns:p14="http://schemas.microsoft.com/office/powerpoint/2010/main" val="596254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Løsningen!?</a:t>
            </a:r>
          </a:p>
        </p:txBody>
      </p:sp>
      <p:sp>
        <p:nvSpPr>
          <p:cNvPr id="3" name="Pladsholder til indhold 2"/>
          <p:cNvSpPr>
            <a:spLocks noGrp="1"/>
          </p:cNvSpPr>
          <p:nvPr>
            <p:ph idx="1"/>
          </p:nvPr>
        </p:nvSpPr>
        <p:spPr>
          <a:xfrm>
            <a:off x="1371600" y="1645920"/>
            <a:ext cx="9601200" cy="4221480"/>
          </a:xfrm>
        </p:spPr>
        <p:txBody>
          <a:bodyPr>
            <a:noAutofit/>
          </a:bodyPr>
          <a:lstStyle/>
          <a:p>
            <a:pPr>
              <a:lnSpc>
                <a:spcPct val="80000"/>
              </a:lnSpc>
            </a:pPr>
            <a:r>
              <a:rPr lang="da-DK" sz="3200" dirty="0"/>
              <a:t>Problemet ifølge Jensen 2003 er IKKE budgettering i sig selv – men koblingen af denne til bonus!</a:t>
            </a:r>
          </a:p>
          <a:p>
            <a:pPr>
              <a:lnSpc>
                <a:spcPct val="80000"/>
              </a:lnSpc>
            </a:pPr>
            <a:r>
              <a:rPr lang="da-DK" sz="3200" dirty="0"/>
              <a:t>Gør en evt. bonus (eller forfremmelse!) til en funktion af hvad medarbejderen/lederen faktisk ’når’/præsterer – ikke af </a:t>
            </a:r>
            <a:r>
              <a:rPr lang="da-DK" sz="3200" dirty="0" err="1"/>
              <a:t>targets</a:t>
            </a:r>
            <a:r>
              <a:rPr lang="da-DK" sz="3200" dirty="0"/>
              <a:t> og budgetter. Hermed elimineres  incitamentet for </a:t>
            </a:r>
            <a:r>
              <a:rPr lang="da-DK" sz="3200" dirty="0" err="1"/>
              <a:t>gaming</a:t>
            </a:r>
            <a:r>
              <a:rPr lang="da-DK" sz="3200" dirty="0"/>
              <a:t> (Jensen 2003). Er alt så løst?</a:t>
            </a:r>
          </a:p>
          <a:p>
            <a:pPr>
              <a:lnSpc>
                <a:spcPct val="80000"/>
              </a:lnSpc>
            </a:pPr>
            <a:r>
              <a:rPr lang="da-DK" sz="3200" dirty="0"/>
              <a:t>Lineær </a:t>
            </a:r>
            <a:r>
              <a:rPr lang="da-DK" sz="3200" dirty="0" err="1"/>
              <a:t>pay-for-performance</a:t>
            </a:r>
            <a:r>
              <a:rPr lang="da-DK" sz="3200" dirty="0"/>
              <a:t> – men dette  overflødiggør ikke i sig selv behovet for et kontrolsystem!</a:t>
            </a:r>
          </a:p>
          <a:p>
            <a:endParaRPr lang="da-DK" sz="3200" dirty="0"/>
          </a:p>
        </p:txBody>
      </p:sp>
      <p:sp>
        <p:nvSpPr>
          <p:cNvPr id="4" name="Slide Number Placeholder 3"/>
          <p:cNvSpPr>
            <a:spLocks noGrp="1"/>
          </p:cNvSpPr>
          <p:nvPr>
            <p:ph type="sldNum" sz="quarter" idx="12"/>
          </p:nvPr>
        </p:nvSpPr>
        <p:spPr>
          <a:xfrm>
            <a:off x="10174654" y="6087626"/>
            <a:ext cx="1596292" cy="404614"/>
          </a:xfrm>
        </p:spPr>
        <p:txBody>
          <a:bodyPr/>
          <a:lstStyle/>
          <a:p>
            <a:fld id="{69E57DC2-970A-4B3E-BB1C-7A09969E49DF}" type="slidenum">
              <a:rPr lang="en-US" sz="2800" smtClean="0"/>
              <a:t>15</a:t>
            </a:fld>
            <a:endParaRPr lang="en-US" sz="2800" dirty="0"/>
          </a:p>
        </p:txBody>
      </p:sp>
    </p:spTree>
    <p:extLst>
      <p:ext uri="{BB962C8B-B14F-4D97-AF65-F5344CB8AC3E}">
        <p14:creationId xmlns:p14="http://schemas.microsoft.com/office/powerpoint/2010/main" val="521709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145176" y="276497"/>
            <a:ext cx="8229600" cy="1143000"/>
          </a:xfrm>
        </p:spPr>
        <p:txBody>
          <a:bodyPr/>
          <a:lstStyle/>
          <a:p>
            <a:r>
              <a:rPr lang="da-DK" dirty="0"/>
              <a:t>Lineært system</a:t>
            </a:r>
          </a:p>
        </p:txBody>
      </p:sp>
      <p:pic>
        <p:nvPicPr>
          <p:cNvPr id="4" name="Picture 4"/>
          <p:cNvPicPr>
            <a:picLocks noGrp="1" noChangeAspect="1" noChangeArrowheads="1"/>
          </p:cNvPicPr>
          <p:nvPr>
            <p:ph idx="1"/>
          </p:nvPr>
        </p:nvPicPr>
        <p:blipFill>
          <a:blip r:embed="rId2" cstate="print"/>
          <a:srcRect/>
          <a:stretch>
            <a:fillRect/>
          </a:stretch>
        </p:blipFill>
        <p:spPr bwMode="auto">
          <a:xfrm>
            <a:off x="2779118" y="1575007"/>
            <a:ext cx="7152381" cy="3866667"/>
          </a:xfrm>
          <a:prstGeom prst="rect">
            <a:avLst/>
          </a:prstGeom>
          <a:noFill/>
          <a:ln w="9525">
            <a:noFill/>
            <a:miter lim="800000"/>
            <a:headEnd/>
            <a:tailEnd/>
          </a:ln>
          <a:effectLst/>
        </p:spPr>
      </p:pic>
      <p:sp>
        <p:nvSpPr>
          <p:cNvPr id="5" name="Tekstboks 4"/>
          <p:cNvSpPr txBox="1"/>
          <p:nvPr/>
        </p:nvSpPr>
        <p:spPr>
          <a:xfrm>
            <a:off x="10170745" y="4995259"/>
            <a:ext cx="1636346" cy="276999"/>
          </a:xfrm>
          <a:prstGeom prst="rect">
            <a:avLst/>
          </a:prstGeom>
          <a:noFill/>
        </p:spPr>
        <p:txBody>
          <a:bodyPr wrap="square" rtlCol="0">
            <a:spAutoFit/>
          </a:bodyPr>
          <a:lstStyle/>
          <a:p>
            <a:r>
              <a:rPr lang="da-DK" sz="1200" dirty="0"/>
              <a:t>Jensen 2003</a:t>
            </a:r>
          </a:p>
        </p:txBody>
      </p:sp>
      <p:sp>
        <p:nvSpPr>
          <p:cNvPr id="3" name="Slide Number Placeholder 2"/>
          <p:cNvSpPr>
            <a:spLocks noGrp="1"/>
          </p:cNvSpPr>
          <p:nvPr>
            <p:ph type="sldNum" sz="quarter" idx="12"/>
          </p:nvPr>
        </p:nvSpPr>
        <p:spPr>
          <a:xfrm>
            <a:off x="10210799" y="6192129"/>
            <a:ext cx="1596292" cy="404614"/>
          </a:xfrm>
        </p:spPr>
        <p:txBody>
          <a:bodyPr/>
          <a:lstStyle/>
          <a:p>
            <a:fld id="{69E57DC2-970A-4B3E-BB1C-7A09969E49DF}" type="slidenum">
              <a:rPr lang="en-US" sz="2800" smtClean="0"/>
              <a:t>16</a:t>
            </a:fld>
            <a:endParaRPr lang="en-US" sz="2800" dirty="0"/>
          </a:p>
        </p:txBody>
      </p:sp>
    </p:spTree>
    <p:extLst>
      <p:ext uri="{BB962C8B-B14F-4D97-AF65-F5344CB8AC3E}">
        <p14:creationId xmlns:p14="http://schemas.microsoft.com/office/powerpoint/2010/main" val="1150118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14400" y="288926"/>
            <a:ext cx="8610600" cy="1325563"/>
          </a:xfrm>
        </p:spPr>
        <p:txBody>
          <a:bodyPr/>
          <a:lstStyle/>
          <a:p>
            <a:pPr eaLnBrk="1" hangingPunct="1"/>
            <a:r>
              <a:rPr lang="en-US" dirty="0"/>
              <a:t>Relative Performance Evaluation</a:t>
            </a:r>
          </a:p>
        </p:txBody>
      </p:sp>
      <p:sp>
        <p:nvSpPr>
          <p:cNvPr id="8195" name="Rectangle 3"/>
          <p:cNvSpPr>
            <a:spLocks noGrp="1" noChangeArrowheads="1"/>
          </p:cNvSpPr>
          <p:nvPr>
            <p:ph type="body" idx="1"/>
          </p:nvPr>
        </p:nvSpPr>
        <p:spPr>
          <a:xfrm>
            <a:off x="1295400" y="1280161"/>
            <a:ext cx="8229600" cy="4525963"/>
          </a:xfrm>
        </p:spPr>
        <p:txBody>
          <a:bodyPr>
            <a:noAutofit/>
          </a:bodyPr>
          <a:lstStyle/>
          <a:p>
            <a:pPr eaLnBrk="1" hangingPunct="1">
              <a:buClr>
                <a:srgbClr val="000066"/>
              </a:buClr>
            </a:pPr>
            <a:r>
              <a:rPr lang="en-US" sz="3200" dirty="0"/>
              <a:t>Evaluate worker output </a:t>
            </a:r>
            <a:r>
              <a:rPr lang="en-US" sz="3200" u="sng" dirty="0"/>
              <a:t>relative</a:t>
            </a:r>
            <a:r>
              <a:rPr lang="en-US" sz="3200" dirty="0"/>
              <a:t> to their co-workers in the same job</a:t>
            </a:r>
          </a:p>
          <a:p>
            <a:pPr eaLnBrk="1" hangingPunct="1">
              <a:buClr>
                <a:srgbClr val="000066"/>
              </a:buClr>
            </a:pPr>
            <a:r>
              <a:rPr lang="en-US" sz="3200" dirty="0"/>
              <a:t>Problems within the firm:</a:t>
            </a:r>
          </a:p>
          <a:p>
            <a:pPr lvl="1" eaLnBrk="1" hangingPunct="1">
              <a:buClr>
                <a:srgbClr val="000066"/>
              </a:buClr>
            </a:pPr>
            <a:r>
              <a:rPr lang="en-US" sz="3200" dirty="0"/>
              <a:t>jobs are not always identical</a:t>
            </a:r>
          </a:p>
          <a:p>
            <a:pPr lvl="1" eaLnBrk="1" hangingPunct="1">
              <a:buClr>
                <a:srgbClr val="000066"/>
              </a:buClr>
            </a:pPr>
            <a:r>
              <a:rPr lang="en-US" sz="3200" dirty="0"/>
              <a:t>group has incentive to punish ‘rate busters’</a:t>
            </a:r>
          </a:p>
          <a:p>
            <a:pPr lvl="1" eaLnBrk="1" hangingPunct="1">
              <a:buClr>
                <a:srgbClr val="000066"/>
              </a:buClr>
            </a:pPr>
            <a:r>
              <a:rPr lang="en-US" sz="3200" dirty="0"/>
              <a:t>incentive to hire less competent workers</a:t>
            </a:r>
          </a:p>
          <a:p>
            <a:pPr eaLnBrk="1" hangingPunct="1">
              <a:buClr>
                <a:srgbClr val="000066"/>
              </a:buClr>
            </a:pPr>
            <a:r>
              <a:rPr lang="en-US" sz="3200" dirty="0"/>
              <a:t>Problems across firms:</a:t>
            </a:r>
          </a:p>
          <a:p>
            <a:pPr lvl="1" eaLnBrk="1" hangingPunct="1">
              <a:buClr>
                <a:srgbClr val="000066"/>
              </a:buClr>
            </a:pPr>
            <a:r>
              <a:rPr lang="en-US" sz="3200" dirty="0"/>
              <a:t>data hard to obtain</a:t>
            </a:r>
          </a:p>
        </p:txBody>
      </p:sp>
      <p:sp>
        <p:nvSpPr>
          <p:cNvPr id="8197" name="Rectangle 5"/>
          <p:cNvSpPr>
            <a:spLocks noChangeArrowheads="1"/>
          </p:cNvSpPr>
          <p:nvPr/>
        </p:nvSpPr>
        <p:spPr bwMode="auto">
          <a:xfrm>
            <a:off x="9294223" y="6220098"/>
            <a:ext cx="2133600" cy="244475"/>
          </a:xfrm>
          <a:prstGeom prst="rect">
            <a:avLst/>
          </a:prstGeom>
          <a:noFill/>
          <a:ln w="9525">
            <a:noFill/>
            <a:miter lim="800000"/>
            <a:headEnd/>
            <a:tailEnd/>
          </a:ln>
          <a:effectLst/>
        </p:spPr>
        <p:txBody>
          <a:bodyPr/>
          <a:lstStyle/>
          <a:p>
            <a:pPr algn="r"/>
            <a:fld id="{B37DDBBE-8FF4-45DB-8EF1-BEBE1B61CF9E}" type="slidenum">
              <a:rPr lang="en-US" sz="2800" smtClean="0"/>
              <a:pPr algn="r"/>
              <a:t>17</a:t>
            </a:fld>
            <a:endParaRPr lang="en-US" sz="2800" dirty="0"/>
          </a:p>
        </p:txBody>
      </p:sp>
    </p:spTree>
    <p:extLst>
      <p:ext uri="{BB962C8B-B14F-4D97-AF65-F5344CB8AC3E}">
        <p14:creationId xmlns:p14="http://schemas.microsoft.com/office/powerpoint/2010/main" val="316283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19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184365" y="381000"/>
            <a:ext cx="8763000" cy="838200"/>
          </a:xfrm>
        </p:spPr>
        <p:txBody>
          <a:bodyPr/>
          <a:lstStyle/>
          <a:p>
            <a:pPr eaLnBrk="1" hangingPunct="1"/>
            <a:r>
              <a:rPr lang="en-US" sz="4000" dirty="0"/>
              <a:t>Subjective Performance Evaluation</a:t>
            </a:r>
          </a:p>
        </p:txBody>
      </p:sp>
      <p:sp>
        <p:nvSpPr>
          <p:cNvPr id="9219" name="Rectangle 3"/>
          <p:cNvSpPr>
            <a:spLocks noGrp="1" noChangeArrowheads="1"/>
          </p:cNvSpPr>
          <p:nvPr>
            <p:ph type="body" idx="1"/>
          </p:nvPr>
        </p:nvSpPr>
        <p:spPr>
          <a:xfrm>
            <a:off x="1184365" y="1219200"/>
            <a:ext cx="9026435" cy="4800601"/>
          </a:xfrm>
        </p:spPr>
        <p:txBody>
          <a:bodyPr>
            <a:noAutofit/>
          </a:bodyPr>
          <a:lstStyle/>
          <a:p>
            <a:pPr eaLnBrk="1" hangingPunct="1">
              <a:buClr>
                <a:srgbClr val="000066"/>
              </a:buClr>
            </a:pPr>
            <a:r>
              <a:rPr lang="en-US" sz="2400" dirty="0"/>
              <a:t>Firms often use subjective (more ‘holistic’, aggregated) evaluation </a:t>
            </a:r>
            <a:r>
              <a:rPr lang="en-US" sz="2400" dirty="0">
                <a:solidFill>
                  <a:srgbClr val="FFFF00"/>
                </a:solidFill>
              </a:rPr>
              <a:t>along with </a:t>
            </a:r>
            <a:r>
              <a:rPr lang="en-US" sz="2400" dirty="0"/>
              <a:t>objective measures</a:t>
            </a:r>
          </a:p>
          <a:p>
            <a:pPr lvl="1" eaLnBrk="1" hangingPunct="1">
              <a:buClr>
                <a:srgbClr val="000066"/>
              </a:buClr>
            </a:pPr>
            <a:r>
              <a:rPr lang="en-US" sz="2400" dirty="0"/>
              <a:t>Perfect measures are expensive</a:t>
            </a:r>
          </a:p>
          <a:p>
            <a:pPr lvl="1" eaLnBrk="1" hangingPunct="1">
              <a:buClr>
                <a:srgbClr val="000066"/>
              </a:buClr>
            </a:pPr>
            <a:r>
              <a:rPr lang="en-US" sz="2400" dirty="0"/>
              <a:t>Relative weights may change</a:t>
            </a:r>
          </a:p>
          <a:p>
            <a:pPr eaLnBrk="1" hangingPunct="1">
              <a:buClr>
                <a:srgbClr val="000066"/>
              </a:buClr>
            </a:pPr>
            <a:r>
              <a:rPr lang="en-US" sz="2400" dirty="0"/>
              <a:t>Multiple tasks and unbalanced effort</a:t>
            </a:r>
          </a:p>
          <a:p>
            <a:pPr lvl="1" eaLnBrk="1" hangingPunct="1">
              <a:buClr>
                <a:srgbClr val="000066"/>
              </a:buClr>
            </a:pPr>
            <a:r>
              <a:rPr lang="en-US" sz="2400" dirty="0"/>
              <a:t>Workers have incentives to concentrate on activities that are easily measured</a:t>
            </a:r>
          </a:p>
          <a:p>
            <a:pPr lvl="2" eaLnBrk="1" hangingPunct="1">
              <a:buClr>
                <a:srgbClr val="000066"/>
              </a:buClr>
            </a:pPr>
            <a:r>
              <a:rPr lang="en-US" sz="2400" dirty="0">
                <a:solidFill>
                  <a:srgbClr val="FFFF00"/>
                </a:solidFill>
              </a:rPr>
              <a:t>“You get what you measure”</a:t>
            </a:r>
            <a:r>
              <a:rPr lang="en-US" sz="2400" dirty="0"/>
              <a:t> (Kaplan &amp; Norton, 1992)! And only that?</a:t>
            </a:r>
          </a:p>
          <a:p>
            <a:pPr lvl="1" eaLnBrk="1" hangingPunct="1">
              <a:buClr>
                <a:srgbClr val="000066"/>
              </a:buClr>
            </a:pPr>
            <a:r>
              <a:rPr lang="en-US" sz="2400" dirty="0"/>
              <a:t>The subjective measure will allow the supervisor to determine cooperation and other ‘difficult to measure’ activities (ex. training new staff)</a:t>
            </a:r>
          </a:p>
          <a:p>
            <a:pPr lvl="1" eaLnBrk="1" hangingPunct="1">
              <a:buClr>
                <a:srgbClr val="000066"/>
              </a:buClr>
            </a:pPr>
            <a:r>
              <a:rPr lang="en-US" sz="2400" dirty="0" err="1"/>
              <a:t>Ramme</a:t>
            </a:r>
            <a:r>
              <a:rPr lang="en-US" sz="2400" dirty="0"/>
              <a:t> </a:t>
            </a:r>
            <a:r>
              <a:rPr lang="en-US" sz="2400" dirty="0">
                <a:solidFill>
                  <a:srgbClr val="FFFF00"/>
                </a:solidFill>
              </a:rPr>
              <a:t>511n</a:t>
            </a:r>
            <a:r>
              <a:rPr lang="en-US" sz="2400" dirty="0">
                <a:solidFill>
                  <a:srgbClr val="FFC000"/>
                </a:solidFill>
              </a:rPr>
              <a:t>.</a:t>
            </a:r>
            <a:r>
              <a:rPr lang="en-US" sz="2400" dirty="0"/>
              <a:t>!!! </a:t>
            </a:r>
            <a:r>
              <a:rPr lang="en-US" sz="2400" b="1" dirty="0" err="1"/>
              <a:t>Og</a:t>
            </a:r>
            <a:r>
              <a:rPr lang="en-US" sz="2400" b="1" dirty="0"/>
              <a:t> =&gt;</a:t>
            </a:r>
          </a:p>
        </p:txBody>
      </p:sp>
      <p:sp>
        <p:nvSpPr>
          <p:cNvPr id="9221" name="Rectangle 5"/>
          <p:cNvSpPr>
            <a:spLocks noChangeArrowheads="1"/>
          </p:cNvSpPr>
          <p:nvPr/>
        </p:nvSpPr>
        <p:spPr bwMode="auto">
          <a:xfrm>
            <a:off x="9424851" y="6202362"/>
            <a:ext cx="2133600" cy="244475"/>
          </a:xfrm>
          <a:prstGeom prst="rect">
            <a:avLst/>
          </a:prstGeom>
          <a:noFill/>
          <a:ln w="9525">
            <a:noFill/>
            <a:miter lim="800000"/>
            <a:headEnd/>
            <a:tailEnd/>
          </a:ln>
          <a:effectLst/>
        </p:spPr>
        <p:txBody>
          <a:bodyPr/>
          <a:lstStyle/>
          <a:p>
            <a:pPr algn="r"/>
            <a:fld id="{420BDB45-F3E2-4F6D-AC7C-CF3AE378F471}" type="slidenum">
              <a:rPr lang="en-US" sz="2800" smtClean="0"/>
              <a:pPr algn="r"/>
              <a:t>18</a:t>
            </a:fld>
            <a:endParaRPr lang="en-US" sz="2800" dirty="0"/>
          </a:p>
        </p:txBody>
      </p:sp>
    </p:spTree>
    <p:extLst>
      <p:ext uri="{BB962C8B-B14F-4D97-AF65-F5344CB8AC3E}">
        <p14:creationId xmlns:p14="http://schemas.microsoft.com/office/powerpoint/2010/main" val="1868114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1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21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21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21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2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066800" y="381000"/>
            <a:ext cx="8763000" cy="838200"/>
          </a:xfrm>
        </p:spPr>
        <p:txBody>
          <a:bodyPr/>
          <a:lstStyle/>
          <a:p>
            <a:pPr eaLnBrk="1" hangingPunct="1"/>
            <a:r>
              <a:rPr lang="en-US" sz="4000" dirty="0"/>
              <a:t>Self evaluation</a:t>
            </a:r>
          </a:p>
        </p:txBody>
      </p:sp>
      <p:sp>
        <p:nvSpPr>
          <p:cNvPr id="9221" name="Rectangle 5"/>
          <p:cNvSpPr>
            <a:spLocks noChangeArrowheads="1"/>
          </p:cNvSpPr>
          <p:nvPr/>
        </p:nvSpPr>
        <p:spPr bwMode="auto">
          <a:xfrm>
            <a:off x="9477102" y="6251972"/>
            <a:ext cx="2133600" cy="244475"/>
          </a:xfrm>
          <a:prstGeom prst="rect">
            <a:avLst/>
          </a:prstGeom>
          <a:noFill/>
          <a:ln w="9525">
            <a:noFill/>
            <a:miter lim="800000"/>
            <a:headEnd/>
            <a:tailEnd/>
          </a:ln>
          <a:effectLst/>
        </p:spPr>
        <p:txBody>
          <a:bodyPr/>
          <a:lstStyle/>
          <a:p>
            <a:pPr algn="r"/>
            <a:fld id="{420BDB45-F3E2-4F6D-AC7C-CF3AE378F471}" type="slidenum">
              <a:rPr lang="en-US" sz="2800" smtClean="0"/>
              <a:pPr algn="r"/>
              <a:t>19</a:t>
            </a:fld>
            <a:endParaRPr lang="en-US" sz="2800" dirty="0"/>
          </a:p>
        </p:txBody>
      </p:sp>
      <p:pic>
        <p:nvPicPr>
          <p:cNvPr id="1026" name="Picture 2"/>
          <p:cNvPicPr>
            <a:picLocks noChangeAspect="1" noChangeArrowheads="1"/>
          </p:cNvPicPr>
          <p:nvPr/>
        </p:nvPicPr>
        <p:blipFill>
          <a:blip r:embed="rId2" cstate="print"/>
          <a:srcRect/>
          <a:stretch>
            <a:fillRect/>
          </a:stretch>
        </p:blipFill>
        <p:spPr bwMode="auto">
          <a:xfrm>
            <a:off x="1251744" y="1012028"/>
            <a:ext cx="6413938" cy="5484419"/>
          </a:xfrm>
          <a:prstGeom prst="rect">
            <a:avLst/>
          </a:prstGeom>
          <a:noFill/>
          <a:ln w="9525">
            <a:noFill/>
            <a:miter lim="800000"/>
            <a:headEnd/>
            <a:tailEnd/>
          </a:ln>
        </p:spPr>
      </p:pic>
      <p:sp>
        <p:nvSpPr>
          <p:cNvPr id="6" name="Tekstboks 5"/>
          <p:cNvSpPr txBox="1"/>
          <p:nvPr/>
        </p:nvSpPr>
        <p:spPr>
          <a:xfrm>
            <a:off x="8425656" y="6358128"/>
            <a:ext cx="2514600" cy="369332"/>
          </a:xfrm>
          <a:prstGeom prst="rect">
            <a:avLst/>
          </a:prstGeom>
          <a:noFill/>
        </p:spPr>
        <p:txBody>
          <a:bodyPr wrap="square" rtlCol="0">
            <a:spAutoFit/>
          </a:bodyPr>
          <a:lstStyle/>
          <a:p>
            <a:r>
              <a:rPr lang="da-DK" dirty="0"/>
              <a:t>Nielsen &amp; Møller 1993</a:t>
            </a:r>
          </a:p>
        </p:txBody>
      </p:sp>
    </p:spTree>
    <p:extLst>
      <p:ext uri="{BB962C8B-B14F-4D97-AF65-F5344CB8AC3E}">
        <p14:creationId xmlns:p14="http://schemas.microsoft.com/office/powerpoint/2010/main" val="1765833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001486" y="169817"/>
            <a:ext cx="8229600" cy="1143000"/>
          </a:xfrm>
        </p:spPr>
        <p:txBody>
          <a:bodyPr/>
          <a:lstStyle/>
          <a:p>
            <a:pPr eaLnBrk="1" hangingPunct="1">
              <a:buClr>
                <a:srgbClr val="990033"/>
              </a:buClr>
            </a:pPr>
            <a:r>
              <a:rPr lang="en-US" sz="4000" dirty="0"/>
              <a:t>Subjective Evaluation Methods</a:t>
            </a:r>
          </a:p>
        </p:txBody>
      </p:sp>
      <p:sp>
        <p:nvSpPr>
          <p:cNvPr id="34819" name="Rectangle 3"/>
          <p:cNvSpPr>
            <a:spLocks noGrp="1" noChangeArrowheads="1"/>
          </p:cNvSpPr>
          <p:nvPr>
            <p:ph type="body" idx="1"/>
          </p:nvPr>
        </p:nvSpPr>
        <p:spPr>
          <a:xfrm>
            <a:off x="1371600" y="1123407"/>
            <a:ext cx="9601200" cy="4743994"/>
          </a:xfrm>
        </p:spPr>
        <p:txBody>
          <a:bodyPr>
            <a:normAutofit/>
          </a:bodyPr>
          <a:lstStyle/>
          <a:p>
            <a:pPr eaLnBrk="1" hangingPunct="1">
              <a:lnSpc>
                <a:spcPct val="90000"/>
              </a:lnSpc>
              <a:buClr>
                <a:srgbClr val="000066"/>
              </a:buClr>
            </a:pPr>
            <a:r>
              <a:rPr lang="en-US" sz="2800" dirty="0"/>
              <a:t>Standard rating scales</a:t>
            </a:r>
          </a:p>
          <a:p>
            <a:pPr lvl="1" eaLnBrk="1" hangingPunct="1">
              <a:lnSpc>
                <a:spcPct val="90000"/>
              </a:lnSpc>
              <a:buClr>
                <a:srgbClr val="000066"/>
              </a:buClr>
            </a:pPr>
            <a:r>
              <a:rPr lang="en-US" sz="2800" dirty="0"/>
              <a:t>Rank (ex. in 5 levels) employees on various </a:t>
            </a:r>
            <a:r>
              <a:rPr lang="en-US" sz="2800" dirty="0">
                <a:solidFill>
                  <a:srgbClr val="FFFF00"/>
                </a:solidFill>
              </a:rPr>
              <a:t>performance factors </a:t>
            </a:r>
            <a:r>
              <a:rPr lang="en-US" sz="2800" i="0" dirty="0"/>
              <a:t>(</a:t>
            </a:r>
            <a:r>
              <a:rPr lang="en-US" sz="2800" i="0" dirty="0" err="1"/>
              <a:t>eksempler</a:t>
            </a:r>
            <a:r>
              <a:rPr lang="en-US" sz="2800" i="0" dirty="0"/>
              <a:t>, </a:t>
            </a:r>
            <a:r>
              <a:rPr lang="en-US" sz="2800" i="0" dirty="0" err="1"/>
              <a:t>ramme</a:t>
            </a:r>
            <a:r>
              <a:rPr lang="en-US" sz="2800" i="0" dirty="0"/>
              <a:t> 512n. – 513ø.)</a:t>
            </a:r>
          </a:p>
          <a:p>
            <a:pPr eaLnBrk="1" hangingPunct="1">
              <a:lnSpc>
                <a:spcPct val="90000"/>
              </a:lnSpc>
              <a:buClr>
                <a:srgbClr val="000066"/>
              </a:buClr>
            </a:pPr>
            <a:r>
              <a:rPr lang="en-US" sz="2800" dirty="0"/>
              <a:t>Goal-based systems (more explicit, less subjective than..)</a:t>
            </a:r>
          </a:p>
          <a:p>
            <a:pPr lvl="1" eaLnBrk="1" hangingPunct="1">
              <a:lnSpc>
                <a:spcPct val="90000"/>
              </a:lnSpc>
              <a:buClr>
                <a:srgbClr val="000066"/>
              </a:buClr>
            </a:pPr>
            <a:r>
              <a:rPr lang="en-US" sz="2800" dirty="0"/>
              <a:t>Set annual goals and then measure whether the employee achieve these or not</a:t>
            </a:r>
          </a:p>
          <a:p>
            <a:pPr lvl="1" eaLnBrk="1" hangingPunct="1">
              <a:lnSpc>
                <a:spcPct val="90000"/>
              </a:lnSpc>
              <a:buClr>
                <a:srgbClr val="000066"/>
              </a:buClr>
            </a:pPr>
            <a:r>
              <a:rPr lang="en-US" sz="2800" dirty="0" err="1"/>
              <a:t>Bemærk</a:t>
            </a:r>
            <a:r>
              <a:rPr lang="en-US" sz="2800" dirty="0"/>
              <a:t> ‘peer evaluation’ </a:t>
            </a:r>
            <a:r>
              <a:rPr lang="en-US" sz="2800" dirty="0" err="1"/>
              <a:t>og</a:t>
            </a:r>
            <a:r>
              <a:rPr lang="en-US" sz="2800" dirty="0"/>
              <a:t> </a:t>
            </a:r>
            <a:r>
              <a:rPr lang="en-US" sz="2800" dirty="0" err="1"/>
              <a:t>problemer</a:t>
            </a:r>
            <a:r>
              <a:rPr lang="en-US" sz="2800" dirty="0"/>
              <a:t> </a:t>
            </a:r>
            <a:r>
              <a:rPr lang="en-US" sz="2800" dirty="0" err="1"/>
              <a:t>hermed</a:t>
            </a:r>
            <a:r>
              <a:rPr lang="en-US" sz="2800" dirty="0"/>
              <a:t> </a:t>
            </a:r>
            <a:r>
              <a:rPr lang="en-US" sz="2800" i="0" dirty="0"/>
              <a:t>(‘</a:t>
            </a:r>
            <a:r>
              <a:rPr lang="en-US" sz="2800" i="0" dirty="0" err="1"/>
              <a:t>ligestillede</a:t>
            </a:r>
            <a:r>
              <a:rPr lang="en-US" sz="2800" i="0" dirty="0"/>
              <a:t>’, </a:t>
            </a:r>
            <a:r>
              <a:rPr lang="en-US" sz="2800" i="0" dirty="0" err="1"/>
              <a:t>venner</a:t>
            </a:r>
            <a:r>
              <a:rPr lang="en-US" sz="2800" i="0" dirty="0"/>
              <a:t>?, </a:t>
            </a:r>
            <a:r>
              <a:rPr lang="en-US" sz="2800" i="0" dirty="0" err="1"/>
              <a:t>konkurrenter</a:t>
            </a:r>
            <a:r>
              <a:rPr lang="en-US" sz="2800" i="0" dirty="0"/>
              <a:t>?, </a:t>
            </a:r>
            <a:r>
              <a:rPr lang="en-US" sz="2800" i="0" dirty="0">
                <a:solidFill>
                  <a:srgbClr val="FFFF00"/>
                </a:solidFill>
              </a:rPr>
              <a:t>514ø.</a:t>
            </a:r>
            <a:r>
              <a:rPr lang="en-US" sz="2800" i="0" dirty="0"/>
              <a:t>)</a:t>
            </a:r>
          </a:p>
          <a:p>
            <a:pPr eaLnBrk="1" hangingPunct="1">
              <a:lnSpc>
                <a:spcPct val="90000"/>
              </a:lnSpc>
              <a:buClr>
                <a:srgbClr val="000066"/>
              </a:buClr>
            </a:pPr>
            <a:r>
              <a:rPr lang="en-US" sz="2800" dirty="0"/>
              <a:t>Frequency</a:t>
            </a:r>
          </a:p>
          <a:p>
            <a:pPr lvl="1" eaLnBrk="1" hangingPunct="1">
              <a:lnSpc>
                <a:spcPct val="90000"/>
              </a:lnSpc>
              <a:buClr>
                <a:srgbClr val="000066"/>
              </a:buClr>
            </a:pPr>
            <a:r>
              <a:rPr lang="en-US" sz="2800" dirty="0"/>
              <a:t>Often more frequent reviews are too costly</a:t>
            </a:r>
          </a:p>
          <a:p>
            <a:pPr lvl="1" eaLnBrk="1" hangingPunct="1">
              <a:lnSpc>
                <a:spcPct val="90000"/>
              </a:lnSpc>
              <a:buClr>
                <a:srgbClr val="000066"/>
              </a:buClr>
              <a:buNone/>
            </a:pPr>
            <a:endParaRPr lang="en-US" sz="2400" dirty="0"/>
          </a:p>
        </p:txBody>
      </p:sp>
      <p:sp>
        <p:nvSpPr>
          <p:cNvPr id="3" name="Slide Number Placeholder 2"/>
          <p:cNvSpPr>
            <a:spLocks noGrp="1"/>
          </p:cNvSpPr>
          <p:nvPr>
            <p:ph type="sldNum" sz="quarter" idx="12"/>
          </p:nvPr>
        </p:nvSpPr>
        <p:spPr>
          <a:xfrm>
            <a:off x="9882169" y="5975715"/>
            <a:ext cx="1596292" cy="404614"/>
          </a:xfrm>
        </p:spPr>
        <p:txBody>
          <a:bodyPr/>
          <a:lstStyle/>
          <a:p>
            <a:fld id="{69E57DC2-970A-4B3E-BB1C-7A09969E49DF}" type="slidenum">
              <a:rPr lang="en-US" sz="2800" smtClean="0"/>
              <a:t>20</a:t>
            </a:fld>
            <a:endParaRPr lang="en-US" sz="2800" dirty="0"/>
          </a:p>
        </p:txBody>
      </p:sp>
    </p:spTree>
    <p:extLst>
      <p:ext uri="{BB962C8B-B14F-4D97-AF65-F5344CB8AC3E}">
        <p14:creationId xmlns:p14="http://schemas.microsoft.com/office/powerpoint/2010/main" val="780139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81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81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81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81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81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8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907869" y="152401"/>
            <a:ext cx="8686800" cy="1096963"/>
          </a:xfrm>
        </p:spPr>
        <p:txBody>
          <a:bodyPr/>
          <a:lstStyle/>
          <a:p>
            <a:pPr eaLnBrk="1" hangingPunct="1">
              <a:buClr>
                <a:srgbClr val="990033"/>
              </a:buClr>
            </a:pPr>
            <a:r>
              <a:rPr lang="en-US" sz="4000" dirty="0"/>
              <a:t>Problems with Subjective Evaluations</a:t>
            </a:r>
          </a:p>
        </p:txBody>
      </p:sp>
      <p:sp>
        <p:nvSpPr>
          <p:cNvPr id="35843" name="Rectangle 3"/>
          <p:cNvSpPr>
            <a:spLocks noGrp="1" noChangeArrowheads="1"/>
          </p:cNvSpPr>
          <p:nvPr>
            <p:ph type="body" idx="1"/>
          </p:nvPr>
        </p:nvSpPr>
        <p:spPr>
          <a:xfrm>
            <a:off x="1136468" y="997131"/>
            <a:ext cx="9261565" cy="5273039"/>
          </a:xfrm>
        </p:spPr>
        <p:txBody>
          <a:bodyPr>
            <a:noAutofit/>
          </a:bodyPr>
          <a:lstStyle/>
          <a:p>
            <a:pPr eaLnBrk="1" hangingPunct="1">
              <a:buClr>
                <a:srgbClr val="000066"/>
              </a:buClr>
            </a:pPr>
            <a:r>
              <a:rPr lang="en-US" sz="2400" dirty="0"/>
              <a:t>Supervisor shirking</a:t>
            </a:r>
          </a:p>
          <a:p>
            <a:pPr lvl="1" eaLnBrk="1" hangingPunct="1">
              <a:buClr>
                <a:srgbClr val="000066"/>
              </a:buClr>
            </a:pPr>
            <a:r>
              <a:rPr lang="en-US" sz="2400" dirty="0"/>
              <a:t>f.eks. </a:t>
            </a:r>
            <a:r>
              <a:rPr lang="en-US" sz="2400" dirty="0" err="1"/>
              <a:t>grundet</a:t>
            </a:r>
            <a:r>
              <a:rPr lang="en-US" sz="2400" dirty="0"/>
              <a:t> </a:t>
            </a:r>
            <a:r>
              <a:rPr lang="en-US" sz="2400" dirty="0" err="1"/>
              <a:t>modvilje</a:t>
            </a:r>
            <a:r>
              <a:rPr lang="en-US" sz="2400" dirty="0"/>
              <a:t> (‘pain avoidance’, M. Jensen)</a:t>
            </a:r>
          </a:p>
          <a:p>
            <a:pPr lvl="1" eaLnBrk="1" hangingPunct="1">
              <a:buClr>
                <a:srgbClr val="000066"/>
              </a:buClr>
            </a:pPr>
            <a:r>
              <a:rPr lang="en-US" sz="2400" dirty="0" err="1"/>
              <a:t>upræcise</a:t>
            </a:r>
            <a:r>
              <a:rPr lang="en-US" sz="2400" dirty="0"/>
              <a:t> </a:t>
            </a:r>
            <a:r>
              <a:rPr lang="en-US" sz="2400" dirty="0" err="1"/>
              <a:t>vurderinger</a:t>
            </a:r>
            <a:r>
              <a:rPr lang="en-US" sz="2400" dirty="0"/>
              <a:t> – for </a:t>
            </a:r>
            <a:r>
              <a:rPr lang="en-US" sz="2400" dirty="0" err="1"/>
              <a:t>gode</a:t>
            </a:r>
            <a:r>
              <a:rPr lang="en-US" sz="2400" dirty="0"/>
              <a:t>, for </a:t>
            </a:r>
            <a:r>
              <a:rPr lang="en-US" sz="2400" dirty="0" err="1"/>
              <a:t>dårlige</a:t>
            </a:r>
            <a:r>
              <a:rPr lang="en-US" sz="2400" dirty="0"/>
              <a:t> </a:t>
            </a:r>
            <a:r>
              <a:rPr lang="en-US" sz="2400" dirty="0" err="1"/>
              <a:t>af</a:t>
            </a:r>
            <a:r>
              <a:rPr lang="en-US" sz="2400" dirty="0"/>
              <a:t> ‘</a:t>
            </a:r>
            <a:r>
              <a:rPr lang="en-US" sz="2400" dirty="0" err="1"/>
              <a:t>organisatoriske</a:t>
            </a:r>
            <a:r>
              <a:rPr lang="en-US" sz="2400" dirty="0"/>
              <a:t> </a:t>
            </a:r>
            <a:r>
              <a:rPr lang="en-US" sz="2400" dirty="0" err="1"/>
              <a:t>grunde</a:t>
            </a:r>
            <a:r>
              <a:rPr lang="en-US" sz="2400" dirty="0"/>
              <a:t>’</a:t>
            </a:r>
          </a:p>
          <a:p>
            <a:pPr lvl="1" eaLnBrk="1" hangingPunct="1">
              <a:buClr>
                <a:srgbClr val="000066"/>
              </a:buClr>
            </a:pPr>
            <a:r>
              <a:rPr lang="en-US" sz="2400" dirty="0" err="1"/>
              <a:t>bemærk</a:t>
            </a:r>
            <a:r>
              <a:rPr lang="en-US" sz="2400" dirty="0"/>
              <a:t> ex. p. </a:t>
            </a:r>
            <a:r>
              <a:rPr lang="en-US" sz="2400" dirty="0">
                <a:solidFill>
                  <a:srgbClr val="FFFF00"/>
                </a:solidFill>
              </a:rPr>
              <a:t>515</a:t>
            </a:r>
            <a:r>
              <a:rPr lang="en-US" sz="2400" dirty="0">
                <a:solidFill>
                  <a:srgbClr val="FFC000"/>
                </a:solidFill>
              </a:rPr>
              <a:t>. </a:t>
            </a:r>
          </a:p>
          <a:p>
            <a:pPr lvl="1" eaLnBrk="1" hangingPunct="1">
              <a:buClr>
                <a:srgbClr val="000066"/>
              </a:buClr>
            </a:pPr>
            <a:r>
              <a:rPr lang="en-US" sz="2400" dirty="0" err="1"/>
              <a:t>fokusér</a:t>
            </a:r>
            <a:r>
              <a:rPr lang="en-US" sz="2400" dirty="0"/>
              <a:t> </a:t>
            </a:r>
            <a:r>
              <a:rPr lang="en-US" sz="2400" dirty="0" err="1"/>
              <a:t>på</a:t>
            </a:r>
            <a:r>
              <a:rPr lang="en-US" sz="2400" dirty="0"/>
              <a:t> </a:t>
            </a:r>
            <a:r>
              <a:rPr lang="en-US" sz="2400" dirty="0" err="1"/>
              <a:t>evaluatorernes</a:t>
            </a:r>
            <a:r>
              <a:rPr lang="en-US" sz="2400" dirty="0"/>
              <a:t> </a:t>
            </a:r>
            <a:r>
              <a:rPr lang="en-US" sz="2400" dirty="0" err="1"/>
              <a:t>incitamenter</a:t>
            </a:r>
            <a:endParaRPr lang="en-US" sz="2400" dirty="0"/>
          </a:p>
          <a:p>
            <a:pPr lvl="2" eaLnBrk="1" hangingPunct="1">
              <a:buClr>
                <a:srgbClr val="000066"/>
              </a:buClr>
            </a:pPr>
            <a:r>
              <a:rPr lang="en-US" sz="2400" dirty="0" err="1"/>
              <a:t>stil</a:t>
            </a:r>
            <a:r>
              <a:rPr lang="en-US" sz="2400" dirty="0"/>
              <a:t> </a:t>
            </a:r>
            <a:r>
              <a:rPr lang="en-US" sz="2400" dirty="0" err="1"/>
              <a:t>disse</a:t>
            </a:r>
            <a:r>
              <a:rPr lang="en-US" sz="2400" dirty="0"/>
              <a:t> </a:t>
            </a:r>
            <a:r>
              <a:rPr lang="en-US" sz="2400" dirty="0" err="1"/>
              <a:t>til</a:t>
            </a:r>
            <a:r>
              <a:rPr lang="en-US" sz="2400" dirty="0"/>
              <a:t> </a:t>
            </a:r>
            <a:r>
              <a:rPr lang="en-US" sz="2400" dirty="0" err="1"/>
              <a:t>ansvar</a:t>
            </a:r>
            <a:r>
              <a:rPr lang="en-US" sz="2400" dirty="0"/>
              <a:t> for </a:t>
            </a:r>
            <a:r>
              <a:rPr lang="en-US" sz="2400" dirty="0" err="1"/>
              <a:t>evalueringerne</a:t>
            </a:r>
            <a:endParaRPr lang="en-US" sz="2400" dirty="0"/>
          </a:p>
          <a:p>
            <a:pPr eaLnBrk="1" hangingPunct="1">
              <a:buClr>
                <a:srgbClr val="000066"/>
              </a:buClr>
            </a:pPr>
            <a:r>
              <a:rPr lang="en-US" sz="2400" dirty="0"/>
              <a:t>Forced distribution</a:t>
            </a:r>
          </a:p>
          <a:p>
            <a:pPr lvl="1" eaLnBrk="1" hangingPunct="1">
              <a:buClr>
                <a:srgbClr val="000066"/>
              </a:buClr>
            </a:pPr>
            <a:r>
              <a:rPr lang="en-US" sz="2400" dirty="0"/>
              <a:t>‘Normal-/</a:t>
            </a:r>
            <a:r>
              <a:rPr lang="en-US" sz="2400" dirty="0" err="1"/>
              <a:t>standardfordeling</a:t>
            </a:r>
            <a:r>
              <a:rPr lang="en-US" sz="2400" dirty="0"/>
              <a:t>’</a:t>
            </a:r>
          </a:p>
          <a:p>
            <a:pPr lvl="1" eaLnBrk="1" hangingPunct="1">
              <a:buClr>
                <a:srgbClr val="000066"/>
              </a:buClr>
            </a:pPr>
            <a:r>
              <a:rPr lang="en-US" sz="2400" dirty="0"/>
              <a:t>May result in good employees being evaluated poorly and vice versa – where is the ‘truth’/the ‘true’ evaluation?</a:t>
            </a:r>
          </a:p>
          <a:p>
            <a:pPr eaLnBrk="1" hangingPunct="1">
              <a:buClr>
                <a:srgbClr val="000066"/>
              </a:buClr>
            </a:pPr>
            <a:r>
              <a:rPr lang="en-US" sz="2400" dirty="0"/>
              <a:t>Influence costs</a:t>
            </a:r>
          </a:p>
        </p:txBody>
      </p:sp>
      <p:sp>
        <p:nvSpPr>
          <p:cNvPr id="35844" name="Rectangle 4"/>
          <p:cNvSpPr>
            <a:spLocks noChangeArrowheads="1"/>
          </p:cNvSpPr>
          <p:nvPr/>
        </p:nvSpPr>
        <p:spPr bwMode="auto">
          <a:xfrm>
            <a:off x="9594669" y="6167847"/>
            <a:ext cx="2133600" cy="244475"/>
          </a:xfrm>
          <a:prstGeom prst="rect">
            <a:avLst/>
          </a:prstGeom>
          <a:noFill/>
          <a:ln w="9525">
            <a:noFill/>
            <a:miter lim="800000"/>
            <a:headEnd/>
            <a:tailEnd/>
          </a:ln>
          <a:effectLst/>
        </p:spPr>
        <p:txBody>
          <a:bodyPr/>
          <a:lstStyle/>
          <a:p>
            <a:pPr algn="r"/>
            <a:fld id="{648C767C-8F8E-4B97-B39B-3B2E9307782E}" type="slidenum">
              <a:rPr lang="en-US" sz="2800" smtClean="0"/>
              <a:pPr algn="r"/>
              <a:t>21</a:t>
            </a:fld>
            <a:endParaRPr lang="en-US" sz="2800" dirty="0"/>
          </a:p>
        </p:txBody>
      </p:sp>
    </p:spTree>
    <p:extLst>
      <p:ext uri="{BB962C8B-B14F-4D97-AF65-F5344CB8AC3E}">
        <p14:creationId xmlns:p14="http://schemas.microsoft.com/office/powerpoint/2010/main" val="213527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84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84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84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84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84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584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84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84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584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49234" y="320040"/>
            <a:ext cx="8001000" cy="1143000"/>
          </a:xfrm>
        </p:spPr>
        <p:txBody>
          <a:bodyPr/>
          <a:lstStyle/>
          <a:p>
            <a:pPr eaLnBrk="1" hangingPunct="1"/>
            <a:r>
              <a:rPr lang="en-US" sz="3600" dirty="0"/>
              <a:t>Combining Performance Measures</a:t>
            </a:r>
          </a:p>
        </p:txBody>
      </p:sp>
      <p:sp>
        <p:nvSpPr>
          <p:cNvPr id="10243" name="Rectangle 3"/>
          <p:cNvSpPr>
            <a:spLocks noGrp="1" noChangeArrowheads="1"/>
          </p:cNvSpPr>
          <p:nvPr>
            <p:ph type="body" idx="1"/>
          </p:nvPr>
        </p:nvSpPr>
        <p:spPr>
          <a:xfrm>
            <a:off x="949234" y="1045346"/>
            <a:ext cx="8948057" cy="5279255"/>
          </a:xfrm>
        </p:spPr>
        <p:txBody>
          <a:bodyPr>
            <a:normAutofit/>
          </a:bodyPr>
          <a:lstStyle/>
          <a:p>
            <a:pPr eaLnBrk="1" hangingPunct="1">
              <a:lnSpc>
                <a:spcPct val="90000"/>
              </a:lnSpc>
              <a:buClr>
                <a:srgbClr val="000066"/>
              </a:buClr>
            </a:pPr>
            <a:endParaRPr lang="en-US" sz="2400" dirty="0"/>
          </a:p>
          <a:p>
            <a:pPr eaLnBrk="1" hangingPunct="1">
              <a:lnSpc>
                <a:spcPct val="90000"/>
              </a:lnSpc>
              <a:buClr>
                <a:srgbClr val="000066"/>
              </a:buClr>
            </a:pPr>
            <a:r>
              <a:rPr lang="en-US" sz="3200" dirty="0"/>
              <a:t>Few job performance measures are purely objective or subjective</a:t>
            </a:r>
          </a:p>
          <a:p>
            <a:pPr eaLnBrk="1" hangingPunct="1">
              <a:lnSpc>
                <a:spcPct val="90000"/>
              </a:lnSpc>
              <a:buClr>
                <a:srgbClr val="000066"/>
              </a:buClr>
            </a:pPr>
            <a:r>
              <a:rPr lang="en-US" sz="3200" dirty="0"/>
              <a:t>Both types can be inaccurate</a:t>
            </a:r>
          </a:p>
          <a:p>
            <a:pPr lvl="1" eaLnBrk="1" hangingPunct="1">
              <a:lnSpc>
                <a:spcPct val="90000"/>
              </a:lnSpc>
              <a:buClr>
                <a:srgbClr val="000066"/>
              </a:buClr>
            </a:pPr>
            <a:r>
              <a:rPr lang="en-US" sz="3200" dirty="0"/>
              <a:t>increasing inaccuracy of either places greater weight on the other</a:t>
            </a:r>
          </a:p>
          <a:p>
            <a:pPr lvl="1" eaLnBrk="1" hangingPunct="1">
              <a:lnSpc>
                <a:spcPct val="90000"/>
              </a:lnSpc>
              <a:buClr>
                <a:srgbClr val="000066"/>
              </a:buClr>
            </a:pPr>
            <a:r>
              <a:rPr lang="en-US" sz="3200" dirty="0"/>
              <a:t>inaccuracies increase employee risk and compensating differential</a:t>
            </a:r>
          </a:p>
          <a:p>
            <a:pPr eaLnBrk="1" hangingPunct="1">
              <a:lnSpc>
                <a:spcPct val="90000"/>
              </a:lnSpc>
              <a:buClr>
                <a:srgbClr val="000066"/>
              </a:buClr>
            </a:pPr>
            <a:r>
              <a:rPr lang="en-US" sz="3200" dirty="0"/>
              <a:t>Both can induce dysfunctional behaviors</a:t>
            </a:r>
          </a:p>
          <a:p>
            <a:pPr eaLnBrk="1" hangingPunct="1">
              <a:lnSpc>
                <a:spcPct val="90000"/>
              </a:lnSpc>
              <a:buClr>
                <a:srgbClr val="000066"/>
              </a:buClr>
            </a:pPr>
            <a:r>
              <a:rPr lang="en-US" sz="3200" dirty="0" err="1">
                <a:solidFill>
                  <a:srgbClr val="FFFF00"/>
                </a:solidFill>
              </a:rPr>
              <a:t>Ramme</a:t>
            </a:r>
            <a:r>
              <a:rPr lang="en-US" sz="3200" dirty="0">
                <a:solidFill>
                  <a:srgbClr val="FFFF00"/>
                </a:solidFill>
              </a:rPr>
              <a:t> 518n.! Eller ‘</a:t>
            </a:r>
            <a:r>
              <a:rPr lang="en-US" sz="3200" dirty="0" err="1">
                <a:solidFill>
                  <a:srgbClr val="FFFF00"/>
                </a:solidFill>
              </a:rPr>
              <a:t>hvad</a:t>
            </a:r>
            <a:r>
              <a:rPr lang="en-US" sz="3200" dirty="0">
                <a:solidFill>
                  <a:srgbClr val="FFFF00"/>
                </a:solidFill>
              </a:rPr>
              <a:t> </a:t>
            </a:r>
            <a:r>
              <a:rPr lang="en-US" sz="3200" dirty="0" err="1">
                <a:solidFill>
                  <a:srgbClr val="FFFF00"/>
                </a:solidFill>
              </a:rPr>
              <a:t>er</a:t>
            </a:r>
            <a:r>
              <a:rPr lang="en-US" sz="3200" dirty="0">
                <a:solidFill>
                  <a:srgbClr val="FFFF00"/>
                </a:solidFill>
              </a:rPr>
              <a:t> </a:t>
            </a:r>
            <a:r>
              <a:rPr lang="en-US" sz="3200" dirty="0" err="1">
                <a:solidFill>
                  <a:srgbClr val="FFFF00"/>
                </a:solidFill>
              </a:rPr>
              <a:t>det</a:t>
            </a:r>
            <a:r>
              <a:rPr lang="en-US" sz="3200" dirty="0">
                <a:solidFill>
                  <a:srgbClr val="FFFF00"/>
                </a:solidFill>
              </a:rPr>
              <a:t> </a:t>
            </a:r>
            <a:r>
              <a:rPr lang="en-US" sz="3200" dirty="0" err="1">
                <a:solidFill>
                  <a:srgbClr val="FFFF00"/>
                </a:solidFill>
              </a:rPr>
              <a:t>mindst</a:t>
            </a:r>
            <a:r>
              <a:rPr lang="en-US" sz="3200" dirty="0">
                <a:solidFill>
                  <a:srgbClr val="FFFF00"/>
                </a:solidFill>
              </a:rPr>
              <a:t> </a:t>
            </a:r>
            <a:r>
              <a:rPr lang="en-US" sz="3200" dirty="0" err="1">
                <a:solidFill>
                  <a:srgbClr val="FFFF00"/>
                </a:solidFill>
              </a:rPr>
              <a:t>ringe</a:t>
            </a:r>
            <a:r>
              <a:rPr lang="en-US" sz="3200" dirty="0">
                <a:solidFill>
                  <a:srgbClr val="FFFF00"/>
                </a:solidFill>
              </a:rPr>
              <a:t>?’</a:t>
            </a:r>
          </a:p>
        </p:txBody>
      </p:sp>
      <p:sp>
        <p:nvSpPr>
          <p:cNvPr id="10245" name="Rectangle 5"/>
          <p:cNvSpPr>
            <a:spLocks noChangeArrowheads="1"/>
          </p:cNvSpPr>
          <p:nvPr/>
        </p:nvSpPr>
        <p:spPr bwMode="auto">
          <a:xfrm>
            <a:off x="9536373" y="5642213"/>
            <a:ext cx="2133600" cy="244475"/>
          </a:xfrm>
          <a:prstGeom prst="rect">
            <a:avLst/>
          </a:prstGeom>
          <a:noFill/>
          <a:ln w="9525">
            <a:noFill/>
            <a:miter lim="800000"/>
            <a:headEnd/>
            <a:tailEnd/>
          </a:ln>
          <a:effectLst/>
        </p:spPr>
        <p:txBody>
          <a:bodyPr/>
          <a:lstStyle/>
          <a:p>
            <a:pPr algn="r"/>
            <a:fld id="{3F7670A0-3B5C-451E-AB24-1617F1A31ADB}" type="slidenum">
              <a:rPr lang="en-US" sz="2800" smtClean="0"/>
              <a:pPr algn="r"/>
              <a:t>22</a:t>
            </a:fld>
            <a:endParaRPr lang="en-US" sz="2800" dirty="0"/>
          </a:p>
        </p:txBody>
      </p:sp>
    </p:spTree>
    <p:extLst>
      <p:ext uri="{BB962C8B-B14F-4D97-AF65-F5344CB8AC3E}">
        <p14:creationId xmlns:p14="http://schemas.microsoft.com/office/powerpoint/2010/main" val="1257722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4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90600" y="258764"/>
            <a:ext cx="8229600" cy="1143000"/>
          </a:xfrm>
        </p:spPr>
        <p:txBody>
          <a:bodyPr/>
          <a:lstStyle/>
          <a:p>
            <a:pPr eaLnBrk="1" hangingPunct="1"/>
            <a:r>
              <a:rPr lang="en-US" dirty="0"/>
              <a:t>Team Performance</a:t>
            </a:r>
          </a:p>
        </p:txBody>
      </p:sp>
      <p:sp>
        <p:nvSpPr>
          <p:cNvPr id="11267" name="Rectangle 3"/>
          <p:cNvSpPr>
            <a:spLocks noGrp="1" noChangeArrowheads="1"/>
          </p:cNvSpPr>
          <p:nvPr>
            <p:ph type="body" idx="1"/>
          </p:nvPr>
        </p:nvSpPr>
        <p:spPr>
          <a:xfrm>
            <a:off x="1262742" y="1401764"/>
            <a:ext cx="8382000" cy="4525963"/>
          </a:xfrm>
          <a:ln>
            <a:noFill/>
          </a:ln>
        </p:spPr>
        <p:txBody>
          <a:bodyPr/>
          <a:lstStyle/>
          <a:p>
            <a:pPr eaLnBrk="1" hangingPunct="1">
              <a:buClr>
                <a:srgbClr val="000066"/>
              </a:buClr>
            </a:pPr>
            <a:r>
              <a:rPr lang="en-US" sz="2600" dirty="0"/>
              <a:t>Team production</a:t>
            </a:r>
          </a:p>
          <a:p>
            <a:pPr lvl="1" eaLnBrk="1" hangingPunct="1">
              <a:buClr>
                <a:srgbClr val="000066"/>
              </a:buClr>
            </a:pPr>
            <a:r>
              <a:rPr lang="en-US" sz="2600" dirty="0"/>
              <a:t>Individual output:	</a:t>
            </a:r>
            <a:r>
              <a:rPr lang="en-US" sz="2600" dirty="0" err="1">
                <a:solidFill>
                  <a:srgbClr val="FFFF00"/>
                </a:solidFill>
              </a:rPr>
              <a:t>Q</a:t>
            </a:r>
            <a:r>
              <a:rPr lang="en-US" sz="2600" baseline="-25000" dirty="0" err="1">
                <a:solidFill>
                  <a:srgbClr val="FFFF00"/>
                </a:solidFill>
              </a:rPr>
              <a:t>i</a:t>
            </a:r>
            <a:r>
              <a:rPr lang="en-US" sz="2600" dirty="0">
                <a:solidFill>
                  <a:srgbClr val="FFFF00"/>
                </a:solidFill>
              </a:rPr>
              <a:t> = 5e + </a:t>
            </a:r>
            <a:r>
              <a:rPr lang="en-US" sz="2600" dirty="0">
                <a:solidFill>
                  <a:srgbClr val="FFFF00"/>
                </a:solidFill>
                <a:sym typeface="Symbol" pitchFamily="18" charset="2"/>
              </a:rPr>
              <a:t></a:t>
            </a:r>
          </a:p>
          <a:p>
            <a:pPr lvl="1" eaLnBrk="1" hangingPunct="1">
              <a:buClr>
                <a:srgbClr val="000066"/>
              </a:buClr>
            </a:pPr>
            <a:r>
              <a:rPr lang="en-US" sz="2600" dirty="0"/>
              <a:t>Team output:  	</a:t>
            </a:r>
            <a:r>
              <a:rPr lang="en-US" sz="2600" dirty="0">
                <a:solidFill>
                  <a:srgbClr val="FFFF00"/>
                </a:solidFill>
              </a:rPr>
              <a:t>Q</a:t>
            </a:r>
            <a:r>
              <a:rPr lang="en-US" sz="2600" baseline="-25000" dirty="0">
                <a:solidFill>
                  <a:srgbClr val="FFFF00"/>
                </a:solidFill>
              </a:rPr>
              <a:t>t</a:t>
            </a:r>
            <a:r>
              <a:rPr lang="en-US" sz="2600" dirty="0">
                <a:solidFill>
                  <a:srgbClr val="FFFF00"/>
                </a:solidFill>
              </a:rPr>
              <a:t> = 4e</a:t>
            </a:r>
            <a:r>
              <a:rPr lang="en-US" sz="2600" baseline="30000" dirty="0">
                <a:solidFill>
                  <a:srgbClr val="FFFF00"/>
                </a:solidFill>
              </a:rPr>
              <a:t>2</a:t>
            </a:r>
            <a:r>
              <a:rPr lang="en-US" sz="2600" dirty="0">
                <a:solidFill>
                  <a:srgbClr val="FFFF00"/>
                </a:solidFill>
              </a:rPr>
              <a:t> + </a:t>
            </a:r>
            <a:r>
              <a:rPr lang="en-US" sz="2600" dirty="0">
                <a:solidFill>
                  <a:srgbClr val="FFFF00"/>
                </a:solidFill>
                <a:sym typeface="Symbol" pitchFamily="18" charset="2"/>
              </a:rPr>
              <a:t></a:t>
            </a:r>
          </a:p>
          <a:p>
            <a:pPr marL="457200" lvl="1" indent="0">
              <a:buClr>
                <a:srgbClr val="000066"/>
              </a:buClr>
              <a:buNone/>
            </a:pPr>
            <a:r>
              <a:rPr lang="en-US" sz="2600" dirty="0">
                <a:solidFill>
                  <a:srgbClr val="FFFF00"/>
                </a:solidFill>
                <a:sym typeface="Symbol" pitchFamily="18" charset="2"/>
              </a:rPr>
              <a:t>     10e = </a:t>
            </a:r>
            <a:r>
              <a:rPr lang="en-US" sz="2600" dirty="0">
                <a:solidFill>
                  <a:srgbClr val="FFFF00"/>
                </a:solidFill>
              </a:rPr>
              <a:t>4e</a:t>
            </a:r>
            <a:r>
              <a:rPr lang="en-US" sz="2600" baseline="30000" dirty="0">
                <a:solidFill>
                  <a:srgbClr val="FFFF00"/>
                </a:solidFill>
              </a:rPr>
              <a:t>2 </a:t>
            </a:r>
          </a:p>
          <a:p>
            <a:pPr marL="457200" lvl="1" indent="0">
              <a:buClr>
                <a:srgbClr val="000066"/>
              </a:buClr>
              <a:buNone/>
            </a:pPr>
            <a:r>
              <a:rPr lang="en-US" sz="4000" baseline="30000" dirty="0">
                <a:solidFill>
                  <a:srgbClr val="FFFF00"/>
                </a:solidFill>
              </a:rPr>
              <a:t>=&gt; 10 = 4e =&gt;</a:t>
            </a:r>
            <a:r>
              <a:rPr lang="en-US" sz="4000" dirty="0">
                <a:solidFill>
                  <a:srgbClr val="FFFF00"/>
                </a:solidFill>
              </a:rPr>
              <a:t> </a:t>
            </a:r>
            <a:r>
              <a:rPr lang="en-US" sz="4000" baseline="30000" dirty="0">
                <a:solidFill>
                  <a:srgbClr val="FFFF00"/>
                </a:solidFill>
              </a:rPr>
              <a:t>e = 2,5</a:t>
            </a:r>
            <a:endParaRPr lang="en-US" sz="4000" dirty="0">
              <a:solidFill>
                <a:srgbClr val="FFFF00"/>
              </a:solidFill>
            </a:endParaRPr>
          </a:p>
          <a:p>
            <a:pPr eaLnBrk="1" hangingPunct="1">
              <a:buClr>
                <a:srgbClr val="000066"/>
              </a:buClr>
            </a:pPr>
            <a:r>
              <a:rPr lang="en-US" sz="2600" dirty="0"/>
              <a:t>Team evaluation</a:t>
            </a:r>
          </a:p>
          <a:p>
            <a:pPr lvl="1" eaLnBrk="1" hangingPunct="1">
              <a:buClr>
                <a:srgbClr val="000066"/>
              </a:buClr>
            </a:pPr>
            <a:r>
              <a:rPr lang="en-US" sz="2600" dirty="0"/>
              <a:t>Peer evaluations to alleviate free-rider problems</a:t>
            </a:r>
          </a:p>
          <a:p>
            <a:pPr lvl="1" eaLnBrk="1" hangingPunct="1">
              <a:buClr>
                <a:srgbClr val="000066"/>
              </a:buClr>
            </a:pPr>
            <a:r>
              <a:rPr lang="en-US" sz="2600" dirty="0" err="1"/>
              <a:t>Ramme</a:t>
            </a:r>
            <a:r>
              <a:rPr lang="en-US" sz="2600" dirty="0"/>
              <a:t> 521n. </a:t>
            </a:r>
            <a:r>
              <a:rPr lang="en-US" sz="2600"/>
              <a:t>– 5225m</a:t>
            </a:r>
            <a:r>
              <a:rPr lang="en-US" sz="2600" dirty="0"/>
              <a:t>.! – teams in Business School courses (repetition, repeated games?)</a:t>
            </a:r>
          </a:p>
        </p:txBody>
      </p:sp>
      <p:sp>
        <p:nvSpPr>
          <p:cNvPr id="11269" name="Rectangle 5"/>
          <p:cNvSpPr>
            <a:spLocks noChangeArrowheads="1"/>
          </p:cNvSpPr>
          <p:nvPr/>
        </p:nvSpPr>
        <p:spPr bwMode="auto">
          <a:xfrm>
            <a:off x="9644742" y="6202363"/>
            <a:ext cx="2133600" cy="244475"/>
          </a:xfrm>
          <a:prstGeom prst="rect">
            <a:avLst/>
          </a:prstGeom>
          <a:noFill/>
          <a:ln w="9525">
            <a:noFill/>
            <a:miter lim="800000"/>
            <a:headEnd/>
            <a:tailEnd/>
          </a:ln>
          <a:effectLst/>
        </p:spPr>
        <p:txBody>
          <a:bodyPr/>
          <a:lstStyle/>
          <a:p>
            <a:pPr algn="r"/>
            <a:fld id="{83FF329E-9210-4E1C-A3F5-BF9E397A4F6A}" type="slidenum">
              <a:rPr lang="en-US" sz="2800" smtClean="0"/>
              <a:pPr algn="r"/>
              <a:t>23</a:t>
            </a:fld>
            <a:endParaRPr lang="en-US" sz="2800" dirty="0"/>
          </a:p>
        </p:txBody>
      </p:sp>
      <p:sp>
        <p:nvSpPr>
          <p:cNvPr id="5" name="Tekstboks 4"/>
          <p:cNvSpPr txBox="1"/>
          <p:nvPr/>
        </p:nvSpPr>
        <p:spPr>
          <a:xfrm>
            <a:off x="7772400" y="2104981"/>
            <a:ext cx="2895600" cy="471924"/>
          </a:xfrm>
          <a:prstGeom prst="rect">
            <a:avLst/>
          </a:prstGeom>
          <a:solidFill>
            <a:srgbClr val="002060"/>
          </a:solidFill>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da-DK" dirty="0"/>
              <a:t>Hvornår er </a:t>
            </a:r>
            <a:r>
              <a:rPr lang="en-US" dirty="0"/>
              <a:t>4e</a:t>
            </a:r>
            <a:r>
              <a:rPr lang="en-US" baseline="30000" dirty="0"/>
              <a:t>2 </a:t>
            </a:r>
            <a:r>
              <a:rPr lang="da-DK" dirty="0"/>
              <a:t> &gt; 5e + 5e?</a:t>
            </a:r>
          </a:p>
          <a:p>
            <a:endParaRPr lang="da-DK" sz="1000" baseline="30000" dirty="0"/>
          </a:p>
        </p:txBody>
      </p:sp>
    </p:spTree>
    <p:extLst>
      <p:ext uri="{BB962C8B-B14F-4D97-AF65-F5344CB8AC3E}">
        <p14:creationId xmlns:p14="http://schemas.microsoft.com/office/powerpoint/2010/main" val="699764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2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26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26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676400" y="838200"/>
            <a:ext cx="8915400" cy="990600"/>
          </a:xfrm>
        </p:spPr>
        <p:txBody>
          <a:bodyPr/>
          <a:lstStyle/>
          <a:p>
            <a:pPr eaLnBrk="1" hangingPunct="1"/>
            <a:r>
              <a:rPr lang="en-US" sz="3600" dirty="0"/>
              <a:t>Comparing Individual and Team Output</a:t>
            </a:r>
          </a:p>
        </p:txBody>
      </p:sp>
      <p:sp>
        <p:nvSpPr>
          <p:cNvPr id="12295" name="Line 7"/>
          <p:cNvSpPr>
            <a:spLocks noChangeShapeType="1"/>
          </p:cNvSpPr>
          <p:nvPr/>
        </p:nvSpPr>
        <p:spPr bwMode="auto">
          <a:xfrm>
            <a:off x="3657600" y="2362200"/>
            <a:ext cx="0" cy="3429000"/>
          </a:xfrm>
          <a:prstGeom prst="line">
            <a:avLst/>
          </a:prstGeom>
          <a:noFill/>
          <a:ln w="9525">
            <a:solidFill>
              <a:schemeClr val="tx1"/>
            </a:solidFill>
            <a:round/>
            <a:headEnd type="triangle"/>
            <a:tailEnd/>
          </a:ln>
          <a:effectLst/>
        </p:spPr>
        <p:txBody>
          <a:bodyPr/>
          <a:lstStyle/>
          <a:p>
            <a:endParaRPr lang="da-DK"/>
          </a:p>
        </p:txBody>
      </p:sp>
      <p:sp>
        <p:nvSpPr>
          <p:cNvPr id="12296" name="Line 8"/>
          <p:cNvSpPr>
            <a:spLocks noChangeShapeType="1"/>
          </p:cNvSpPr>
          <p:nvPr/>
        </p:nvSpPr>
        <p:spPr bwMode="auto">
          <a:xfrm>
            <a:off x="3657600" y="5791200"/>
            <a:ext cx="4038600" cy="0"/>
          </a:xfrm>
          <a:prstGeom prst="line">
            <a:avLst/>
          </a:prstGeom>
          <a:noFill/>
          <a:ln w="9525">
            <a:solidFill>
              <a:schemeClr val="tx1"/>
            </a:solidFill>
            <a:round/>
            <a:headEnd type="none"/>
            <a:tailEnd type="triangle"/>
          </a:ln>
          <a:effectLst/>
        </p:spPr>
        <p:txBody>
          <a:bodyPr/>
          <a:lstStyle/>
          <a:p>
            <a:endParaRPr lang="da-DK"/>
          </a:p>
        </p:txBody>
      </p:sp>
      <p:sp>
        <p:nvSpPr>
          <p:cNvPr id="12297" name="Line 9"/>
          <p:cNvSpPr>
            <a:spLocks noChangeShapeType="1"/>
          </p:cNvSpPr>
          <p:nvPr/>
        </p:nvSpPr>
        <p:spPr bwMode="auto">
          <a:xfrm flipV="1">
            <a:off x="3657600" y="3124200"/>
            <a:ext cx="3962400" cy="2667000"/>
          </a:xfrm>
          <a:prstGeom prst="line">
            <a:avLst/>
          </a:prstGeom>
          <a:noFill/>
          <a:ln w="28575">
            <a:solidFill>
              <a:srgbClr val="000066"/>
            </a:solidFill>
            <a:round/>
            <a:headEnd/>
            <a:tailEnd/>
          </a:ln>
          <a:effectLst/>
        </p:spPr>
        <p:txBody>
          <a:bodyPr/>
          <a:lstStyle/>
          <a:p>
            <a:endParaRPr lang="da-DK"/>
          </a:p>
        </p:txBody>
      </p:sp>
      <p:sp>
        <p:nvSpPr>
          <p:cNvPr id="12298" name="Line 10"/>
          <p:cNvSpPr>
            <a:spLocks noChangeShapeType="1"/>
          </p:cNvSpPr>
          <p:nvPr/>
        </p:nvSpPr>
        <p:spPr bwMode="auto">
          <a:xfrm>
            <a:off x="3657600" y="4114800"/>
            <a:ext cx="2514600" cy="0"/>
          </a:xfrm>
          <a:prstGeom prst="line">
            <a:avLst/>
          </a:prstGeom>
          <a:noFill/>
          <a:ln w="9525">
            <a:solidFill>
              <a:srgbClr val="5F5F5F"/>
            </a:solidFill>
            <a:prstDash val="dash"/>
            <a:round/>
            <a:headEnd/>
            <a:tailEnd/>
          </a:ln>
          <a:effectLst/>
        </p:spPr>
        <p:txBody>
          <a:bodyPr/>
          <a:lstStyle/>
          <a:p>
            <a:endParaRPr lang="da-DK"/>
          </a:p>
        </p:txBody>
      </p:sp>
      <p:sp>
        <p:nvSpPr>
          <p:cNvPr id="12299" name="Line 11"/>
          <p:cNvSpPr>
            <a:spLocks noChangeShapeType="1"/>
          </p:cNvSpPr>
          <p:nvPr/>
        </p:nvSpPr>
        <p:spPr bwMode="auto">
          <a:xfrm>
            <a:off x="6172200" y="4114800"/>
            <a:ext cx="0" cy="1676400"/>
          </a:xfrm>
          <a:prstGeom prst="line">
            <a:avLst/>
          </a:prstGeom>
          <a:noFill/>
          <a:ln w="9525">
            <a:solidFill>
              <a:srgbClr val="5F5F5F"/>
            </a:solidFill>
            <a:prstDash val="dash"/>
            <a:round/>
            <a:headEnd/>
            <a:tailEnd/>
          </a:ln>
          <a:effectLst/>
        </p:spPr>
        <p:txBody>
          <a:bodyPr/>
          <a:lstStyle/>
          <a:p>
            <a:endParaRPr lang="da-DK"/>
          </a:p>
        </p:txBody>
      </p:sp>
      <p:sp>
        <p:nvSpPr>
          <p:cNvPr id="12300" name="Freeform 12"/>
          <p:cNvSpPr>
            <a:spLocks/>
          </p:cNvSpPr>
          <p:nvPr/>
        </p:nvSpPr>
        <p:spPr bwMode="auto">
          <a:xfrm>
            <a:off x="3718539" y="2656820"/>
            <a:ext cx="3276600" cy="3127375"/>
          </a:xfrm>
          <a:custGeom>
            <a:avLst/>
            <a:gdLst/>
            <a:ahLst/>
            <a:cxnLst>
              <a:cxn ang="0">
                <a:pos x="0" y="1968"/>
              </a:cxn>
              <a:cxn ang="0">
                <a:pos x="48" y="1968"/>
              </a:cxn>
              <a:cxn ang="0">
                <a:pos x="215" y="1953"/>
              </a:cxn>
              <a:cxn ang="0">
                <a:pos x="353" y="1930"/>
              </a:cxn>
              <a:cxn ang="0">
                <a:pos x="624" y="1824"/>
              </a:cxn>
              <a:cxn ang="0">
                <a:pos x="1037" y="1561"/>
              </a:cxn>
              <a:cxn ang="0">
                <a:pos x="1392" y="1200"/>
              </a:cxn>
              <a:cxn ang="0">
                <a:pos x="1680" y="768"/>
              </a:cxn>
              <a:cxn ang="0">
                <a:pos x="1968" y="240"/>
              </a:cxn>
              <a:cxn ang="0">
                <a:pos x="2064" y="0"/>
              </a:cxn>
            </a:cxnLst>
            <a:rect l="0" t="0" r="r" b="b"/>
            <a:pathLst>
              <a:path w="2064" h="1970">
                <a:moveTo>
                  <a:pt x="0" y="1968"/>
                </a:moveTo>
                <a:cubicBezTo>
                  <a:pt x="4" y="1968"/>
                  <a:pt x="12" y="1970"/>
                  <a:pt x="48" y="1968"/>
                </a:cubicBezTo>
                <a:cubicBezTo>
                  <a:pt x="84" y="1966"/>
                  <a:pt x="164" y="1959"/>
                  <a:pt x="215" y="1953"/>
                </a:cubicBezTo>
                <a:cubicBezTo>
                  <a:pt x="266" y="1947"/>
                  <a:pt x="285" y="1951"/>
                  <a:pt x="353" y="1930"/>
                </a:cubicBezTo>
                <a:cubicBezTo>
                  <a:pt x="421" y="1909"/>
                  <a:pt x="510" y="1886"/>
                  <a:pt x="624" y="1824"/>
                </a:cubicBezTo>
                <a:cubicBezTo>
                  <a:pt x="738" y="1762"/>
                  <a:pt x="909" y="1665"/>
                  <a:pt x="1037" y="1561"/>
                </a:cubicBezTo>
                <a:cubicBezTo>
                  <a:pt x="1165" y="1457"/>
                  <a:pt x="1285" y="1332"/>
                  <a:pt x="1392" y="1200"/>
                </a:cubicBezTo>
                <a:cubicBezTo>
                  <a:pt x="1499" y="1068"/>
                  <a:pt x="1584" y="928"/>
                  <a:pt x="1680" y="768"/>
                </a:cubicBezTo>
                <a:cubicBezTo>
                  <a:pt x="1776" y="608"/>
                  <a:pt x="1904" y="368"/>
                  <a:pt x="1968" y="240"/>
                </a:cubicBezTo>
                <a:cubicBezTo>
                  <a:pt x="2032" y="112"/>
                  <a:pt x="2048" y="56"/>
                  <a:pt x="2064" y="0"/>
                </a:cubicBezTo>
              </a:path>
            </a:pathLst>
          </a:custGeom>
          <a:noFill/>
          <a:ln w="28575" cmpd="sng">
            <a:solidFill>
              <a:srgbClr val="FFC000"/>
            </a:solidFill>
            <a:round/>
            <a:headEnd/>
            <a:tailEnd/>
          </a:ln>
          <a:effectLst/>
        </p:spPr>
        <p:txBody>
          <a:bodyPr/>
          <a:lstStyle/>
          <a:p>
            <a:endParaRPr lang="da-DK">
              <a:solidFill>
                <a:srgbClr val="FFC000"/>
              </a:solidFill>
            </a:endParaRPr>
          </a:p>
        </p:txBody>
      </p:sp>
      <p:sp>
        <p:nvSpPr>
          <p:cNvPr id="12301" name="Text Box 13"/>
          <p:cNvSpPr txBox="1">
            <a:spLocks noChangeArrowheads="1"/>
          </p:cNvSpPr>
          <p:nvPr/>
        </p:nvSpPr>
        <p:spPr bwMode="auto">
          <a:xfrm>
            <a:off x="3200400" y="4013201"/>
            <a:ext cx="396262" cy="307777"/>
          </a:xfrm>
          <a:prstGeom prst="rect">
            <a:avLst/>
          </a:prstGeom>
          <a:noFill/>
          <a:ln w="9525">
            <a:noFill/>
            <a:miter lim="800000"/>
            <a:headEnd/>
            <a:tailEnd/>
          </a:ln>
          <a:effectLst/>
        </p:spPr>
        <p:txBody>
          <a:bodyPr wrap="none">
            <a:spAutoFit/>
          </a:bodyPr>
          <a:lstStyle/>
          <a:p>
            <a:r>
              <a:rPr lang="en-US" sz="1400" dirty="0">
                <a:solidFill>
                  <a:schemeClr val="bg1"/>
                </a:solidFill>
              </a:rPr>
              <a:t>25</a:t>
            </a:r>
          </a:p>
        </p:txBody>
      </p:sp>
      <p:sp>
        <p:nvSpPr>
          <p:cNvPr id="12302" name="Text Box 14"/>
          <p:cNvSpPr txBox="1">
            <a:spLocks noChangeArrowheads="1"/>
          </p:cNvSpPr>
          <p:nvPr/>
        </p:nvSpPr>
        <p:spPr bwMode="auto">
          <a:xfrm>
            <a:off x="5867400" y="5842001"/>
            <a:ext cx="441146" cy="307777"/>
          </a:xfrm>
          <a:prstGeom prst="rect">
            <a:avLst/>
          </a:prstGeom>
          <a:noFill/>
          <a:ln w="9525">
            <a:noFill/>
            <a:miter lim="800000"/>
            <a:headEnd/>
            <a:tailEnd/>
          </a:ln>
          <a:effectLst/>
        </p:spPr>
        <p:txBody>
          <a:bodyPr wrap="none">
            <a:spAutoFit/>
          </a:bodyPr>
          <a:lstStyle/>
          <a:p>
            <a:r>
              <a:rPr lang="en-US" sz="1400" dirty="0">
                <a:solidFill>
                  <a:schemeClr val="bg1"/>
                </a:solidFill>
              </a:rPr>
              <a:t>2.5</a:t>
            </a:r>
          </a:p>
        </p:txBody>
      </p:sp>
      <p:sp>
        <p:nvSpPr>
          <p:cNvPr id="12303" name="Text Box 15"/>
          <p:cNvSpPr txBox="1">
            <a:spLocks noChangeArrowheads="1"/>
          </p:cNvSpPr>
          <p:nvPr/>
        </p:nvSpPr>
        <p:spPr bwMode="auto">
          <a:xfrm>
            <a:off x="4114800" y="6172200"/>
            <a:ext cx="3525838" cy="304800"/>
          </a:xfrm>
          <a:prstGeom prst="rect">
            <a:avLst/>
          </a:prstGeom>
          <a:noFill/>
          <a:ln w="9525">
            <a:noFill/>
            <a:miter lim="800000"/>
            <a:headEnd/>
            <a:tailEnd/>
          </a:ln>
          <a:effectLst/>
        </p:spPr>
        <p:txBody>
          <a:bodyPr wrap="none">
            <a:spAutoFit/>
          </a:bodyPr>
          <a:lstStyle/>
          <a:p>
            <a:r>
              <a:rPr lang="en-US" sz="1400" dirty="0">
                <a:solidFill>
                  <a:schemeClr val="bg1"/>
                </a:solidFill>
              </a:rPr>
              <a:t>Conrad’s and Dina’s individual effort levels</a:t>
            </a:r>
          </a:p>
        </p:txBody>
      </p:sp>
      <p:sp>
        <p:nvSpPr>
          <p:cNvPr id="12304" name="Text Box 16"/>
          <p:cNvSpPr txBox="1">
            <a:spLocks noChangeArrowheads="1"/>
          </p:cNvSpPr>
          <p:nvPr/>
        </p:nvSpPr>
        <p:spPr bwMode="auto">
          <a:xfrm rot="16200000">
            <a:off x="2162969" y="3933032"/>
            <a:ext cx="1465263" cy="304800"/>
          </a:xfrm>
          <a:prstGeom prst="rect">
            <a:avLst/>
          </a:prstGeom>
          <a:noFill/>
          <a:ln w="9525">
            <a:noFill/>
            <a:miter lim="800000"/>
            <a:headEnd/>
            <a:tailEnd/>
          </a:ln>
          <a:effectLst/>
        </p:spPr>
        <p:txBody>
          <a:bodyPr wrap="none">
            <a:spAutoFit/>
          </a:bodyPr>
          <a:lstStyle/>
          <a:p>
            <a:r>
              <a:rPr lang="en-US" sz="1400" dirty="0">
                <a:solidFill>
                  <a:schemeClr val="bg1"/>
                </a:solidFill>
              </a:rPr>
              <a:t>Expected output</a:t>
            </a:r>
          </a:p>
        </p:txBody>
      </p:sp>
      <p:sp>
        <p:nvSpPr>
          <p:cNvPr id="12305" name="Text Box 17"/>
          <p:cNvSpPr txBox="1">
            <a:spLocks noChangeArrowheads="1"/>
          </p:cNvSpPr>
          <p:nvPr/>
        </p:nvSpPr>
        <p:spPr bwMode="auto">
          <a:xfrm>
            <a:off x="6096000" y="2133600"/>
            <a:ext cx="1828800" cy="523220"/>
          </a:xfrm>
          <a:prstGeom prst="rect">
            <a:avLst/>
          </a:prstGeom>
          <a:noFill/>
          <a:ln w="9525">
            <a:noFill/>
            <a:miter lim="800000"/>
            <a:headEnd/>
            <a:tailEnd/>
          </a:ln>
          <a:effectLst/>
        </p:spPr>
        <p:txBody>
          <a:bodyPr>
            <a:spAutoFit/>
          </a:bodyPr>
          <a:lstStyle/>
          <a:p>
            <a:r>
              <a:rPr lang="en-US" sz="1400" dirty="0">
                <a:solidFill>
                  <a:srgbClr val="FFC000"/>
                </a:solidFill>
              </a:rPr>
              <a:t>Conrad and Dina’s team output</a:t>
            </a:r>
          </a:p>
        </p:txBody>
      </p:sp>
      <p:sp>
        <p:nvSpPr>
          <p:cNvPr id="12306" name="Text Box 18"/>
          <p:cNvSpPr txBox="1">
            <a:spLocks noChangeArrowheads="1"/>
          </p:cNvSpPr>
          <p:nvPr/>
        </p:nvSpPr>
        <p:spPr bwMode="auto">
          <a:xfrm>
            <a:off x="3505200" y="2057401"/>
            <a:ext cx="300082" cy="307777"/>
          </a:xfrm>
          <a:prstGeom prst="rect">
            <a:avLst/>
          </a:prstGeom>
          <a:noFill/>
          <a:ln w="9525">
            <a:noFill/>
            <a:miter lim="800000"/>
            <a:headEnd/>
            <a:tailEnd/>
          </a:ln>
          <a:effectLst/>
        </p:spPr>
        <p:txBody>
          <a:bodyPr wrap="none">
            <a:spAutoFit/>
          </a:bodyPr>
          <a:lstStyle/>
          <a:p>
            <a:r>
              <a:rPr lang="en-US" sz="1400" i="1" dirty="0">
                <a:solidFill>
                  <a:schemeClr val="bg1"/>
                </a:solidFill>
              </a:rPr>
              <a:t>Q</a:t>
            </a:r>
          </a:p>
        </p:txBody>
      </p:sp>
      <p:sp>
        <p:nvSpPr>
          <p:cNvPr id="12307" name="Text Box 19"/>
          <p:cNvSpPr txBox="1">
            <a:spLocks noChangeArrowheads="1"/>
          </p:cNvSpPr>
          <p:nvPr/>
        </p:nvSpPr>
        <p:spPr bwMode="auto">
          <a:xfrm>
            <a:off x="7696201" y="5638800"/>
            <a:ext cx="282575" cy="304800"/>
          </a:xfrm>
          <a:prstGeom prst="rect">
            <a:avLst/>
          </a:prstGeom>
          <a:noFill/>
          <a:ln w="9525">
            <a:noFill/>
            <a:miter lim="800000"/>
            <a:headEnd/>
            <a:tailEnd/>
          </a:ln>
          <a:effectLst/>
        </p:spPr>
        <p:txBody>
          <a:bodyPr wrap="none">
            <a:spAutoFit/>
          </a:bodyPr>
          <a:lstStyle/>
          <a:p>
            <a:r>
              <a:rPr lang="en-US" sz="1400" i="1" dirty="0">
                <a:solidFill>
                  <a:schemeClr val="bg1"/>
                </a:solidFill>
              </a:rPr>
              <a:t>e</a:t>
            </a:r>
          </a:p>
        </p:txBody>
      </p:sp>
      <p:sp>
        <p:nvSpPr>
          <p:cNvPr id="12308" name="Text Box 20"/>
          <p:cNvSpPr txBox="1">
            <a:spLocks noChangeArrowheads="1"/>
          </p:cNvSpPr>
          <p:nvPr/>
        </p:nvSpPr>
        <p:spPr bwMode="auto">
          <a:xfrm>
            <a:off x="7620001" y="2819400"/>
            <a:ext cx="2682875" cy="523220"/>
          </a:xfrm>
          <a:prstGeom prst="rect">
            <a:avLst/>
          </a:prstGeom>
          <a:noFill/>
          <a:ln w="9525">
            <a:noFill/>
            <a:miter lim="800000"/>
            <a:headEnd/>
            <a:tailEnd/>
          </a:ln>
          <a:effectLst/>
        </p:spPr>
        <p:txBody>
          <a:bodyPr>
            <a:spAutoFit/>
          </a:bodyPr>
          <a:lstStyle/>
          <a:p>
            <a:r>
              <a:rPr lang="en-US" sz="1400" dirty="0">
                <a:solidFill>
                  <a:srgbClr val="002060"/>
                </a:solidFill>
              </a:rPr>
              <a:t>Sum of Conrad’s and Dina’s individual outputs</a:t>
            </a:r>
          </a:p>
        </p:txBody>
      </p:sp>
      <p:sp>
        <p:nvSpPr>
          <p:cNvPr id="12309" name="Rectangle 21"/>
          <p:cNvSpPr>
            <a:spLocks noChangeArrowheads="1"/>
          </p:cNvSpPr>
          <p:nvPr/>
        </p:nvSpPr>
        <p:spPr bwMode="auto">
          <a:xfrm>
            <a:off x="9525000" y="6324600"/>
            <a:ext cx="2133600" cy="244475"/>
          </a:xfrm>
          <a:prstGeom prst="rect">
            <a:avLst/>
          </a:prstGeom>
          <a:noFill/>
          <a:ln w="9525">
            <a:noFill/>
            <a:miter lim="800000"/>
            <a:headEnd/>
            <a:tailEnd/>
          </a:ln>
          <a:effectLst/>
        </p:spPr>
        <p:txBody>
          <a:bodyPr/>
          <a:lstStyle/>
          <a:p>
            <a:pPr algn="r"/>
            <a:fld id="{89FDCBCB-A3E3-4FD2-8E24-2985392BF628}" type="slidenum">
              <a:rPr lang="en-US" sz="2800" smtClean="0"/>
              <a:pPr algn="r"/>
              <a:t>24</a:t>
            </a:fld>
            <a:endParaRPr lang="en-US" sz="2800" dirty="0"/>
          </a:p>
        </p:txBody>
      </p:sp>
    </p:spTree>
    <p:extLst>
      <p:ext uri="{BB962C8B-B14F-4D97-AF65-F5344CB8AC3E}">
        <p14:creationId xmlns:p14="http://schemas.microsoft.com/office/powerpoint/2010/main" val="3866715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634D7-768C-42C8-94BC-798D47539DB8}"/>
              </a:ext>
            </a:extLst>
          </p:cNvPr>
          <p:cNvSpPr>
            <a:spLocks noGrp="1"/>
          </p:cNvSpPr>
          <p:nvPr>
            <p:ph type="title"/>
          </p:nvPr>
        </p:nvSpPr>
        <p:spPr>
          <a:xfrm>
            <a:off x="1981200" y="153398"/>
            <a:ext cx="8229600" cy="1143000"/>
          </a:xfrm>
        </p:spPr>
        <p:txBody>
          <a:bodyPr>
            <a:normAutofit/>
          </a:bodyPr>
          <a:lstStyle/>
          <a:p>
            <a:r>
              <a:rPr lang="da-DK" sz="2800" dirty="0">
                <a:solidFill>
                  <a:schemeClr val="bg1"/>
                </a:solidFill>
              </a:rPr>
              <a:t>Definitioner/karakteristika ved </a:t>
            </a:r>
            <a:r>
              <a:rPr lang="en-DK" sz="2800" dirty="0">
                <a:solidFill>
                  <a:schemeClr val="bg1"/>
                </a:solidFill>
              </a:rPr>
              <a:t>præstationsmåling</a:t>
            </a:r>
            <a:r>
              <a:rPr lang="da-DK" sz="2800">
                <a:solidFill>
                  <a:schemeClr val="bg1"/>
                </a:solidFill>
              </a:rPr>
              <a:t>er</a:t>
            </a:r>
            <a:endParaRPr lang="en-DK" sz="2800" dirty="0">
              <a:solidFill>
                <a:schemeClr val="bg1"/>
              </a:solidFill>
            </a:endParaRPr>
          </a:p>
        </p:txBody>
      </p:sp>
      <p:sp>
        <p:nvSpPr>
          <p:cNvPr id="3" name="Content Placeholder 2">
            <a:extLst>
              <a:ext uri="{FF2B5EF4-FFF2-40B4-BE49-F238E27FC236}">
                <a16:creationId xmlns:a16="http://schemas.microsoft.com/office/drawing/2014/main" id="{030AB9CA-894E-4B0A-9FE4-CE30F0166987}"/>
              </a:ext>
            </a:extLst>
          </p:cNvPr>
          <p:cNvSpPr>
            <a:spLocks noGrp="1"/>
          </p:cNvSpPr>
          <p:nvPr>
            <p:ph idx="1"/>
          </p:nvPr>
        </p:nvSpPr>
        <p:spPr>
          <a:xfrm>
            <a:off x="1919179" y="941292"/>
            <a:ext cx="8229600" cy="5134230"/>
          </a:xfrm>
        </p:spPr>
        <p:txBody>
          <a:bodyPr vert="horz" lIns="91440" tIns="45720" rIns="91440" bIns="45720" rtlCol="0" anchor="t">
            <a:noAutofit/>
          </a:bodyPr>
          <a:lstStyle/>
          <a:p>
            <a:r>
              <a:rPr lang="da-DK" sz="1700" b="1" dirty="0">
                <a:solidFill>
                  <a:schemeClr val="bg1"/>
                </a:solidFill>
                <a:latin typeface="Times New Roman"/>
                <a:cs typeface="Times New Roman"/>
              </a:rPr>
              <a:t>1. Præstationsmåling:</a:t>
            </a:r>
          </a:p>
          <a:p>
            <a:pPr lvl="1"/>
            <a:r>
              <a:rPr lang="da-DK" sz="1700" dirty="0">
                <a:solidFill>
                  <a:schemeClr val="bg1"/>
                </a:solidFill>
                <a:latin typeface="Times New Roman"/>
                <a:cs typeface="Times New Roman"/>
              </a:rPr>
              <a:t>En procedure/måde/metode at måle en medarbejders/afdelings arbejdsindsats eller output i forhold til i forvejen specificerede arbejdsopgaver (TV).</a:t>
            </a:r>
          </a:p>
          <a:p>
            <a:r>
              <a:rPr lang="da-DK" sz="1700" b="1" dirty="0">
                <a:solidFill>
                  <a:schemeClr val="bg1"/>
                </a:solidFill>
                <a:latin typeface="Times New Roman"/>
                <a:cs typeface="Times New Roman"/>
              </a:rPr>
              <a:t>2. Relative præstationsmålinger:</a:t>
            </a:r>
          </a:p>
          <a:p>
            <a:pPr lvl="1"/>
            <a:r>
              <a:rPr lang="en-AU" sz="1700" dirty="0">
                <a:solidFill>
                  <a:schemeClr val="bg1"/>
                </a:solidFill>
                <a:latin typeface="Times New Roman"/>
                <a:cs typeface="Times New Roman"/>
              </a:rPr>
              <a:t>“Using the output of other employees to adjust the employees' output in the compensation contract” (BSZ p. 314).</a:t>
            </a:r>
          </a:p>
          <a:p>
            <a:r>
              <a:rPr lang="da-DK" sz="1700" b="1" dirty="0">
                <a:solidFill>
                  <a:schemeClr val="bg1"/>
                </a:solidFill>
                <a:latin typeface="Times New Roman"/>
                <a:cs typeface="Times New Roman"/>
              </a:rPr>
              <a:t>3. Absolutte præstationsmålinger:</a:t>
            </a:r>
          </a:p>
          <a:p>
            <a:pPr lvl="1"/>
            <a:r>
              <a:rPr lang="da-DK" sz="1700" dirty="0">
                <a:solidFill>
                  <a:schemeClr val="bg1"/>
                </a:solidFill>
                <a:latin typeface="Times New Roman"/>
                <a:cs typeface="Times New Roman"/>
              </a:rPr>
              <a:t>“Når en målingsdimension er fast forankret i den enkelte medarbejders (eller teams’ eller afdelings) og kun dennes præstation og dermed ikke bliver sammenlignet med andre medarbejdere (teams/afdelinger)” (tilpasset Hansen (2009/2010)).</a:t>
            </a:r>
          </a:p>
          <a:p>
            <a:r>
              <a:rPr lang="da-DK" sz="1700" b="1" dirty="0">
                <a:solidFill>
                  <a:schemeClr val="bg1"/>
                </a:solidFill>
                <a:latin typeface="Times New Roman"/>
                <a:cs typeface="Times New Roman"/>
              </a:rPr>
              <a:t>4. Objektive præstationsmålinger:</a:t>
            </a:r>
          </a:p>
          <a:p>
            <a:pPr lvl="1"/>
            <a:r>
              <a:rPr lang="da-DK" sz="1700" dirty="0">
                <a:solidFill>
                  <a:schemeClr val="bg1"/>
                </a:solidFill>
              </a:rPr>
              <a:t>Når ”...produceren for principalens måling af agentens præstation er specificeret entydigt på forhånd (ex </a:t>
            </a:r>
            <a:r>
              <a:rPr lang="da-DK" sz="1700" dirty="0" err="1">
                <a:solidFill>
                  <a:schemeClr val="bg1"/>
                </a:solidFill>
              </a:rPr>
              <a:t>ante</a:t>
            </a:r>
            <a:r>
              <a:rPr lang="da-DK" sz="1700" dirty="0">
                <a:solidFill>
                  <a:schemeClr val="bg1"/>
                </a:solidFill>
              </a:rPr>
              <a:t>), og muligheden for verifikation af tredje part er tilstede” (Hansen 2009/2010).</a:t>
            </a:r>
          </a:p>
          <a:p>
            <a:r>
              <a:rPr lang="da-DK" sz="1700" b="1" dirty="0">
                <a:solidFill>
                  <a:schemeClr val="bg1"/>
                </a:solidFill>
                <a:latin typeface="Times New Roman"/>
                <a:cs typeface="Times New Roman"/>
              </a:rPr>
              <a:t>5. Subjektive præstationsmålinger: </a:t>
            </a:r>
          </a:p>
          <a:p>
            <a:pPr lvl="1"/>
            <a:r>
              <a:rPr lang="da-DK" sz="1700" dirty="0">
                <a:latin typeface="Times New Roman"/>
                <a:cs typeface="Times New Roman"/>
              </a:rPr>
              <a:t>“</a:t>
            </a:r>
            <a:r>
              <a:rPr lang="da-DK" sz="1700" dirty="0"/>
              <a:t>Med en subjektiv måling forstås, at principalen subjektivt evaluerer agentens præstation, når perioden er omme (ex post)” (Hansen 2009/2010).</a:t>
            </a:r>
          </a:p>
        </p:txBody>
      </p:sp>
      <p:sp>
        <p:nvSpPr>
          <p:cNvPr id="4" name="Footer Placeholder 3">
            <a:extLst>
              <a:ext uri="{FF2B5EF4-FFF2-40B4-BE49-F238E27FC236}">
                <a16:creationId xmlns:a16="http://schemas.microsoft.com/office/drawing/2014/main" id="{495728C2-1D1D-4A16-9602-68C037960FCE}"/>
              </a:ext>
            </a:extLst>
          </p:cNvPr>
          <p:cNvSpPr>
            <a:spLocks noGrp="1"/>
          </p:cNvSpPr>
          <p:nvPr>
            <p:ph type="ftr" sz="quarter" idx="11"/>
          </p:nvPr>
        </p:nvSpPr>
        <p:spPr/>
        <p:txBody>
          <a:bodyPr/>
          <a:lstStyle/>
          <a:p>
            <a:r>
              <a:rPr lang="nb-NO"/>
              <a:t>CBS PEØ</a:t>
            </a:r>
            <a:endParaRPr lang="da-DK" dirty="0"/>
          </a:p>
        </p:txBody>
      </p:sp>
      <p:sp>
        <p:nvSpPr>
          <p:cNvPr id="5" name="Slide Number Placeholder 4">
            <a:extLst>
              <a:ext uri="{FF2B5EF4-FFF2-40B4-BE49-F238E27FC236}">
                <a16:creationId xmlns:a16="http://schemas.microsoft.com/office/drawing/2014/main" id="{8662FBFE-E1C2-46EB-B6A0-663904084123}"/>
              </a:ext>
            </a:extLst>
          </p:cNvPr>
          <p:cNvSpPr>
            <a:spLocks noGrp="1"/>
          </p:cNvSpPr>
          <p:nvPr>
            <p:ph type="sldNum" sz="quarter" idx="12"/>
          </p:nvPr>
        </p:nvSpPr>
        <p:spPr/>
        <p:txBody>
          <a:bodyPr/>
          <a:lstStyle/>
          <a:p>
            <a:fld id="{2976E088-A841-40CF-B287-80586A084F56}" type="slidenum">
              <a:rPr lang="da-DK" smtClean="0"/>
              <a:pPr/>
              <a:t>25</a:t>
            </a:fld>
            <a:endParaRPr lang="da-DK"/>
          </a:p>
        </p:txBody>
      </p:sp>
    </p:spTree>
    <p:extLst>
      <p:ext uri="{BB962C8B-B14F-4D97-AF65-F5344CB8AC3E}">
        <p14:creationId xmlns:p14="http://schemas.microsoft.com/office/powerpoint/2010/main" val="1997505312"/>
      </p:ext>
    </p:extLst>
  </p:cSld>
  <p:clrMapOvr>
    <a:masterClrMapping/>
  </p:clrMapOvr>
</p:sld>
</file>

<file path=ppt/theme/theme1.xml><?xml version="1.0" encoding="utf-8"?>
<a:theme xmlns:a="http://schemas.openxmlformats.org/drawingml/2006/main" name="Crop">
  <a:themeElements>
    <a:clrScheme name="Brugerdefineret 1">
      <a:dk1>
        <a:srgbClr val="FFFFFF"/>
      </a:dk1>
      <a:lt1>
        <a:sysClr val="window" lastClr="FFFFFF"/>
      </a:lt1>
      <a:dk2>
        <a:srgbClr val="FFFFFF"/>
      </a:dk2>
      <a:lt2>
        <a:srgbClr val="3F762A"/>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17F9D331-421E-442F-B033-AF5B21A4485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Crop</Template>
  <TotalTime>262</TotalTime>
  <Words>1542</Words>
  <Application>Microsoft Macintosh PowerPoint</Application>
  <PresentationFormat>Widescreen</PresentationFormat>
  <Paragraphs>254</Paragraphs>
  <Slides>25</Slides>
  <Notes>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Franklin Gothic Book</vt:lpstr>
      <vt:lpstr>Symbol</vt:lpstr>
      <vt:lpstr>Tahoma</vt:lpstr>
      <vt:lpstr>Times New Roman</vt:lpstr>
      <vt:lpstr>Wingdings</vt:lpstr>
      <vt:lpstr>Crop</vt:lpstr>
      <vt:lpstr>PowerPoint Presentation</vt:lpstr>
      <vt:lpstr>Performance Evaluation</vt:lpstr>
      <vt:lpstr>Hvorfor præstationsmåle?</vt:lpstr>
      <vt:lpstr>PowerPoint Presentation</vt:lpstr>
      <vt:lpstr>Incentive Compensation (again)</vt:lpstr>
      <vt:lpstr>Implicit Assumptions</vt:lpstr>
      <vt:lpstr>Setting Performance Benchmarks</vt:lpstr>
      <vt:lpstr>Measurement Costs</vt:lpstr>
      <vt:lpstr>Informativeness Principle (p. 505)</vt:lpstr>
      <vt:lpstr>Informativeness Principle (igen, se p. 505)</vt:lpstr>
      <vt:lpstr>Opportunism</vt:lpstr>
      <vt:lpstr>PowerPoint Presentation</vt:lpstr>
      <vt:lpstr>Opportunisme og Horisontproblemet</vt:lpstr>
      <vt:lpstr>Traditionel præstationsaflønning</vt:lpstr>
      <vt:lpstr>Løsningen!?</vt:lpstr>
      <vt:lpstr>Lineært system</vt:lpstr>
      <vt:lpstr>Relative Performance Evaluation</vt:lpstr>
      <vt:lpstr>Subjective Performance Evaluation</vt:lpstr>
      <vt:lpstr>Self evaluation</vt:lpstr>
      <vt:lpstr>Subjective Evaluation Methods</vt:lpstr>
      <vt:lpstr>Problems with Subjective Evaluations</vt:lpstr>
      <vt:lpstr>Combining Performance Measures</vt:lpstr>
      <vt:lpstr>Team Performance</vt:lpstr>
      <vt:lpstr>Comparing Individual and Team Output</vt:lpstr>
      <vt:lpstr>Definitioner/karakteristika ved præstationsmålinger</vt:lpstr>
    </vt:vector>
  </TitlesOfParts>
  <Company>CBS - Copenhagen Business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Tamas Vamosi</dc:creator>
  <cp:lastModifiedBy>Kai Inga Liehr Storm</cp:lastModifiedBy>
  <cp:revision>40</cp:revision>
  <dcterms:created xsi:type="dcterms:W3CDTF">2020-04-06T07:32:06Z</dcterms:created>
  <dcterms:modified xsi:type="dcterms:W3CDTF">2026-04-06T13:02:28Z</dcterms:modified>
</cp:coreProperties>
</file>