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377" r:id="rId10"/>
    <p:sldId id="265" r:id="rId11"/>
    <p:sldId id="266" r:id="rId12"/>
    <p:sldId id="267" r:id="rId13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0000"/>
    <a:srgbClr val="1E410B"/>
    <a:srgbClr val="6C0404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967E9B-A693-4663-BFAE-ABF2FC90701B}" v="1" dt="2025-02-06T09:08:51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7" autoAdjust="0"/>
    <p:restoredTop sz="94660"/>
  </p:normalViewPr>
  <p:slideViewPr>
    <p:cSldViewPr snapToGrid="0">
      <p:cViewPr>
        <p:scale>
          <a:sx n="160" d="100"/>
          <a:sy n="160" d="100"/>
        </p:scale>
        <p:origin x="3000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Vamosi" userId="d29b3f17-2c73-4e3f-a1f7-7beee2a70eaf" providerId="ADAL" clId="{82967E9B-A693-4663-BFAE-ABF2FC90701B}"/>
    <pc:docChg chg="custSel modSld">
      <pc:chgData name="Tamas Vamosi" userId="d29b3f17-2c73-4e3f-a1f7-7beee2a70eaf" providerId="ADAL" clId="{82967E9B-A693-4663-BFAE-ABF2FC90701B}" dt="2025-02-06T09:10:00.823" v="11" actId="14100"/>
      <pc:docMkLst>
        <pc:docMk/>
      </pc:docMkLst>
      <pc:sldChg chg="modSp mod">
        <pc:chgData name="Tamas Vamosi" userId="d29b3f17-2c73-4e3f-a1f7-7beee2a70eaf" providerId="ADAL" clId="{82967E9B-A693-4663-BFAE-ABF2FC90701B}" dt="2025-02-06T09:06:03.944" v="1" actId="20577"/>
        <pc:sldMkLst>
          <pc:docMk/>
          <pc:sldMk cId="1940172915" sldId="260"/>
        </pc:sldMkLst>
        <pc:spChg chg="mod">
          <ac:chgData name="Tamas Vamosi" userId="d29b3f17-2c73-4e3f-a1f7-7beee2a70eaf" providerId="ADAL" clId="{82967E9B-A693-4663-BFAE-ABF2FC90701B}" dt="2025-02-06T09:06:03.944" v="1" actId="20577"/>
          <ac:spMkLst>
            <pc:docMk/>
            <pc:sldMk cId="1940172915" sldId="260"/>
            <ac:spMk id="17409" creationId="{00000000-0000-0000-0000-000000000000}"/>
          </ac:spMkLst>
        </pc:spChg>
      </pc:sldChg>
      <pc:sldChg chg="addSp delSp modSp mod">
        <pc:chgData name="Tamas Vamosi" userId="d29b3f17-2c73-4e3f-a1f7-7beee2a70eaf" providerId="ADAL" clId="{82967E9B-A693-4663-BFAE-ABF2FC90701B}" dt="2025-02-06T09:10:00.823" v="11" actId="14100"/>
        <pc:sldMkLst>
          <pc:docMk/>
          <pc:sldMk cId="1784751506" sldId="377"/>
        </pc:sldMkLst>
        <pc:spChg chg="del mod">
          <ac:chgData name="Tamas Vamosi" userId="d29b3f17-2c73-4e3f-a1f7-7beee2a70eaf" providerId="ADAL" clId="{82967E9B-A693-4663-BFAE-ABF2FC90701B}" dt="2025-02-06T09:09:23.828" v="3" actId="478"/>
          <ac:spMkLst>
            <pc:docMk/>
            <pc:sldMk cId="1784751506" sldId="377"/>
            <ac:spMk id="2" creationId="{B79F2E9E-F131-5E78-790F-8F2BB8C027A8}"/>
          </ac:spMkLst>
        </pc:spChg>
        <pc:spChg chg="del">
          <ac:chgData name="Tamas Vamosi" userId="d29b3f17-2c73-4e3f-a1f7-7beee2a70eaf" providerId="ADAL" clId="{82967E9B-A693-4663-BFAE-ABF2FC90701B}" dt="2025-02-06T09:09:34.323" v="5" actId="478"/>
          <ac:spMkLst>
            <pc:docMk/>
            <pc:sldMk cId="1784751506" sldId="377"/>
            <ac:spMk id="3" creationId="{A406DC4B-B042-3D52-44FB-6F29A61C93F5}"/>
          </ac:spMkLst>
        </pc:spChg>
        <pc:spChg chg="add del mod">
          <ac:chgData name="Tamas Vamosi" userId="d29b3f17-2c73-4e3f-a1f7-7beee2a70eaf" providerId="ADAL" clId="{82967E9B-A693-4663-BFAE-ABF2FC90701B}" dt="2025-02-06T09:09:30.070" v="4" actId="478"/>
          <ac:spMkLst>
            <pc:docMk/>
            <pc:sldMk cId="1784751506" sldId="377"/>
            <ac:spMk id="9" creationId="{2CB92A2C-C1CA-34C7-8BC4-19FBAAC7BC61}"/>
          </ac:spMkLst>
        </pc:spChg>
        <pc:spChg chg="add del mod">
          <ac:chgData name="Tamas Vamosi" userId="d29b3f17-2c73-4e3f-a1f7-7beee2a70eaf" providerId="ADAL" clId="{82967E9B-A693-4663-BFAE-ABF2FC90701B}" dt="2025-02-06T09:09:45.497" v="7" actId="478"/>
          <ac:spMkLst>
            <pc:docMk/>
            <pc:sldMk cId="1784751506" sldId="377"/>
            <ac:spMk id="12" creationId="{3B9D46B0-F7DC-0CB2-60F8-C11EAE49F4D1}"/>
          </ac:spMkLst>
        </pc:spChg>
        <pc:grpChg chg="mod">
          <ac:chgData name="Tamas Vamosi" userId="d29b3f17-2c73-4e3f-a1f7-7beee2a70eaf" providerId="ADAL" clId="{82967E9B-A693-4663-BFAE-ABF2FC90701B}" dt="2025-02-06T09:10:00.823" v="11" actId="14100"/>
          <ac:grpSpMkLst>
            <pc:docMk/>
            <pc:sldMk cId="1784751506" sldId="377"/>
            <ac:grpSpMk id="6" creationId="{282E2D75-EAF3-4075-FB02-8E3317DC3511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D9B279-8E9D-4868-A388-AD357B7B1C72}" type="datetimeFigureOut">
              <a:rPr lang="da-DK" smtClean="0"/>
              <a:t>27.01.2026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6F5B8-1042-461F-9F46-360DA6A6F2F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7963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20511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Kapitel 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2E134-9825-475F-945C-DBB00711B650}" type="slidenum">
              <a:rPr lang="da-DK" smtClean="0"/>
              <a:pPr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374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ChangeArrowheads="1"/>
          </p:cNvSpPr>
          <p:nvPr/>
        </p:nvSpPr>
        <p:spPr bwMode="auto">
          <a:xfrm>
            <a:off x="1847850" y="1828800"/>
            <a:ext cx="813435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400" i="1" dirty="0">
                <a:solidFill>
                  <a:srgbClr val="000066"/>
                </a:solidFill>
              </a:rPr>
              <a:t>Managerial Economics and Organizational Architecture</a:t>
            </a:r>
            <a:br>
              <a:rPr lang="en-US" sz="2400" dirty="0">
                <a:solidFill>
                  <a:srgbClr val="000066"/>
                </a:solidFill>
              </a:rPr>
            </a:br>
            <a:br>
              <a:rPr lang="en-US" sz="4400" dirty="0">
                <a:solidFill>
                  <a:srgbClr val="000066"/>
                </a:solidFill>
              </a:rPr>
            </a:br>
            <a:r>
              <a:rPr lang="en-US" sz="4800" dirty="0">
                <a:solidFill>
                  <a:srgbClr val="000066"/>
                </a:solidFill>
              </a:rPr>
              <a:t>Chapter 8: </a:t>
            </a:r>
          </a:p>
          <a:p>
            <a:pPr algn="ctr" eaLnBrk="0" hangingPunct="0"/>
            <a:r>
              <a:rPr lang="en-US" sz="4000" dirty="0">
                <a:solidFill>
                  <a:srgbClr val="000066"/>
                </a:solidFill>
              </a:rPr>
              <a:t>Economics of Strategy: </a:t>
            </a:r>
            <a:br>
              <a:rPr lang="en-US" sz="4000" dirty="0">
                <a:solidFill>
                  <a:srgbClr val="000066"/>
                </a:solidFill>
              </a:rPr>
            </a:br>
            <a:r>
              <a:rPr lang="en-US" sz="4000" u="sng" dirty="0">
                <a:solidFill>
                  <a:srgbClr val="000066"/>
                </a:solidFill>
              </a:rPr>
              <a:t>Creating and Capturing Value</a:t>
            </a:r>
          </a:p>
        </p:txBody>
      </p:sp>
    </p:spTree>
    <p:extLst>
      <p:ext uri="{BB962C8B-B14F-4D97-AF65-F5344CB8AC3E}">
        <p14:creationId xmlns:p14="http://schemas.microsoft.com/office/powerpoint/2010/main" val="181269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533400"/>
            <a:ext cx="8839200" cy="1143000"/>
          </a:xfrm>
        </p:spPr>
        <p:txBody>
          <a:bodyPr/>
          <a:lstStyle/>
          <a:p>
            <a:pPr eaLnBrk="1" hangingPunct="1"/>
            <a:r>
              <a:rPr lang="en-US" dirty="0"/>
              <a:t>Strategy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847089"/>
            <a:ext cx="5943600" cy="438369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3600" dirty="0"/>
              <a:t>General policies intended to generate profits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600" dirty="0"/>
              <a:t>Choice of industry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600" dirty="0"/>
              <a:t>Combination of products and services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600" dirty="0"/>
              <a:t>Competitive and cooperative behaviors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/>
              <a:t>Strategies evolve as circumstances change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/>
              <a:t>Strategies must </a:t>
            </a:r>
            <a:r>
              <a:rPr lang="en-US" sz="3600" i="1" dirty="0">
                <a:solidFill>
                  <a:srgbClr val="005024"/>
                </a:solidFill>
              </a:rPr>
              <a:t>create</a:t>
            </a:r>
            <a:r>
              <a:rPr lang="en-US" sz="3600" dirty="0">
                <a:solidFill>
                  <a:srgbClr val="005024"/>
                </a:solidFill>
              </a:rPr>
              <a:t> </a:t>
            </a:r>
            <a:r>
              <a:rPr lang="en-US" sz="3600" dirty="0"/>
              <a:t>and </a:t>
            </a:r>
            <a:r>
              <a:rPr lang="en-US" sz="3600" i="1" dirty="0">
                <a:solidFill>
                  <a:srgbClr val="005024"/>
                </a:solidFill>
              </a:rPr>
              <a:t>capture</a:t>
            </a:r>
            <a:r>
              <a:rPr lang="en-US" sz="3600" dirty="0">
                <a:solidFill>
                  <a:srgbClr val="005024"/>
                </a:solidFill>
              </a:rPr>
              <a:t> </a:t>
            </a:r>
            <a:r>
              <a:rPr lang="en-US" sz="3600" dirty="0"/>
              <a:t>value</a:t>
            </a:r>
          </a:p>
          <a:p>
            <a:pPr eaLnBrk="1" hangingPunct="1">
              <a:buClr>
                <a:srgbClr val="000066"/>
              </a:buClr>
            </a:pPr>
            <a:endParaRPr lang="en-US" sz="2800" dirty="0"/>
          </a:p>
        </p:txBody>
      </p:sp>
      <p:sp>
        <p:nvSpPr>
          <p:cNvPr id="15363" name="Rectangle 5"/>
          <p:cNvSpPr>
            <a:spLocks noChangeArrowheads="1"/>
          </p:cNvSpPr>
          <p:nvPr/>
        </p:nvSpPr>
        <p:spPr bwMode="auto">
          <a:xfrm>
            <a:off x="10842796" y="623077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F560F839-CBD6-4E6D-9701-249459B2F636}" type="slidenum">
              <a:rPr lang="en-US" sz="1000" smtClean="0"/>
              <a:pPr/>
              <a:t>2</a:t>
            </a:fld>
            <a:endParaRPr lang="en-US" sz="1000" dirty="0"/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2977383A-32F3-8BDF-DAC2-332FC90A6230}"/>
              </a:ext>
            </a:extLst>
          </p:cNvPr>
          <p:cNvSpPr txBox="1"/>
          <p:nvPr/>
        </p:nvSpPr>
        <p:spPr>
          <a:xfrm>
            <a:off x="9339309" y="1065320"/>
            <a:ext cx="2361460" cy="369332"/>
          </a:xfrm>
          <a:prstGeom prst="rect">
            <a:avLst/>
          </a:prstGeom>
          <a:noFill/>
          <a:ln w="38100">
            <a:solidFill>
              <a:srgbClr val="1E410B"/>
            </a:solidFill>
          </a:ln>
        </p:spPr>
        <p:txBody>
          <a:bodyPr wrap="square" rtlCol="0">
            <a:spAutoFit/>
          </a:bodyPr>
          <a:lstStyle/>
          <a:p>
            <a:r>
              <a:rPr lang="da-DK" dirty="0"/>
              <a:t>Note; se også kap. 11.</a:t>
            </a:r>
          </a:p>
        </p:txBody>
      </p:sp>
      <p:pic>
        <p:nvPicPr>
          <p:cNvPr id="1026" name="Picture 2" descr="Manufacturing Growth Strategy Solutions - WMEP">
            <a:extLst>
              <a:ext uri="{FF2B5EF4-FFF2-40B4-BE49-F238E27FC236}">
                <a16:creationId xmlns:a16="http://schemas.microsoft.com/office/drawing/2014/main" id="{0C96B14E-9CF4-D947-54E0-2536B63E6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773" y="2372811"/>
            <a:ext cx="4191922" cy="2210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2E80ED-41A0-0418-0EA5-93289BF40A2F}"/>
              </a:ext>
            </a:extLst>
          </p:cNvPr>
          <p:cNvSpPr txBox="1"/>
          <p:nvPr/>
        </p:nvSpPr>
        <p:spPr>
          <a:xfrm>
            <a:off x="7621929" y="4498756"/>
            <a:ext cx="199605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wmep.org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/manufacturing-growth-solutions/strategy/</a:t>
            </a:r>
          </a:p>
        </p:txBody>
      </p:sp>
    </p:spTree>
    <p:extLst>
      <p:ext uri="{BB962C8B-B14F-4D97-AF65-F5344CB8AC3E}">
        <p14:creationId xmlns:p14="http://schemas.microsoft.com/office/powerpoint/2010/main" val="304454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uiExpand="1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1399032" y="685800"/>
            <a:ext cx="8811768" cy="990600"/>
          </a:xfrm>
        </p:spPr>
        <p:txBody>
          <a:bodyPr/>
          <a:lstStyle/>
          <a:p>
            <a:pPr eaLnBrk="1" hangingPunct="1"/>
            <a:r>
              <a:rPr lang="en-US" dirty="0"/>
              <a:t>Transaction Costs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27632" y="1752600"/>
            <a:ext cx="5849614" cy="41148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Consumer transaction costs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product search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learning product characteristics and quality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negotiating terms of sale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enforcing agreements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Producer transaction costs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negotiating terms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legal expenses</a:t>
            </a:r>
          </a:p>
        </p:txBody>
      </p:sp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10972673" y="603434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7B35ADEF-595D-447E-8E27-D3D6846C12F1}" type="slidenum">
              <a:rPr lang="en-US" sz="1000" smtClean="0"/>
              <a:pPr/>
              <a:t>3</a:t>
            </a:fld>
            <a:endParaRPr lang="en-US" sz="1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003B27-8DE7-F0FA-9525-7C6D4EDB2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246" y="1875099"/>
            <a:ext cx="4287261" cy="267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C49668-8C69-C4CA-D875-61F5E6FA7457}"/>
              </a:ext>
            </a:extLst>
          </p:cNvPr>
          <p:cNvSpPr txBox="1"/>
          <p:nvPr/>
        </p:nvSpPr>
        <p:spPr>
          <a:xfrm>
            <a:off x="7390436" y="4469998"/>
            <a:ext cx="336021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world.org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learncenter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/scroll-through-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worldcoin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-beginner-guides-to-learn-the/what-are-transaction-costs</a:t>
            </a:r>
          </a:p>
        </p:txBody>
      </p:sp>
    </p:spTree>
    <p:extLst>
      <p:ext uri="{BB962C8B-B14F-4D97-AF65-F5344CB8AC3E}">
        <p14:creationId xmlns:p14="http://schemas.microsoft.com/office/powerpoint/2010/main" val="55945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uiExpand="1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7048" y="762000"/>
            <a:ext cx="8683752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Ways to </a:t>
            </a:r>
            <a:r>
              <a:rPr lang="en-US" u="sng" dirty="0"/>
              <a:t>Create Value</a:t>
            </a:r>
            <a:br>
              <a:rPr lang="en-US" dirty="0"/>
            </a:br>
            <a:r>
              <a:rPr lang="en-US" sz="3600" dirty="0"/>
              <a:t>reduction of transaction costs</a:t>
            </a:r>
            <a:endParaRPr lang="en-US" dirty="0"/>
          </a:p>
        </p:txBody>
      </p:sp>
      <p:sp>
        <p:nvSpPr>
          <p:cNvPr id="17410" name="Line 4"/>
          <p:cNvSpPr>
            <a:spLocks noChangeShapeType="1"/>
          </p:cNvSpPr>
          <p:nvPr/>
        </p:nvSpPr>
        <p:spPr bwMode="auto">
          <a:xfrm>
            <a:off x="3657600" y="54102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17411" name="Line 5"/>
          <p:cNvSpPr>
            <a:spLocks noChangeShapeType="1"/>
          </p:cNvSpPr>
          <p:nvPr/>
        </p:nvSpPr>
        <p:spPr bwMode="auto">
          <a:xfrm flipV="1">
            <a:off x="3657600" y="20574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47114" name="Line 10"/>
          <p:cNvSpPr>
            <a:spLocks noChangeShapeType="1"/>
          </p:cNvSpPr>
          <p:nvPr/>
        </p:nvSpPr>
        <p:spPr bwMode="auto">
          <a:xfrm>
            <a:off x="3657600" y="2133600"/>
            <a:ext cx="3810000" cy="2286000"/>
          </a:xfrm>
          <a:prstGeom prst="line">
            <a:avLst/>
          </a:prstGeom>
          <a:noFill/>
          <a:ln w="9525">
            <a:solidFill>
              <a:srgbClr val="00006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7115" name="Line 11"/>
          <p:cNvSpPr>
            <a:spLocks noChangeShapeType="1"/>
          </p:cNvSpPr>
          <p:nvPr/>
        </p:nvSpPr>
        <p:spPr bwMode="auto">
          <a:xfrm>
            <a:off x="3657600" y="2590800"/>
            <a:ext cx="3810000" cy="22860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 flipV="1">
            <a:off x="3657600" y="2971800"/>
            <a:ext cx="3810000" cy="18288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 flipV="1">
            <a:off x="3657600" y="3276600"/>
            <a:ext cx="3810000" cy="1828800"/>
          </a:xfrm>
          <a:prstGeom prst="line">
            <a:avLst/>
          </a:prstGeom>
          <a:noFill/>
          <a:ln w="9525">
            <a:solidFill>
              <a:srgbClr val="00006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7120" name="Line 16"/>
          <p:cNvSpPr>
            <a:spLocks noChangeShapeType="1"/>
          </p:cNvSpPr>
          <p:nvPr/>
        </p:nvSpPr>
        <p:spPr bwMode="auto">
          <a:xfrm>
            <a:off x="3657600" y="3810000"/>
            <a:ext cx="19812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47121" name="Line 17"/>
          <p:cNvSpPr>
            <a:spLocks noChangeShapeType="1"/>
          </p:cNvSpPr>
          <p:nvPr/>
        </p:nvSpPr>
        <p:spPr bwMode="auto">
          <a:xfrm>
            <a:off x="5638800" y="3810000"/>
            <a:ext cx="0" cy="16002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7418" name="Text Box 18"/>
          <p:cNvSpPr txBox="1">
            <a:spLocks noChangeArrowheads="1"/>
          </p:cNvSpPr>
          <p:nvPr/>
        </p:nvSpPr>
        <p:spPr bwMode="auto">
          <a:xfrm rot="-5400000">
            <a:off x="2620963" y="3627438"/>
            <a:ext cx="12811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Price (in dollars)</a:t>
            </a:r>
          </a:p>
        </p:txBody>
      </p:sp>
      <p:sp>
        <p:nvSpPr>
          <p:cNvPr id="17419" name="Text Box 19"/>
          <p:cNvSpPr txBox="1">
            <a:spLocks noChangeArrowheads="1"/>
          </p:cNvSpPr>
          <p:nvPr/>
        </p:nvSpPr>
        <p:spPr bwMode="auto">
          <a:xfrm>
            <a:off x="5334000" y="5791200"/>
            <a:ext cx="844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</a:t>
            </a:r>
          </a:p>
        </p:txBody>
      </p:sp>
      <p:sp>
        <p:nvSpPr>
          <p:cNvPr id="47124" name="Text Box 20"/>
          <p:cNvSpPr txBox="1">
            <a:spLocks noChangeArrowheads="1"/>
          </p:cNvSpPr>
          <p:nvPr/>
        </p:nvSpPr>
        <p:spPr bwMode="auto">
          <a:xfrm rot="1723080">
            <a:off x="3429001" y="2819400"/>
            <a:ext cx="25066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Consumer-borne transaction costs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3581400" y="3429000"/>
            <a:ext cx="14160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Consumer surplus</a:t>
            </a:r>
          </a:p>
        </p:txBody>
      </p:sp>
      <p:sp>
        <p:nvSpPr>
          <p:cNvPr id="47126" name="Text Box 22"/>
          <p:cNvSpPr txBox="1">
            <a:spLocks noChangeArrowheads="1"/>
          </p:cNvSpPr>
          <p:nvPr/>
        </p:nvSpPr>
        <p:spPr bwMode="auto">
          <a:xfrm>
            <a:off x="3581401" y="3962400"/>
            <a:ext cx="133191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Producer surplus</a:t>
            </a:r>
          </a:p>
        </p:txBody>
      </p:sp>
      <p:sp>
        <p:nvSpPr>
          <p:cNvPr id="47127" name="Text Box 23"/>
          <p:cNvSpPr txBox="1">
            <a:spLocks noChangeArrowheads="1"/>
          </p:cNvSpPr>
          <p:nvPr/>
        </p:nvSpPr>
        <p:spPr bwMode="auto">
          <a:xfrm rot="-1449375">
            <a:off x="3505201" y="4267200"/>
            <a:ext cx="2422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Producer-borne transaction costs</a:t>
            </a:r>
          </a:p>
        </p:txBody>
      </p:sp>
      <p:sp>
        <p:nvSpPr>
          <p:cNvPr id="47128" name="Text Box 24"/>
          <p:cNvSpPr txBox="1">
            <a:spLocks noChangeArrowheads="1"/>
          </p:cNvSpPr>
          <p:nvPr/>
        </p:nvSpPr>
        <p:spPr bwMode="auto">
          <a:xfrm>
            <a:off x="7543800" y="2667000"/>
            <a:ext cx="13500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>
                <a:solidFill>
                  <a:srgbClr val="5F5F5F"/>
                </a:solidFill>
              </a:rPr>
              <a:t>Effective supply given</a:t>
            </a:r>
          </a:p>
          <a:p>
            <a:r>
              <a:rPr lang="en-US" sz="1000">
                <a:solidFill>
                  <a:srgbClr val="5F5F5F"/>
                </a:solidFill>
              </a:rPr>
              <a:t> transaction costs</a:t>
            </a:r>
          </a:p>
        </p:txBody>
      </p:sp>
      <p:sp>
        <p:nvSpPr>
          <p:cNvPr id="47129" name="Text Box 25"/>
          <p:cNvSpPr txBox="1">
            <a:spLocks noChangeArrowheads="1"/>
          </p:cNvSpPr>
          <p:nvPr/>
        </p:nvSpPr>
        <p:spPr bwMode="auto">
          <a:xfrm>
            <a:off x="7543801" y="3124200"/>
            <a:ext cx="1585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Potential supply if no</a:t>
            </a:r>
          </a:p>
          <a:p>
            <a:r>
              <a:rPr lang="en-US" sz="1200">
                <a:solidFill>
                  <a:srgbClr val="5F5F5F"/>
                </a:solidFill>
              </a:rPr>
              <a:t>Transaction costs</a:t>
            </a:r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7543800" y="4191000"/>
            <a:ext cx="1695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Potential demand if no</a:t>
            </a:r>
          </a:p>
          <a:p>
            <a:r>
              <a:rPr lang="en-US" sz="1200">
                <a:solidFill>
                  <a:srgbClr val="5F5F5F"/>
                </a:solidFill>
              </a:rPr>
              <a:t>Transaction costs</a:t>
            </a:r>
          </a:p>
        </p:txBody>
      </p:sp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7543801" y="4724400"/>
            <a:ext cx="1706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Effective demand after</a:t>
            </a:r>
          </a:p>
          <a:p>
            <a:r>
              <a:rPr lang="en-US" sz="1200">
                <a:solidFill>
                  <a:srgbClr val="5F5F5F"/>
                </a:solidFill>
              </a:rPr>
              <a:t>Transaction costs</a:t>
            </a:r>
          </a:p>
        </p:txBody>
      </p:sp>
      <p:sp>
        <p:nvSpPr>
          <p:cNvPr id="17428" name="Text Box 28"/>
          <p:cNvSpPr txBox="1">
            <a:spLocks noChangeArrowheads="1"/>
          </p:cNvSpPr>
          <p:nvPr/>
        </p:nvSpPr>
        <p:spPr bwMode="auto">
          <a:xfrm>
            <a:off x="7908925" y="5218113"/>
            <a:ext cx="3305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17429" name="Rectangle 31"/>
          <p:cNvSpPr>
            <a:spLocks noChangeArrowheads="1"/>
          </p:cNvSpPr>
          <p:nvPr/>
        </p:nvSpPr>
        <p:spPr bwMode="auto">
          <a:xfrm>
            <a:off x="11113643" y="597288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A8B49555-7F36-41CB-AD58-9BB76F2A95EF}" type="slidenum">
              <a:rPr lang="en-US" sz="1000" smtClean="0"/>
              <a:pPr/>
              <a:t>4</a:t>
            </a:fld>
            <a:endParaRPr lang="en-US" sz="1000" dirty="0"/>
          </a:p>
        </p:txBody>
      </p:sp>
      <p:cxnSp>
        <p:nvCxnSpPr>
          <p:cNvPr id="3" name="Lige pilforbindelse 2"/>
          <p:cNvCxnSpPr/>
          <p:nvPr/>
        </p:nvCxnSpPr>
        <p:spPr>
          <a:xfrm>
            <a:off x="6416040" y="2590800"/>
            <a:ext cx="15240" cy="1143000"/>
          </a:xfrm>
          <a:prstGeom prst="straightConnector1">
            <a:avLst/>
          </a:prstGeom>
          <a:ln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17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7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7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4" grpId="0" animBg="1"/>
      <p:bldP spid="47115" grpId="0" animBg="1"/>
      <p:bldP spid="47116" grpId="0" animBg="1"/>
      <p:bldP spid="47117" grpId="0" animBg="1"/>
      <p:bldP spid="47120" grpId="0" animBg="1"/>
      <p:bldP spid="47121" grpId="0" animBg="1"/>
      <p:bldP spid="47125" grpId="0"/>
      <p:bldP spid="47128" grpId="0"/>
      <p:bldP spid="47129" grpId="0"/>
      <p:bldP spid="47130" grpId="0"/>
      <p:bldP spid="471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1493134" y="457200"/>
            <a:ext cx="8717666" cy="1143000"/>
          </a:xfrm>
        </p:spPr>
        <p:txBody>
          <a:bodyPr/>
          <a:lstStyle/>
          <a:p>
            <a:pPr eaLnBrk="1" hangingPunct="1"/>
            <a:r>
              <a:rPr lang="en-US" u="sng" dirty="0"/>
              <a:t>Value Creation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782501"/>
            <a:ext cx="9601200" cy="446782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endParaRPr lang="en-US" dirty="0"/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>
                <a:solidFill>
                  <a:srgbClr val="FF6600"/>
                </a:solidFill>
              </a:rPr>
              <a:t>Reduce production costs or producer transaction costs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>
                <a:solidFill>
                  <a:srgbClr val="FF6600"/>
                </a:solidFill>
              </a:rPr>
              <a:t>shift supply curve to the right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>
                <a:solidFill>
                  <a:srgbClr val="FF6600"/>
                </a:solidFill>
              </a:rPr>
              <a:t>Reduce consumer transaction costs</a:t>
            </a:r>
          </a:p>
          <a:p>
            <a:pPr lvl="1"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>
                <a:solidFill>
                  <a:srgbClr val="FF6600"/>
                </a:solidFill>
              </a:rPr>
              <a:t>shift demand curve to the right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Shift demand to the right by other means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3200" dirty="0"/>
              <a:t>Devise new products and services</a:t>
            </a:r>
          </a:p>
        </p:txBody>
      </p:sp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11152649" y="6127217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3B54C445-5718-44E0-84B4-8B7701E15D73}" type="slidenum">
              <a:rPr lang="en-US" sz="1000" smtClean="0"/>
              <a:pPr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0498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uiExpand="1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609600"/>
            <a:ext cx="8153400" cy="1143000"/>
          </a:xfrm>
        </p:spPr>
        <p:txBody>
          <a:bodyPr/>
          <a:lstStyle/>
          <a:p>
            <a:pPr algn="ctr" eaLnBrk="1" hangingPunct="1"/>
            <a:r>
              <a:rPr lang="en-US" sz="3600" dirty="0"/>
              <a:t>Pricing Complements Example</a:t>
            </a:r>
            <a:br>
              <a:rPr lang="en-US" dirty="0"/>
            </a:br>
            <a:r>
              <a:rPr lang="en-US" sz="2400" i="1" dirty="0">
                <a:solidFill>
                  <a:srgbClr val="FF6600"/>
                </a:solidFill>
              </a:rPr>
              <a:t>Reduce the price of complements?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676399"/>
            <a:ext cx="7772400" cy="584714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800" dirty="0" err="1"/>
              <a:t>CompuInc</a:t>
            </a:r>
            <a:r>
              <a:rPr lang="en-US" sz="2800" dirty="0"/>
              <a:t> produces </a:t>
            </a:r>
            <a:r>
              <a:rPr lang="en-US" sz="2800" i="1" dirty="0">
                <a:solidFill>
                  <a:srgbClr val="FF6600"/>
                </a:solidFill>
              </a:rPr>
              <a:t>computers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800" dirty="0" err="1"/>
              <a:t>PrintCo</a:t>
            </a:r>
            <a:r>
              <a:rPr lang="en-US" sz="2800" dirty="0"/>
              <a:t> produces complementary </a:t>
            </a:r>
            <a:r>
              <a:rPr lang="en-US" sz="2800" i="1" dirty="0">
                <a:solidFill>
                  <a:srgbClr val="FF6600"/>
                </a:solidFill>
              </a:rPr>
              <a:t>printers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800" dirty="0"/>
              <a:t>Demand for </a:t>
            </a:r>
            <a:r>
              <a:rPr lang="en-US" sz="2800" i="1" u="sng" dirty="0">
                <a:solidFill>
                  <a:srgbClr val="FF6600"/>
                </a:solidFill>
              </a:rPr>
              <a:t>each</a:t>
            </a:r>
            <a:r>
              <a:rPr lang="en-US" sz="2800" i="1" dirty="0">
                <a:solidFill>
                  <a:srgbClr val="FF6600"/>
                </a:solidFill>
              </a:rPr>
              <a:t> product </a:t>
            </a:r>
            <a:r>
              <a:rPr lang="en-US" sz="2800" dirty="0"/>
              <a:t>is</a:t>
            </a:r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endParaRPr lang="en-US" sz="2400" i="1" dirty="0"/>
          </a:p>
          <a:p>
            <a:pPr algn="ctr" eaLnBrk="1" hangingPunct="1">
              <a:lnSpc>
                <a:spcPct val="90000"/>
              </a:lnSpc>
              <a:buClr>
                <a:srgbClr val="000066"/>
              </a:buClr>
            </a:pPr>
            <a:endParaRPr lang="en-US" sz="2800" i="1" dirty="0"/>
          </a:p>
          <a:p>
            <a:pPr algn="ctr" eaLnBrk="1" hangingPunct="1">
              <a:lnSpc>
                <a:spcPct val="90000"/>
              </a:lnSpc>
              <a:buClr>
                <a:srgbClr val="000066"/>
              </a:buClr>
            </a:pPr>
            <a:endParaRPr lang="en-US" sz="2800" i="1" dirty="0"/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endParaRPr lang="en-US" sz="2400" dirty="0"/>
          </a:p>
          <a:p>
            <a:pPr eaLnBrk="1" hangingPunct="1">
              <a:lnSpc>
                <a:spcPct val="90000"/>
              </a:lnSpc>
              <a:buClr>
                <a:srgbClr val="000066"/>
              </a:buClr>
            </a:pPr>
            <a:r>
              <a:rPr lang="en-US" sz="2400" dirty="0"/>
              <a:t>‘2 l. med 2 </a:t>
            </a:r>
            <a:r>
              <a:rPr lang="en-US" sz="2400" dirty="0" err="1"/>
              <a:t>ub</a:t>
            </a:r>
            <a:r>
              <a:rPr lang="en-US" sz="2400" dirty="0"/>
              <a:t>.’! =&gt; P = Q = 4! Profit 1 = Profit 2 = 16 =&gt; Total Profit = </a:t>
            </a:r>
            <a:r>
              <a:rPr lang="en-US" sz="2400" dirty="0">
                <a:solidFill>
                  <a:srgbClr val="005024"/>
                </a:solidFill>
              </a:rPr>
              <a:t>32</a:t>
            </a:r>
            <a:r>
              <a:rPr lang="en-US" sz="2400" dirty="0"/>
              <a:t>. BUT!! If they </a:t>
            </a:r>
            <a:r>
              <a:rPr lang="en-US" sz="2400" i="1" dirty="0">
                <a:solidFill>
                  <a:srgbClr val="005024"/>
                </a:solidFill>
              </a:rPr>
              <a:t>cooperate</a:t>
            </a:r>
            <a:r>
              <a:rPr lang="en-US" sz="2400" dirty="0">
                <a:solidFill>
                  <a:srgbClr val="005024"/>
                </a:solidFill>
              </a:rPr>
              <a:t> </a:t>
            </a:r>
            <a:r>
              <a:rPr lang="en-US" sz="2400" dirty="0"/>
              <a:t>P = 3 and combined profits will be </a:t>
            </a:r>
            <a:r>
              <a:rPr lang="en-US" sz="2400" dirty="0">
                <a:solidFill>
                  <a:srgbClr val="005024"/>
                </a:solidFill>
              </a:rPr>
              <a:t>36</a:t>
            </a:r>
            <a:r>
              <a:rPr lang="en-US" sz="2400" dirty="0"/>
              <a:t>!</a:t>
            </a:r>
          </a:p>
        </p:txBody>
      </p:sp>
      <p:graphicFrame>
        <p:nvGraphicFramePr>
          <p:cNvPr id="1044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923401"/>
              </p:ext>
            </p:extLst>
          </p:nvPr>
        </p:nvGraphicFramePr>
        <p:xfrm>
          <a:off x="2672014" y="3490018"/>
          <a:ext cx="596741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Ligning" r:id="rId2" imgW="2501640" imgH="253800" progId="Equation.3">
                  <p:embed/>
                </p:oleObj>
              </mc:Choice>
              <mc:Fallback>
                <p:oleObj name="Ligning" r:id="rId2" imgW="2501640" imgH="253800" progId="Equation.3">
                  <p:embed/>
                  <p:pic>
                    <p:nvPicPr>
                      <p:cNvPr id="1044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014" y="3490018"/>
                        <a:ext cx="5967412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4" name="Text Box 6"/>
          <p:cNvSpPr txBox="1">
            <a:spLocks noChangeArrowheads="1"/>
          </p:cNvSpPr>
          <p:nvPr/>
        </p:nvSpPr>
        <p:spPr bwMode="auto">
          <a:xfrm>
            <a:off x="2453834" y="4232842"/>
            <a:ext cx="8542116" cy="185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rgbClr val="000066"/>
              </a:buClr>
            </a:pPr>
            <a:r>
              <a:rPr lang="en-US" sz="2900" dirty="0">
                <a:solidFill>
                  <a:schemeClr val="tx2"/>
                </a:solidFill>
              </a:rPr>
              <a:t>After setting MR = MC (= 0) and rearranging (using  eq. 8.1) </a:t>
            </a:r>
            <a:r>
              <a:rPr lang="en-US" sz="2900" i="1" dirty="0">
                <a:solidFill>
                  <a:srgbClr val="CC6600"/>
                </a:solidFill>
              </a:rPr>
              <a:t>each</a:t>
            </a:r>
            <a:r>
              <a:rPr lang="en-US" sz="2900" i="1" dirty="0">
                <a:solidFill>
                  <a:schemeClr val="tx2"/>
                </a:solidFill>
              </a:rPr>
              <a:t> </a:t>
            </a:r>
            <a:r>
              <a:rPr lang="en-US" sz="2900" dirty="0">
                <a:solidFill>
                  <a:schemeClr val="tx2"/>
                </a:solidFill>
              </a:rPr>
              <a:t>will view its demand curve as                        							P = 6 – 0,5P</a:t>
            </a:r>
          </a:p>
          <a:p>
            <a:pPr eaLnBrk="0" hangingPunct="0">
              <a:spcBef>
                <a:spcPct val="50000"/>
              </a:spcBef>
            </a:pPr>
            <a:endParaRPr lang="en-US" sz="2400" dirty="0">
              <a:solidFill>
                <a:srgbClr val="000066"/>
              </a:solidFill>
            </a:endParaRPr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1114067" y="630930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C544B55E-E46B-4FF1-B6CF-2D9C965D7707}" type="slidenum">
              <a:rPr lang="en-US" sz="1000" smtClean="0"/>
              <a:pPr/>
              <a:t>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8861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uiExpand="1" build="p" bldLvl="2" autoUpdateAnimBg="0"/>
      <p:bldP spid="10445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Advantage of Coordination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0" y="1524000"/>
            <a:ext cx="9601200" cy="3581400"/>
          </a:xfrm>
        </p:spPr>
        <p:txBody>
          <a:bodyPr/>
          <a:lstStyle/>
          <a:p>
            <a:pPr eaLnBrk="1" hangingPunct="1">
              <a:buClr>
                <a:srgbClr val="000066"/>
              </a:buClr>
            </a:pPr>
            <a:endParaRPr lang="en-US" dirty="0"/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Failure to coordinate yields combined profits of 32  (p = 4)</a:t>
            </a:r>
          </a:p>
          <a:p>
            <a:pPr eaLnBrk="1" hangingPunct="1">
              <a:buClr>
                <a:srgbClr val="000066"/>
              </a:buClr>
            </a:pPr>
            <a:r>
              <a:rPr lang="en-US" sz="3200" dirty="0"/>
              <a:t>Jointly setting MC = MR yields combined profits of 36 (p = 3!)</a:t>
            </a:r>
          </a:p>
          <a:p>
            <a:pPr lvl="1" eaLnBrk="1" hangingPunct="1">
              <a:buClr>
                <a:srgbClr val="000066"/>
              </a:buClr>
            </a:pPr>
            <a:r>
              <a:rPr lang="en-US" sz="3200" dirty="0">
                <a:solidFill>
                  <a:srgbClr val="CC6600"/>
                </a:solidFill>
              </a:rPr>
              <a:t>customers are better off as product prices fall; quantity purchased rises – good for producers</a:t>
            </a:r>
          </a:p>
        </p:txBody>
      </p:sp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11222821" y="6010275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E462CA2C-78F6-4930-AF61-F8C1DCBED31D}" type="slidenum">
              <a:rPr lang="en-US" sz="1000" smtClean="0"/>
              <a:pPr/>
              <a:t>7</a:t>
            </a:fld>
            <a:endParaRPr lang="en-US" sz="1000" dirty="0"/>
          </a:p>
        </p:txBody>
      </p:sp>
      <p:sp>
        <p:nvSpPr>
          <p:cNvPr id="2" name="Tekstboks 1"/>
          <p:cNvSpPr txBox="1"/>
          <p:nvPr/>
        </p:nvSpPr>
        <p:spPr>
          <a:xfrm>
            <a:off x="1524000" y="5594777"/>
            <a:ext cx="1104900" cy="830997"/>
          </a:xfrm>
          <a:prstGeom prst="rect">
            <a:avLst/>
          </a:prstGeom>
          <a:solidFill>
            <a:srgbClr val="1E410B"/>
          </a:solidFill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</a:rPr>
              <a:t>Ramme p. 261n. – 262ø.</a:t>
            </a:r>
          </a:p>
        </p:txBody>
      </p:sp>
    </p:spTree>
    <p:extLst>
      <p:ext uri="{BB962C8B-B14F-4D97-AF65-F5344CB8AC3E}">
        <p14:creationId xmlns:p14="http://schemas.microsoft.com/office/powerpoint/2010/main" val="372150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uiExpand="1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74663"/>
            <a:ext cx="8229600" cy="1143000"/>
          </a:xfrm>
        </p:spPr>
        <p:txBody>
          <a:bodyPr/>
          <a:lstStyle/>
          <a:p>
            <a:pPr eaLnBrk="1" hangingPunct="1">
              <a:buClr>
                <a:srgbClr val="990033"/>
              </a:buClr>
            </a:pPr>
            <a:r>
              <a:rPr lang="en-US" dirty="0"/>
              <a:t>Superior Factors of Production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buClr>
                <a:srgbClr val="000066"/>
              </a:buClr>
            </a:pPr>
            <a:r>
              <a:rPr lang="en-US" sz="3600" dirty="0">
                <a:solidFill>
                  <a:srgbClr val="6C0404"/>
                </a:solidFill>
              </a:rPr>
              <a:t>Bidding for specialized assets may erode profits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>
                <a:solidFill>
                  <a:srgbClr val="6C0404"/>
                </a:solidFill>
              </a:rPr>
              <a:t>If a resource is adding value to a firm, other firms will attempt to </a:t>
            </a:r>
            <a:r>
              <a:rPr lang="en-US" sz="3600" u="sng" dirty="0">
                <a:solidFill>
                  <a:srgbClr val="6C0404"/>
                </a:solidFill>
              </a:rPr>
              <a:t>bid this resource away/up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>
                <a:solidFill>
                  <a:srgbClr val="6C0404"/>
                </a:solidFill>
              </a:rPr>
              <a:t>The price of this resource will rise, raising costs</a:t>
            </a:r>
          </a:p>
          <a:p>
            <a:pPr eaLnBrk="1" hangingPunct="1">
              <a:buClr>
                <a:srgbClr val="000066"/>
              </a:buClr>
            </a:pPr>
            <a:r>
              <a:rPr lang="en-US" sz="3600" dirty="0">
                <a:solidFill>
                  <a:srgbClr val="6C0404"/>
                </a:solidFill>
              </a:rPr>
              <a:t>‘Initial’ profits will fall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11310014" y="5867400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fld id="{A9E98CCB-1F4A-4F33-8BBC-6BAB5E81A0F6}" type="slidenum">
              <a:rPr lang="en-US" sz="1000" smtClean="0"/>
              <a:pPr/>
              <a:t>8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0980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98313-913D-AFB7-6B00-E23EB9B4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6E088-A841-40CF-B287-80586A084F56}" type="slidenum">
              <a:rPr lang="da-DK" smtClean="0"/>
              <a:pPr/>
              <a:t>9</a:t>
            </a:fld>
            <a:endParaRPr lang="da-DK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DD2E73-3C71-C7C4-0FC3-800D8F5E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CBS PEØ</a:t>
            </a:r>
            <a:endParaRPr lang="da-DK" dirty="0"/>
          </a:p>
        </p:txBody>
      </p:sp>
      <p:pic>
        <p:nvPicPr>
          <p:cNvPr id="3074" name="Picture 2" descr="Cristiano Ronaldo scores three goals for Portugal and is praised as 'best  in world' | The Independent | The Independent">
            <a:extLst>
              <a:ext uri="{FF2B5EF4-FFF2-40B4-BE49-F238E27FC236}">
                <a16:creationId xmlns:a16="http://schemas.microsoft.com/office/drawing/2014/main" id="{B4AEE3BF-F8F6-36C4-EF68-84C312B02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409" y="1156224"/>
            <a:ext cx="4675474" cy="3491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6CBA6E-F726-73AA-F20A-F31C9BD478AD}"/>
              </a:ext>
            </a:extLst>
          </p:cNvPr>
          <p:cNvSpPr txBox="1"/>
          <p:nvPr/>
        </p:nvSpPr>
        <p:spPr>
          <a:xfrm>
            <a:off x="1460139" y="4647675"/>
            <a:ext cx="413767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www.independent.co.uk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/sport/football/international/cristiano-ronaldo-portugal-goals-hattrick-video-watch-mario-rui-a9203961.html</a:t>
            </a:r>
          </a:p>
        </p:txBody>
      </p:sp>
      <p:pic>
        <p:nvPicPr>
          <p:cNvPr id="3076" name="Picture 4" descr="8 Different Types of Industrial Robots: A Comprehensive Guide">
            <a:extLst>
              <a:ext uri="{FF2B5EF4-FFF2-40B4-BE49-F238E27FC236}">
                <a16:creationId xmlns:a16="http://schemas.microsoft.com/office/drawing/2014/main" id="{35E78086-36D8-A796-6BF6-C3FCB0DCA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209" y="1156224"/>
            <a:ext cx="5240452" cy="3491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C9589B-92D3-BC51-8E94-C78CE2837D24}"/>
              </a:ext>
            </a:extLst>
          </p:cNvPr>
          <p:cNvSpPr txBox="1"/>
          <p:nvPr/>
        </p:nvSpPr>
        <p:spPr>
          <a:xfrm>
            <a:off x="6280153" y="4622283"/>
            <a:ext cx="18982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Kilde: https://</a:t>
            </a:r>
            <a:r>
              <a:rPr lang="en-US" sz="500" dirty="0" err="1">
                <a:solidFill>
                  <a:schemeClr val="bg2">
                    <a:lumMod val="50000"/>
                  </a:schemeClr>
                </a:solidFill>
              </a:rPr>
              <a:t>www.botasys.com</a:t>
            </a:r>
            <a:r>
              <a:rPr lang="en-US" sz="500" dirty="0">
                <a:solidFill>
                  <a:schemeClr val="bg2">
                    <a:lumMod val="50000"/>
                  </a:schemeClr>
                </a:solidFill>
              </a:rPr>
              <a:t>/post/types-of-industrial-robots</a:t>
            </a:r>
          </a:p>
        </p:txBody>
      </p:sp>
    </p:spTree>
    <p:extLst>
      <p:ext uri="{BB962C8B-B14F-4D97-AF65-F5344CB8AC3E}">
        <p14:creationId xmlns:p14="http://schemas.microsoft.com/office/powerpoint/2010/main" val="178475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593850" y="153041"/>
            <a:ext cx="91440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CC6600"/>
                </a:solidFill>
              </a:rPr>
              <a:t>Producer Surplus </a:t>
            </a:r>
            <a:r>
              <a:rPr lang="en-US" dirty="0"/>
              <a:t>Captured by Superior/scarce </a:t>
            </a:r>
            <a:r>
              <a:rPr lang="en-US" dirty="0">
                <a:solidFill>
                  <a:srgbClr val="005828"/>
                </a:solidFill>
              </a:rPr>
              <a:t>Asset(s)</a:t>
            </a:r>
          </a:p>
        </p:txBody>
      </p:sp>
      <p:sp>
        <p:nvSpPr>
          <p:cNvPr id="26626" name="Line 6"/>
          <p:cNvSpPr>
            <a:spLocks noChangeShapeType="1"/>
          </p:cNvSpPr>
          <p:nvPr/>
        </p:nvSpPr>
        <p:spPr bwMode="auto">
          <a:xfrm>
            <a:off x="3013075" y="2414588"/>
            <a:ext cx="0" cy="3224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27" name="Line 7"/>
          <p:cNvSpPr>
            <a:spLocks noChangeShapeType="1"/>
          </p:cNvSpPr>
          <p:nvPr/>
        </p:nvSpPr>
        <p:spPr bwMode="auto">
          <a:xfrm>
            <a:off x="6577013" y="2414588"/>
            <a:ext cx="0" cy="3224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28" name="Line 8"/>
          <p:cNvSpPr>
            <a:spLocks noChangeShapeType="1"/>
          </p:cNvSpPr>
          <p:nvPr/>
        </p:nvSpPr>
        <p:spPr bwMode="auto">
          <a:xfrm>
            <a:off x="3011488" y="5638800"/>
            <a:ext cx="3154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29" name="Line 9"/>
          <p:cNvSpPr>
            <a:spLocks noChangeShapeType="1"/>
          </p:cNvSpPr>
          <p:nvPr/>
        </p:nvSpPr>
        <p:spPr bwMode="auto">
          <a:xfrm>
            <a:off x="6565901" y="5640388"/>
            <a:ext cx="3154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26630" name="Line 10"/>
          <p:cNvSpPr>
            <a:spLocks noChangeShapeType="1"/>
          </p:cNvSpPr>
          <p:nvPr/>
        </p:nvSpPr>
        <p:spPr bwMode="auto">
          <a:xfrm>
            <a:off x="3013075" y="4184650"/>
            <a:ext cx="5029200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31" name="Line 11"/>
          <p:cNvSpPr>
            <a:spLocks noChangeShapeType="1"/>
          </p:cNvSpPr>
          <p:nvPr/>
        </p:nvSpPr>
        <p:spPr bwMode="auto">
          <a:xfrm>
            <a:off x="3024188" y="4959350"/>
            <a:ext cx="4525962" cy="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32" name="Line 12"/>
          <p:cNvSpPr>
            <a:spLocks noChangeShapeType="1"/>
          </p:cNvSpPr>
          <p:nvPr/>
        </p:nvSpPr>
        <p:spPr bwMode="auto">
          <a:xfrm>
            <a:off x="4467225" y="4197350"/>
            <a:ext cx="0" cy="1430338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33" name="Line 13"/>
          <p:cNvSpPr>
            <a:spLocks noChangeShapeType="1"/>
          </p:cNvSpPr>
          <p:nvPr/>
        </p:nvSpPr>
        <p:spPr bwMode="auto">
          <a:xfrm>
            <a:off x="4138613" y="4959350"/>
            <a:ext cx="0" cy="655638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34" name="Line 14"/>
          <p:cNvSpPr>
            <a:spLocks noChangeShapeType="1"/>
          </p:cNvSpPr>
          <p:nvPr/>
        </p:nvSpPr>
        <p:spPr bwMode="auto">
          <a:xfrm>
            <a:off x="8040688" y="4138613"/>
            <a:ext cx="0" cy="1465262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35" name="Line 15"/>
          <p:cNvSpPr>
            <a:spLocks noChangeShapeType="1"/>
          </p:cNvSpPr>
          <p:nvPr/>
        </p:nvSpPr>
        <p:spPr bwMode="auto">
          <a:xfrm>
            <a:off x="7561263" y="4970464"/>
            <a:ext cx="0" cy="644525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36" name="Line 17"/>
          <p:cNvSpPr>
            <a:spLocks noChangeShapeType="1"/>
          </p:cNvSpPr>
          <p:nvPr/>
        </p:nvSpPr>
        <p:spPr bwMode="auto">
          <a:xfrm>
            <a:off x="7173914" y="2989264"/>
            <a:ext cx="1900237" cy="2638425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37" name="Line 18"/>
          <p:cNvSpPr>
            <a:spLocks noChangeShapeType="1"/>
          </p:cNvSpPr>
          <p:nvPr/>
        </p:nvSpPr>
        <p:spPr bwMode="auto">
          <a:xfrm flipV="1">
            <a:off x="7350125" y="2778125"/>
            <a:ext cx="1593850" cy="250825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38" name="Freeform 19"/>
          <p:cNvSpPr>
            <a:spLocks/>
          </p:cNvSpPr>
          <p:nvPr/>
        </p:nvSpPr>
        <p:spPr bwMode="auto">
          <a:xfrm>
            <a:off x="3117850" y="3013076"/>
            <a:ext cx="1747838" cy="2513013"/>
          </a:xfrm>
          <a:custGeom>
            <a:avLst/>
            <a:gdLst>
              <a:gd name="T0" fmla="*/ 0 w 1101"/>
              <a:gd name="T1" fmla="*/ 738 h 1583"/>
              <a:gd name="T2" fmla="*/ 89 w 1101"/>
              <a:gd name="T3" fmla="*/ 1048 h 1583"/>
              <a:gd name="T4" fmla="*/ 229 w 1101"/>
              <a:gd name="T5" fmla="*/ 1403 h 1583"/>
              <a:gd name="T6" fmla="*/ 362 w 1101"/>
              <a:gd name="T7" fmla="*/ 1565 h 1583"/>
              <a:gd name="T8" fmla="*/ 495 w 1101"/>
              <a:gd name="T9" fmla="*/ 1514 h 1583"/>
              <a:gd name="T10" fmla="*/ 658 w 1101"/>
              <a:gd name="T11" fmla="*/ 1204 h 1583"/>
              <a:gd name="T12" fmla="*/ 813 w 1101"/>
              <a:gd name="T13" fmla="*/ 783 h 1583"/>
              <a:gd name="T14" fmla="*/ 1101 w 1101"/>
              <a:gd name="T15" fmla="*/ 0 h 158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01"/>
              <a:gd name="T25" fmla="*/ 0 h 1583"/>
              <a:gd name="T26" fmla="*/ 1101 w 1101"/>
              <a:gd name="T27" fmla="*/ 1583 h 158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01" h="1583">
                <a:moveTo>
                  <a:pt x="0" y="738"/>
                </a:moveTo>
                <a:cubicBezTo>
                  <a:pt x="25" y="837"/>
                  <a:pt x="51" y="937"/>
                  <a:pt x="89" y="1048"/>
                </a:cubicBezTo>
                <a:cubicBezTo>
                  <a:pt x="127" y="1159"/>
                  <a:pt x="184" y="1317"/>
                  <a:pt x="229" y="1403"/>
                </a:cubicBezTo>
                <a:cubicBezTo>
                  <a:pt x="274" y="1489"/>
                  <a:pt x="318" y="1547"/>
                  <a:pt x="362" y="1565"/>
                </a:cubicBezTo>
                <a:cubicBezTo>
                  <a:pt x="406" y="1583"/>
                  <a:pt x="446" y="1574"/>
                  <a:pt x="495" y="1514"/>
                </a:cubicBezTo>
                <a:cubicBezTo>
                  <a:pt x="544" y="1454"/>
                  <a:pt x="605" y="1326"/>
                  <a:pt x="658" y="1204"/>
                </a:cubicBezTo>
                <a:cubicBezTo>
                  <a:pt x="711" y="1082"/>
                  <a:pt x="739" y="984"/>
                  <a:pt x="813" y="783"/>
                </a:cubicBezTo>
                <a:cubicBezTo>
                  <a:pt x="887" y="582"/>
                  <a:pt x="994" y="291"/>
                  <a:pt x="1101" y="0"/>
                </a:cubicBezTo>
              </a:path>
            </a:pathLst>
          </a:custGeom>
          <a:noFill/>
          <a:ln w="28575" cmpd="sng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39" name="Freeform 20"/>
          <p:cNvSpPr>
            <a:spLocks/>
          </p:cNvSpPr>
          <p:nvPr/>
        </p:nvSpPr>
        <p:spPr bwMode="auto">
          <a:xfrm>
            <a:off x="3376614" y="3165475"/>
            <a:ext cx="2109787" cy="1803400"/>
          </a:xfrm>
          <a:custGeom>
            <a:avLst/>
            <a:gdLst>
              <a:gd name="T0" fmla="*/ 0 w 1329"/>
              <a:gd name="T1" fmla="*/ 0 h 1136"/>
              <a:gd name="T2" fmla="*/ 88 w 1329"/>
              <a:gd name="T3" fmla="*/ 347 h 1136"/>
              <a:gd name="T4" fmla="*/ 221 w 1329"/>
              <a:gd name="T5" fmla="*/ 827 h 1136"/>
              <a:gd name="T6" fmla="*/ 354 w 1329"/>
              <a:gd name="T7" fmla="*/ 1048 h 1136"/>
              <a:gd name="T8" fmla="*/ 502 w 1329"/>
              <a:gd name="T9" fmla="*/ 1130 h 1136"/>
              <a:gd name="T10" fmla="*/ 701 w 1329"/>
              <a:gd name="T11" fmla="*/ 1012 h 1136"/>
              <a:gd name="T12" fmla="*/ 908 w 1329"/>
              <a:gd name="T13" fmla="*/ 738 h 1136"/>
              <a:gd name="T14" fmla="*/ 1144 w 1329"/>
              <a:gd name="T15" fmla="*/ 332 h 1136"/>
              <a:gd name="T16" fmla="*/ 1329 w 1329"/>
              <a:gd name="T17" fmla="*/ 0 h 11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29"/>
              <a:gd name="T28" fmla="*/ 0 h 1136"/>
              <a:gd name="T29" fmla="*/ 1329 w 1329"/>
              <a:gd name="T30" fmla="*/ 1136 h 11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29" h="1136">
                <a:moveTo>
                  <a:pt x="0" y="0"/>
                </a:moveTo>
                <a:cubicBezTo>
                  <a:pt x="25" y="104"/>
                  <a:pt x="51" y="209"/>
                  <a:pt x="88" y="347"/>
                </a:cubicBezTo>
                <a:cubicBezTo>
                  <a:pt x="125" y="485"/>
                  <a:pt x="177" y="710"/>
                  <a:pt x="221" y="827"/>
                </a:cubicBezTo>
                <a:cubicBezTo>
                  <a:pt x="265" y="944"/>
                  <a:pt x="307" y="998"/>
                  <a:pt x="354" y="1048"/>
                </a:cubicBezTo>
                <a:cubicBezTo>
                  <a:pt x="401" y="1098"/>
                  <a:pt x="444" y="1136"/>
                  <a:pt x="502" y="1130"/>
                </a:cubicBezTo>
                <a:cubicBezTo>
                  <a:pt x="560" y="1124"/>
                  <a:pt x="633" y="1077"/>
                  <a:pt x="701" y="1012"/>
                </a:cubicBezTo>
                <a:cubicBezTo>
                  <a:pt x="769" y="947"/>
                  <a:pt x="834" y="851"/>
                  <a:pt x="908" y="738"/>
                </a:cubicBezTo>
                <a:cubicBezTo>
                  <a:pt x="982" y="625"/>
                  <a:pt x="1074" y="455"/>
                  <a:pt x="1144" y="332"/>
                </a:cubicBezTo>
                <a:cubicBezTo>
                  <a:pt x="1214" y="209"/>
                  <a:pt x="1271" y="104"/>
                  <a:pt x="1329" y="0"/>
                </a:cubicBezTo>
              </a:path>
            </a:pathLst>
          </a:custGeom>
          <a:noFill/>
          <a:ln w="28575" cmpd="sng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40" name="Freeform 21"/>
          <p:cNvSpPr>
            <a:spLocks/>
          </p:cNvSpPr>
          <p:nvPr/>
        </p:nvSpPr>
        <p:spPr bwMode="auto">
          <a:xfrm>
            <a:off x="3681414" y="2390775"/>
            <a:ext cx="2109787" cy="1804988"/>
          </a:xfrm>
          <a:custGeom>
            <a:avLst/>
            <a:gdLst>
              <a:gd name="T0" fmla="*/ 0 w 1329"/>
              <a:gd name="T1" fmla="*/ 0 h 1137"/>
              <a:gd name="T2" fmla="*/ 118 w 1329"/>
              <a:gd name="T3" fmla="*/ 480 h 1137"/>
              <a:gd name="T4" fmla="*/ 243 w 1329"/>
              <a:gd name="T5" fmla="*/ 872 h 1137"/>
              <a:gd name="T6" fmla="*/ 376 w 1329"/>
              <a:gd name="T7" fmla="*/ 1079 h 1137"/>
              <a:gd name="T8" fmla="*/ 517 w 1329"/>
              <a:gd name="T9" fmla="*/ 1116 h 1137"/>
              <a:gd name="T10" fmla="*/ 723 w 1329"/>
              <a:gd name="T11" fmla="*/ 953 h 1137"/>
              <a:gd name="T12" fmla="*/ 1004 w 1329"/>
              <a:gd name="T13" fmla="*/ 584 h 1137"/>
              <a:gd name="T14" fmla="*/ 1329 w 1329"/>
              <a:gd name="T15" fmla="*/ 15 h 113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329"/>
              <a:gd name="T25" fmla="*/ 0 h 1137"/>
              <a:gd name="T26" fmla="*/ 1329 w 1329"/>
              <a:gd name="T27" fmla="*/ 1137 h 113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329" h="1137">
                <a:moveTo>
                  <a:pt x="0" y="0"/>
                </a:moveTo>
                <a:cubicBezTo>
                  <a:pt x="39" y="167"/>
                  <a:pt x="78" y="335"/>
                  <a:pt x="118" y="480"/>
                </a:cubicBezTo>
                <a:cubicBezTo>
                  <a:pt x="158" y="625"/>
                  <a:pt x="200" y="772"/>
                  <a:pt x="243" y="872"/>
                </a:cubicBezTo>
                <a:cubicBezTo>
                  <a:pt x="286" y="972"/>
                  <a:pt x="330" y="1038"/>
                  <a:pt x="376" y="1079"/>
                </a:cubicBezTo>
                <a:cubicBezTo>
                  <a:pt x="422" y="1120"/>
                  <a:pt x="459" y="1137"/>
                  <a:pt x="517" y="1116"/>
                </a:cubicBezTo>
                <a:cubicBezTo>
                  <a:pt x="575" y="1095"/>
                  <a:pt x="642" y="1042"/>
                  <a:pt x="723" y="953"/>
                </a:cubicBezTo>
                <a:cubicBezTo>
                  <a:pt x="804" y="864"/>
                  <a:pt x="903" y="740"/>
                  <a:pt x="1004" y="584"/>
                </a:cubicBezTo>
                <a:cubicBezTo>
                  <a:pt x="1105" y="428"/>
                  <a:pt x="1217" y="221"/>
                  <a:pt x="1329" y="15"/>
                </a:cubicBezTo>
              </a:path>
            </a:pathLst>
          </a:custGeom>
          <a:noFill/>
          <a:ln w="28575" cap="flat" cmpd="sng">
            <a:solidFill>
              <a:srgbClr val="FF9933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41" name="Rectangle 24"/>
          <p:cNvSpPr>
            <a:spLocks noChangeArrowheads="1"/>
          </p:cNvSpPr>
          <p:nvPr/>
        </p:nvSpPr>
        <p:spPr bwMode="auto">
          <a:xfrm>
            <a:off x="6577014" y="4197351"/>
            <a:ext cx="962025" cy="758825"/>
          </a:xfrm>
          <a:prstGeom prst="rect">
            <a:avLst/>
          </a:prstGeom>
          <a:solidFill>
            <a:srgbClr val="CC66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26642" name="AutoShape 27"/>
          <p:cNvSpPr>
            <a:spLocks noChangeArrowheads="1"/>
          </p:cNvSpPr>
          <p:nvPr/>
        </p:nvSpPr>
        <p:spPr bwMode="auto">
          <a:xfrm rot="10800000" flipH="1">
            <a:off x="7532688" y="4191001"/>
            <a:ext cx="500062" cy="760413"/>
          </a:xfrm>
          <a:prstGeom prst="rtTriangle">
            <a:avLst/>
          </a:prstGeom>
          <a:solidFill>
            <a:srgbClr val="CC66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26643" name="Line 16"/>
          <p:cNvSpPr>
            <a:spLocks noChangeShapeType="1"/>
          </p:cNvSpPr>
          <p:nvPr/>
        </p:nvSpPr>
        <p:spPr bwMode="auto">
          <a:xfrm>
            <a:off x="6577014" y="3609976"/>
            <a:ext cx="1476375" cy="2005013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6644" name="Text Box 28"/>
          <p:cNvSpPr txBox="1">
            <a:spLocks noChangeArrowheads="1"/>
          </p:cNvSpPr>
          <p:nvPr/>
        </p:nvSpPr>
        <p:spPr bwMode="auto">
          <a:xfrm rot="-5400000">
            <a:off x="1135775" y="4407695"/>
            <a:ext cx="21732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5F5F5F"/>
                </a:solidFill>
              </a:rPr>
              <a:t>Cost per unit (in dollars)</a:t>
            </a:r>
          </a:p>
        </p:txBody>
      </p:sp>
      <p:sp>
        <p:nvSpPr>
          <p:cNvPr id="26645" name="Text Box 29"/>
          <p:cNvSpPr txBox="1">
            <a:spLocks noChangeArrowheads="1"/>
          </p:cNvSpPr>
          <p:nvPr/>
        </p:nvSpPr>
        <p:spPr bwMode="auto">
          <a:xfrm>
            <a:off x="2474913" y="4038600"/>
            <a:ext cx="546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P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6646" name="Text Box 30"/>
          <p:cNvSpPr txBox="1">
            <a:spLocks noChangeArrowheads="1"/>
          </p:cNvSpPr>
          <p:nvPr/>
        </p:nvSpPr>
        <p:spPr bwMode="auto">
          <a:xfrm>
            <a:off x="2473325" y="4808538"/>
            <a:ext cx="5461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P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6647" name="Text Box 31"/>
          <p:cNvSpPr txBox="1">
            <a:spLocks noChangeArrowheads="1"/>
          </p:cNvSpPr>
          <p:nvPr/>
        </p:nvSpPr>
        <p:spPr bwMode="auto">
          <a:xfrm>
            <a:off x="3829050" y="5616575"/>
            <a:ext cx="5349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6648" name="Text Box 32"/>
          <p:cNvSpPr txBox="1">
            <a:spLocks noChangeArrowheads="1"/>
          </p:cNvSpPr>
          <p:nvPr/>
        </p:nvSpPr>
        <p:spPr bwMode="auto">
          <a:xfrm>
            <a:off x="4254500" y="5627688"/>
            <a:ext cx="5349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6649" name="Text Box 34"/>
          <p:cNvSpPr txBox="1">
            <a:spLocks noChangeArrowheads="1"/>
          </p:cNvSpPr>
          <p:nvPr/>
        </p:nvSpPr>
        <p:spPr bwMode="auto">
          <a:xfrm>
            <a:off x="3736975" y="6069013"/>
            <a:ext cx="1568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Quantity: Firm </a:t>
            </a:r>
            <a:r>
              <a:rPr lang="en-US" sz="1400" i="1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26650" name="Text Box 35"/>
          <p:cNvSpPr txBox="1">
            <a:spLocks noChangeArrowheads="1"/>
          </p:cNvSpPr>
          <p:nvPr/>
        </p:nvSpPr>
        <p:spPr bwMode="auto">
          <a:xfrm>
            <a:off x="4540251" y="2636838"/>
            <a:ext cx="796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LRMC</a:t>
            </a:r>
          </a:p>
        </p:txBody>
      </p:sp>
      <p:sp>
        <p:nvSpPr>
          <p:cNvPr id="26651" name="Text Box 36"/>
          <p:cNvSpPr txBox="1">
            <a:spLocks noChangeArrowheads="1"/>
          </p:cNvSpPr>
          <p:nvPr/>
        </p:nvSpPr>
        <p:spPr bwMode="auto">
          <a:xfrm>
            <a:off x="5430839" y="2078038"/>
            <a:ext cx="796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LRAC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6652" name="Text Box 37"/>
          <p:cNvSpPr txBox="1">
            <a:spLocks noChangeArrowheads="1"/>
          </p:cNvSpPr>
          <p:nvPr/>
        </p:nvSpPr>
        <p:spPr bwMode="auto">
          <a:xfrm>
            <a:off x="5487989" y="2860675"/>
            <a:ext cx="796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LRAC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6653" name="Text Box 38"/>
          <p:cNvSpPr txBox="1">
            <a:spLocks noChangeArrowheads="1"/>
          </p:cNvSpPr>
          <p:nvPr/>
        </p:nvSpPr>
        <p:spPr bwMode="auto">
          <a:xfrm>
            <a:off x="6130925" y="5449888"/>
            <a:ext cx="439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26654" name="Text Box 39"/>
          <p:cNvSpPr txBox="1">
            <a:spLocks noChangeArrowheads="1"/>
          </p:cNvSpPr>
          <p:nvPr/>
        </p:nvSpPr>
        <p:spPr bwMode="auto">
          <a:xfrm>
            <a:off x="2843214" y="2089150"/>
            <a:ext cx="3190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26655" name="Text Box 40"/>
          <p:cNvSpPr txBox="1">
            <a:spLocks noChangeArrowheads="1"/>
          </p:cNvSpPr>
          <p:nvPr/>
        </p:nvSpPr>
        <p:spPr bwMode="auto">
          <a:xfrm>
            <a:off x="6403975" y="2098675"/>
            <a:ext cx="3190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26656" name="Text Box 41"/>
          <p:cNvSpPr txBox="1">
            <a:spLocks noChangeArrowheads="1"/>
          </p:cNvSpPr>
          <p:nvPr/>
        </p:nvSpPr>
        <p:spPr bwMode="auto">
          <a:xfrm>
            <a:off x="7543800" y="6049963"/>
            <a:ext cx="1568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Quantity: Market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26657" name="Text Box 42"/>
          <p:cNvSpPr txBox="1">
            <a:spLocks noChangeArrowheads="1"/>
          </p:cNvSpPr>
          <p:nvPr/>
        </p:nvSpPr>
        <p:spPr bwMode="auto">
          <a:xfrm>
            <a:off x="7312025" y="5646738"/>
            <a:ext cx="5349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6658" name="Text Box 43"/>
          <p:cNvSpPr txBox="1">
            <a:spLocks noChangeArrowheads="1"/>
          </p:cNvSpPr>
          <p:nvPr/>
        </p:nvSpPr>
        <p:spPr bwMode="auto">
          <a:xfrm>
            <a:off x="7843839" y="5657850"/>
            <a:ext cx="5349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>
                <a:solidFill>
                  <a:srgbClr val="5F5F5F"/>
                </a:solidFill>
              </a:rPr>
              <a:t>*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6659" name="Text Box 44"/>
          <p:cNvSpPr txBox="1">
            <a:spLocks noChangeArrowheads="1"/>
          </p:cNvSpPr>
          <p:nvPr/>
        </p:nvSpPr>
        <p:spPr bwMode="auto">
          <a:xfrm>
            <a:off x="7729539" y="4997450"/>
            <a:ext cx="4143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D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</a:p>
        </p:txBody>
      </p:sp>
      <p:sp>
        <p:nvSpPr>
          <p:cNvPr id="26660" name="Text Box 45"/>
          <p:cNvSpPr txBox="1">
            <a:spLocks noChangeArrowheads="1"/>
          </p:cNvSpPr>
          <p:nvPr/>
        </p:nvSpPr>
        <p:spPr bwMode="auto">
          <a:xfrm>
            <a:off x="9777414" y="5497513"/>
            <a:ext cx="427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26661" name="Text Box 46"/>
          <p:cNvSpPr txBox="1">
            <a:spLocks noChangeArrowheads="1"/>
          </p:cNvSpPr>
          <p:nvPr/>
        </p:nvSpPr>
        <p:spPr bwMode="auto">
          <a:xfrm>
            <a:off x="8821738" y="5065713"/>
            <a:ext cx="4873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D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</a:p>
        </p:txBody>
      </p:sp>
      <p:sp>
        <p:nvSpPr>
          <p:cNvPr id="26662" name="Text Box 47"/>
          <p:cNvSpPr txBox="1">
            <a:spLocks noChangeArrowheads="1"/>
          </p:cNvSpPr>
          <p:nvPr/>
        </p:nvSpPr>
        <p:spPr bwMode="auto">
          <a:xfrm>
            <a:off x="8912225" y="2851150"/>
            <a:ext cx="4143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26663" name="Rectangle 48"/>
          <p:cNvSpPr>
            <a:spLocks noChangeArrowheads="1"/>
          </p:cNvSpPr>
          <p:nvPr/>
        </p:nvSpPr>
        <p:spPr bwMode="auto">
          <a:xfrm>
            <a:off x="11121925" y="6131471"/>
            <a:ext cx="64952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fld id="{A774793E-F537-4B5F-88A2-270A7F00969F}" type="slidenum">
              <a:rPr lang="en-US" sz="1000" smtClean="0"/>
              <a:pPr/>
              <a:t>10</a:t>
            </a:fld>
            <a:endParaRPr lang="en-US" sz="1000" dirty="0"/>
          </a:p>
        </p:txBody>
      </p:sp>
      <p:sp>
        <p:nvSpPr>
          <p:cNvPr id="26664" name="Tekstboks 40"/>
          <p:cNvSpPr txBox="1">
            <a:spLocks noChangeArrowheads="1"/>
          </p:cNvSpPr>
          <p:nvPr/>
        </p:nvSpPr>
        <p:spPr bwMode="auto">
          <a:xfrm>
            <a:off x="8963025" y="2116614"/>
            <a:ext cx="1714500" cy="369332"/>
          </a:xfrm>
          <a:prstGeom prst="rect">
            <a:avLst/>
          </a:prstGeom>
          <a:solidFill>
            <a:srgbClr val="005828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da-DK" dirty="0">
                <a:solidFill>
                  <a:schemeClr val="bg1"/>
                </a:solidFill>
              </a:rPr>
              <a:t>Ramme 271ø.!</a:t>
            </a:r>
          </a:p>
        </p:txBody>
      </p:sp>
      <p:sp>
        <p:nvSpPr>
          <p:cNvPr id="42" name="Tekstboks 41"/>
          <p:cNvSpPr txBox="1"/>
          <p:nvPr/>
        </p:nvSpPr>
        <p:spPr>
          <a:xfrm>
            <a:off x="1064792" y="1310130"/>
            <a:ext cx="1410511" cy="2169825"/>
          </a:xfrm>
          <a:prstGeom prst="rect">
            <a:avLst/>
          </a:prstGeom>
          <a:solidFill>
            <a:srgbClr val="005828"/>
          </a:solidFill>
        </p:spPr>
        <p:txBody>
          <a:bodyPr wrap="square" rtlCol="0">
            <a:spAutoFit/>
          </a:bodyPr>
          <a:lstStyle/>
          <a:p>
            <a:r>
              <a:rPr lang="da-DK" sz="900" dirty="0">
                <a:solidFill>
                  <a:schemeClr val="bg1"/>
                </a:solidFill>
              </a:rPr>
              <a:t>D stiger for Q =&gt; P for produkt stiger (P1)</a:t>
            </a:r>
          </a:p>
          <a:p>
            <a:endParaRPr lang="da-DK" sz="900" dirty="0">
              <a:solidFill>
                <a:schemeClr val="bg1"/>
              </a:solidFill>
            </a:endParaRPr>
          </a:p>
          <a:p>
            <a:r>
              <a:rPr lang="da-DK" sz="900" dirty="0">
                <a:solidFill>
                  <a:schemeClr val="bg1"/>
                </a:solidFill>
              </a:rPr>
              <a:t>P1 &gt; LRAC0 min.! Profit er mulig.</a:t>
            </a:r>
          </a:p>
          <a:p>
            <a:endParaRPr lang="da-DK" sz="900" dirty="0">
              <a:solidFill>
                <a:schemeClr val="bg1"/>
              </a:solidFill>
            </a:endParaRPr>
          </a:p>
          <a:p>
            <a:r>
              <a:rPr lang="da-DK" sz="900" dirty="0">
                <a:solidFill>
                  <a:schemeClr val="bg1"/>
                </a:solidFill>
              </a:rPr>
              <a:t>MEN:</a:t>
            </a:r>
          </a:p>
          <a:p>
            <a:endParaRPr lang="da-DK" sz="900" dirty="0">
              <a:solidFill>
                <a:schemeClr val="bg1"/>
              </a:solidFill>
            </a:endParaRPr>
          </a:p>
          <a:p>
            <a:r>
              <a:rPr lang="da-DK" sz="900" dirty="0">
                <a:solidFill>
                  <a:schemeClr val="bg1"/>
                </a:solidFill>
              </a:rPr>
              <a:t>Efterspørgslen stiger for asset, der </a:t>
            </a:r>
            <a:r>
              <a:rPr lang="da-DK" sz="900" u="sng" dirty="0">
                <a:solidFill>
                  <a:schemeClr val="bg1"/>
                </a:solidFill>
              </a:rPr>
              <a:t>frembringer</a:t>
            </a:r>
            <a:r>
              <a:rPr lang="da-DK" sz="900" dirty="0">
                <a:solidFill>
                  <a:schemeClr val="bg1"/>
                </a:solidFill>
              </a:rPr>
              <a:t> </a:t>
            </a:r>
            <a:r>
              <a:rPr lang="da-DK" sz="900" dirty="0" err="1">
                <a:solidFill>
                  <a:schemeClr val="bg1"/>
                </a:solidFill>
              </a:rPr>
              <a:t>low</a:t>
            </a:r>
            <a:r>
              <a:rPr lang="da-DK" sz="900" dirty="0">
                <a:solidFill>
                  <a:schemeClr val="bg1"/>
                </a:solidFill>
              </a:rPr>
              <a:t> </a:t>
            </a:r>
            <a:r>
              <a:rPr lang="da-DK" sz="900" dirty="0" err="1">
                <a:solidFill>
                  <a:schemeClr val="bg1"/>
                </a:solidFill>
              </a:rPr>
              <a:t>cost</a:t>
            </a:r>
            <a:r>
              <a:rPr lang="da-DK" sz="900" dirty="0">
                <a:solidFill>
                  <a:schemeClr val="bg1"/>
                </a:solidFill>
              </a:rPr>
              <a:t> (LRAC0 min.) =&gt; LRAC1 fremkommer og </a:t>
            </a:r>
            <a:r>
              <a:rPr lang="da-DK" sz="900" dirty="0" err="1">
                <a:solidFill>
                  <a:schemeClr val="bg1"/>
                </a:solidFill>
              </a:rPr>
              <a:t>prod</a:t>
            </a:r>
            <a:r>
              <a:rPr lang="da-DK" sz="900" dirty="0">
                <a:solidFill>
                  <a:schemeClr val="bg1"/>
                </a:solidFill>
              </a:rPr>
              <a:t>. </a:t>
            </a:r>
            <a:r>
              <a:rPr lang="da-DK" sz="900" dirty="0" err="1">
                <a:solidFill>
                  <a:schemeClr val="bg1"/>
                </a:solidFill>
              </a:rPr>
              <a:t>surplus</a:t>
            </a:r>
            <a:r>
              <a:rPr lang="da-DK" sz="900" dirty="0">
                <a:solidFill>
                  <a:schemeClr val="bg1"/>
                </a:solidFill>
              </a:rPr>
              <a:t> forsvinder!</a:t>
            </a:r>
          </a:p>
          <a:p>
            <a:endParaRPr lang="da-DK" sz="900" dirty="0">
              <a:solidFill>
                <a:schemeClr val="bg1"/>
              </a:solidFill>
            </a:endParaRPr>
          </a:p>
          <a:p>
            <a:r>
              <a:rPr lang="da-DK" sz="900" dirty="0">
                <a:solidFill>
                  <a:schemeClr val="bg1"/>
                </a:solidFill>
              </a:rPr>
              <a:t>HVORHEN?</a:t>
            </a:r>
          </a:p>
        </p:txBody>
      </p:sp>
      <p:cxnSp>
        <p:nvCxnSpPr>
          <p:cNvPr id="4" name="Lige pilforbindelse 3"/>
          <p:cNvCxnSpPr/>
          <p:nvPr/>
        </p:nvCxnSpPr>
        <p:spPr>
          <a:xfrm flipV="1">
            <a:off x="8239128" y="5083614"/>
            <a:ext cx="358775" cy="268288"/>
          </a:xfrm>
          <a:prstGeom prst="straightConnector1">
            <a:avLst/>
          </a:prstGeom>
          <a:ln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Lige pilforbindelse 4"/>
          <p:cNvCxnSpPr/>
          <p:nvPr/>
        </p:nvCxnSpPr>
        <p:spPr>
          <a:xfrm flipV="1">
            <a:off x="2374819" y="1312001"/>
            <a:ext cx="3511632" cy="1917837"/>
          </a:xfrm>
          <a:prstGeom prst="straightConnector1">
            <a:avLst/>
          </a:prstGeom>
          <a:ln>
            <a:solidFill>
              <a:srgbClr val="00582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kstboks 41"/>
          <p:cNvSpPr txBox="1"/>
          <p:nvPr/>
        </p:nvSpPr>
        <p:spPr>
          <a:xfrm>
            <a:off x="5816517" y="5186700"/>
            <a:ext cx="1390650" cy="861774"/>
          </a:xfrm>
          <a:prstGeom prst="rect">
            <a:avLst/>
          </a:prstGeom>
          <a:solidFill>
            <a:srgbClr val="005828"/>
          </a:solidFill>
        </p:spPr>
        <p:txBody>
          <a:bodyPr wrap="square" rtlCol="0">
            <a:spAutoFit/>
          </a:bodyPr>
          <a:lstStyle/>
          <a:p>
            <a:r>
              <a:rPr lang="da-DK" sz="1000" b="1" u="sng" dirty="0">
                <a:solidFill>
                  <a:schemeClr val="bg1"/>
                </a:solidFill>
              </a:rPr>
              <a:t>FK</a:t>
            </a:r>
            <a:r>
              <a:rPr lang="da-DK" sz="1000" dirty="0">
                <a:solidFill>
                  <a:schemeClr val="bg1"/>
                </a:solidFill>
              </a:rPr>
              <a:t>, ligevægt i markedet, hvor S = D =&gt; Q0 </a:t>
            </a:r>
            <a:r>
              <a:rPr lang="da-DK" sz="1000" dirty="0" err="1">
                <a:solidFill>
                  <a:schemeClr val="bg1"/>
                </a:solidFill>
              </a:rPr>
              <a:t>pg</a:t>
            </a:r>
            <a:r>
              <a:rPr lang="da-DK" sz="1000" dirty="0">
                <a:solidFill>
                  <a:schemeClr val="bg1"/>
                </a:solidFill>
              </a:rPr>
              <a:t> P0 i LRAC0 for virksomheden, profit = 0.</a:t>
            </a:r>
          </a:p>
        </p:txBody>
      </p:sp>
      <p:sp>
        <p:nvSpPr>
          <p:cNvPr id="46" name="Tekstboks 40"/>
          <p:cNvSpPr txBox="1">
            <a:spLocks noChangeArrowheads="1"/>
          </p:cNvSpPr>
          <p:nvPr/>
        </p:nvSpPr>
        <p:spPr bwMode="auto">
          <a:xfrm>
            <a:off x="8281989" y="5387974"/>
            <a:ext cx="549275" cy="253916"/>
          </a:xfrm>
          <a:prstGeom prst="rect">
            <a:avLst/>
          </a:prstGeom>
          <a:solidFill>
            <a:srgbClr val="005828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da-DK" sz="1050" dirty="0">
                <a:solidFill>
                  <a:schemeClr val="bg1"/>
                </a:solidFill>
              </a:rPr>
              <a:t>Start!</a:t>
            </a:r>
          </a:p>
        </p:txBody>
      </p:sp>
      <p:cxnSp>
        <p:nvCxnSpPr>
          <p:cNvPr id="6" name="Lige pilforbindelse 5"/>
          <p:cNvCxnSpPr>
            <a:cxnSpLocks/>
          </p:cNvCxnSpPr>
          <p:nvPr/>
        </p:nvCxnSpPr>
        <p:spPr>
          <a:xfrm>
            <a:off x="1697629" y="3586339"/>
            <a:ext cx="0" cy="2193749"/>
          </a:xfrm>
          <a:prstGeom prst="straightConnector1">
            <a:avLst/>
          </a:prstGeom>
          <a:ln w="31750">
            <a:solidFill>
              <a:srgbClr val="0050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97101" y="5835651"/>
            <a:ext cx="2212975" cy="646331"/>
          </a:xfrm>
          <a:prstGeom prst="rect">
            <a:avLst/>
          </a:prstGeom>
          <a:solidFill>
            <a:srgbClr val="005024"/>
          </a:solidFill>
        </p:spPr>
        <p:txBody>
          <a:bodyPr wrap="square" rtlCol="0">
            <a:spAutoFit/>
          </a:bodyPr>
          <a:lstStyle/>
          <a:p>
            <a:r>
              <a:rPr lang="da-DK" sz="1200" dirty="0">
                <a:solidFill>
                  <a:schemeClr val="bg1"/>
                </a:solidFill>
              </a:rPr>
              <a:t>Hvem ejer ‘the </a:t>
            </a:r>
            <a:r>
              <a:rPr lang="da-DK" sz="1200" dirty="0" err="1">
                <a:solidFill>
                  <a:schemeClr val="bg1"/>
                </a:solidFill>
              </a:rPr>
              <a:t>superior</a:t>
            </a:r>
            <a:r>
              <a:rPr lang="da-DK" sz="1200" dirty="0">
                <a:solidFill>
                  <a:schemeClr val="bg1"/>
                </a:solidFill>
              </a:rPr>
              <a:t>/</a:t>
            </a:r>
            <a:r>
              <a:rPr lang="da-DK" sz="1200" dirty="0" err="1">
                <a:solidFill>
                  <a:schemeClr val="bg1"/>
                </a:solidFill>
              </a:rPr>
              <a:t>scarce</a:t>
            </a:r>
            <a:r>
              <a:rPr lang="da-DK" sz="1200" dirty="0">
                <a:solidFill>
                  <a:schemeClr val="bg1"/>
                </a:solidFill>
              </a:rPr>
              <a:t> asset(s)?</a:t>
            </a:r>
          </a:p>
          <a:p>
            <a:r>
              <a:rPr lang="da-DK" sz="1200" dirty="0">
                <a:solidFill>
                  <a:schemeClr val="bg1"/>
                </a:solidFill>
              </a:rPr>
              <a:t>Fører over i tabel 8.1 </a:t>
            </a:r>
            <a:r>
              <a:rPr lang="da-DK" sz="1200" dirty="0">
                <a:solidFill>
                  <a:schemeClr val="bg1"/>
                </a:solidFill>
                <a:sym typeface="Wingdings" panose="05000000000000000000" pitchFamily="2" charset="2"/>
              </a:rPr>
              <a:t>  </a:t>
            </a:r>
            <a:endParaRPr lang="da-DK" sz="1200" dirty="0">
              <a:solidFill>
                <a:schemeClr val="bg1"/>
              </a:solidFill>
            </a:endParaRPr>
          </a:p>
        </p:txBody>
      </p:sp>
      <p:cxnSp>
        <p:nvCxnSpPr>
          <p:cNvPr id="49" name="Lige pilforbindelse 48"/>
          <p:cNvCxnSpPr/>
          <p:nvPr/>
        </p:nvCxnSpPr>
        <p:spPr>
          <a:xfrm>
            <a:off x="4608956" y="658340"/>
            <a:ext cx="2062911" cy="3513611"/>
          </a:xfrm>
          <a:prstGeom prst="straightConnector1">
            <a:avLst/>
          </a:prstGeom>
          <a:ln w="31750">
            <a:solidFill>
              <a:srgbClr val="CC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kstboks 40"/>
          <p:cNvSpPr txBox="1">
            <a:spLocks noChangeArrowheads="1"/>
          </p:cNvSpPr>
          <p:nvPr/>
        </p:nvSpPr>
        <p:spPr bwMode="auto">
          <a:xfrm>
            <a:off x="8880801" y="4599792"/>
            <a:ext cx="1928813" cy="415498"/>
          </a:xfrm>
          <a:prstGeom prst="rect">
            <a:avLst/>
          </a:prstGeom>
          <a:solidFill>
            <a:srgbClr val="005828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da-DK" sz="1050" dirty="0">
                <a:solidFill>
                  <a:schemeClr val="bg1"/>
                </a:solidFill>
              </a:rPr>
              <a:t>D stiger efter produktet, </a:t>
            </a:r>
          </a:p>
          <a:p>
            <a:pPr algn="ctr"/>
            <a:r>
              <a:rPr lang="da-DK" sz="1050" dirty="0">
                <a:solidFill>
                  <a:schemeClr val="bg1"/>
                </a:solidFill>
              </a:rPr>
              <a:t>ikke asset (til at starte med)</a:t>
            </a:r>
          </a:p>
        </p:txBody>
      </p:sp>
      <p:sp>
        <p:nvSpPr>
          <p:cNvPr id="10" name="5-takket stjerne 8">
            <a:extLst>
              <a:ext uri="{FF2B5EF4-FFF2-40B4-BE49-F238E27FC236}">
                <a16:creationId xmlns:a16="http://schemas.microsoft.com/office/drawing/2014/main" id="{DFBD28A1-90DB-2FD4-053B-353EC6968E31}"/>
              </a:ext>
            </a:extLst>
          </p:cNvPr>
          <p:cNvSpPr/>
          <p:nvPr/>
        </p:nvSpPr>
        <p:spPr>
          <a:xfrm>
            <a:off x="10828813" y="340298"/>
            <a:ext cx="836579" cy="768485"/>
          </a:xfrm>
          <a:prstGeom prst="star5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5367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Lige pilforbindelse 4"/>
          <p:cNvCxnSpPr/>
          <p:nvPr/>
        </p:nvCxnSpPr>
        <p:spPr>
          <a:xfrm flipH="1">
            <a:off x="7438012" y="6565024"/>
            <a:ext cx="3067050" cy="0"/>
          </a:xfrm>
          <a:prstGeom prst="straightConnector1">
            <a:avLst/>
          </a:prstGeom>
          <a:ln w="34925">
            <a:solidFill>
              <a:srgbClr val="CC33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4"/>
          <p:cNvGrpSpPr>
            <a:grpSpLocks noChangeAspect="1"/>
          </p:cNvGrpSpPr>
          <p:nvPr/>
        </p:nvGrpSpPr>
        <p:grpSpPr bwMode="auto">
          <a:xfrm>
            <a:off x="1361062" y="647701"/>
            <a:ext cx="9144000" cy="6049962"/>
            <a:chOff x="0" y="411"/>
            <a:chExt cx="5760" cy="3811"/>
          </a:xfrm>
        </p:grpSpPr>
        <p:sp>
          <p:nvSpPr>
            <p:cNvPr id="8" name="AutoShape 3"/>
            <p:cNvSpPr>
              <a:spLocks noChangeAspect="1" noChangeArrowheads="1" noTextEdit="1"/>
            </p:cNvSpPr>
            <p:nvPr/>
          </p:nvSpPr>
          <p:spPr bwMode="auto">
            <a:xfrm>
              <a:off x="0" y="411"/>
              <a:ext cx="5760" cy="38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a-DK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11"/>
              <a:ext cx="5764" cy="3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5-takket stjerne 8"/>
          <p:cNvSpPr/>
          <p:nvPr/>
        </p:nvSpPr>
        <p:spPr>
          <a:xfrm>
            <a:off x="1601822" y="647702"/>
            <a:ext cx="836579" cy="768485"/>
          </a:xfrm>
          <a:prstGeom prst="star5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Tekstboks 12"/>
          <p:cNvSpPr txBox="1"/>
          <p:nvPr/>
        </p:nvSpPr>
        <p:spPr>
          <a:xfrm>
            <a:off x="1524001" y="2579007"/>
            <a:ext cx="1857983" cy="1384995"/>
          </a:xfrm>
          <a:prstGeom prst="rect">
            <a:avLst/>
          </a:prstGeom>
          <a:solidFill>
            <a:srgbClr val="005828"/>
          </a:solidFill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da-DK" sz="1200" dirty="0">
                <a:solidFill>
                  <a:schemeClr val="bg1"/>
                </a:solidFill>
              </a:rPr>
              <a:t>Sælge jorden?</a:t>
            </a:r>
          </a:p>
          <a:p>
            <a:pPr marL="228600" indent="-228600">
              <a:buAutoNum type="arabicParenR"/>
            </a:pPr>
            <a:r>
              <a:rPr lang="da-DK" sz="1200" dirty="0">
                <a:solidFill>
                  <a:schemeClr val="bg1"/>
                </a:solidFill>
              </a:rPr>
              <a:t>Sælge olien?</a:t>
            </a:r>
          </a:p>
          <a:p>
            <a:pPr marL="228600" indent="-228600">
              <a:buAutoNum type="arabicParenR"/>
            </a:pPr>
            <a:r>
              <a:rPr lang="da-DK" sz="1200" dirty="0">
                <a:solidFill>
                  <a:schemeClr val="bg1"/>
                </a:solidFill>
              </a:rPr>
              <a:t>Raffinér olien?</a:t>
            </a:r>
          </a:p>
          <a:p>
            <a:pPr marL="228600" indent="-228600">
              <a:buAutoNum type="arabicParenR"/>
            </a:pPr>
            <a:endParaRPr lang="da-DK" sz="1200" dirty="0">
              <a:solidFill>
                <a:schemeClr val="bg1"/>
              </a:solidFill>
            </a:endParaRPr>
          </a:p>
          <a:p>
            <a:r>
              <a:rPr lang="da-DK" sz="1200" dirty="0">
                <a:solidFill>
                  <a:schemeClr val="bg1"/>
                </a:solidFill>
              </a:rPr>
              <a:t>Producér ikke død og pine selv, bare fordi et aktiv ejes!</a:t>
            </a:r>
          </a:p>
        </p:txBody>
      </p:sp>
      <p:sp>
        <p:nvSpPr>
          <p:cNvPr id="12" name="Tekstboks 13"/>
          <p:cNvSpPr txBox="1"/>
          <p:nvPr/>
        </p:nvSpPr>
        <p:spPr>
          <a:xfrm>
            <a:off x="1524001" y="1633207"/>
            <a:ext cx="1857983" cy="461665"/>
          </a:xfrm>
          <a:prstGeom prst="rect">
            <a:avLst/>
          </a:prstGeom>
          <a:solidFill>
            <a:srgbClr val="005828"/>
          </a:solidFill>
        </p:spPr>
        <p:txBody>
          <a:bodyPr wrap="square" rtlCol="0">
            <a:spAutoFit/>
          </a:bodyPr>
          <a:lstStyle/>
          <a:p>
            <a:r>
              <a:rPr lang="da-DK" sz="1200" dirty="0">
                <a:solidFill>
                  <a:schemeClr val="bg1"/>
                </a:solidFill>
              </a:rPr>
              <a:t>Ramme 271 – 273m. </a:t>
            </a:r>
          </a:p>
          <a:p>
            <a:r>
              <a:rPr lang="da-DK" sz="1200" dirty="0">
                <a:solidFill>
                  <a:schemeClr val="bg1"/>
                </a:solidFill>
              </a:rPr>
              <a:t>Se note 21!</a:t>
            </a:r>
          </a:p>
        </p:txBody>
      </p:sp>
      <p:sp>
        <p:nvSpPr>
          <p:cNvPr id="2" name="Afrundet rektangel 1"/>
          <p:cNvSpPr/>
          <p:nvPr/>
        </p:nvSpPr>
        <p:spPr>
          <a:xfrm>
            <a:off x="6679661" y="2509736"/>
            <a:ext cx="3443591" cy="223736"/>
          </a:xfrm>
          <a:prstGeom prst="roundRect">
            <a:avLst/>
          </a:prstGeom>
          <a:solidFill>
            <a:srgbClr val="005024">
              <a:alpha val="58000"/>
            </a:srgbClr>
          </a:solidFill>
          <a:ln>
            <a:solidFill>
              <a:srgbClr val="0050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Afrundet rektangel 9"/>
          <p:cNvSpPr/>
          <p:nvPr/>
        </p:nvSpPr>
        <p:spPr>
          <a:xfrm>
            <a:off x="6679661" y="3740265"/>
            <a:ext cx="3443591" cy="223736"/>
          </a:xfrm>
          <a:prstGeom prst="roundRect">
            <a:avLst/>
          </a:prstGeom>
          <a:solidFill>
            <a:srgbClr val="005024">
              <a:alpha val="58000"/>
            </a:srgbClr>
          </a:solidFill>
          <a:ln>
            <a:solidFill>
              <a:srgbClr val="0050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ekstfelt 2"/>
          <p:cNvSpPr txBox="1"/>
          <p:nvPr/>
        </p:nvSpPr>
        <p:spPr>
          <a:xfrm>
            <a:off x="5064868" y="2483105"/>
            <a:ext cx="1371600" cy="276999"/>
          </a:xfrm>
          <a:prstGeom prst="rect">
            <a:avLst/>
          </a:prstGeom>
          <a:solidFill>
            <a:srgbClr val="005024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1200" dirty="0">
                <a:solidFill>
                  <a:schemeClr val="bg1"/>
                </a:solidFill>
              </a:rPr>
              <a:t>Bingo, oder?</a:t>
            </a:r>
          </a:p>
        </p:txBody>
      </p:sp>
      <p:sp>
        <p:nvSpPr>
          <p:cNvPr id="13" name="Tekstfelt 12"/>
          <p:cNvSpPr txBox="1"/>
          <p:nvPr/>
        </p:nvSpPr>
        <p:spPr>
          <a:xfrm>
            <a:off x="7671475" y="3401711"/>
            <a:ext cx="1108954" cy="338554"/>
          </a:xfrm>
          <a:prstGeom prst="rect">
            <a:avLst/>
          </a:prstGeom>
          <a:solidFill>
            <a:srgbClr val="005024"/>
          </a:solidFill>
        </p:spPr>
        <p:txBody>
          <a:bodyPr wrap="square" rtlCol="0">
            <a:spAutoFit/>
          </a:bodyPr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Oms. v.  videresalg: </a:t>
            </a:r>
          </a:p>
          <a:p>
            <a:pPr algn="ctr"/>
            <a:r>
              <a:rPr lang="da-DK" sz="800" dirty="0">
                <a:solidFill>
                  <a:schemeClr val="bg1"/>
                </a:solidFill>
              </a:rPr>
              <a:t>1 mio. G * 2$/G.</a:t>
            </a:r>
          </a:p>
        </p:txBody>
      </p:sp>
      <p:cxnSp>
        <p:nvCxnSpPr>
          <p:cNvPr id="6" name="Lige pilforbindelse 5"/>
          <p:cNvCxnSpPr/>
          <p:nvPr/>
        </p:nvCxnSpPr>
        <p:spPr>
          <a:xfrm flipH="1">
            <a:off x="7438013" y="3503830"/>
            <a:ext cx="233463" cy="0"/>
          </a:xfrm>
          <a:prstGeom prst="straightConnector1">
            <a:avLst/>
          </a:prstGeom>
          <a:ln w="25400">
            <a:solidFill>
              <a:srgbClr val="0050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ge pilforbindelse 14"/>
          <p:cNvCxnSpPr/>
          <p:nvPr/>
        </p:nvCxnSpPr>
        <p:spPr>
          <a:xfrm>
            <a:off x="8780429" y="3503830"/>
            <a:ext cx="247042" cy="0"/>
          </a:xfrm>
          <a:prstGeom prst="straightConnector1">
            <a:avLst/>
          </a:prstGeom>
          <a:ln w="25400">
            <a:solidFill>
              <a:srgbClr val="0050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6650073" y="2128894"/>
            <a:ext cx="3443591" cy="223736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solidFill>
              <a:srgbClr val="0050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ctangle 3"/>
          <p:cNvSpPr/>
          <p:nvPr/>
        </p:nvSpPr>
        <p:spPr>
          <a:xfrm>
            <a:off x="9505244" y="880533"/>
            <a:ext cx="588420" cy="338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Tekstboks 12">
            <a:extLst>
              <a:ext uri="{FF2B5EF4-FFF2-40B4-BE49-F238E27FC236}">
                <a16:creationId xmlns:a16="http://schemas.microsoft.com/office/drawing/2014/main" id="{B4B55845-5DE6-63DA-4B7C-E9B0AABA8795}"/>
              </a:ext>
            </a:extLst>
          </p:cNvPr>
          <p:cNvSpPr txBox="1"/>
          <p:nvPr/>
        </p:nvSpPr>
        <p:spPr>
          <a:xfrm>
            <a:off x="10295917" y="3063156"/>
            <a:ext cx="1857983" cy="1569660"/>
          </a:xfrm>
          <a:prstGeom prst="rect">
            <a:avLst/>
          </a:prstGeom>
          <a:solidFill>
            <a:srgbClr val="005828"/>
          </a:solidFill>
        </p:spPr>
        <p:txBody>
          <a:bodyPr wrap="square" rtlCol="0">
            <a:spAutoFit/>
          </a:bodyPr>
          <a:lstStyle/>
          <a:p>
            <a:r>
              <a:rPr lang="da-DK" sz="1200" dirty="0">
                <a:solidFill>
                  <a:schemeClr val="bg1"/>
                </a:solidFill>
              </a:rPr>
              <a:t>De $400.000 (</a:t>
            </a:r>
            <a:r>
              <a:rPr lang="da-DK" sz="1200" dirty="0" err="1">
                <a:solidFill>
                  <a:schemeClr val="bg1"/>
                </a:solidFill>
              </a:rPr>
              <a:t>extracting</a:t>
            </a:r>
            <a:r>
              <a:rPr lang="da-DK" sz="1200" dirty="0">
                <a:solidFill>
                  <a:schemeClr val="bg1"/>
                </a:solidFill>
              </a:rPr>
              <a:t>/ </a:t>
            </a:r>
            <a:r>
              <a:rPr lang="da-DK" sz="1200" dirty="0" err="1">
                <a:solidFill>
                  <a:schemeClr val="bg1"/>
                </a:solidFill>
              </a:rPr>
              <a:t>refining</a:t>
            </a:r>
            <a:r>
              <a:rPr lang="da-DK" sz="1200" dirty="0">
                <a:solidFill>
                  <a:schemeClr val="bg1"/>
                </a:solidFill>
              </a:rPr>
              <a:t> </a:t>
            </a:r>
            <a:r>
              <a:rPr lang="da-DK" sz="1200" dirty="0" err="1">
                <a:solidFill>
                  <a:schemeClr val="bg1"/>
                </a:solidFill>
              </a:rPr>
              <a:t>costs</a:t>
            </a:r>
            <a:r>
              <a:rPr lang="da-DK" sz="1200" dirty="0">
                <a:solidFill>
                  <a:schemeClr val="bg1"/>
                </a:solidFill>
              </a:rPr>
              <a:t>) indgår ikke i beregningen over den økonomiske profit, idet de er </a:t>
            </a:r>
            <a:r>
              <a:rPr lang="da-DK" sz="1200" dirty="0" err="1">
                <a:solidFill>
                  <a:schemeClr val="bg1"/>
                </a:solidFill>
              </a:rPr>
              <a:t>sunk</a:t>
            </a:r>
            <a:r>
              <a:rPr lang="da-DK" sz="1200" dirty="0">
                <a:solidFill>
                  <a:schemeClr val="bg1"/>
                </a:solidFill>
              </a:rPr>
              <a:t> og dermed irrelevant for begge scenarier (selv køre ud i detail vs. sælge engros).</a:t>
            </a:r>
          </a:p>
        </p:txBody>
      </p: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50102A31-86D4-2E7E-2C2C-4E014B2CEE1F}"/>
              </a:ext>
            </a:extLst>
          </p:cNvPr>
          <p:cNvCxnSpPr>
            <a:cxnSpLocks/>
          </p:cNvCxnSpPr>
          <p:nvPr/>
        </p:nvCxnSpPr>
        <p:spPr>
          <a:xfrm flipH="1" flipV="1">
            <a:off x="10115861" y="2264413"/>
            <a:ext cx="1194396" cy="666105"/>
          </a:xfrm>
          <a:prstGeom prst="straightConnector1">
            <a:avLst/>
          </a:prstGeom>
          <a:ln>
            <a:solidFill>
              <a:srgbClr val="1E410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ge pilforbindelse 21">
            <a:extLst>
              <a:ext uri="{FF2B5EF4-FFF2-40B4-BE49-F238E27FC236}">
                <a16:creationId xmlns:a16="http://schemas.microsoft.com/office/drawing/2014/main" id="{9017A821-9054-2A50-E123-9A495DE5079E}"/>
              </a:ext>
            </a:extLst>
          </p:cNvPr>
          <p:cNvCxnSpPr>
            <a:cxnSpLocks/>
          </p:cNvCxnSpPr>
          <p:nvPr/>
        </p:nvCxnSpPr>
        <p:spPr>
          <a:xfrm flipH="1">
            <a:off x="10019308" y="2771898"/>
            <a:ext cx="811630" cy="470539"/>
          </a:xfrm>
          <a:prstGeom prst="straightConnector1">
            <a:avLst/>
          </a:prstGeom>
          <a:ln>
            <a:solidFill>
              <a:srgbClr val="1E410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16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2AC46-B0B2-1C8E-3BBF-A44D7C92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4073"/>
            <a:ext cx="9601200" cy="762754"/>
          </a:xfrm>
        </p:spPr>
        <p:txBody>
          <a:bodyPr>
            <a:normAutofit fontScale="90000"/>
          </a:bodyPr>
          <a:lstStyle/>
          <a:p>
            <a:pPr algn="ctr"/>
            <a:r>
              <a:rPr lang="da-DK" sz="3200" dirty="0">
                <a:highlight>
                  <a:srgbClr val="FFFF00"/>
                </a:highlight>
              </a:rPr>
              <a:t>Regnskabsmæssig</a:t>
            </a:r>
            <a:r>
              <a:rPr lang="da-DK" sz="3200" dirty="0"/>
              <a:t>/</a:t>
            </a:r>
            <a:r>
              <a:rPr lang="da-DK" sz="3200" dirty="0">
                <a:highlight>
                  <a:srgbClr val="008000"/>
                </a:highlight>
              </a:rPr>
              <a:t>Økonomisk</a:t>
            </a:r>
            <a:r>
              <a:rPr lang="da-DK" sz="3200" dirty="0"/>
              <a:t> profit, BP-casen </a:t>
            </a:r>
            <a:br>
              <a:rPr lang="da-DK" sz="3200" dirty="0"/>
            </a:br>
            <a:r>
              <a:rPr lang="da-DK" sz="3200" dirty="0"/>
              <a:t>supplerende beregning/forklaring</a:t>
            </a: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AA500BF2-1BF9-6EBA-90C8-5BAF485C1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892780"/>
              </p:ext>
            </p:extLst>
          </p:nvPr>
        </p:nvGraphicFramePr>
        <p:xfrm>
          <a:off x="2068286" y="1200211"/>
          <a:ext cx="8091714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3914">
                  <a:extLst>
                    <a:ext uri="{9D8B030D-6E8A-4147-A177-3AD203B41FA5}">
                      <a16:colId xmlns:a16="http://schemas.microsoft.com/office/drawing/2014/main" val="3531332623"/>
                    </a:ext>
                  </a:extLst>
                </a:gridCol>
                <a:gridCol w="3987800">
                  <a:extLst>
                    <a:ext uri="{9D8B030D-6E8A-4147-A177-3AD203B41FA5}">
                      <a16:colId xmlns:a16="http://schemas.microsoft.com/office/drawing/2014/main" val="2247912673"/>
                    </a:ext>
                  </a:extLst>
                </a:gridCol>
              </a:tblGrid>
              <a:tr h="516054">
                <a:tc>
                  <a:txBody>
                    <a:bodyPr/>
                    <a:lstStyle/>
                    <a:p>
                      <a:pPr algn="ctr"/>
                      <a:r>
                        <a:rPr lang="da-DK" sz="1600" b="0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da-DK" sz="1600" b="0" dirty="0" err="1">
                          <a:solidFill>
                            <a:schemeClr val="bg1"/>
                          </a:solidFill>
                        </a:rPr>
                        <a:t>retail</a:t>
                      </a:r>
                      <a:r>
                        <a:rPr lang="da-DK" sz="1600" b="0" dirty="0">
                          <a:solidFill>
                            <a:schemeClr val="bg1"/>
                          </a:solidFill>
                        </a:rPr>
                        <a:t>          = $4,0</a:t>
                      </a:r>
                    </a:p>
                    <a:p>
                      <a:pPr algn="ctr"/>
                      <a:r>
                        <a:rPr lang="da-DK" sz="1600" b="0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da-DK" sz="1600" b="0" dirty="0" err="1">
                          <a:solidFill>
                            <a:schemeClr val="bg1"/>
                          </a:solidFill>
                        </a:rPr>
                        <a:t>wholesale</a:t>
                      </a:r>
                      <a:r>
                        <a:rPr lang="da-DK" sz="1600" b="0" dirty="0">
                          <a:solidFill>
                            <a:schemeClr val="bg1"/>
                          </a:solidFill>
                        </a:rPr>
                        <a:t>  = $2,0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b="0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da-DK" sz="1600" b="0" dirty="0" err="1">
                          <a:solidFill>
                            <a:schemeClr val="bg1"/>
                          </a:solidFill>
                        </a:rPr>
                        <a:t>retail</a:t>
                      </a:r>
                      <a:r>
                        <a:rPr lang="da-DK" sz="1600" b="0" dirty="0">
                          <a:solidFill>
                            <a:schemeClr val="bg1"/>
                          </a:solidFill>
                        </a:rPr>
                        <a:t>          = $3,6</a:t>
                      </a:r>
                    </a:p>
                    <a:p>
                      <a:pPr algn="ctr"/>
                      <a:r>
                        <a:rPr lang="da-DK" sz="1600" b="0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da-DK" sz="1600" b="0" dirty="0" err="1">
                          <a:solidFill>
                            <a:schemeClr val="bg1"/>
                          </a:solidFill>
                        </a:rPr>
                        <a:t>wholesale</a:t>
                      </a:r>
                      <a:r>
                        <a:rPr lang="da-DK" sz="1600" b="0" dirty="0">
                          <a:solidFill>
                            <a:schemeClr val="bg1"/>
                          </a:solidFill>
                        </a:rPr>
                        <a:t>  = $2,0</a:t>
                      </a:r>
                      <a:endParaRPr lang="da-DK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27891"/>
                  </a:ext>
                </a:extLst>
              </a:tr>
              <a:tr h="475414">
                <a:tc>
                  <a:txBody>
                    <a:bodyPr/>
                    <a:lstStyle/>
                    <a:p>
                      <a:r>
                        <a:rPr lang="da-DK" sz="1600" dirty="0"/>
                        <a:t>∏ </a:t>
                      </a:r>
                      <a:r>
                        <a:rPr lang="da-DK" sz="1600" dirty="0" err="1"/>
                        <a:t>retail</a:t>
                      </a:r>
                      <a:r>
                        <a:rPr lang="da-DK" sz="1600" dirty="0"/>
                        <a:t>:         $4.000.000</a:t>
                      </a:r>
                    </a:p>
                    <a:p>
                      <a:r>
                        <a:rPr lang="da-DK" sz="1600" dirty="0"/>
                        <a:t>                      - $  400.000 (</a:t>
                      </a:r>
                      <a:r>
                        <a:rPr lang="da-DK" sz="1600" dirty="0" err="1"/>
                        <a:t>sunk</a:t>
                      </a:r>
                      <a:r>
                        <a:rPr lang="da-DK" sz="1600" dirty="0"/>
                        <a:t>)</a:t>
                      </a:r>
                    </a:p>
                    <a:p>
                      <a:r>
                        <a:rPr lang="da-DK" sz="1600" dirty="0"/>
                        <a:t>                     </a:t>
                      </a:r>
                      <a:r>
                        <a:rPr lang="da-DK" sz="1600" u="sng" dirty="0"/>
                        <a:t>- $2.000.000</a:t>
                      </a:r>
                    </a:p>
                    <a:p>
                      <a:r>
                        <a:rPr lang="da-DK" sz="1600" u="none" dirty="0"/>
                        <a:t>                    = $1.600.000 </a:t>
                      </a:r>
                      <a:r>
                        <a:rPr lang="da-DK" sz="1600" u="none" dirty="0">
                          <a:solidFill>
                            <a:srgbClr val="860000"/>
                          </a:solidFill>
                        </a:rPr>
                        <a:t>(1)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∏ </a:t>
                      </a:r>
                      <a:r>
                        <a:rPr lang="da-DK" sz="1600" dirty="0" err="1"/>
                        <a:t>retail</a:t>
                      </a:r>
                      <a:r>
                        <a:rPr lang="da-DK" sz="1600" dirty="0"/>
                        <a:t>:         $3.600.000</a:t>
                      </a:r>
                    </a:p>
                    <a:p>
                      <a:r>
                        <a:rPr lang="da-DK" sz="1600" dirty="0"/>
                        <a:t>                     - $  400.000 (</a:t>
                      </a:r>
                      <a:r>
                        <a:rPr lang="da-DK" sz="1600" dirty="0" err="1"/>
                        <a:t>sunk</a:t>
                      </a:r>
                      <a:r>
                        <a:rPr lang="da-DK" sz="1600" dirty="0"/>
                        <a:t>)</a:t>
                      </a:r>
                    </a:p>
                    <a:p>
                      <a:r>
                        <a:rPr lang="da-DK" sz="1600" dirty="0"/>
                        <a:t>                     </a:t>
                      </a:r>
                      <a:r>
                        <a:rPr lang="da-DK" sz="1600" u="sng" dirty="0"/>
                        <a:t>- $2.000.000</a:t>
                      </a:r>
                    </a:p>
                    <a:p>
                      <a:r>
                        <a:rPr lang="da-DK" sz="1600" u="none" dirty="0"/>
                        <a:t>                   = $1.200.000 </a:t>
                      </a:r>
                      <a:r>
                        <a:rPr lang="da-DK" sz="1600" u="none" dirty="0">
                          <a:solidFill>
                            <a:srgbClr val="860000"/>
                          </a:solidFill>
                        </a:rPr>
                        <a:t>(3)</a:t>
                      </a:r>
                      <a:endParaRPr lang="da-DK" sz="1600" dirty="0">
                        <a:solidFill>
                          <a:srgbClr val="86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450441"/>
                  </a:ext>
                </a:extLst>
              </a:tr>
              <a:tr h="475414">
                <a:tc>
                  <a:txBody>
                    <a:bodyPr/>
                    <a:lstStyle/>
                    <a:p>
                      <a:r>
                        <a:rPr lang="da-DK" sz="1600" dirty="0"/>
                        <a:t>∏ </a:t>
                      </a:r>
                      <a:r>
                        <a:rPr lang="da-DK" sz="1600" dirty="0" err="1"/>
                        <a:t>wholesale</a:t>
                      </a:r>
                      <a:r>
                        <a:rPr lang="da-DK" sz="1600" dirty="0"/>
                        <a:t>: $2.000.000</a:t>
                      </a:r>
                    </a:p>
                    <a:p>
                      <a:r>
                        <a:rPr lang="da-DK" sz="1600" dirty="0"/>
                        <a:t>                      </a:t>
                      </a:r>
                      <a:r>
                        <a:rPr lang="da-DK" sz="1600" u="sng" dirty="0"/>
                        <a:t>- $  400.000 (</a:t>
                      </a:r>
                      <a:r>
                        <a:rPr lang="da-DK" sz="1600" u="sng" dirty="0" err="1"/>
                        <a:t>sunk</a:t>
                      </a:r>
                      <a:r>
                        <a:rPr lang="da-DK" sz="1600" u="sng" dirty="0"/>
                        <a:t>)</a:t>
                      </a:r>
                    </a:p>
                    <a:p>
                      <a:r>
                        <a:rPr lang="da-DK" sz="1600" dirty="0"/>
                        <a:t>              </a:t>
                      </a:r>
                      <a:r>
                        <a:rPr lang="da-DK" sz="1600" u="none" dirty="0"/>
                        <a:t>      = $1.600.000 </a:t>
                      </a:r>
                      <a:r>
                        <a:rPr lang="da-DK" sz="1600" u="none" dirty="0">
                          <a:solidFill>
                            <a:srgbClr val="860000"/>
                          </a:solidFill>
                        </a:rPr>
                        <a:t>(2)</a:t>
                      </a:r>
                      <a:endParaRPr lang="da-DK" sz="1600" dirty="0">
                        <a:solidFill>
                          <a:srgbClr val="86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∏ </a:t>
                      </a:r>
                      <a:r>
                        <a:rPr lang="da-DK" sz="1600" dirty="0" err="1"/>
                        <a:t>wholesale</a:t>
                      </a:r>
                      <a:r>
                        <a:rPr lang="da-DK" sz="1600" dirty="0"/>
                        <a:t>: $2.000.000</a:t>
                      </a:r>
                    </a:p>
                    <a:p>
                      <a:r>
                        <a:rPr lang="da-DK" sz="1600" dirty="0"/>
                        <a:t>                     </a:t>
                      </a:r>
                      <a:r>
                        <a:rPr lang="da-DK" sz="1600" u="sng" dirty="0"/>
                        <a:t>- $   400.000 (</a:t>
                      </a:r>
                      <a:r>
                        <a:rPr lang="da-DK" sz="1600" u="sng" dirty="0" err="1"/>
                        <a:t>sunk</a:t>
                      </a:r>
                      <a:r>
                        <a:rPr lang="da-DK" sz="1600" u="sng" dirty="0"/>
                        <a:t>)</a:t>
                      </a:r>
                    </a:p>
                    <a:p>
                      <a:r>
                        <a:rPr lang="da-DK" sz="1600" dirty="0"/>
                        <a:t>              </a:t>
                      </a:r>
                      <a:r>
                        <a:rPr lang="da-DK" sz="1600" u="none" dirty="0"/>
                        <a:t>      = $1.600.000 </a:t>
                      </a:r>
                      <a:r>
                        <a:rPr lang="da-DK" sz="1600" u="none" dirty="0">
                          <a:solidFill>
                            <a:srgbClr val="860000"/>
                          </a:solidFill>
                        </a:rPr>
                        <a:t>(4)</a:t>
                      </a:r>
                      <a:endParaRPr lang="da-DK" sz="1600" dirty="0">
                        <a:solidFill>
                          <a:srgbClr val="86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475762"/>
                  </a:ext>
                </a:extLst>
              </a:tr>
              <a:tr h="475414">
                <a:tc>
                  <a:txBody>
                    <a:bodyPr/>
                    <a:lstStyle/>
                    <a:p>
                      <a:r>
                        <a:rPr lang="da-DK" sz="1600" dirty="0"/>
                        <a:t>Differens-profitten (offeromkostningen-økonomisk profit) ved at sælge </a:t>
                      </a:r>
                      <a:r>
                        <a:rPr lang="da-DK" sz="1600" dirty="0" err="1"/>
                        <a:t>retail</a:t>
                      </a:r>
                      <a:r>
                        <a:rPr lang="da-DK" sz="1600" dirty="0"/>
                        <a:t>/på egne stationer i stedet for </a:t>
                      </a:r>
                      <a:r>
                        <a:rPr lang="da-DK" sz="1600" dirty="0" err="1"/>
                        <a:t>wholesale</a:t>
                      </a:r>
                      <a:r>
                        <a:rPr lang="da-DK" sz="1600" dirty="0"/>
                        <a:t>:</a:t>
                      </a:r>
                    </a:p>
                    <a:p>
                      <a:pPr marL="342900" indent="-342900">
                        <a:buAutoNum type="arabicParenBoth"/>
                      </a:pPr>
                      <a:r>
                        <a:rPr lang="da-DK" sz="1600" dirty="0">
                          <a:solidFill>
                            <a:srgbClr val="860000"/>
                          </a:solidFill>
                        </a:rPr>
                        <a:t>–  (2) </a:t>
                      </a:r>
                      <a:r>
                        <a:rPr lang="da-DK" sz="1600" dirty="0"/>
                        <a:t>= 1.600.000 – 1.600.000 = </a:t>
                      </a:r>
                      <a:r>
                        <a:rPr lang="da-DK" sz="1600" u="sng" dirty="0">
                          <a:solidFill>
                            <a:srgbClr val="860000"/>
                          </a:solidFill>
                        </a:rPr>
                        <a:t>0</a:t>
                      </a:r>
                    </a:p>
                    <a:p>
                      <a:pPr marL="0" indent="0">
                        <a:buNone/>
                      </a:pPr>
                      <a:endParaRPr lang="da-DK" sz="1600" dirty="0"/>
                    </a:p>
                    <a:p>
                      <a:pPr marL="0" indent="0">
                        <a:buNone/>
                      </a:pPr>
                      <a:endParaRPr lang="da-DK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Differens-profitten (offeromkostningen-økonomisk profit) ved at sælge </a:t>
                      </a:r>
                      <a:r>
                        <a:rPr lang="da-DK" sz="1600" dirty="0" err="1"/>
                        <a:t>retail</a:t>
                      </a:r>
                      <a:r>
                        <a:rPr lang="da-DK" sz="1600" dirty="0"/>
                        <a:t>/på egne stationer i stedet for </a:t>
                      </a:r>
                      <a:r>
                        <a:rPr lang="da-DK" sz="1600" dirty="0" err="1"/>
                        <a:t>wholesale</a:t>
                      </a:r>
                      <a:r>
                        <a:rPr lang="da-DK" sz="1600" dirty="0"/>
                        <a:t>:</a:t>
                      </a:r>
                    </a:p>
                    <a:p>
                      <a:r>
                        <a:rPr lang="da-DK" sz="1600" dirty="0">
                          <a:solidFill>
                            <a:srgbClr val="860000"/>
                          </a:solidFill>
                        </a:rPr>
                        <a:t>(3) – (4) </a:t>
                      </a:r>
                      <a:r>
                        <a:rPr lang="da-DK" sz="1600" dirty="0"/>
                        <a:t>= 1.200.000 – 1.600.000 = </a:t>
                      </a:r>
                    </a:p>
                    <a:p>
                      <a:r>
                        <a:rPr lang="da-DK" sz="1600" dirty="0"/>
                        <a:t>                                          </a:t>
                      </a:r>
                      <a:r>
                        <a:rPr lang="da-DK" sz="1600" u="sng" dirty="0">
                          <a:solidFill>
                            <a:srgbClr val="860000"/>
                          </a:solidFill>
                        </a:rPr>
                        <a:t>- 400.000</a:t>
                      </a:r>
                      <a:endParaRPr lang="da-DK" sz="1600" dirty="0">
                        <a:solidFill>
                          <a:srgbClr val="860000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060135"/>
                  </a:ext>
                </a:extLst>
              </a:tr>
              <a:tr h="475414">
                <a:tc>
                  <a:txBody>
                    <a:bodyPr/>
                    <a:lstStyle/>
                    <a:p>
                      <a:r>
                        <a:rPr lang="da-DK" sz="1600" dirty="0"/>
                        <a:t>Principielt kan de $ 400.000 (</a:t>
                      </a:r>
                      <a:r>
                        <a:rPr lang="da-DK" sz="1600" dirty="0" err="1"/>
                        <a:t>extracting</a:t>
                      </a:r>
                      <a:r>
                        <a:rPr lang="da-DK" sz="1600" dirty="0"/>
                        <a:t>/</a:t>
                      </a:r>
                      <a:r>
                        <a:rPr lang="da-DK" sz="1600" dirty="0" err="1"/>
                        <a:t>refining</a:t>
                      </a:r>
                      <a:r>
                        <a:rPr lang="da-DK" sz="1600" dirty="0"/>
                        <a:t> </a:t>
                      </a:r>
                      <a:r>
                        <a:rPr lang="da-DK" sz="1600" dirty="0" err="1"/>
                        <a:t>costs</a:t>
                      </a:r>
                      <a:r>
                        <a:rPr lang="da-DK" sz="1600" dirty="0"/>
                        <a:t>) helt udelades fra alle beregninger om differens-profit/ offeromkostningen, da disse er at betragte som </a:t>
                      </a:r>
                      <a:r>
                        <a:rPr lang="da-DK" sz="1600" dirty="0" err="1"/>
                        <a:t>sunk</a:t>
                      </a:r>
                      <a:r>
                        <a:rPr lang="da-DK" sz="1600" dirty="0"/>
                        <a:t> </a:t>
                      </a:r>
                      <a:r>
                        <a:rPr lang="da-DK" sz="1600" dirty="0" err="1"/>
                        <a:t>costs</a:t>
                      </a:r>
                      <a:r>
                        <a:rPr lang="da-DK" sz="1600" dirty="0"/>
                        <a:t> for begge de to scenarier, der sammenlignes og dermed irrelevante….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600" dirty="0"/>
                        <a:t>…..men de $ 400.000 er selvfølgelig ikke irrelevante vedr. beregningerne over den regnskabsmæssige profit.</a:t>
                      </a:r>
                    </a:p>
                    <a:p>
                      <a:r>
                        <a:rPr lang="da-DK" sz="1600" dirty="0"/>
                        <a:t>Bemærk ‘station operating </a:t>
                      </a:r>
                      <a:r>
                        <a:rPr lang="da-DK" sz="1600" dirty="0" err="1"/>
                        <a:t>costs</a:t>
                      </a:r>
                      <a:r>
                        <a:rPr lang="da-DK" sz="1600" dirty="0"/>
                        <a:t>’ på $ 2.000.000; er med ved </a:t>
                      </a:r>
                      <a:r>
                        <a:rPr lang="da-DK" sz="1600" dirty="0" err="1"/>
                        <a:t>retail</a:t>
                      </a:r>
                      <a:r>
                        <a:rPr lang="da-DK" sz="1600" dirty="0"/>
                        <a:t> men ikke </a:t>
                      </a:r>
                      <a:r>
                        <a:rPr lang="da-DK" sz="1600" dirty="0" err="1"/>
                        <a:t>wholesale</a:t>
                      </a:r>
                      <a:r>
                        <a:rPr lang="da-DK" sz="1600" dirty="0"/>
                        <a:t>!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833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75416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Beskæring</Template>
  <TotalTime>759</TotalTime>
  <Words>946</Words>
  <Application>Microsoft Macintosh PowerPoint</Application>
  <PresentationFormat>Widescreen</PresentationFormat>
  <Paragraphs>155</Paragraphs>
  <Slides>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Franklin Gothic Book</vt:lpstr>
      <vt:lpstr>Wingdings</vt:lpstr>
      <vt:lpstr>Crop</vt:lpstr>
      <vt:lpstr>Ligning</vt:lpstr>
      <vt:lpstr>PowerPoint Presentation</vt:lpstr>
      <vt:lpstr>Strategy</vt:lpstr>
      <vt:lpstr>Transaction Costs</vt:lpstr>
      <vt:lpstr>Ways to Create Value reduction of transaction costs</vt:lpstr>
      <vt:lpstr>Value Creation</vt:lpstr>
      <vt:lpstr>Pricing Complements Example Reduce the price of complements?</vt:lpstr>
      <vt:lpstr>Advantage of Coordination</vt:lpstr>
      <vt:lpstr>Superior Factors of Production</vt:lpstr>
      <vt:lpstr>PowerPoint Presentation</vt:lpstr>
      <vt:lpstr>Producer Surplus Captured by Superior/scarce Asset(s)</vt:lpstr>
      <vt:lpstr>PowerPoint Presentation</vt:lpstr>
      <vt:lpstr>Regnskabsmæssig/Økonomisk profit, BP-casen  supplerende beregning/forklaring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Tamas Vamosi</dc:creator>
  <cp:lastModifiedBy>Kai Inga Liehr Storm</cp:lastModifiedBy>
  <cp:revision>31</cp:revision>
  <cp:lastPrinted>2024-02-21T13:56:32Z</cp:lastPrinted>
  <dcterms:created xsi:type="dcterms:W3CDTF">2020-02-07T08:10:18Z</dcterms:created>
  <dcterms:modified xsi:type="dcterms:W3CDTF">2026-01-27T13:47:55Z</dcterms:modified>
</cp:coreProperties>
</file>