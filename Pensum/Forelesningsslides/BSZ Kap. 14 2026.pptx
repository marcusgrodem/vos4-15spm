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23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406"/>
    <a:srgbClr val="006600"/>
    <a:srgbClr val="FF6600"/>
    <a:srgbClr val="638773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33" autoAdjust="0"/>
    <p:restoredTop sz="94660"/>
  </p:normalViewPr>
  <p:slideViewPr>
    <p:cSldViewPr snapToGrid="0">
      <p:cViewPr varScale="1">
        <p:scale>
          <a:sx n="95" d="100"/>
          <a:sy n="95" d="100"/>
        </p:scale>
        <p:origin x="184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as Vamosi" userId="d29b3f17-2c73-4e3f-a1f7-7beee2a70eaf" providerId="ADAL" clId="{E1D28A2C-C2AC-4AE8-9B38-29FE1A4B4ED1}"/>
    <pc:docChg chg="modSld">
      <pc:chgData name="Tamas Vamosi" userId="d29b3f17-2c73-4e3f-a1f7-7beee2a70eaf" providerId="ADAL" clId="{E1D28A2C-C2AC-4AE8-9B38-29FE1A4B4ED1}" dt="2025-03-10T13:41:42.128" v="1" actId="20577"/>
      <pc:docMkLst>
        <pc:docMk/>
      </pc:docMkLst>
      <pc:sldChg chg="modSp mod">
        <pc:chgData name="Tamas Vamosi" userId="d29b3f17-2c73-4e3f-a1f7-7beee2a70eaf" providerId="ADAL" clId="{E1D28A2C-C2AC-4AE8-9B38-29FE1A4B4ED1}" dt="2025-03-10T13:41:42.128" v="1" actId="20577"/>
        <pc:sldMkLst>
          <pc:docMk/>
          <pc:sldMk cId="30071100" sldId="258"/>
        </pc:sldMkLst>
        <pc:spChg chg="mod">
          <ac:chgData name="Tamas Vamosi" userId="d29b3f17-2c73-4e3f-a1f7-7beee2a70eaf" providerId="ADAL" clId="{E1D28A2C-C2AC-4AE8-9B38-29FE1A4B4ED1}" dt="2025-03-10T13:41:42.128" v="1" actId="20577"/>
          <ac:spMkLst>
            <pc:docMk/>
            <pc:sldMk cId="30071100" sldId="258"/>
            <ac:spMk id="205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DE3BA3-BBD5-475B-A28C-FF20923692A5}" type="datetimeFigureOut">
              <a:rPr lang="da-DK" smtClean="0"/>
              <a:t>29.01.2026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216C9-95FD-45D1-A544-E489E03A734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1556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BB52390-D15A-48F1-9A61-14046D356B5B}" type="datetime1">
              <a:rPr lang="en-US" smtClean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052CB-89D7-40D8-8D03-172927D53EDC}" type="datetime1">
              <a:rPr lang="en-US" smtClean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226788B-D1F7-475A-9751-9320DD0FC687}" type="datetime1">
              <a:rPr lang="en-US" smtClean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D7824-AD54-4DB8-B5CE-3F15FB94C8A3}" type="datetime1">
              <a:rPr lang="en-US" smtClean="0"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8D05B-5FA3-4E16-9322-6D4E50BEE418}" type="datetime1">
              <a:rPr lang="en-US" smtClean="0"/>
              <a:t>1/29/26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FCBD6-809A-4182-89DC-5237773A61D3}" type="datetime1">
              <a:rPr lang="en-US" smtClean="0"/>
              <a:t>1/29/26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E224-8ADA-4B91-870C-B816F5DB9A19}" type="datetime1">
              <a:rPr lang="en-US" smtClean="0"/>
              <a:t>1/29/26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881B278-F108-4331-B999-3B0318D992E8}" type="datetime1">
              <a:rPr lang="en-US" smtClean="0"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29DC3EB-FC53-41DD-B1E1-2B1A16E6A2A8}" type="datetime1">
              <a:rPr lang="en-US" smtClean="0"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39B0B-A0CB-4497-95D1-1CE216CB440D}" type="datetime1">
              <a:rPr lang="en-US" smtClean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7AC3-765F-4D84-89B3-FF073913AF6B}" type="datetime1">
              <a:rPr lang="en-US" smtClean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3B51BB-0720-4564-9585-8ADFE84BEE21}" type="datetime1">
              <a:rPr lang="en-US" smtClean="0"/>
              <a:t>1/29/26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BC41C3-B907-4E15-9150-86C179BAA1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764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275BDFA-4DA6-405E-A3DA-46BB6935A5DE}" type="datetime1">
              <a:rPr lang="en-US" smtClean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286000" y="1752600"/>
            <a:ext cx="7772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/>
            <a:r>
              <a:rPr lang="en-US" sz="3200" i="1" dirty="0">
                <a:solidFill>
                  <a:schemeClr val="bg1"/>
                </a:solidFill>
              </a:rPr>
              <a:t>Managerial Economics and </a:t>
            </a:r>
          </a:p>
          <a:p>
            <a:pPr algn="ctr" eaLnBrk="0" hangingPunct="0"/>
            <a:r>
              <a:rPr lang="en-US" sz="3200" i="1" dirty="0">
                <a:solidFill>
                  <a:schemeClr val="bg1"/>
                </a:solidFill>
              </a:rPr>
              <a:t>Organizational Architecture</a:t>
            </a:r>
            <a:br>
              <a:rPr lang="en-US" sz="3200" dirty="0">
                <a:solidFill>
                  <a:srgbClr val="000066"/>
                </a:solidFill>
              </a:rPr>
            </a:br>
            <a:br>
              <a:rPr lang="en-US" sz="4400" dirty="0">
                <a:solidFill>
                  <a:srgbClr val="000066"/>
                </a:solidFill>
              </a:rPr>
            </a:br>
            <a:r>
              <a:rPr lang="en-US" sz="4400" dirty="0">
                <a:solidFill>
                  <a:schemeClr val="bg1"/>
                </a:solidFill>
              </a:rPr>
              <a:t>Chapter 14: </a:t>
            </a:r>
          </a:p>
          <a:p>
            <a:pPr algn="ctr" eaLnBrk="0" hangingPunct="0"/>
            <a:r>
              <a:rPr lang="en-US" sz="4400" dirty="0">
                <a:solidFill>
                  <a:schemeClr val="bg1"/>
                </a:solidFill>
              </a:rPr>
              <a:t>Attracting and Retaining Qualified Employees</a:t>
            </a:r>
          </a:p>
        </p:txBody>
      </p:sp>
    </p:spTree>
    <p:extLst>
      <p:ext uri="{BB962C8B-B14F-4D97-AF65-F5344CB8AC3E}">
        <p14:creationId xmlns:p14="http://schemas.microsoft.com/office/powerpoint/2010/main" val="30071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949235" y="287383"/>
            <a:ext cx="8229600" cy="1143000"/>
          </a:xfrm>
        </p:spPr>
        <p:txBody>
          <a:bodyPr/>
          <a:lstStyle/>
          <a:p>
            <a:r>
              <a:rPr lang="en-US" dirty="0"/>
              <a:t>Contracting Objectives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55800" y="1798638"/>
            <a:ext cx="5948680" cy="4525963"/>
          </a:xfrm>
        </p:spPr>
        <p:txBody>
          <a:bodyPr>
            <a:normAutofit fontScale="77500" lnSpcReduction="20000"/>
          </a:bodyPr>
          <a:lstStyle/>
          <a:p>
            <a:r>
              <a:rPr lang="en-US" sz="2800" dirty="0"/>
              <a:t>Firms wish to design employee compensation contracts to maximize the value of employee’s output net of costs; alignment of interests (</a:t>
            </a:r>
            <a:r>
              <a:rPr lang="en-US" sz="2800" dirty="0" err="1"/>
              <a:t>eller</a:t>
            </a:r>
            <a:r>
              <a:rPr lang="en-US" sz="2800" dirty="0"/>
              <a:t>; </a:t>
            </a:r>
            <a:r>
              <a:rPr lang="en-US" sz="2800" dirty="0" err="1"/>
              <a:t>maksimér</a:t>
            </a:r>
            <a:r>
              <a:rPr lang="en-US" sz="2800" dirty="0"/>
              <a:t> </a:t>
            </a:r>
            <a:r>
              <a:rPr lang="en-US" sz="2800" dirty="0" err="1"/>
              <a:t>differencen</a:t>
            </a:r>
            <a:r>
              <a:rPr lang="en-US" sz="2800" dirty="0"/>
              <a:t> </a:t>
            </a:r>
            <a:r>
              <a:rPr lang="en-US" sz="2800" dirty="0" err="1"/>
              <a:t>mellem</a:t>
            </a:r>
            <a:r>
              <a:rPr lang="en-US" sz="2800" dirty="0"/>
              <a:t> total-</a:t>
            </a:r>
            <a:r>
              <a:rPr lang="en-US" sz="2800" dirty="0" err="1"/>
              <a:t>nytten</a:t>
            </a:r>
            <a:r>
              <a:rPr lang="en-US" sz="2800" dirty="0"/>
              <a:t> </a:t>
            </a:r>
            <a:r>
              <a:rPr lang="en-US" sz="2800" dirty="0" err="1"/>
              <a:t>og</a:t>
            </a:r>
            <a:r>
              <a:rPr lang="en-US" sz="2800" dirty="0"/>
              <a:t> -</a:t>
            </a:r>
            <a:r>
              <a:rPr lang="en-US" sz="2800" dirty="0" err="1"/>
              <a:t>omkostningerne</a:t>
            </a:r>
            <a:r>
              <a:rPr lang="en-US" sz="2800" dirty="0"/>
              <a:t>)</a:t>
            </a:r>
          </a:p>
          <a:p>
            <a:r>
              <a:rPr lang="en-US" sz="2800" dirty="0"/>
              <a:t>Individuals must receive at least their </a:t>
            </a:r>
            <a:r>
              <a:rPr lang="en-US" sz="2800" i="1" dirty="0">
                <a:solidFill>
                  <a:srgbClr val="FFC000"/>
                </a:solidFill>
              </a:rPr>
              <a:t>reservation utilities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(opportunity cost):</a:t>
            </a:r>
          </a:p>
          <a:p>
            <a:pPr lvl="1"/>
            <a:r>
              <a:rPr lang="en-US" sz="2800" dirty="0"/>
              <a:t>def.; </a:t>
            </a:r>
            <a:r>
              <a:rPr lang="en-US" sz="2800" i="1" dirty="0">
                <a:solidFill>
                  <a:srgbClr val="FFC000"/>
                </a:solidFill>
              </a:rPr>
              <a:t>the level of satisfaction they could receive in their next best alternative</a:t>
            </a:r>
          </a:p>
          <a:p>
            <a:r>
              <a:rPr lang="en-US" sz="2800" dirty="0"/>
              <a:t>Compensation is a key to reach this utility</a:t>
            </a:r>
          </a:p>
          <a:p>
            <a:pPr marL="0" indent="0">
              <a:buNone/>
            </a:pPr>
            <a:endParaRPr lang="en-US" sz="2800" b="1" u="sng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2800" b="1" u="sng" dirty="0">
                <a:solidFill>
                  <a:srgbClr val="FFC000"/>
                </a:solidFill>
              </a:rPr>
              <a:t>Payment is for attracting, retaining and motivation!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9E13C5D5-EEF2-BA0B-71CB-A0356B69304A}"/>
              </a:ext>
            </a:extLst>
          </p:cNvPr>
          <p:cNvSpPr/>
          <p:nvPr/>
        </p:nvSpPr>
        <p:spPr>
          <a:xfrm>
            <a:off x="1941629" y="4998778"/>
            <a:ext cx="5948680" cy="91209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1028" name="Picture 4" descr="I don't get out of bed for less than $10,000 a day.&quot; - Linda Evangelista # LindaEvangelista #bookkeeping #accountancy">
            <a:extLst>
              <a:ext uri="{FF2B5EF4-FFF2-40B4-BE49-F238E27FC236}">
                <a16:creationId xmlns:a16="http://schemas.microsoft.com/office/drawing/2014/main" id="{F12F5B84-D0E0-78F4-2D6F-98CE342B8C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" r="3932" b="7778"/>
          <a:stretch>
            <a:fillRect/>
          </a:stretch>
        </p:blipFill>
        <p:spPr bwMode="auto">
          <a:xfrm>
            <a:off x="8059376" y="2900397"/>
            <a:ext cx="4000102" cy="2322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EFFA1E-D622-5DED-7C82-58A3B8E61869}"/>
              </a:ext>
            </a:extLst>
          </p:cNvPr>
          <p:cNvSpPr txBox="1"/>
          <p:nvPr/>
        </p:nvSpPr>
        <p:spPr>
          <a:xfrm>
            <a:off x="8059376" y="5138202"/>
            <a:ext cx="212429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x.com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pointaccountant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/status/1383721978482204673</a:t>
            </a:r>
          </a:p>
        </p:txBody>
      </p:sp>
    </p:spTree>
    <p:extLst>
      <p:ext uri="{BB962C8B-B14F-4D97-AF65-F5344CB8AC3E}">
        <p14:creationId xmlns:p14="http://schemas.microsoft.com/office/powerpoint/2010/main" val="3860937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73331" y="246017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/>
              <a:t>The Basic </a:t>
            </a:r>
            <a:r>
              <a:rPr lang="en-US" u="sng" dirty="0"/>
              <a:t>Competitive</a:t>
            </a:r>
            <a:r>
              <a:rPr lang="en-US" dirty="0"/>
              <a:t> Model 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67097" y="1389017"/>
            <a:ext cx="8205639" cy="5064369"/>
          </a:xfrm>
        </p:spPr>
        <p:txBody>
          <a:bodyPr>
            <a:normAutofit lnSpcReduction="10000"/>
          </a:bodyPr>
          <a:lstStyle/>
          <a:p>
            <a:pPr eaLnBrk="1" hangingPunct="1">
              <a:buClr>
                <a:srgbClr val="000066"/>
              </a:buClr>
              <a:buFontTx/>
              <a:buNone/>
            </a:pPr>
            <a:r>
              <a:rPr lang="en-US" sz="2800" u="sng" dirty="0"/>
              <a:t>Initial assumptions:</a:t>
            </a:r>
            <a:endParaRPr lang="en-US" sz="2800" dirty="0"/>
          </a:p>
          <a:p>
            <a:pPr eaLnBrk="1" hangingPunct="1">
              <a:buClr>
                <a:srgbClr val="000066"/>
              </a:buClr>
            </a:pPr>
            <a:r>
              <a:rPr lang="en-US" sz="2800" dirty="0"/>
              <a:t>competitive labor market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2800" dirty="0"/>
              <a:t>wages determined by </a:t>
            </a:r>
            <a:r>
              <a:rPr lang="en-US" sz="2800" dirty="0">
                <a:solidFill>
                  <a:srgbClr val="FFC000"/>
                </a:solidFill>
              </a:rPr>
              <a:t>supply and demand </a:t>
            </a:r>
            <a:r>
              <a:rPr lang="en-US" sz="2800" i="0" dirty="0"/>
              <a:t>(only!)</a:t>
            </a:r>
          </a:p>
          <a:p>
            <a:pPr>
              <a:buClr>
                <a:srgbClr val="000066"/>
              </a:buClr>
            </a:pPr>
            <a:r>
              <a:rPr lang="en-US" sz="2800" dirty="0"/>
              <a:t>all jobs are </a:t>
            </a:r>
            <a:r>
              <a:rPr lang="en-US" sz="2800" dirty="0">
                <a:solidFill>
                  <a:srgbClr val="FFC000"/>
                </a:solidFill>
              </a:rPr>
              <a:t>identical</a:t>
            </a:r>
          </a:p>
          <a:p>
            <a:pPr>
              <a:buClr>
                <a:srgbClr val="000066"/>
              </a:buClr>
            </a:pPr>
            <a:r>
              <a:rPr lang="en-US" sz="2800" dirty="0"/>
              <a:t>all workers are </a:t>
            </a:r>
            <a:r>
              <a:rPr lang="en-US" sz="2800" dirty="0">
                <a:solidFill>
                  <a:srgbClr val="FFC000"/>
                </a:solidFill>
              </a:rPr>
              <a:t>identical</a:t>
            </a:r>
          </a:p>
          <a:p>
            <a:pPr eaLnBrk="1" hangingPunct="1">
              <a:buClr>
                <a:srgbClr val="000066"/>
              </a:buClr>
            </a:pPr>
            <a:r>
              <a:rPr lang="en-US" sz="2800" dirty="0"/>
              <a:t>current market wages are </a:t>
            </a:r>
            <a:r>
              <a:rPr lang="en-US" sz="2800" dirty="0">
                <a:solidFill>
                  <a:srgbClr val="FFC000"/>
                </a:solidFill>
              </a:rPr>
              <a:t>costless</a:t>
            </a:r>
            <a:r>
              <a:rPr lang="en-US" sz="2800" dirty="0"/>
              <a:t> to determine</a:t>
            </a:r>
          </a:p>
          <a:p>
            <a:pPr eaLnBrk="1" hangingPunct="1">
              <a:buClr>
                <a:srgbClr val="000066"/>
              </a:buClr>
            </a:pPr>
            <a:r>
              <a:rPr lang="en-US" sz="2800" dirty="0"/>
              <a:t>no long-term contracts exists meaning that all labor is hired in </a:t>
            </a:r>
            <a:r>
              <a:rPr lang="en-US" sz="2800" dirty="0">
                <a:solidFill>
                  <a:srgbClr val="FFC000"/>
                </a:solidFill>
              </a:rPr>
              <a:t>‘spot’ </a:t>
            </a:r>
            <a:r>
              <a:rPr lang="en-US" sz="2800" dirty="0"/>
              <a:t>markets</a:t>
            </a:r>
          </a:p>
          <a:p>
            <a:pPr eaLnBrk="1" hangingPunct="1">
              <a:buClr>
                <a:srgbClr val="000066"/>
              </a:buClr>
            </a:pPr>
            <a:r>
              <a:rPr lang="en-US" sz="2800" dirty="0"/>
              <a:t>all compensation is </a:t>
            </a:r>
            <a:r>
              <a:rPr lang="en-US" sz="2800" dirty="0">
                <a:solidFill>
                  <a:srgbClr val="FFC000"/>
                </a:solidFill>
              </a:rPr>
              <a:t>monetary</a:t>
            </a:r>
            <a:r>
              <a:rPr lang="en-US" sz="2800" dirty="0"/>
              <a:t> (to simplify)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</a:t>
            </a:fld>
            <a:endParaRPr lang="en-US" dirty="0"/>
          </a:p>
        </p:txBody>
      </p:sp>
      <p:pic>
        <p:nvPicPr>
          <p:cNvPr id="2050" name="Picture 2" descr="Unrealistic Expectations? – Writing your first novel-Things you should know">
            <a:extLst>
              <a:ext uri="{FF2B5EF4-FFF2-40B4-BE49-F238E27FC236}">
                <a16:creationId xmlns:a16="http://schemas.microsoft.com/office/drawing/2014/main" id="{5AF2197C-571A-028C-4A3E-FA997BDAEA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087"/>
          <a:stretch>
            <a:fillRect/>
          </a:stretch>
        </p:blipFill>
        <p:spPr bwMode="auto">
          <a:xfrm>
            <a:off x="9136269" y="2026625"/>
            <a:ext cx="2578721" cy="369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DA8F95C-86CC-73A5-885B-AC9F90B09AEA}"/>
              </a:ext>
            </a:extLst>
          </p:cNvPr>
          <p:cNvSpPr/>
          <p:nvPr/>
        </p:nvSpPr>
        <p:spPr>
          <a:xfrm>
            <a:off x="9576887" y="2200925"/>
            <a:ext cx="1806730" cy="568780"/>
          </a:xfrm>
          <a:prstGeom prst="rect">
            <a:avLst/>
          </a:prstGeom>
          <a:solidFill>
            <a:schemeClr val="tx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F1406"/>
                </a:solidFill>
              </a:rPr>
              <a:t>Assumption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0C9DF5-5043-593C-B7C4-3B656F467629}"/>
              </a:ext>
            </a:extLst>
          </p:cNvPr>
          <p:cNvSpPr txBox="1"/>
          <p:nvPr/>
        </p:nvSpPr>
        <p:spPr>
          <a:xfrm>
            <a:off x="9133701" y="5718736"/>
            <a:ext cx="244169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writingyourfirstnovelblog.com</a:t>
            </a:r>
            <a:r>
              <a:rPr lang="en-US" sz="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/2019/11/07/unrealistic-expectations/</a:t>
            </a:r>
          </a:p>
        </p:txBody>
      </p:sp>
    </p:spTree>
    <p:extLst>
      <p:ext uri="{BB962C8B-B14F-4D97-AF65-F5344CB8AC3E}">
        <p14:creationId xmlns:p14="http://schemas.microsoft.com/office/powerpoint/2010/main" val="4191375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36171" y="316607"/>
            <a:ext cx="9144000" cy="1096963"/>
          </a:xfrm>
        </p:spPr>
        <p:txBody>
          <a:bodyPr/>
          <a:lstStyle/>
          <a:p>
            <a:pPr eaLnBrk="1" hangingPunct="1"/>
            <a:r>
              <a:rPr lang="en-US" sz="3200" dirty="0"/>
              <a:t>The </a:t>
            </a:r>
            <a:r>
              <a:rPr lang="en-US" sz="3200" u="sng" dirty="0"/>
              <a:t>Competitive</a:t>
            </a:r>
            <a:r>
              <a:rPr lang="en-US" sz="3200" dirty="0"/>
              <a:t> Model of Employment and Wages; The </a:t>
            </a:r>
            <a:r>
              <a:rPr lang="en-US" sz="3200" u="sng" dirty="0">
                <a:solidFill>
                  <a:srgbClr val="C00000"/>
                </a:solidFill>
              </a:rPr>
              <a:t>firms</a:t>
            </a:r>
            <a:r>
              <a:rPr lang="en-US" sz="3200" dirty="0">
                <a:solidFill>
                  <a:srgbClr val="C00000"/>
                </a:solidFill>
              </a:rPr>
              <a:t> </a:t>
            </a:r>
            <a:r>
              <a:rPr lang="en-US" sz="3200" dirty="0"/>
              <a:t>choice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36171" y="1600200"/>
            <a:ext cx="4510102" cy="4853186"/>
          </a:xfrm>
        </p:spPr>
        <p:txBody>
          <a:bodyPr>
            <a:normAutofit/>
          </a:bodyPr>
          <a:lstStyle/>
          <a:p>
            <a:pPr marL="0" indent="0">
              <a:buClr>
                <a:srgbClr val="000066"/>
              </a:buClr>
              <a:buNone/>
            </a:pPr>
            <a:r>
              <a:rPr lang="en-US" sz="2800" u="sng" dirty="0"/>
              <a:t>Each firm</a:t>
            </a:r>
            <a:r>
              <a:rPr lang="en-US" sz="2800" dirty="0"/>
              <a:t> hires until </a:t>
            </a:r>
          </a:p>
          <a:p>
            <a:pPr marL="0" indent="0">
              <a:buClr>
                <a:srgbClr val="000066"/>
              </a:buClr>
              <a:buNone/>
            </a:pPr>
            <a:r>
              <a:rPr lang="en-US" sz="2400" dirty="0">
                <a:solidFill>
                  <a:srgbClr val="002060"/>
                </a:solidFill>
              </a:rPr>
              <a:t>Marginal Revenue Product (MRP)</a:t>
            </a:r>
            <a:r>
              <a:rPr lang="en-US" sz="2400" dirty="0"/>
              <a:t> = </a:t>
            </a:r>
            <a:r>
              <a:rPr lang="en-US" sz="2400" dirty="0">
                <a:solidFill>
                  <a:srgbClr val="FFC000"/>
                </a:solidFill>
              </a:rPr>
              <a:t>Market Wage (alias MC)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2400" dirty="0"/>
              <a:t>when </a:t>
            </a:r>
            <a:r>
              <a:rPr lang="en-US" sz="2400" dirty="0">
                <a:solidFill>
                  <a:srgbClr val="002060"/>
                </a:solidFill>
              </a:rPr>
              <a:t>MRP</a:t>
            </a:r>
            <a:r>
              <a:rPr lang="en-US" sz="2400" dirty="0"/>
              <a:t> &gt; </a:t>
            </a:r>
            <a:r>
              <a:rPr lang="en-US" sz="2400" dirty="0">
                <a:solidFill>
                  <a:srgbClr val="FFC000"/>
                </a:solidFill>
              </a:rPr>
              <a:t>the market wage</a:t>
            </a:r>
            <a:r>
              <a:rPr lang="en-US" sz="2400" dirty="0"/>
              <a:t> the worker adds more to the value of the output than to costs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2400" dirty="0"/>
              <a:t>When </a:t>
            </a:r>
            <a:r>
              <a:rPr lang="en-US" sz="2400" dirty="0">
                <a:solidFill>
                  <a:srgbClr val="002060"/>
                </a:solidFill>
              </a:rPr>
              <a:t>MRP</a:t>
            </a:r>
            <a:r>
              <a:rPr lang="en-US" sz="2400" dirty="0"/>
              <a:t> &lt; </a:t>
            </a:r>
            <a:r>
              <a:rPr lang="en-US" sz="2400" dirty="0">
                <a:solidFill>
                  <a:srgbClr val="FFC000"/>
                </a:solidFill>
              </a:rPr>
              <a:t>the market wage</a:t>
            </a:r>
            <a:r>
              <a:rPr lang="en-US" sz="2400" dirty="0"/>
              <a:t> the worker costs more than what she/he adds to the value of output</a:t>
            </a:r>
          </a:p>
        </p:txBody>
      </p:sp>
      <p:sp>
        <p:nvSpPr>
          <p:cNvPr id="5135" name="Text Box 15"/>
          <p:cNvSpPr txBox="1">
            <a:spLocks noChangeArrowheads="1"/>
          </p:cNvSpPr>
          <p:nvPr/>
        </p:nvSpPr>
        <p:spPr bwMode="auto">
          <a:xfrm>
            <a:off x="9067799" y="3657600"/>
            <a:ext cx="217505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FFC000"/>
                </a:solidFill>
              </a:rPr>
              <a:t>Market Wage Rate (MC)</a:t>
            </a:r>
          </a:p>
        </p:txBody>
      </p:sp>
      <p:grpSp>
        <p:nvGrpSpPr>
          <p:cNvPr id="5138" name="Group 18"/>
          <p:cNvGrpSpPr>
            <a:grpSpLocks/>
          </p:cNvGrpSpPr>
          <p:nvPr/>
        </p:nvGrpSpPr>
        <p:grpSpPr bwMode="auto">
          <a:xfrm>
            <a:off x="5715000" y="2209800"/>
            <a:ext cx="5440680" cy="4243586"/>
            <a:chOff x="2784" y="1200"/>
            <a:chExt cx="2832" cy="2352"/>
          </a:xfrm>
        </p:grpSpPr>
        <p:sp>
          <p:nvSpPr>
            <p:cNvPr id="5126" name="Line 6"/>
            <p:cNvSpPr>
              <a:spLocks noChangeShapeType="1"/>
            </p:cNvSpPr>
            <p:nvPr/>
          </p:nvSpPr>
          <p:spPr bwMode="auto">
            <a:xfrm>
              <a:off x="3024" y="1392"/>
              <a:ext cx="0" cy="17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/>
              <a:tailEnd/>
            </a:ln>
            <a:effectLst/>
          </p:spPr>
          <p:txBody>
            <a:bodyPr/>
            <a:lstStyle/>
            <a:p>
              <a:endParaRPr lang="da-DK"/>
            </a:p>
          </p:txBody>
        </p:sp>
        <p:sp>
          <p:nvSpPr>
            <p:cNvPr id="5127" name="Line 7"/>
            <p:cNvSpPr>
              <a:spLocks noChangeShapeType="1"/>
            </p:cNvSpPr>
            <p:nvPr/>
          </p:nvSpPr>
          <p:spPr bwMode="auto">
            <a:xfrm>
              <a:off x="3024" y="3120"/>
              <a:ext cx="20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/>
            </a:ln>
            <a:effectLst/>
          </p:spPr>
          <p:txBody>
            <a:bodyPr/>
            <a:lstStyle/>
            <a:p>
              <a:endParaRPr lang="da-DK"/>
            </a:p>
          </p:txBody>
        </p:sp>
        <p:sp>
          <p:nvSpPr>
            <p:cNvPr id="5128" name="Line 8"/>
            <p:cNvSpPr>
              <a:spLocks noChangeShapeType="1"/>
            </p:cNvSpPr>
            <p:nvPr/>
          </p:nvSpPr>
          <p:spPr bwMode="auto">
            <a:xfrm>
              <a:off x="3024" y="1584"/>
              <a:ext cx="1824" cy="1104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da-DK"/>
            </a:p>
          </p:txBody>
        </p:sp>
        <p:sp>
          <p:nvSpPr>
            <p:cNvPr id="5129" name="Line 9"/>
            <p:cNvSpPr>
              <a:spLocks noChangeShapeType="1"/>
            </p:cNvSpPr>
            <p:nvPr/>
          </p:nvSpPr>
          <p:spPr bwMode="auto">
            <a:xfrm>
              <a:off x="3024" y="2208"/>
              <a:ext cx="1824" cy="0"/>
            </a:xfrm>
            <a:prstGeom prst="line">
              <a:avLst/>
            </a:prstGeom>
            <a:noFill/>
            <a:ln w="28575">
              <a:solidFill>
                <a:srgbClr val="FFC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da-DK"/>
            </a:p>
          </p:txBody>
        </p:sp>
        <p:sp>
          <p:nvSpPr>
            <p:cNvPr id="5130" name="Line 10"/>
            <p:cNvSpPr>
              <a:spLocks noChangeShapeType="1"/>
            </p:cNvSpPr>
            <p:nvPr/>
          </p:nvSpPr>
          <p:spPr bwMode="auto">
            <a:xfrm>
              <a:off x="4032" y="2208"/>
              <a:ext cx="0" cy="912"/>
            </a:xfrm>
            <a:prstGeom prst="line">
              <a:avLst/>
            </a:prstGeom>
            <a:noFill/>
            <a:ln w="9525">
              <a:solidFill>
                <a:srgbClr val="5F5F5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da-DK"/>
            </a:p>
          </p:txBody>
        </p:sp>
        <p:sp>
          <p:nvSpPr>
            <p:cNvPr id="5131" name="Text Box 11"/>
            <p:cNvSpPr txBox="1">
              <a:spLocks noChangeArrowheads="1"/>
            </p:cNvSpPr>
            <p:nvPr/>
          </p:nvSpPr>
          <p:spPr bwMode="auto">
            <a:xfrm>
              <a:off x="3456" y="3360"/>
              <a:ext cx="14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/>
                <a:t>Number of employees</a:t>
              </a:r>
            </a:p>
          </p:txBody>
        </p:sp>
        <p:sp>
          <p:nvSpPr>
            <p:cNvPr id="5132" name="Text Box 12"/>
            <p:cNvSpPr txBox="1">
              <a:spLocks noChangeArrowheads="1"/>
            </p:cNvSpPr>
            <p:nvPr/>
          </p:nvSpPr>
          <p:spPr bwMode="auto">
            <a:xfrm>
              <a:off x="3936" y="3120"/>
              <a:ext cx="2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i="1"/>
                <a:t>E*</a:t>
              </a:r>
            </a:p>
          </p:txBody>
        </p:sp>
        <p:sp>
          <p:nvSpPr>
            <p:cNvPr id="5133" name="Text Box 13"/>
            <p:cNvSpPr txBox="1">
              <a:spLocks noChangeArrowheads="1"/>
            </p:cNvSpPr>
            <p:nvPr/>
          </p:nvSpPr>
          <p:spPr bwMode="auto">
            <a:xfrm>
              <a:off x="5088" y="3024"/>
              <a:ext cx="2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i="1"/>
                <a:t>E</a:t>
              </a:r>
            </a:p>
          </p:txBody>
        </p:sp>
        <p:sp>
          <p:nvSpPr>
            <p:cNvPr id="5134" name="Text Box 14"/>
            <p:cNvSpPr txBox="1">
              <a:spLocks noChangeArrowheads="1"/>
            </p:cNvSpPr>
            <p:nvPr/>
          </p:nvSpPr>
          <p:spPr bwMode="auto">
            <a:xfrm>
              <a:off x="4224" y="2688"/>
              <a:ext cx="139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dirty="0">
                  <a:solidFill>
                    <a:srgbClr val="002060"/>
                  </a:solidFill>
                </a:rPr>
                <a:t>Marginal Revenue Product (MRP)</a:t>
              </a:r>
            </a:p>
          </p:txBody>
        </p:sp>
        <p:sp>
          <p:nvSpPr>
            <p:cNvPr id="5136" name="Text Box 16"/>
            <p:cNvSpPr txBox="1">
              <a:spLocks noChangeArrowheads="1"/>
            </p:cNvSpPr>
            <p:nvPr/>
          </p:nvSpPr>
          <p:spPr bwMode="auto">
            <a:xfrm rot="16200000">
              <a:off x="2304" y="1968"/>
              <a:ext cx="115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/>
                <a:t>Wage (in dollars)</a:t>
              </a:r>
            </a:p>
          </p:txBody>
        </p:sp>
        <p:sp>
          <p:nvSpPr>
            <p:cNvPr id="5137" name="Text Box 17"/>
            <p:cNvSpPr txBox="1">
              <a:spLocks noChangeArrowheads="1"/>
            </p:cNvSpPr>
            <p:nvPr/>
          </p:nvSpPr>
          <p:spPr bwMode="auto">
            <a:xfrm>
              <a:off x="2928" y="1200"/>
              <a:ext cx="19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/>
                <a:t>$</a:t>
              </a:r>
            </a:p>
          </p:txBody>
        </p:sp>
      </p:grpSp>
      <p:cxnSp>
        <p:nvCxnSpPr>
          <p:cNvPr id="3" name="Lige pilforbindelse 2"/>
          <p:cNvCxnSpPr/>
          <p:nvPr/>
        </p:nvCxnSpPr>
        <p:spPr>
          <a:xfrm flipH="1">
            <a:off x="6393524" y="2989234"/>
            <a:ext cx="4495" cy="1039246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Lige pilforbindelse 23"/>
          <p:cNvCxnSpPr/>
          <p:nvPr/>
        </p:nvCxnSpPr>
        <p:spPr>
          <a:xfrm flipH="1">
            <a:off x="9123710" y="3984984"/>
            <a:ext cx="6485" cy="606356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084525" y="6427093"/>
            <a:ext cx="1596292" cy="404614"/>
          </a:xfrm>
        </p:spPr>
        <p:txBody>
          <a:bodyPr/>
          <a:lstStyle/>
          <a:p>
            <a:pPr>
              <a:defRPr/>
            </a:pPr>
            <a:fld id="{DEBC41C3-B907-4E15-9150-86C179BAA1FD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609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609600"/>
            <a:ext cx="9144000" cy="838200"/>
          </a:xfrm>
        </p:spPr>
        <p:txBody>
          <a:bodyPr/>
          <a:lstStyle/>
          <a:p>
            <a:pPr eaLnBrk="1" hangingPunct="1"/>
            <a:r>
              <a:rPr lang="en-US" dirty="0"/>
              <a:t>Relaxing the Assumptions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20823" y="1447800"/>
            <a:ext cx="6688290" cy="449580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200" dirty="0"/>
              <a:t>All jobs </a:t>
            </a:r>
            <a:r>
              <a:rPr lang="en-US" sz="3200" u="sng" dirty="0">
                <a:solidFill>
                  <a:srgbClr val="FFC000"/>
                </a:solidFill>
              </a:rPr>
              <a:t>are not</a:t>
            </a:r>
            <a:r>
              <a:rPr lang="en-US" sz="3200" dirty="0">
                <a:solidFill>
                  <a:srgbClr val="FFC000"/>
                </a:solidFill>
              </a:rPr>
              <a:t> </a:t>
            </a:r>
            <a:r>
              <a:rPr lang="en-US" sz="3200" dirty="0"/>
              <a:t>identical;</a:t>
            </a:r>
          </a:p>
          <a:p>
            <a:pPr lvl="1"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200" dirty="0"/>
              <a:t>employees will choose the most desirable job for a given level of pay</a:t>
            </a:r>
          </a:p>
          <a:p>
            <a:pPr lvl="1"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200" dirty="0"/>
              <a:t>firms must offer compensation for undesirable characteristics</a:t>
            </a:r>
          </a:p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200" dirty="0"/>
              <a:t>Workers are </a:t>
            </a:r>
            <a:r>
              <a:rPr lang="en-US" sz="3200" u="sng" dirty="0">
                <a:solidFill>
                  <a:srgbClr val="FFC000"/>
                </a:solidFill>
              </a:rPr>
              <a:t>not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/>
              <a:t>perfect substitutes</a:t>
            </a:r>
          </a:p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200" dirty="0"/>
              <a:t>Information </a:t>
            </a:r>
            <a:r>
              <a:rPr lang="en-US" sz="3200" u="sng" dirty="0">
                <a:solidFill>
                  <a:srgbClr val="FFC000"/>
                </a:solidFill>
              </a:rPr>
              <a:t>is</a:t>
            </a:r>
            <a:r>
              <a:rPr lang="en-US" sz="3200" dirty="0">
                <a:solidFill>
                  <a:srgbClr val="C00000"/>
                </a:solidFill>
              </a:rPr>
              <a:t> </a:t>
            </a:r>
            <a:r>
              <a:rPr lang="en-US" sz="3200" dirty="0"/>
              <a:t>costly</a:t>
            </a:r>
          </a:p>
          <a:p>
            <a:pPr>
              <a:lnSpc>
                <a:spcPct val="90000"/>
              </a:lnSpc>
              <a:buClr>
                <a:srgbClr val="000066"/>
              </a:buClr>
            </a:pPr>
            <a:r>
              <a:rPr lang="en-US" sz="3200" dirty="0"/>
              <a:t>Jobs may be </a:t>
            </a:r>
            <a:r>
              <a:rPr lang="en-US" sz="3200" u="sng" dirty="0">
                <a:solidFill>
                  <a:srgbClr val="FFC000"/>
                </a:solidFill>
              </a:rPr>
              <a:t>long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/>
              <a:t>term</a:t>
            </a:r>
          </a:p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200" dirty="0"/>
              <a:t>Compensation takes </a:t>
            </a:r>
            <a:r>
              <a:rPr lang="en-US" sz="3200" u="sng" dirty="0">
                <a:solidFill>
                  <a:srgbClr val="FFC000"/>
                </a:solidFill>
              </a:rPr>
              <a:t>many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/>
              <a:t>forms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5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158982" y="5807055"/>
            <a:ext cx="1820091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dirty="0">
                <a:solidFill>
                  <a:srgbClr val="006600"/>
                </a:solidFill>
              </a:rPr>
              <a:t>Sammenlign med planche 3.</a:t>
            </a:r>
          </a:p>
        </p:txBody>
      </p:sp>
      <p:pic>
        <p:nvPicPr>
          <p:cNvPr id="4" name="Picture 2" descr="Unrealistic Expectations? – Writing your first novel-Things you should know">
            <a:extLst>
              <a:ext uri="{FF2B5EF4-FFF2-40B4-BE49-F238E27FC236}">
                <a16:creationId xmlns:a16="http://schemas.microsoft.com/office/drawing/2014/main" id="{2FE78442-738D-9C58-59B7-B02E2E9271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46" t="364" r="-359" b="-364"/>
          <a:stretch>
            <a:fillRect/>
          </a:stretch>
        </p:blipFill>
        <p:spPr bwMode="auto">
          <a:xfrm>
            <a:off x="9136269" y="2026625"/>
            <a:ext cx="2578721" cy="369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190E66-74E0-5022-4B0B-2EF34C9975EA}"/>
              </a:ext>
            </a:extLst>
          </p:cNvPr>
          <p:cNvSpPr txBox="1"/>
          <p:nvPr/>
        </p:nvSpPr>
        <p:spPr>
          <a:xfrm>
            <a:off x="9133701" y="5718736"/>
            <a:ext cx="244169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writingyourfirstnovelblog.com</a:t>
            </a:r>
            <a:r>
              <a:rPr lang="en-US" sz="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/2019/11/07/unrealistic-expectations/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CF6E40-FD34-49C2-4796-18883CFBA8C1}"/>
              </a:ext>
            </a:extLst>
          </p:cNvPr>
          <p:cNvSpPr/>
          <p:nvPr/>
        </p:nvSpPr>
        <p:spPr>
          <a:xfrm>
            <a:off x="9576887" y="2200925"/>
            <a:ext cx="1091113" cy="171214"/>
          </a:xfrm>
          <a:prstGeom prst="rect">
            <a:avLst/>
          </a:prstGeom>
          <a:solidFill>
            <a:schemeClr val="tx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0F1406"/>
                </a:solidFill>
              </a:rPr>
              <a:t>(closer to)</a:t>
            </a:r>
          </a:p>
        </p:txBody>
      </p:sp>
    </p:spTree>
    <p:extLst>
      <p:ext uri="{BB962C8B-B14F-4D97-AF65-F5344CB8AC3E}">
        <p14:creationId xmlns:p14="http://schemas.microsoft.com/office/powerpoint/2010/main" val="3249702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40674" y="215537"/>
            <a:ext cx="8229600" cy="1143000"/>
          </a:xfrm>
        </p:spPr>
        <p:txBody>
          <a:bodyPr/>
          <a:lstStyle/>
          <a:p>
            <a:r>
              <a:rPr lang="en-US" dirty="0"/>
              <a:t>Human Capital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45474" y="1358537"/>
            <a:ext cx="9601200" cy="50292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3400" dirty="0"/>
              <a:t>Individuals differ in their abilities, skills and training</a:t>
            </a:r>
          </a:p>
          <a:p>
            <a:pPr>
              <a:lnSpc>
                <a:spcPct val="90000"/>
              </a:lnSpc>
            </a:pPr>
            <a:r>
              <a:rPr lang="en-US" sz="3400" dirty="0">
                <a:solidFill>
                  <a:srgbClr val="FFC000"/>
                </a:solidFill>
              </a:rPr>
              <a:t>General human capital </a:t>
            </a:r>
            <a:r>
              <a:rPr lang="en-US" sz="3400" dirty="0"/>
              <a:t>is applicable to many firms;</a:t>
            </a:r>
          </a:p>
          <a:p>
            <a:pPr lvl="1">
              <a:lnSpc>
                <a:spcPct val="90000"/>
              </a:lnSpc>
            </a:pPr>
            <a:r>
              <a:rPr lang="en-US" sz="3400" dirty="0">
                <a:solidFill>
                  <a:srgbClr val="FFC000"/>
                </a:solidFill>
              </a:rPr>
              <a:t>workers</a:t>
            </a:r>
            <a:r>
              <a:rPr lang="en-US" sz="3400" dirty="0"/>
              <a:t> are willing to pay for </a:t>
            </a:r>
            <a:r>
              <a:rPr lang="en-US" sz="3400" dirty="0">
                <a:solidFill>
                  <a:srgbClr val="FFC000"/>
                </a:solidFill>
              </a:rPr>
              <a:t>general</a:t>
            </a:r>
            <a:r>
              <a:rPr lang="en-US" sz="3400" dirty="0"/>
              <a:t> training, the firm is not; the benefit goes to the worker!</a:t>
            </a:r>
          </a:p>
          <a:p>
            <a:pPr>
              <a:lnSpc>
                <a:spcPct val="90000"/>
              </a:lnSpc>
            </a:pPr>
            <a:r>
              <a:rPr lang="en-US" sz="3400" dirty="0">
                <a:solidFill>
                  <a:srgbClr val="FFC000"/>
                </a:solidFill>
              </a:rPr>
              <a:t>Specific human capital </a:t>
            </a:r>
            <a:r>
              <a:rPr lang="en-US" sz="3400" dirty="0"/>
              <a:t>is useful to the current employer, but does not have much value outside the job;</a:t>
            </a:r>
          </a:p>
          <a:p>
            <a:pPr lvl="1">
              <a:lnSpc>
                <a:spcPct val="90000"/>
              </a:lnSpc>
            </a:pPr>
            <a:r>
              <a:rPr lang="en-US" sz="3400" dirty="0">
                <a:solidFill>
                  <a:srgbClr val="FFC000"/>
                </a:solidFill>
              </a:rPr>
              <a:t>the firm </a:t>
            </a:r>
            <a:r>
              <a:rPr lang="en-US" sz="3400" dirty="0"/>
              <a:t>is willing to pay for </a:t>
            </a:r>
            <a:r>
              <a:rPr lang="en-US" sz="3400" dirty="0">
                <a:solidFill>
                  <a:srgbClr val="FFC000"/>
                </a:solidFill>
              </a:rPr>
              <a:t>specific</a:t>
            </a:r>
            <a:r>
              <a:rPr lang="en-US" sz="3400" dirty="0"/>
              <a:t> training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942999" y="6074563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256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938336" y="389481"/>
            <a:ext cx="8534400" cy="1143000"/>
          </a:xfrm>
        </p:spPr>
        <p:txBody>
          <a:bodyPr/>
          <a:lstStyle/>
          <a:p>
            <a:r>
              <a:rPr lang="en-US" dirty="0"/>
              <a:t>Compensating Wage Differentials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7280" y="1532481"/>
            <a:ext cx="9601200" cy="3581400"/>
          </a:xfrm>
        </p:spPr>
        <p:txBody>
          <a:bodyPr>
            <a:noAutofit/>
          </a:bodyPr>
          <a:lstStyle/>
          <a:p>
            <a:r>
              <a:rPr lang="en-US" sz="3200" dirty="0"/>
              <a:t>Firms have to </a:t>
            </a:r>
            <a:r>
              <a:rPr lang="en-US" sz="3200" dirty="0">
                <a:solidFill>
                  <a:srgbClr val="FFC000"/>
                </a:solidFill>
              </a:rPr>
              <a:t>pay extra </a:t>
            </a:r>
            <a:r>
              <a:rPr lang="en-US" sz="3200" dirty="0"/>
              <a:t>compensation to attract workers to less desirable jobs – def. 440ø.</a:t>
            </a:r>
          </a:p>
          <a:p>
            <a:r>
              <a:rPr lang="en-US" sz="3200" dirty="0"/>
              <a:t>Individuals averse to these less desirable job attributes choose a lower paying job without these attributes</a:t>
            </a:r>
          </a:p>
          <a:p>
            <a:r>
              <a:rPr lang="en-US" sz="3200" dirty="0"/>
              <a:t>Workers and firms are matched by workers desire for job attributes and the firm’s ability to offer these jobs</a:t>
            </a:r>
          </a:p>
        </p:txBody>
      </p:sp>
      <p:sp>
        <p:nvSpPr>
          <p:cNvPr id="6" name="Tekstboks 5"/>
          <p:cNvSpPr txBox="1"/>
          <p:nvPr/>
        </p:nvSpPr>
        <p:spPr>
          <a:xfrm>
            <a:off x="9805182" y="5672106"/>
            <a:ext cx="2386818" cy="830997"/>
          </a:xfrm>
          <a:prstGeom prst="rect">
            <a:avLst/>
          </a:prstGeom>
          <a:solidFill>
            <a:srgbClr val="FFFF00"/>
          </a:solidFill>
          <a:ln>
            <a:solidFill>
              <a:srgbClr val="0F1406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rgbClr val="006600"/>
                </a:solidFill>
              </a:rPr>
              <a:t>Bemærk MA-casen; </a:t>
            </a:r>
          </a:p>
          <a:p>
            <a:r>
              <a:rPr lang="da-DK" sz="1600" dirty="0">
                <a:solidFill>
                  <a:srgbClr val="006600"/>
                </a:solidFill>
              </a:rPr>
              <a:t>Slime Line/Bill </a:t>
            </a:r>
            <a:r>
              <a:rPr lang="da-DK" sz="1600" dirty="0" err="1">
                <a:solidFill>
                  <a:srgbClr val="006600"/>
                </a:solidFill>
              </a:rPr>
              <a:t>Razpotnik</a:t>
            </a:r>
            <a:r>
              <a:rPr lang="da-DK" sz="1600" dirty="0">
                <a:solidFill>
                  <a:srgbClr val="006600"/>
                </a:solidFill>
              </a:rPr>
              <a:t>;</a:t>
            </a:r>
          </a:p>
          <a:p>
            <a:r>
              <a:rPr lang="da-DK" sz="1600" dirty="0">
                <a:solidFill>
                  <a:srgbClr val="006600"/>
                </a:solidFill>
              </a:rPr>
              <a:t>reglen eller undtagelsen?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799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857794" y="252214"/>
            <a:ext cx="8229600" cy="990600"/>
          </a:xfrm>
        </p:spPr>
        <p:txBody>
          <a:bodyPr/>
          <a:lstStyle/>
          <a:p>
            <a:pPr eaLnBrk="1" hangingPunct="1"/>
            <a:r>
              <a:rPr lang="en-US" dirty="0"/>
              <a:t>Internal Labor Markets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0971" y="1242814"/>
            <a:ext cx="8741229" cy="4853186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/>
              <a:t>Outside hiring is (usually) for entry level jobs</a:t>
            </a:r>
          </a:p>
          <a:p>
            <a:pPr eaLnBrk="1" hangingPunct="1"/>
            <a:r>
              <a:rPr lang="en-US" sz="2800" dirty="0"/>
              <a:t>Promotions are (usually) from within</a:t>
            </a:r>
          </a:p>
          <a:p>
            <a:pPr lvl="1" eaLnBrk="1" hangingPunct="1"/>
            <a:r>
              <a:rPr lang="en-US" sz="2800" dirty="0"/>
              <a:t>(</a:t>
            </a:r>
            <a:r>
              <a:rPr lang="en-US" sz="2800" dirty="0" err="1"/>
              <a:t>ind</a:t>
            </a:r>
            <a:r>
              <a:rPr lang="en-US" sz="2800" dirty="0"/>
              <a:t> – og </a:t>
            </a:r>
            <a:r>
              <a:rPr lang="en-US" sz="2800" dirty="0" err="1"/>
              <a:t>derefter</a:t>
            </a:r>
            <a:r>
              <a:rPr lang="en-US" sz="2800" dirty="0"/>
              <a:t> </a:t>
            </a:r>
            <a:r>
              <a:rPr lang="en-US" sz="2800" dirty="0" err="1"/>
              <a:t>opslusning</a:t>
            </a:r>
            <a:r>
              <a:rPr lang="en-US" sz="2800" dirty="0"/>
              <a:t> ….. med </a:t>
            </a:r>
            <a:r>
              <a:rPr lang="en-US" sz="2800" dirty="0" err="1"/>
              <a:t>undtagelser</a:t>
            </a:r>
            <a:r>
              <a:rPr lang="en-US" sz="2800" dirty="0"/>
              <a:t>…)</a:t>
            </a:r>
          </a:p>
          <a:p>
            <a:pPr eaLnBrk="1" hangingPunct="1"/>
            <a:r>
              <a:rPr lang="en-US" sz="2800" dirty="0"/>
              <a:t>These (promotions) helps establish a long-term employment relationship</a:t>
            </a:r>
          </a:p>
          <a:p>
            <a:pPr eaLnBrk="1" hangingPunct="1"/>
            <a:r>
              <a:rPr lang="en-US" sz="2800" dirty="0" err="1"/>
              <a:t>Ramme</a:t>
            </a:r>
            <a:r>
              <a:rPr lang="en-US" sz="2800" dirty="0"/>
              <a:t> 443m. (</a:t>
            </a:r>
            <a:r>
              <a:rPr lang="en-US" sz="2800" dirty="0" err="1"/>
              <a:t>vigtigt</a:t>
            </a:r>
            <a:r>
              <a:rPr lang="en-US" sz="2800" dirty="0"/>
              <a:t>); </a:t>
            </a:r>
          </a:p>
          <a:p>
            <a:pPr lvl="1" eaLnBrk="1" hangingPunct="1"/>
            <a:r>
              <a:rPr lang="en-US" sz="2800" dirty="0" err="1">
                <a:solidFill>
                  <a:srgbClr val="FFC000"/>
                </a:solidFill>
              </a:rPr>
              <a:t>Explicitte</a:t>
            </a:r>
            <a:r>
              <a:rPr lang="en-US" sz="2800" dirty="0">
                <a:solidFill>
                  <a:srgbClr val="FFC000"/>
                </a:solidFill>
              </a:rPr>
              <a:t> </a:t>
            </a:r>
            <a:r>
              <a:rPr lang="en-US" sz="2800" dirty="0" err="1">
                <a:solidFill>
                  <a:srgbClr val="FFC000"/>
                </a:solidFill>
              </a:rPr>
              <a:t>kontrakter</a:t>
            </a:r>
            <a:r>
              <a:rPr lang="en-US" sz="2800" dirty="0">
                <a:solidFill>
                  <a:srgbClr val="FFC000"/>
                </a:solidFill>
              </a:rPr>
              <a:t> </a:t>
            </a:r>
            <a:r>
              <a:rPr lang="en-US" sz="2800" dirty="0"/>
              <a:t>– formal written agreements</a:t>
            </a:r>
          </a:p>
          <a:p>
            <a:pPr lvl="1" eaLnBrk="1" hangingPunct="1"/>
            <a:r>
              <a:rPr lang="en-US" sz="2800" dirty="0" err="1">
                <a:solidFill>
                  <a:srgbClr val="FFC000"/>
                </a:solidFill>
              </a:rPr>
              <a:t>Implicitte</a:t>
            </a:r>
            <a:r>
              <a:rPr lang="en-US" sz="2800" dirty="0">
                <a:solidFill>
                  <a:srgbClr val="FFC000"/>
                </a:solidFill>
              </a:rPr>
              <a:t> </a:t>
            </a:r>
            <a:r>
              <a:rPr lang="en-US" sz="2800" dirty="0" err="1">
                <a:solidFill>
                  <a:srgbClr val="FFC000"/>
                </a:solidFill>
              </a:rPr>
              <a:t>kontrakter</a:t>
            </a:r>
            <a:r>
              <a:rPr lang="en-US" sz="2800" dirty="0">
                <a:solidFill>
                  <a:srgbClr val="FFC000"/>
                </a:solidFill>
              </a:rPr>
              <a:t> </a:t>
            </a:r>
            <a:r>
              <a:rPr lang="en-US" sz="2800" dirty="0"/>
              <a:t>– shared informal understandings</a:t>
            </a:r>
          </a:p>
        </p:txBody>
      </p:sp>
      <p:cxnSp>
        <p:nvCxnSpPr>
          <p:cNvPr id="3" name="Lige pilforbindelse 2"/>
          <p:cNvCxnSpPr/>
          <p:nvPr/>
        </p:nvCxnSpPr>
        <p:spPr>
          <a:xfrm>
            <a:off x="6975566" y="1750423"/>
            <a:ext cx="434502" cy="672043"/>
          </a:xfrm>
          <a:prstGeom prst="straightConnector1">
            <a:avLst/>
          </a:prstGeom>
          <a:ln>
            <a:solidFill>
              <a:srgbClr val="FFC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855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988423" y="313508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Long Term Relationships (LTR)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8423" y="1306286"/>
            <a:ext cx="9601200" cy="4702628"/>
          </a:xfrm>
        </p:spPr>
        <p:txBody>
          <a:bodyPr/>
          <a:lstStyle/>
          <a:p>
            <a:pPr eaLnBrk="1" hangingPunct="1"/>
            <a:endParaRPr lang="en-US" dirty="0"/>
          </a:p>
          <a:p>
            <a:pPr eaLnBrk="1" hangingPunct="1"/>
            <a:r>
              <a:rPr lang="en-US" sz="3600" dirty="0"/>
              <a:t>Through incentives LTR results in greater levels of firm-specific human capital investment - </a:t>
            </a:r>
            <a:r>
              <a:rPr lang="en-US" sz="3600" u="sng" dirty="0"/>
              <a:t>spot market exchange is expensive in the long run </a:t>
            </a:r>
            <a:r>
              <a:rPr lang="en-US" sz="3600" dirty="0"/>
              <a:t>for firms (</a:t>
            </a:r>
            <a:r>
              <a:rPr lang="en-US" sz="3600" dirty="0" err="1"/>
              <a:t>jvf</a:t>
            </a:r>
            <a:r>
              <a:rPr lang="en-US" sz="3600" dirty="0"/>
              <a:t>. </a:t>
            </a:r>
            <a:r>
              <a:rPr lang="en-US" sz="3600" dirty="0" err="1"/>
              <a:t>også</a:t>
            </a:r>
            <a:r>
              <a:rPr lang="en-US" sz="3600" dirty="0"/>
              <a:t> </a:t>
            </a:r>
            <a:r>
              <a:rPr lang="en-US" sz="3600" dirty="0" err="1"/>
              <a:t>kap</a:t>
            </a:r>
            <a:r>
              <a:rPr lang="en-US" sz="3600" dirty="0"/>
              <a:t>. 19).</a:t>
            </a:r>
          </a:p>
          <a:p>
            <a:pPr eaLnBrk="1" hangingPunct="1"/>
            <a:r>
              <a:rPr lang="en-US" sz="3600" dirty="0"/>
              <a:t>LTR leads to greater employee motivation.</a:t>
            </a:r>
          </a:p>
          <a:p>
            <a:pPr eaLnBrk="1" hangingPunct="1"/>
            <a:r>
              <a:rPr lang="en-US" sz="3600" dirty="0"/>
              <a:t>LTR accomplish a better matching of employees to jobs over time.</a:t>
            </a:r>
          </a:p>
          <a:p>
            <a:pPr eaLnBrk="1" hangingPunct="1"/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096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88423" y="350520"/>
            <a:ext cx="8229600" cy="1143000"/>
          </a:xfrm>
        </p:spPr>
        <p:txBody>
          <a:bodyPr/>
          <a:lstStyle/>
          <a:p>
            <a:pPr eaLnBrk="1" hangingPunct="1">
              <a:buClr>
                <a:srgbClr val="990033"/>
              </a:buClr>
            </a:pPr>
            <a:r>
              <a:rPr lang="en-US" dirty="0"/>
              <a:t>Pay in Internal Labor Markets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67828" y="1698171"/>
            <a:ext cx="9601200" cy="4169229"/>
          </a:xfrm>
        </p:spPr>
        <p:txBody>
          <a:bodyPr/>
          <a:lstStyle/>
          <a:p>
            <a:pPr eaLnBrk="1" hangingPunct="1">
              <a:buClr>
                <a:srgbClr val="000066"/>
              </a:buClr>
            </a:pPr>
            <a:endParaRPr lang="en-US" dirty="0"/>
          </a:p>
          <a:p>
            <a:pPr eaLnBrk="1" hangingPunct="1">
              <a:buClr>
                <a:schemeClr val="accent3">
                  <a:lumMod val="75000"/>
                </a:schemeClr>
              </a:buClr>
            </a:pPr>
            <a:r>
              <a:rPr lang="en-US" sz="3600" dirty="0"/>
              <a:t>Since ‘relationships’ are longer term, </a:t>
            </a:r>
            <a:r>
              <a:rPr lang="en-US" sz="3600" u="sng" dirty="0"/>
              <a:t>career earnings</a:t>
            </a:r>
            <a:r>
              <a:rPr lang="en-US" sz="3600" dirty="0"/>
              <a:t> are used in decision making </a:t>
            </a:r>
            <a:r>
              <a:rPr lang="en-US" sz="3600" u="sng" dirty="0">
                <a:solidFill>
                  <a:schemeClr val="bg1"/>
                </a:solidFill>
              </a:rPr>
              <a:t>instead</a:t>
            </a:r>
            <a:r>
              <a:rPr lang="en-US" sz="3600" dirty="0">
                <a:solidFill>
                  <a:schemeClr val="bg1"/>
                </a:solidFill>
              </a:rPr>
              <a:t> of</a:t>
            </a:r>
            <a:r>
              <a:rPr lang="en-US" sz="3600" dirty="0">
                <a:solidFill>
                  <a:srgbClr val="002060"/>
                </a:solidFill>
              </a:rPr>
              <a:t> MRP</a:t>
            </a:r>
            <a:r>
              <a:rPr lang="en-US" sz="3600" dirty="0"/>
              <a:t>: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3600" dirty="0"/>
              <a:t>Firms can pay </a:t>
            </a:r>
            <a:r>
              <a:rPr lang="en-US" sz="3600" dirty="0">
                <a:solidFill>
                  <a:schemeClr val="bg1"/>
                </a:solidFill>
              </a:rPr>
              <a:t>below</a:t>
            </a:r>
            <a:r>
              <a:rPr lang="en-US" sz="3600" dirty="0">
                <a:solidFill>
                  <a:srgbClr val="FFC000"/>
                </a:solidFill>
              </a:rPr>
              <a:t> </a:t>
            </a:r>
            <a:r>
              <a:rPr lang="en-US" sz="3600" dirty="0">
                <a:solidFill>
                  <a:srgbClr val="002060"/>
                </a:solidFill>
              </a:rPr>
              <a:t>MRP</a:t>
            </a:r>
            <a:r>
              <a:rPr lang="en-US" sz="3600" dirty="0">
                <a:solidFill>
                  <a:srgbClr val="FFC000"/>
                </a:solidFill>
              </a:rPr>
              <a:t> </a:t>
            </a:r>
            <a:r>
              <a:rPr lang="en-US" sz="3600" dirty="0">
                <a:solidFill>
                  <a:schemeClr val="bg1"/>
                </a:solidFill>
              </a:rPr>
              <a:t>initially</a:t>
            </a:r>
            <a:r>
              <a:rPr lang="en-US" sz="3600" dirty="0">
                <a:solidFill>
                  <a:srgbClr val="FF6600"/>
                </a:solidFill>
              </a:rPr>
              <a:t> </a:t>
            </a:r>
            <a:r>
              <a:rPr lang="en-US" sz="3600" dirty="0"/>
              <a:t>and 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Above</a:t>
            </a:r>
            <a:r>
              <a:rPr lang="en-US" sz="3600" dirty="0">
                <a:solidFill>
                  <a:srgbClr val="FFC000"/>
                </a:solidFill>
              </a:rPr>
              <a:t> </a:t>
            </a:r>
            <a:r>
              <a:rPr lang="en-US" sz="3600" dirty="0">
                <a:solidFill>
                  <a:srgbClr val="002060"/>
                </a:solidFill>
              </a:rPr>
              <a:t>MRP</a:t>
            </a:r>
            <a:r>
              <a:rPr lang="en-US" sz="3600" dirty="0">
                <a:solidFill>
                  <a:srgbClr val="FFC000"/>
                </a:solidFill>
              </a:rPr>
              <a:t> </a:t>
            </a:r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later</a:t>
            </a:r>
            <a:r>
              <a:rPr lang="en-US" sz="3600" dirty="0">
                <a:solidFill>
                  <a:srgbClr val="FF6600"/>
                </a:solidFill>
              </a:rPr>
              <a:t> </a:t>
            </a:r>
            <a:r>
              <a:rPr lang="en-US" sz="3600" dirty="0"/>
              <a:t>in the relationship….</a:t>
            </a:r>
          </a:p>
          <a:p>
            <a:pPr eaLnBrk="1" hangingPunct="1">
              <a:buClr>
                <a:srgbClr val="000066"/>
              </a:buClr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10</a:t>
            </a:fld>
            <a:endParaRPr lang="en-US" dirty="0"/>
          </a:p>
        </p:txBody>
      </p:sp>
      <p:sp>
        <p:nvSpPr>
          <p:cNvPr id="3" name="Right Arrow 2"/>
          <p:cNvSpPr/>
          <p:nvPr/>
        </p:nvSpPr>
        <p:spPr>
          <a:xfrm>
            <a:off x="8334103" y="5238206"/>
            <a:ext cx="3448594" cy="809897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82266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964475" y="419099"/>
            <a:ext cx="8382000" cy="1143000"/>
          </a:xfrm>
        </p:spPr>
        <p:txBody>
          <a:bodyPr/>
          <a:lstStyle/>
          <a:p>
            <a:pPr eaLnBrk="1" hangingPunct="1"/>
            <a:r>
              <a:rPr lang="en-US" dirty="0"/>
              <a:t>Upward Sloping Earnings Profile</a:t>
            </a:r>
          </a:p>
        </p:txBody>
      </p:sp>
      <p:sp>
        <p:nvSpPr>
          <p:cNvPr id="8200" name="Line 8"/>
          <p:cNvSpPr>
            <a:spLocks noChangeShapeType="1"/>
          </p:cNvSpPr>
          <p:nvPr/>
        </p:nvSpPr>
        <p:spPr bwMode="auto">
          <a:xfrm>
            <a:off x="3733800" y="19812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8201" name="Line 9"/>
          <p:cNvSpPr>
            <a:spLocks noChangeShapeType="1"/>
          </p:cNvSpPr>
          <p:nvPr/>
        </p:nvSpPr>
        <p:spPr bwMode="auto">
          <a:xfrm>
            <a:off x="3733800" y="5791200"/>
            <a:ext cx="388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/>
            <a:tailEnd type="triangle"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8202" name="Line 10"/>
          <p:cNvSpPr>
            <a:spLocks noChangeShapeType="1"/>
          </p:cNvSpPr>
          <p:nvPr/>
        </p:nvSpPr>
        <p:spPr bwMode="auto">
          <a:xfrm flipV="1">
            <a:off x="3733800" y="2438400"/>
            <a:ext cx="3810000" cy="25908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8203" name="Line 11"/>
          <p:cNvSpPr>
            <a:spLocks noChangeShapeType="1"/>
          </p:cNvSpPr>
          <p:nvPr/>
        </p:nvSpPr>
        <p:spPr bwMode="auto">
          <a:xfrm flipV="1">
            <a:off x="3733800" y="3581400"/>
            <a:ext cx="3810000" cy="685800"/>
          </a:xfrm>
          <a:prstGeom prst="line">
            <a:avLst/>
          </a:prstGeom>
          <a:noFill/>
          <a:ln w="28575">
            <a:solidFill>
              <a:srgbClr val="002060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8204" name="Text Box 12"/>
          <p:cNvSpPr txBox="1">
            <a:spLocks noChangeArrowheads="1"/>
          </p:cNvSpPr>
          <p:nvPr/>
        </p:nvSpPr>
        <p:spPr bwMode="auto">
          <a:xfrm>
            <a:off x="4800600" y="5943600"/>
            <a:ext cx="2362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0F1406"/>
                </a:solidFill>
              </a:rPr>
              <a:t>Tenure with the firm</a:t>
            </a:r>
          </a:p>
        </p:txBody>
      </p:sp>
      <p:sp>
        <p:nvSpPr>
          <p:cNvPr id="8205" name="Text Box 13"/>
          <p:cNvSpPr txBox="1">
            <a:spLocks noChangeArrowheads="1"/>
          </p:cNvSpPr>
          <p:nvPr/>
        </p:nvSpPr>
        <p:spPr bwMode="auto">
          <a:xfrm>
            <a:off x="7620000" y="56388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 dirty="0">
                <a:solidFill>
                  <a:srgbClr val="0F1406"/>
                </a:solidFill>
              </a:rPr>
              <a:t>T</a:t>
            </a:r>
          </a:p>
        </p:txBody>
      </p:sp>
      <p:sp>
        <p:nvSpPr>
          <p:cNvPr id="8206" name="Text Box 14"/>
          <p:cNvSpPr txBox="1">
            <a:spLocks noChangeArrowheads="1"/>
          </p:cNvSpPr>
          <p:nvPr/>
        </p:nvSpPr>
        <p:spPr bwMode="auto">
          <a:xfrm>
            <a:off x="3581400" y="16764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0F1406"/>
                </a:solidFill>
              </a:rPr>
              <a:t>$</a:t>
            </a:r>
          </a:p>
        </p:txBody>
      </p:sp>
      <p:sp>
        <p:nvSpPr>
          <p:cNvPr id="8207" name="Text Box 15"/>
          <p:cNvSpPr txBox="1">
            <a:spLocks noChangeArrowheads="1"/>
          </p:cNvSpPr>
          <p:nvPr/>
        </p:nvSpPr>
        <p:spPr bwMode="auto">
          <a:xfrm rot="16200000">
            <a:off x="2286000" y="3581400"/>
            <a:ext cx="167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0F1406"/>
                </a:solidFill>
              </a:rPr>
              <a:t>Salary (in dollars)</a:t>
            </a:r>
          </a:p>
        </p:txBody>
      </p:sp>
      <p:sp>
        <p:nvSpPr>
          <p:cNvPr id="8208" name="Text Box 16"/>
          <p:cNvSpPr txBox="1">
            <a:spLocks noChangeArrowheads="1"/>
          </p:cNvSpPr>
          <p:nvPr/>
        </p:nvSpPr>
        <p:spPr bwMode="auto">
          <a:xfrm>
            <a:off x="7620000" y="2209800"/>
            <a:ext cx="1371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C00000"/>
                </a:solidFill>
              </a:rPr>
              <a:t>Compensation</a:t>
            </a:r>
          </a:p>
        </p:txBody>
      </p:sp>
      <p:sp>
        <p:nvSpPr>
          <p:cNvPr id="8209" name="Text Box 17"/>
          <p:cNvSpPr txBox="1">
            <a:spLocks noChangeArrowheads="1"/>
          </p:cNvSpPr>
          <p:nvPr/>
        </p:nvSpPr>
        <p:spPr bwMode="auto">
          <a:xfrm>
            <a:off x="7620000" y="3352800"/>
            <a:ext cx="2286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002060"/>
                </a:solidFill>
              </a:rPr>
              <a:t>Marginal Revenue Product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449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44731" y="258764"/>
            <a:ext cx="8229600" cy="1143000"/>
          </a:xfrm>
        </p:spPr>
        <p:txBody>
          <a:bodyPr/>
          <a:lstStyle/>
          <a:p>
            <a:pPr eaLnBrk="1" hangingPunct="1">
              <a:buClr>
                <a:srgbClr val="990033"/>
              </a:buClr>
            </a:pPr>
            <a:r>
              <a:rPr lang="en-US" dirty="0"/>
              <a:t>Pay in Internal Markets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8057" y="1490893"/>
            <a:ext cx="8331200" cy="4525963"/>
          </a:xfrm>
        </p:spPr>
        <p:txBody>
          <a:bodyPr>
            <a:normAutofit/>
          </a:bodyPr>
          <a:lstStyle/>
          <a:p>
            <a:pPr eaLnBrk="1" hangingPunct="1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rgbClr val="FFC000"/>
                </a:solidFill>
              </a:rPr>
              <a:t>Efficiency wages</a:t>
            </a:r>
            <a:r>
              <a:rPr lang="en-US" sz="2600" dirty="0"/>
              <a:t>; </a:t>
            </a:r>
          </a:p>
          <a:p>
            <a:pPr lvl="1" eaLnBrk="1" hangingPunct="1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rgbClr val="FFC000"/>
                </a:solidFill>
              </a:rPr>
              <a:t>def.; compensating higher than market rates when monitoring and precise measurement is difficult</a:t>
            </a:r>
          </a:p>
          <a:p>
            <a:pPr lvl="1" eaLnBrk="1" hangingPunct="1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2600" dirty="0"/>
              <a:t>can motivate workers not to shirk, make good quality and quantity</a:t>
            </a:r>
          </a:p>
          <a:p>
            <a:pPr eaLnBrk="1" hangingPunct="1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2600" dirty="0"/>
              <a:t>Compensation typically rises with seniority due to higher productivity</a:t>
            </a:r>
          </a:p>
          <a:p>
            <a:pPr eaLnBrk="1" hangingPunct="1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2600" dirty="0"/>
              <a:t>Incentives to work in best interest of the firm, acquire firm-specific human capital</a:t>
            </a:r>
          </a:p>
        </p:txBody>
      </p:sp>
      <p:sp>
        <p:nvSpPr>
          <p:cNvPr id="6" name="Tekstboks 5"/>
          <p:cNvSpPr txBox="1"/>
          <p:nvPr/>
        </p:nvSpPr>
        <p:spPr>
          <a:xfrm>
            <a:off x="9982633" y="842122"/>
            <a:ext cx="2172789" cy="5693866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a-DK" sz="1400" dirty="0" err="1"/>
              <a:t>Reduce</a:t>
            </a:r>
            <a:r>
              <a:rPr lang="da-DK" sz="1400" dirty="0"/>
              <a:t> </a:t>
            </a:r>
            <a:r>
              <a:rPr lang="da-DK" sz="1400" dirty="0" err="1"/>
              <a:t>corruption</a:t>
            </a:r>
            <a:r>
              <a:rPr lang="da-DK" sz="1400" dirty="0"/>
              <a:t> in the Chicago Police Force, p. 446 (central case)!</a:t>
            </a:r>
          </a:p>
          <a:p>
            <a:endParaRPr lang="da-DK" sz="1400" dirty="0"/>
          </a:p>
          <a:p>
            <a:r>
              <a:rPr lang="da-DK" sz="1400" dirty="0"/>
              <a:t>1) Høj straf + lille sandsynlighed for at blive opdaget blev ‘oversat’ til ‘</a:t>
            </a:r>
            <a:r>
              <a:rPr lang="da-DK" sz="1400" dirty="0" err="1"/>
              <a:t>high</a:t>
            </a:r>
            <a:r>
              <a:rPr lang="da-DK" sz="1400" dirty="0"/>
              <a:t> </a:t>
            </a:r>
            <a:r>
              <a:rPr lang="da-DK" sz="1400" dirty="0" err="1"/>
              <a:t>efficiency</a:t>
            </a:r>
            <a:r>
              <a:rPr lang="da-DK" sz="1400" dirty="0"/>
              <a:t> </a:t>
            </a:r>
            <a:r>
              <a:rPr lang="da-DK" sz="1400" dirty="0" err="1"/>
              <a:t>wages</a:t>
            </a:r>
            <a:r>
              <a:rPr lang="da-DK" sz="1400" dirty="0"/>
              <a:t>’</a:t>
            </a:r>
          </a:p>
          <a:p>
            <a:r>
              <a:rPr lang="da-DK" sz="1400" dirty="0"/>
              <a:t>2) Stillingerne blev solgt ‘på auktion’ til de </a:t>
            </a:r>
            <a:r>
              <a:rPr lang="da-DK" sz="1400" dirty="0" err="1"/>
              <a:t>ansøge-re</a:t>
            </a:r>
            <a:r>
              <a:rPr lang="da-DK" sz="1400" dirty="0"/>
              <a:t>, der havde mest tillid til, at de ville kunne modstå bestikkelse (tillid til sig selv) =&gt; </a:t>
            </a:r>
          </a:p>
          <a:p>
            <a:pPr marL="342900" indent="-342900">
              <a:buAutoNum type="alphaLcParenR"/>
            </a:pPr>
            <a:r>
              <a:rPr lang="da-DK" sz="1400" dirty="0"/>
              <a:t>den høje løn ville blive deres, samt,</a:t>
            </a:r>
          </a:p>
          <a:p>
            <a:pPr marL="342900" indent="-342900">
              <a:buAutoNum type="alphaLcParenR"/>
            </a:pPr>
            <a:r>
              <a:rPr lang="da-DK" sz="1400" dirty="0" err="1"/>
              <a:t>bonding-costen</a:t>
            </a:r>
            <a:r>
              <a:rPr lang="da-DK" sz="1400" dirty="0"/>
              <a:t>/ auktionsprisen for at få stillingen, ville blive tilbagebetalt ved </a:t>
            </a:r>
            <a:r>
              <a:rPr lang="da-DK" sz="1400" dirty="0" err="1"/>
              <a:t>ansættelsesforhol-dets</a:t>
            </a:r>
            <a:r>
              <a:rPr lang="da-DK" sz="1400" dirty="0"/>
              <a:t> ophør, hvis de ansatte undlod at tage imod </a:t>
            </a:r>
            <a:r>
              <a:rPr lang="da-DK" sz="1400" dirty="0" err="1"/>
              <a:t>bestik-kelse</a:t>
            </a:r>
            <a:r>
              <a:rPr lang="da-DK" sz="1400" dirty="0"/>
              <a:t> medens de var ansat.</a:t>
            </a:r>
          </a:p>
        </p:txBody>
      </p:sp>
      <p:sp>
        <p:nvSpPr>
          <p:cNvPr id="7" name="Tekstboks 6"/>
          <p:cNvSpPr txBox="1"/>
          <p:nvPr/>
        </p:nvSpPr>
        <p:spPr>
          <a:xfrm>
            <a:off x="1328057" y="6016856"/>
            <a:ext cx="3975463" cy="523220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da-DK" sz="2800" dirty="0"/>
              <a:t>Ramme 445 – 450!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12</a:t>
            </a:fld>
            <a:endParaRPr lang="en-US" dirty="0"/>
          </a:p>
        </p:txBody>
      </p:sp>
      <p:cxnSp>
        <p:nvCxnSpPr>
          <p:cNvPr id="4" name="Lige pilforbindelse 3"/>
          <p:cNvCxnSpPr>
            <a:cxnSpLocks/>
          </p:cNvCxnSpPr>
          <p:nvPr/>
        </p:nvCxnSpPr>
        <p:spPr>
          <a:xfrm>
            <a:off x="2700169" y="1936376"/>
            <a:ext cx="7788537" cy="2054711"/>
          </a:xfrm>
          <a:prstGeom prst="straightConnector1">
            <a:avLst/>
          </a:prstGeom>
          <a:ln w="34925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Lige pilforbindelse 2">
            <a:extLst>
              <a:ext uri="{FF2B5EF4-FFF2-40B4-BE49-F238E27FC236}">
                <a16:creationId xmlns:a16="http://schemas.microsoft.com/office/drawing/2014/main" id="{B9598FC3-4DA6-E9CC-1D5D-9EBC0542C90A}"/>
              </a:ext>
            </a:extLst>
          </p:cNvPr>
          <p:cNvCxnSpPr>
            <a:cxnSpLocks/>
          </p:cNvCxnSpPr>
          <p:nvPr/>
        </p:nvCxnSpPr>
        <p:spPr>
          <a:xfrm>
            <a:off x="2936838" y="1852626"/>
            <a:ext cx="7192835" cy="648771"/>
          </a:xfrm>
          <a:prstGeom prst="straightConnector1">
            <a:avLst/>
          </a:prstGeom>
          <a:ln w="34925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652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857795" y="290035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Promotions as Tournaments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8174" y="1433035"/>
            <a:ext cx="7152523" cy="513493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2700" dirty="0"/>
              <a:t>Employees compete for promotions within the organizational hierarchy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2700" dirty="0"/>
              <a:t>The employee with the best relative performance is chosen </a:t>
            </a:r>
          </a:p>
          <a:p>
            <a:pPr lvl="1" eaLnBrk="1" hangingPunct="1">
              <a:lnSpc>
                <a:spcPct val="90000"/>
              </a:lnSpc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2600" dirty="0"/>
              <a:t>the filtration of random shocks </a:t>
            </a:r>
            <a:r>
              <a:rPr lang="en-US" sz="2600" i="0" dirty="0"/>
              <a:t>(</a:t>
            </a:r>
            <a:r>
              <a:rPr lang="en-US" sz="2600" i="0" dirty="0" err="1"/>
              <a:t>uddybes</a:t>
            </a:r>
            <a:r>
              <a:rPr lang="en-US" sz="2600" i="0" dirty="0"/>
              <a:t> </a:t>
            </a:r>
            <a:r>
              <a:rPr lang="en-US" sz="2600" i="0" dirty="0" err="1"/>
              <a:t>i</a:t>
            </a:r>
            <a:r>
              <a:rPr lang="en-US" sz="2600" i="0" dirty="0"/>
              <a:t> </a:t>
            </a:r>
            <a:r>
              <a:rPr lang="en-US" sz="2600" i="0" dirty="0" err="1"/>
              <a:t>kap</a:t>
            </a:r>
            <a:r>
              <a:rPr lang="en-US" sz="2600" i="0" dirty="0"/>
              <a:t>. 16)</a:t>
            </a:r>
            <a:r>
              <a:rPr lang="en-US" sz="2600" dirty="0"/>
              <a:t>.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2700" dirty="0"/>
              <a:t>Promotion systems have drawbacks;</a:t>
            </a:r>
          </a:p>
          <a:p>
            <a:pPr lvl="1"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2700" dirty="0"/>
              <a:t>undermine cooperation</a:t>
            </a:r>
          </a:p>
          <a:p>
            <a:pPr lvl="1"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2700" dirty="0"/>
              <a:t>are more ‘discrete’ </a:t>
            </a:r>
            <a:r>
              <a:rPr lang="en-US" sz="2700" i="0" dirty="0"/>
              <a:t>(yes/no) </a:t>
            </a:r>
            <a:r>
              <a:rPr lang="en-US" sz="2700" dirty="0"/>
              <a:t>than monetary rewards </a:t>
            </a:r>
            <a:r>
              <a:rPr lang="en-US" sz="2700" i="0" dirty="0"/>
              <a:t>(</a:t>
            </a:r>
            <a:r>
              <a:rPr lang="en-US" sz="2700" i="0" dirty="0" err="1"/>
              <a:t>afstedkommende</a:t>
            </a:r>
            <a:r>
              <a:rPr lang="en-US" sz="2700" i="0" dirty="0"/>
              <a:t> at </a:t>
            </a:r>
            <a:r>
              <a:rPr lang="en-US" sz="2700" i="0" dirty="0" err="1"/>
              <a:t>finjustering</a:t>
            </a:r>
            <a:r>
              <a:rPr lang="en-US" sz="2700" i="0" dirty="0"/>
              <a:t> </a:t>
            </a:r>
            <a:r>
              <a:rPr lang="en-US" sz="2700" i="0" dirty="0" err="1"/>
              <a:t>ved</a:t>
            </a:r>
            <a:r>
              <a:rPr lang="en-US" sz="2700" i="0" dirty="0"/>
              <a:t> ‘monetary rewards’ </a:t>
            </a:r>
            <a:r>
              <a:rPr lang="en-US" sz="2700" i="0" dirty="0" err="1"/>
              <a:t>er</a:t>
            </a:r>
            <a:r>
              <a:rPr lang="en-US" sz="2700" i="0" dirty="0"/>
              <a:t> </a:t>
            </a:r>
            <a:r>
              <a:rPr lang="en-US" sz="2700" i="0" dirty="0" err="1"/>
              <a:t>mulig</a:t>
            </a:r>
            <a:r>
              <a:rPr lang="en-US" sz="2700" i="0" dirty="0"/>
              <a:t>)</a:t>
            </a:r>
          </a:p>
          <a:p>
            <a:pPr lvl="1"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2700" dirty="0"/>
              <a:t>the ‘Peter Principle’ may apply</a:t>
            </a:r>
          </a:p>
          <a:p>
            <a:pPr lvl="1"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2700" dirty="0"/>
              <a:t>employees may not value promotions</a:t>
            </a:r>
          </a:p>
          <a:p>
            <a:pPr lvl="1"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2700" dirty="0"/>
              <a:t>influence costs may rise</a:t>
            </a:r>
          </a:p>
        </p:txBody>
      </p:sp>
      <p:sp>
        <p:nvSpPr>
          <p:cNvPr id="2" name="Tekstboks 1"/>
          <p:cNvSpPr txBox="1"/>
          <p:nvPr/>
        </p:nvSpPr>
        <p:spPr>
          <a:xfrm>
            <a:off x="5975369" y="6198633"/>
            <a:ext cx="1739900" cy="369332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da-DK" dirty="0"/>
              <a:t>Ramme 448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13</a:t>
            </a:fld>
            <a:endParaRPr lang="en-US" dirty="0"/>
          </a:p>
        </p:txBody>
      </p:sp>
      <p:pic>
        <p:nvPicPr>
          <p:cNvPr id="1026" name="Picture 2" descr="Tournament Billeder – Gennemse 1,505,392 stockfotos, vektorer og videoer |  Adobe Stock">
            <a:extLst>
              <a:ext uri="{FF2B5EF4-FFF2-40B4-BE49-F238E27FC236}">
                <a16:creationId xmlns:a16="http://schemas.microsoft.com/office/drawing/2014/main" id="{CC931413-23EE-5EDE-EA3C-00658599F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902" y="1433035"/>
            <a:ext cx="3375959" cy="2073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945046-6986-8634-E85C-0D42D6DE4D2B}"/>
              </a:ext>
            </a:extLst>
          </p:cNvPr>
          <p:cNvSpPr txBox="1"/>
          <p:nvPr/>
        </p:nvSpPr>
        <p:spPr>
          <a:xfrm>
            <a:off x="8531076" y="3507003"/>
            <a:ext cx="240161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stock.adobe.com</a:t>
            </a:r>
            <a:r>
              <a:rPr lang="en-US" sz="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/dk/</a:t>
            </a:r>
            <a:r>
              <a:rPr lang="en-US" sz="5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search?k</a:t>
            </a:r>
            <a:r>
              <a:rPr lang="en-US" sz="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</a:t>
            </a:r>
            <a:r>
              <a:rPr lang="en-US" sz="5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tournament&amp;asset_id</a:t>
            </a:r>
            <a:r>
              <a:rPr lang="en-US" sz="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=494653408</a:t>
            </a:r>
          </a:p>
        </p:txBody>
      </p:sp>
      <p:pic>
        <p:nvPicPr>
          <p:cNvPr id="1028" name="Picture 4" descr="Peter principle - Wikipedia">
            <a:extLst>
              <a:ext uri="{FF2B5EF4-FFF2-40B4-BE49-F238E27FC236}">
                <a16:creationId xmlns:a16="http://schemas.microsoft.com/office/drawing/2014/main" id="{A06F8A2F-5BD7-E630-C184-7244944BB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1885" y="3794833"/>
            <a:ext cx="1581150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DBACD8-A68A-0792-BD1F-45A59FE680B5}"/>
              </a:ext>
            </a:extLst>
          </p:cNvPr>
          <p:cNvSpPr txBox="1"/>
          <p:nvPr/>
        </p:nvSpPr>
        <p:spPr>
          <a:xfrm>
            <a:off x="9614647" y="6282577"/>
            <a:ext cx="157607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en.wikipedia.org</a:t>
            </a:r>
            <a:r>
              <a:rPr lang="en-US" sz="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/wiki/</a:t>
            </a:r>
            <a:r>
              <a:rPr lang="en-US" sz="5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Peter_principle</a:t>
            </a:r>
            <a:endParaRPr lang="en-US" sz="5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880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910046" y="293914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Compensation Components;</a:t>
            </a:r>
            <a:br>
              <a:rPr lang="en-US" dirty="0"/>
            </a:br>
            <a:r>
              <a:rPr lang="en-US" sz="4000" dirty="0"/>
              <a:t>salary and fringe benefits</a:t>
            </a:r>
            <a:endParaRPr lang="en-US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9051" y="1798638"/>
            <a:ext cx="7002973" cy="4525963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3200" dirty="0"/>
              <a:t>Salary and fringe benefit compensation </a:t>
            </a:r>
            <a:r>
              <a:rPr lang="en-US" sz="3200" dirty="0">
                <a:solidFill>
                  <a:schemeClr val="bg1"/>
                </a:solidFill>
              </a:rPr>
              <a:t>are</a:t>
            </a:r>
            <a:r>
              <a:rPr lang="en-US" sz="3200" dirty="0">
                <a:solidFill>
                  <a:srgbClr val="C00000"/>
                </a:solidFill>
              </a:rPr>
              <a:t> </a:t>
            </a:r>
            <a:r>
              <a:rPr lang="en-US" sz="3200" b="1" dirty="0">
                <a:solidFill>
                  <a:srgbClr val="C00000"/>
                </a:solidFill>
              </a:rPr>
              <a:t>not</a:t>
            </a:r>
            <a:r>
              <a:rPr lang="en-US" sz="3200" dirty="0">
                <a:solidFill>
                  <a:srgbClr val="FF6600"/>
                </a:solidFill>
              </a:rPr>
              <a:t> </a:t>
            </a:r>
            <a:r>
              <a:rPr lang="en-US" sz="3200" dirty="0"/>
              <a:t>perfect substitutes for employees:</a:t>
            </a:r>
          </a:p>
          <a:p>
            <a:pPr lvl="1" eaLnBrk="1" hangingPunct="1">
              <a:lnSpc>
                <a:spcPct val="90000"/>
              </a:lnSpc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3200" dirty="0"/>
              <a:t>the role of taxes</a:t>
            </a:r>
          </a:p>
          <a:p>
            <a:pPr lvl="1" eaLnBrk="1" hangingPunct="1">
              <a:lnSpc>
                <a:spcPct val="90000"/>
              </a:lnSpc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3200" dirty="0"/>
              <a:t>firms may purchase fringes at lower price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3200" dirty="0"/>
              <a:t>Employees may wish to trade between salary and fringes to attain optimum combination</a:t>
            </a:r>
          </a:p>
        </p:txBody>
      </p:sp>
      <p:sp>
        <p:nvSpPr>
          <p:cNvPr id="7" name="Tekstboks 6"/>
          <p:cNvSpPr txBox="1"/>
          <p:nvPr/>
        </p:nvSpPr>
        <p:spPr>
          <a:xfrm>
            <a:off x="8485094" y="4852615"/>
            <a:ext cx="3056302" cy="738664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a-DK" sz="1400" dirty="0"/>
              <a:t>Virksomheder kan typisk købe ’</a:t>
            </a:r>
            <a:r>
              <a:rPr lang="da-DK" sz="1400" dirty="0" err="1"/>
              <a:t>fringes</a:t>
            </a:r>
            <a:r>
              <a:rPr lang="da-DK" sz="1400" dirty="0"/>
              <a:t>’ billigere end </a:t>
            </a:r>
            <a:r>
              <a:rPr lang="da-DK" sz="1400" dirty="0" err="1"/>
              <a:t>medar-bejdere</a:t>
            </a:r>
            <a:r>
              <a:rPr lang="da-DK" sz="1400" dirty="0"/>
              <a:t> grundet kvantumrabat (forsikringer)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14</a:t>
            </a:fld>
            <a:endParaRPr lang="en-US" dirty="0"/>
          </a:p>
        </p:txBody>
      </p:sp>
      <p:pic>
        <p:nvPicPr>
          <p:cNvPr id="2050" name="Picture 2" descr="Mengenrabatt - Mehr kaufen, mehr sparen bei Emob">
            <a:extLst>
              <a:ext uri="{FF2B5EF4-FFF2-40B4-BE49-F238E27FC236}">
                <a16:creationId xmlns:a16="http://schemas.microsoft.com/office/drawing/2014/main" id="{11C1AD7E-0C06-2B37-9EAF-1B5D39FFF8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53"/>
          <a:stretch>
            <a:fillRect/>
          </a:stretch>
        </p:blipFill>
        <p:spPr bwMode="auto">
          <a:xfrm>
            <a:off x="8485094" y="1798638"/>
            <a:ext cx="3056302" cy="2640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6BA0F2-F84B-1C73-852F-7BC44CDF6E96}"/>
              </a:ext>
            </a:extLst>
          </p:cNvPr>
          <p:cNvSpPr txBox="1"/>
          <p:nvPr/>
        </p:nvSpPr>
        <p:spPr>
          <a:xfrm>
            <a:off x="8432363" y="4384061"/>
            <a:ext cx="158088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75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bg2">
                    <a:lumMod val="75000"/>
                  </a:schemeClr>
                </a:solidFill>
              </a:rPr>
              <a:t>www.emob-moebel.de</a:t>
            </a:r>
            <a:r>
              <a:rPr lang="en-US" sz="500" dirty="0">
                <a:solidFill>
                  <a:schemeClr val="bg2">
                    <a:lumMod val="75000"/>
                  </a:schemeClr>
                </a:solidFill>
              </a:rPr>
              <a:t>/</a:t>
            </a:r>
            <a:r>
              <a:rPr lang="en-US" sz="500" dirty="0" err="1">
                <a:solidFill>
                  <a:schemeClr val="bg2">
                    <a:lumMod val="75000"/>
                  </a:schemeClr>
                </a:solidFill>
              </a:rPr>
              <a:t>mengenrabatt</a:t>
            </a:r>
            <a:endParaRPr lang="en-US" sz="5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5285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18639"/>
            <a:ext cx="85344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solidFill>
                  <a:srgbClr val="C00000"/>
                </a:solidFill>
              </a:rPr>
              <a:t>Employee</a:t>
            </a:r>
            <a:r>
              <a:rPr lang="en-US" dirty="0"/>
              <a:t> Preferences for Salary </a:t>
            </a:r>
            <a:br>
              <a:rPr lang="en-US" dirty="0"/>
            </a:br>
            <a:r>
              <a:rPr lang="en-US" dirty="0"/>
              <a:t>and Fringe Benefits</a:t>
            </a:r>
          </a:p>
        </p:txBody>
      </p:sp>
      <p:sp>
        <p:nvSpPr>
          <p:cNvPr id="11272" name="Line 8"/>
          <p:cNvSpPr>
            <a:spLocks noChangeShapeType="1"/>
          </p:cNvSpPr>
          <p:nvPr/>
        </p:nvSpPr>
        <p:spPr bwMode="auto">
          <a:xfrm>
            <a:off x="4343400" y="2286000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1273" name="Line 9"/>
          <p:cNvSpPr>
            <a:spLocks noChangeShapeType="1"/>
          </p:cNvSpPr>
          <p:nvPr/>
        </p:nvSpPr>
        <p:spPr bwMode="auto">
          <a:xfrm>
            <a:off x="4343400" y="60198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1274" name="Freeform 10"/>
          <p:cNvSpPr>
            <a:spLocks/>
          </p:cNvSpPr>
          <p:nvPr/>
        </p:nvSpPr>
        <p:spPr bwMode="auto">
          <a:xfrm>
            <a:off x="4876800" y="2438401"/>
            <a:ext cx="2438400" cy="13366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4" y="240"/>
              </a:cxn>
              <a:cxn ang="0">
                <a:pos x="340" y="465"/>
              </a:cxn>
              <a:cxn ang="0">
                <a:pos x="539" y="620"/>
              </a:cxn>
              <a:cxn ang="0">
                <a:pos x="731" y="716"/>
              </a:cxn>
              <a:cxn ang="0">
                <a:pos x="967" y="783"/>
              </a:cxn>
              <a:cxn ang="0">
                <a:pos x="1218" y="820"/>
              </a:cxn>
              <a:cxn ang="0">
                <a:pos x="1536" y="842"/>
              </a:cxn>
            </a:cxnLst>
            <a:rect l="0" t="0" r="r" b="b"/>
            <a:pathLst>
              <a:path w="1536" h="842">
                <a:moveTo>
                  <a:pt x="0" y="0"/>
                </a:moveTo>
                <a:cubicBezTo>
                  <a:pt x="44" y="80"/>
                  <a:pt x="87" y="162"/>
                  <a:pt x="144" y="240"/>
                </a:cubicBezTo>
                <a:cubicBezTo>
                  <a:pt x="201" y="318"/>
                  <a:pt x="274" y="402"/>
                  <a:pt x="340" y="465"/>
                </a:cubicBezTo>
                <a:cubicBezTo>
                  <a:pt x="406" y="528"/>
                  <a:pt x="474" y="578"/>
                  <a:pt x="539" y="620"/>
                </a:cubicBezTo>
                <a:cubicBezTo>
                  <a:pt x="604" y="662"/>
                  <a:pt x="660" y="689"/>
                  <a:pt x="731" y="716"/>
                </a:cubicBezTo>
                <a:cubicBezTo>
                  <a:pt x="802" y="743"/>
                  <a:pt x="886" y="766"/>
                  <a:pt x="967" y="783"/>
                </a:cubicBezTo>
                <a:cubicBezTo>
                  <a:pt x="1048" y="800"/>
                  <a:pt x="1123" y="810"/>
                  <a:pt x="1218" y="820"/>
                </a:cubicBezTo>
                <a:cubicBezTo>
                  <a:pt x="1313" y="830"/>
                  <a:pt x="1470" y="838"/>
                  <a:pt x="1536" y="842"/>
                </a:cubicBezTo>
              </a:path>
            </a:pathLst>
          </a:custGeom>
          <a:noFill/>
          <a:ln w="28575" cmpd="sng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1275" name="Freeform 11"/>
          <p:cNvSpPr>
            <a:spLocks/>
          </p:cNvSpPr>
          <p:nvPr/>
        </p:nvSpPr>
        <p:spPr bwMode="auto">
          <a:xfrm>
            <a:off x="4443414" y="3071814"/>
            <a:ext cx="2719387" cy="13541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77" y="225"/>
              </a:cxn>
              <a:cxn ang="0">
                <a:pos x="369" y="417"/>
              </a:cxn>
              <a:cxn ang="0">
                <a:pos x="591" y="576"/>
              </a:cxn>
              <a:cxn ang="0">
                <a:pos x="812" y="701"/>
              </a:cxn>
              <a:cxn ang="0">
                <a:pos x="1071" y="783"/>
              </a:cxn>
              <a:cxn ang="0">
                <a:pos x="1373" y="842"/>
              </a:cxn>
              <a:cxn ang="0">
                <a:pos x="1713" y="849"/>
              </a:cxn>
            </a:cxnLst>
            <a:rect l="0" t="0" r="r" b="b"/>
            <a:pathLst>
              <a:path w="1713" h="853">
                <a:moveTo>
                  <a:pt x="0" y="0"/>
                </a:moveTo>
                <a:cubicBezTo>
                  <a:pt x="31" y="37"/>
                  <a:pt x="116" y="156"/>
                  <a:pt x="177" y="225"/>
                </a:cubicBezTo>
                <a:cubicBezTo>
                  <a:pt x="238" y="294"/>
                  <a:pt x="300" y="359"/>
                  <a:pt x="369" y="417"/>
                </a:cubicBezTo>
                <a:cubicBezTo>
                  <a:pt x="438" y="475"/>
                  <a:pt x="517" y="529"/>
                  <a:pt x="591" y="576"/>
                </a:cubicBezTo>
                <a:cubicBezTo>
                  <a:pt x="665" y="623"/>
                  <a:pt x="732" y="666"/>
                  <a:pt x="812" y="701"/>
                </a:cubicBezTo>
                <a:cubicBezTo>
                  <a:pt x="892" y="736"/>
                  <a:pt x="978" y="760"/>
                  <a:pt x="1071" y="783"/>
                </a:cubicBezTo>
                <a:cubicBezTo>
                  <a:pt x="1164" y="806"/>
                  <a:pt x="1266" y="831"/>
                  <a:pt x="1373" y="842"/>
                </a:cubicBezTo>
                <a:cubicBezTo>
                  <a:pt x="1480" y="853"/>
                  <a:pt x="1642" y="848"/>
                  <a:pt x="1713" y="849"/>
                </a:cubicBezTo>
              </a:path>
            </a:pathLst>
          </a:custGeom>
          <a:noFill/>
          <a:ln w="28575" cmpd="sng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1276" name="Text Box 12"/>
          <p:cNvSpPr txBox="1">
            <a:spLocks noChangeArrowheads="1"/>
          </p:cNvSpPr>
          <p:nvPr/>
        </p:nvSpPr>
        <p:spPr bwMode="auto">
          <a:xfrm>
            <a:off x="5791200" y="2362200"/>
            <a:ext cx="2514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 dirty="0">
                <a:solidFill>
                  <a:schemeClr val="bg1"/>
                </a:solidFill>
              </a:rPr>
              <a:t>Employee Preferences</a:t>
            </a:r>
          </a:p>
        </p:txBody>
      </p:sp>
      <p:sp>
        <p:nvSpPr>
          <p:cNvPr id="11277" name="Text Box 13"/>
          <p:cNvSpPr txBox="1">
            <a:spLocks noChangeArrowheads="1"/>
          </p:cNvSpPr>
          <p:nvPr/>
        </p:nvSpPr>
        <p:spPr bwMode="auto">
          <a:xfrm>
            <a:off x="5181600" y="6172200"/>
            <a:ext cx="3124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chemeClr val="bg1"/>
                </a:solidFill>
              </a:rPr>
              <a:t>Fringe benefits (in dollars)</a:t>
            </a:r>
          </a:p>
        </p:txBody>
      </p:sp>
      <p:sp>
        <p:nvSpPr>
          <p:cNvPr id="11278" name="Text Box 14"/>
          <p:cNvSpPr txBox="1">
            <a:spLocks noChangeArrowheads="1"/>
          </p:cNvSpPr>
          <p:nvPr/>
        </p:nvSpPr>
        <p:spPr bwMode="auto">
          <a:xfrm>
            <a:off x="8382000" y="58674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11279" name="Text Box 15"/>
          <p:cNvSpPr txBox="1">
            <a:spLocks noChangeArrowheads="1"/>
          </p:cNvSpPr>
          <p:nvPr/>
        </p:nvSpPr>
        <p:spPr bwMode="auto">
          <a:xfrm rot="16200000">
            <a:off x="2857500" y="3771900"/>
            <a:ext cx="2209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chemeClr val="bg1"/>
                </a:solidFill>
              </a:rPr>
              <a:t>Salary (in dollars)</a:t>
            </a:r>
          </a:p>
        </p:txBody>
      </p:sp>
      <p:sp>
        <p:nvSpPr>
          <p:cNvPr id="11280" name="Text Box 16"/>
          <p:cNvSpPr txBox="1">
            <a:spLocks noChangeArrowheads="1"/>
          </p:cNvSpPr>
          <p:nvPr/>
        </p:nvSpPr>
        <p:spPr bwMode="auto">
          <a:xfrm>
            <a:off x="7162800" y="42672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 dirty="0">
                <a:solidFill>
                  <a:schemeClr val="bg1"/>
                </a:solidFill>
              </a:rPr>
              <a:t>U</a:t>
            </a:r>
            <a:r>
              <a:rPr lang="en-US" sz="1400" baseline="-25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1281" name="Text Box 17"/>
          <p:cNvSpPr txBox="1">
            <a:spLocks noChangeArrowheads="1"/>
          </p:cNvSpPr>
          <p:nvPr/>
        </p:nvSpPr>
        <p:spPr bwMode="auto">
          <a:xfrm>
            <a:off x="7315200" y="35814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 dirty="0">
                <a:solidFill>
                  <a:schemeClr val="bg1"/>
                </a:solidFill>
              </a:rPr>
              <a:t>U</a:t>
            </a:r>
            <a:r>
              <a:rPr lang="en-US" sz="1400" baseline="-25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4" name="Tekstboks 13"/>
          <p:cNvSpPr txBox="1"/>
          <p:nvPr/>
        </p:nvSpPr>
        <p:spPr>
          <a:xfrm>
            <a:off x="8839200" y="3548341"/>
            <a:ext cx="1978855" cy="1200329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a-DK" dirty="0"/>
              <a:t>Indifferenskurver</a:t>
            </a:r>
          </a:p>
          <a:p>
            <a:r>
              <a:rPr lang="da-DK" dirty="0"/>
              <a:t>Bemærk hældningen!</a:t>
            </a:r>
          </a:p>
          <a:p>
            <a:r>
              <a:rPr lang="da-DK" dirty="0"/>
              <a:t>‘MRTS’?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15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951111" y="2115445"/>
            <a:ext cx="4305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$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0988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38348" y="330897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solidFill>
                  <a:srgbClr val="C00000"/>
                </a:solidFill>
              </a:rPr>
              <a:t>Employer </a:t>
            </a:r>
            <a:r>
              <a:rPr lang="en-US" dirty="0"/>
              <a:t>Preferences for Paying Salary or Fringe Benefits</a:t>
            </a:r>
          </a:p>
        </p:txBody>
      </p:sp>
      <p:sp>
        <p:nvSpPr>
          <p:cNvPr id="12297" name="Line 9"/>
          <p:cNvSpPr>
            <a:spLocks noChangeShapeType="1"/>
          </p:cNvSpPr>
          <p:nvPr/>
        </p:nvSpPr>
        <p:spPr bwMode="auto">
          <a:xfrm>
            <a:off x="4343400" y="22860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2298" name="Line 10"/>
          <p:cNvSpPr>
            <a:spLocks noChangeShapeType="1"/>
          </p:cNvSpPr>
          <p:nvPr/>
        </p:nvSpPr>
        <p:spPr bwMode="auto">
          <a:xfrm>
            <a:off x="4343400" y="60960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2299" name="Line 11"/>
          <p:cNvSpPr>
            <a:spLocks noChangeShapeType="1"/>
          </p:cNvSpPr>
          <p:nvPr/>
        </p:nvSpPr>
        <p:spPr bwMode="auto">
          <a:xfrm>
            <a:off x="4343400" y="3124200"/>
            <a:ext cx="2971800" cy="29718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2300" name="Line 12"/>
          <p:cNvSpPr>
            <a:spLocks noChangeShapeType="1"/>
          </p:cNvSpPr>
          <p:nvPr/>
        </p:nvSpPr>
        <p:spPr bwMode="auto">
          <a:xfrm>
            <a:off x="4343400" y="4419600"/>
            <a:ext cx="1676400" cy="16764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2302" name="Freeform 14"/>
          <p:cNvSpPr>
            <a:spLocks/>
          </p:cNvSpPr>
          <p:nvPr/>
        </p:nvSpPr>
        <p:spPr bwMode="auto">
          <a:xfrm>
            <a:off x="5715001" y="5867400"/>
            <a:ext cx="66675" cy="230188"/>
          </a:xfrm>
          <a:custGeom>
            <a:avLst/>
            <a:gdLst/>
            <a:ahLst/>
            <a:cxnLst>
              <a:cxn ang="0">
                <a:pos x="42" y="0"/>
              </a:cxn>
              <a:cxn ang="0">
                <a:pos x="6" y="52"/>
              </a:cxn>
              <a:cxn ang="0">
                <a:pos x="4" y="145"/>
              </a:cxn>
            </a:cxnLst>
            <a:rect l="0" t="0" r="r" b="b"/>
            <a:pathLst>
              <a:path w="42" h="145">
                <a:moveTo>
                  <a:pt x="42" y="0"/>
                </a:moveTo>
                <a:cubicBezTo>
                  <a:pt x="36" y="9"/>
                  <a:pt x="12" y="28"/>
                  <a:pt x="6" y="52"/>
                </a:cubicBezTo>
                <a:cubicBezTo>
                  <a:pt x="0" y="76"/>
                  <a:pt x="4" y="126"/>
                  <a:pt x="4" y="14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2304" name="Freeform 16"/>
          <p:cNvSpPr>
            <a:spLocks/>
          </p:cNvSpPr>
          <p:nvPr/>
        </p:nvSpPr>
        <p:spPr bwMode="auto">
          <a:xfrm>
            <a:off x="7010401" y="5867400"/>
            <a:ext cx="66675" cy="230188"/>
          </a:xfrm>
          <a:custGeom>
            <a:avLst/>
            <a:gdLst/>
            <a:ahLst/>
            <a:cxnLst>
              <a:cxn ang="0">
                <a:pos x="42" y="0"/>
              </a:cxn>
              <a:cxn ang="0">
                <a:pos x="6" y="52"/>
              </a:cxn>
              <a:cxn ang="0">
                <a:pos x="4" y="145"/>
              </a:cxn>
            </a:cxnLst>
            <a:rect l="0" t="0" r="r" b="b"/>
            <a:pathLst>
              <a:path w="42" h="145">
                <a:moveTo>
                  <a:pt x="42" y="0"/>
                </a:moveTo>
                <a:cubicBezTo>
                  <a:pt x="36" y="9"/>
                  <a:pt x="12" y="28"/>
                  <a:pt x="6" y="52"/>
                </a:cubicBezTo>
                <a:cubicBezTo>
                  <a:pt x="0" y="76"/>
                  <a:pt x="4" y="126"/>
                  <a:pt x="4" y="14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2305" name="Text Box 17"/>
          <p:cNvSpPr txBox="1">
            <a:spLocks noChangeArrowheads="1"/>
          </p:cNvSpPr>
          <p:nvPr/>
        </p:nvSpPr>
        <p:spPr bwMode="auto">
          <a:xfrm>
            <a:off x="5334000" y="5791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-1</a:t>
            </a:r>
          </a:p>
        </p:txBody>
      </p:sp>
      <p:sp>
        <p:nvSpPr>
          <p:cNvPr id="12306" name="Text Box 18"/>
          <p:cNvSpPr txBox="1">
            <a:spLocks noChangeArrowheads="1"/>
          </p:cNvSpPr>
          <p:nvPr/>
        </p:nvSpPr>
        <p:spPr bwMode="auto">
          <a:xfrm>
            <a:off x="6629400" y="5791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-1</a:t>
            </a:r>
          </a:p>
        </p:txBody>
      </p:sp>
      <p:sp>
        <p:nvSpPr>
          <p:cNvPr id="12307" name="Text Box 19"/>
          <p:cNvSpPr txBox="1">
            <a:spLocks noChangeArrowheads="1"/>
          </p:cNvSpPr>
          <p:nvPr/>
        </p:nvSpPr>
        <p:spPr bwMode="auto">
          <a:xfrm>
            <a:off x="5257800" y="6248400"/>
            <a:ext cx="2362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Fringe benefits (in dollars)</a:t>
            </a:r>
          </a:p>
        </p:txBody>
      </p:sp>
      <p:sp>
        <p:nvSpPr>
          <p:cNvPr id="12308" name="Text Box 20"/>
          <p:cNvSpPr txBox="1">
            <a:spLocks noChangeArrowheads="1"/>
          </p:cNvSpPr>
          <p:nvPr/>
        </p:nvSpPr>
        <p:spPr bwMode="auto">
          <a:xfrm rot="16200000">
            <a:off x="2857500" y="3695700"/>
            <a:ext cx="2057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Salary (in dollars)</a:t>
            </a:r>
          </a:p>
        </p:txBody>
      </p:sp>
      <p:sp>
        <p:nvSpPr>
          <p:cNvPr id="12309" name="Text Box 21"/>
          <p:cNvSpPr txBox="1">
            <a:spLocks noChangeArrowheads="1"/>
          </p:cNvSpPr>
          <p:nvPr/>
        </p:nvSpPr>
        <p:spPr bwMode="auto">
          <a:xfrm>
            <a:off x="6819900" y="3535038"/>
            <a:ext cx="4230261" cy="461665"/>
          </a:xfrm>
          <a:prstGeom prst="rect">
            <a:avLst/>
          </a:prstGeom>
          <a:solidFill>
            <a:schemeClr val="bg1"/>
          </a:solidFill>
          <a:ln>
            <a:noFill/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 err="1">
                <a:solidFill>
                  <a:srgbClr val="C00000"/>
                </a:solidFill>
              </a:rPr>
              <a:t>Isocost</a:t>
            </a:r>
            <a:r>
              <a:rPr lang="en-US" sz="2400" dirty="0">
                <a:solidFill>
                  <a:srgbClr val="C00000"/>
                </a:solidFill>
              </a:rPr>
              <a:t> (salary + fringe) curves</a:t>
            </a:r>
          </a:p>
        </p:txBody>
      </p:sp>
      <p:sp>
        <p:nvSpPr>
          <p:cNvPr id="12310" name="Text Box 22"/>
          <p:cNvSpPr txBox="1">
            <a:spLocks noChangeArrowheads="1"/>
          </p:cNvSpPr>
          <p:nvPr/>
        </p:nvSpPr>
        <p:spPr bwMode="auto">
          <a:xfrm>
            <a:off x="4191000" y="19812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$</a:t>
            </a:r>
          </a:p>
        </p:txBody>
      </p:sp>
      <p:sp>
        <p:nvSpPr>
          <p:cNvPr id="12311" name="Text Box 23"/>
          <p:cNvSpPr txBox="1">
            <a:spLocks noChangeArrowheads="1"/>
          </p:cNvSpPr>
          <p:nvPr/>
        </p:nvSpPr>
        <p:spPr bwMode="auto">
          <a:xfrm>
            <a:off x="8305800" y="59436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$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99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855617" y="354708"/>
            <a:ext cx="9067800" cy="1143000"/>
          </a:xfrm>
        </p:spPr>
        <p:txBody>
          <a:bodyPr/>
          <a:lstStyle/>
          <a:p>
            <a:pPr algn="l" eaLnBrk="1" hangingPunct="1"/>
            <a:r>
              <a:rPr lang="en-US" sz="3600" dirty="0"/>
              <a:t>The Optimal Mix; Salaries Versus Fringes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92367" y="1210157"/>
            <a:ext cx="9030788" cy="5037908"/>
          </a:xfrm>
        </p:spPr>
        <p:txBody>
          <a:bodyPr>
            <a:normAutofit/>
          </a:bodyPr>
          <a:lstStyle/>
          <a:p>
            <a:pPr eaLnBrk="1" hangingPunct="1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3200" dirty="0"/>
              <a:t>Maximize firm value by meeting potential employee’s </a:t>
            </a:r>
            <a:r>
              <a:rPr lang="en-US" sz="3200" b="1" i="1" u="sng" dirty="0">
                <a:solidFill>
                  <a:schemeClr val="tx1"/>
                </a:solidFill>
              </a:rPr>
              <a:t>reservation utility</a:t>
            </a:r>
            <a:r>
              <a:rPr lang="en-US" sz="3200" b="1" i="1" dirty="0">
                <a:solidFill>
                  <a:schemeClr val="tx1"/>
                </a:solidFill>
              </a:rPr>
              <a:t> </a:t>
            </a:r>
            <a:r>
              <a:rPr lang="en-US" sz="3200" dirty="0"/>
              <a:t>at </a:t>
            </a:r>
            <a:r>
              <a:rPr lang="en-US" sz="3200" b="1" i="1" dirty="0">
                <a:solidFill>
                  <a:srgbClr val="C00000"/>
                </a:solidFill>
              </a:rPr>
              <a:t>lowest cost</a:t>
            </a:r>
          </a:p>
          <a:p>
            <a:pPr lvl="1" eaLnBrk="1" hangingPunct="1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tx1"/>
                </a:solidFill>
              </a:rPr>
              <a:t>Individuals must receive at least their reservation utilities </a:t>
            </a:r>
            <a:r>
              <a:rPr lang="en-US" sz="3200" i="0" dirty="0">
                <a:solidFill>
                  <a:schemeClr val="tx1"/>
                </a:solidFill>
              </a:rPr>
              <a:t>(opportunity cost) </a:t>
            </a:r>
            <a:r>
              <a:rPr lang="en-US" sz="3200" dirty="0">
                <a:solidFill>
                  <a:schemeClr val="tx1"/>
                </a:solidFill>
              </a:rPr>
              <a:t>– the level of satisfaction they could receive in their next best alternative</a:t>
            </a:r>
          </a:p>
          <a:p>
            <a:pPr eaLnBrk="1" hangingPunct="1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006600"/>
                </a:solidFill>
              </a:rPr>
              <a:t>Indifference curve </a:t>
            </a:r>
            <a:r>
              <a:rPr lang="en-US" sz="3200" dirty="0">
                <a:solidFill>
                  <a:schemeClr val="tx1"/>
                </a:solidFill>
              </a:rPr>
              <a:t>must be tangent to an </a:t>
            </a:r>
            <a:r>
              <a:rPr lang="en-US" sz="3200" dirty="0" err="1">
                <a:solidFill>
                  <a:srgbClr val="C00000"/>
                </a:solidFill>
              </a:rPr>
              <a:t>isocost</a:t>
            </a:r>
            <a:r>
              <a:rPr lang="en-US" sz="3200" dirty="0">
                <a:solidFill>
                  <a:srgbClr val="C00000"/>
                </a:solidFill>
              </a:rPr>
              <a:t> curve</a:t>
            </a:r>
            <a:r>
              <a:rPr lang="en-US" sz="3200" dirty="0">
                <a:solidFill>
                  <a:schemeClr val="tx1"/>
                </a:solidFill>
              </a:rPr>
              <a:t>! We know….</a:t>
            </a:r>
          </a:p>
          <a:p>
            <a:pPr lvl="1" eaLnBrk="1" hangingPunct="1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tx1"/>
                </a:solidFill>
              </a:rPr>
              <a:t>If not, the individual's reservation utility is not met!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8271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740228" y="1905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Optimal Mix Between Salary</a:t>
            </a:r>
            <a:br>
              <a:rPr lang="en-US" dirty="0"/>
            </a:br>
            <a:r>
              <a:rPr lang="en-US" dirty="0"/>
              <a:t>and Fringe Benefits</a:t>
            </a:r>
          </a:p>
        </p:txBody>
      </p:sp>
      <p:sp>
        <p:nvSpPr>
          <p:cNvPr id="14344" name="Line 8"/>
          <p:cNvSpPr>
            <a:spLocks noChangeShapeType="1"/>
          </p:cNvSpPr>
          <p:nvPr/>
        </p:nvSpPr>
        <p:spPr bwMode="auto">
          <a:xfrm>
            <a:off x="4495800" y="2133600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4345" name="Line 9"/>
          <p:cNvSpPr>
            <a:spLocks noChangeShapeType="1"/>
          </p:cNvSpPr>
          <p:nvPr/>
        </p:nvSpPr>
        <p:spPr bwMode="auto">
          <a:xfrm>
            <a:off x="4495800" y="5867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/>
            <a:tailEnd type="triangle"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4346" name="Line 10"/>
          <p:cNvSpPr>
            <a:spLocks noChangeShapeType="1"/>
          </p:cNvSpPr>
          <p:nvPr/>
        </p:nvSpPr>
        <p:spPr bwMode="auto">
          <a:xfrm>
            <a:off x="4495800" y="3200400"/>
            <a:ext cx="2667000" cy="26670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4347" name="Line 11"/>
          <p:cNvSpPr>
            <a:spLocks noChangeShapeType="1"/>
          </p:cNvSpPr>
          <p:nvPr/>
        </p:nvSpPr>
        <p:spPr bwMode="auto">
          <a:xfrm>
            <a:off x="4495800" y="2743200"/>
            <a:ext cx="3124200" cy="31242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4348" name="Line 12"/>
          <p:cNvSpPr>
            <a:spLocks noChangeShapeType="1"/>
          </p:cNvSpPr>
          <p:nvPr/>
        </p:nvSpPr>
        <p:spPr bwMode="auto">
          <a:xfrm>
            <a:off x="4495800" y="2362200"/>
            <a:ext cx="3505200" cy="35052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4349" name="Freeform 13"/>
          <p:cNvSpPr>
            <a:spLocks/>
          </p:cNvSpPr>
          <p:nvPr/>
        </p:nvSpPr>
        <p:spPr bwMode="auto">
          <a:xfrm>
            <a:off x="5334000" y="2438400"/>
            <a:ext cx="2209800" cy="2057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0" y="428"/>
              </a:cxn>
              <a:cxn ang="0">
                <a:pos x="192" y="864"/>
              </a:cxn>
              <a:cxn ang="0">
                <a:pos x="384" y="1071"/>
              </a:cxn>
              <a:cxn ang="0">
                <a:pos x="672" y="1200"/>
              </a:cxn>
              <a:cxn ang="0">
                <a:pos x="978" y="1270"/>
              </a:cxn>
              <a:cxn ang="0">
                <a:pos x="1392" y="1296"/>
              </a:cxn>
            </a:cxnLst>
            <a:rect l="0" t="0" r="r" b="b"/>
            <a:pathLst>
              <a:path w="1392" h="1296">
                <a:moveTo>
                  <a:pt x="0" y="0"/>
                </a:moveTo>
                <a:cubicBezTo>
                  <a:pt x="12" y="71"/>
                  <a:pt x="38" y="284"/>
                  <a:pt x="70" y="428"/>
                </a:cubicBezTo>
                <a:cubicBezTo>
                  <a:pt x="102" y="572"/>
                  <a:pt x="140" y="757"/>
                  <a:pt x="192" y="864"/>
                </a:cubicBezTo>
                <a:cubicBezTo>
                  <a:pt x="244" y="971"/>
                  <a:pt x="304" y="1015"/>
                  <a:pt x="384" y="1071"/>
                </a:cubicBezTo>
                <a:cubicBezTo>
                  <a:pt x="464" y="1127"/>
                  <a:pt x="573" y="1167"/>
                  <a:pt x="672" y="1200"/>
                </a:cubicBezTo>
                <a:cubicBezTo>
                  <a:pt x="771" y="1233"/>
                  <a:pt x="858" y="1254"/>
                  <a:pt x="978" y="1270"/>
                </a:cubicBezTo>
                <a:cubicBezTo>
                  <a:pt x="1098" y="1286"/>
                  <a:pt x="1306" y="1291"/>
                  <a:pt x="1392" y="1296"/>
                </a:cubicBezTo>
              </a:path>
            </a:pathLst>
          </a:custGeom>
          <a:noFill/>
          <a:ln w="28575" cmpd="sng">
            <a:solidFill>
              <a:srgbClr val="0066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4350" name="Line 14"/>
          <p:cNvSpPr>
            <a:spLocks noChangeShapeType="1"/>
          </p:cNvSpPr>
          <p:nvPr/>
        </p:nvSpPr>
        <p:spPr bwMode="auto">
          <a:xfrm>
            <a:off x="4495800" y="4000500"/>
            <a:ext cx="1219200" cy="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>
            <a:off x="5715000" y="4038600"/>
            <a:ext cx="0" cy="182880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4352" name="Text Box 16"/>
          <p:cNvSpPr txBox="1">
            <a:spLocks noChangeArrowheads="1"/>
          </p:cNvSpPr>
          <p:nvPr/>
        </p:nvSpPr>
        <p:spPr bwMode="auto">
          <a:xfrm>
            <a:off x="4038600" y="38862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chemeClr val="bg1"/>
                </a:solidFill>
              </a:rPr>
              <a:t>S*</a:t>
            </a:r>
          </a:p>
        </p:txBody>
      </p:sp>
      <p:sp>
        <p:nvSpPr>
          <p:cNvPr id="14353" name="Text Box 17"/>
          <p:cNvSpPr txBox="1">
            <a:spLocks noChangeArrowheads="1"/>
          </p:cNvSpPr>
          <p:nvPr/>
        </p:nvSpPr>
        <p:spPr bwMode="auto">
          <a:xfrm rot="16200000">
            <a:off x="3314700" y="3771900"/>
            <a:ext cx="990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chemeClr val="bg1"/>
                </a:solidFill>
              </a:rPr>
              <a:t>Salary</a:t>
            </a:r>
          </a:p>
        </p:txBody>
      </p:sp>
      <p:sp>
        <p:nvSpPr>
          <p:cNvPr id="14354" name="Text Box 18"/>
          <p:cNvSpPr txBox="1">
            <a:spLocks noChangeArrowheads="1"/>
          </p:cNvSpPr>
          <p:nvPr/>
        </p:nvSpPr>
        <p:spPr bwMode="auto">
          <a:xfrm>
            <a:off x="5486400" y="58674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 dirty="0">
                <a:solidFill>
                  <a:schemeClr val="bg1"/>
                </a:solidFill>
              </a:rPr>
              <a:t>F</a:t>
            </a:r>
            <a:r>
              <a:rPr lang="en-US" sz="1400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5334000" y="6172200"/>
            <a:ext cx="2286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chemeClr val="bg1"/>
                </a:solidFill>
              </a:rPr>
              <a:t>Fringe benefits (in dollars)</a:t>
            </a:r>
          </a:p>
        </p:txBody>
      </p:sp>
      <p:sp>
        <p:nvSpPr>
          <p:cNvPr id="14356" name="Text Box 20"/>
          <p:cNvSpPr txBox="1">
            <a:spLocks noChangeArrowheads="1"/>
          </p:cNvSpPr>
          <p:nvPr/>
        </p:nvSpPr>
        <p:spPr bwMode="auto">
          <a:xfrm>
            <a:off x="8458200" y="57150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14357" name="Text Box 21"/>
          <p:cNvSpPr txBox="1">
            <a:spLocks noChangeArrowheads="1"/>
          </p:cNvSpPr>
          <p:nvPr/>
        </p:nvSpPr>
        <p:spPr bwMode="auto">
          <a:xfrm>
            <a:off x="7543800" y="43434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U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021376" y="6122293"/>
            <a:ext cx="1596292" cy="404614"/>
          </a:xfrm>
        </p:spPr>
        <p:txBody>
          <a:bodyPr/>
          <a:lstStyle/>
          <a:p>
            <a:fld id="{69E57DC2-970A-4B3E-BB1C-7A09969E49DF}" type="slidenum">
              <a:rPr lang="en-US" smtClean="0"/>
              <a:t>18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176482" y="1957697"/>
            <a:ext cx="319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chemeClr val="bg1"/>
                </a:solidFill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45373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883920" y="261258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Salary-Fringe Benefit Choice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8091" y="1757290"/>
            <a:ext cx="9601200" cy="469609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dirty="0"/>
              <a:t>Management should focus on the preferences of the employees and offer the benefits they want. Why?</a:t>
            </a:r>
          </a:p>
          <a:p>
            <a:pPr>
              <a:lnSpc>
                <a:spcPct val="90000"/>
              </a:lnSpc>
            </a:pPr>
            <a:r>
              <a:rPr lang="en-US" sz="3600" dirty="0"/>
              <a:t>Employees are willing to trade off salary for benefits.</a:t>
            </a:r>
          </a:p>
          <a:p>
            <a:pPr>
              <a:lnSpc>
                <a:spcPct val="90000"/>
              </a:lnSpc>
            </a:pPr>
            <a:r>
              <a:rPr lang="en-US" sz="3600" dirty="0"/>
              <a:t>In the real world we must account for taxes on both the firm and employee side…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8095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798546" y="134046"/>
            <a:ext cx="8686800" cy="12493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Optimal Choice of Salary and Fringe Benefits with Payroll Taxes</a:t>
            </a:r>
          </a:p>
        </p:txBody>
      </p:sp>
      <p:sp>
        <p:nvSpPr>
          <p:cNvPr id="15369" name="Line 9"/>
          <p:cNvSpPr>
            <a:spLocks noChangeShapeType="1"/>
          </p:cNvSpPr>
          <p:nvPr/>
        </p:nvSpPr>
        <p:spPr bwMode="auto">
          <a:xfrm>
            <a:off x="4114800" y="2209800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5370" name="Line 10"/>
          <p:cNvSpPr>
            <a:spLocks noChangeShapeType="1"/>
          </p:cNvSpPr>
          <p:nvPr/>
        </p:nvSpPr>
        <p:spPr bwMode="auto">
          <a:xfrm>
            <a:off x="4114800" y="5791200"/>
            <a:ext cx="403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/>
            <a:tailEnd type="triangle"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5371" name="Line 11"/>
          <p:cNvSpPr>
            <a:spLocks noChangeShapeType="1"/>
          </p:cNvSpPr>
          <p:nvPr/>
        </p:nvSpPr>
        <p:spPr bwMode="auto">
          <a:xfrm>
            <a:off x="4114800" y="2819400"/>
            <a:ext cx="2971800" cy="29718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5372" name="Line 12"/>
          <p:cNvSpPr>
            <a:spLocks noChangeShapeType="1"/>
          </p:cNvSpPr>
          <p:nvPr/>
        </p:nvSpPr>
        <p:spPr bwMode="auto">
          <a:xfrm>
            <a:off x="4114800" y="3581400"/>
            <a:ext cx="3505200" cy="1676400"/>
          </a:xfrm>
          <a:prstGeom prst="line">
            <a:avLst/>
          </a:prstGeom>
          <a:noFill/>
          <a:ln w="28575">
            <a:solidFill>
              <a:srgbClr val="C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5373" name="Line 13"/>
          <p:cNvSpPr>
            <a:spLocks noChangeShapeType="1"/>
          </p:cNvSpPr>
          <p:nvPr/>
        </p:nvSpPr>
        <p:spPr bwMode="auto">
          <a:xfrm>
            <a:off x="4113214" y="4086225"/>
            <a:ext cx="1277937" cy="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5374" name="Line 14"/>
          <p:cNvSpPr>
            <a:spLocks noChangeShapeType="1"/>
          </p:cNvSpPr>
          <p:nvPr/>
        </p:nvSpPr>
        <p:spPr bwMode="auto">
          <a:xfrm>
            <a:off x="4125914" y="4371975"/>
            <a:ext cx="1654175" cy="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5375" name="Line 15"/>
          <p:cNvSpPr>
            <a:spLocks noChangeShapeType="1"/>
          </p:cNvSpPr>
          <p:nvPr/>
        </p:nvSpPr>
        <p:spPr bwMode="auto">
          <a:xfrm>
            <a:off x="5380038" y="4079875"/>
            <a:ext cx="0" cy="1722438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5376" name="Line 16"/>
          <p:cNvSpPr>
            <a:spLocks noChangeShapeType="1"/>
          </p:cNvSpPr>
          <p:nvPr/>
        </p:nvSpPr>
        <p:spPr bwMode="auto">
          <a:xfrm>
            <a:off x="5780088" y="4371975"/>
            <a:ext cx="0" cy="1430338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5377" name="Freeform 17"/>
          <p:cNvSpPr>
            <a:spLocks/>
          </p:cNvSpPr>
          <p:nvPr/>
        </p:nvSpPr>
        <p:spPr bwMode="auto">
          <a:xfrm>
            <a:off x="4876801" y="2520951"/>
            <a:ext cx="2168525" cy="200501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2" y="184"/>
              </a:cxn>
              <a:cxn ang="0">
                <a:pos x="66" y="428"/>
              </a:cxn>
              <a:cxn ang="0">
                <a:pos x="170" y="797"/>
              </a:cxn>
              <a:cxn ang="0">
                <a:pos x="362" y="1026"/>
              </a:cxn>
              <a:cxn ang="0">
                <a:pos x="724" y="1226"/>
              </a:cxn>
              <a:cxn ang="0">
                <a:pos x="1366" y="1248"/>
              </a:cxn>
            </a:cxnLst>
            <a:rect l="0" t="0" r="r" b="b"/>
            <a:pathLst>
              <a:path w="1366" h="1263">
                <a:moveTo>
                  <a:pt x="0" y="0"/>
                </a:moveTo>
                <a:cubicBezTo>
                  <a:pt x="4" y="29"/>
                  <a:pt x="11" y="113"/>
                  <a:pt x="22" y="184"/>
                </a:cubicBezTo>
                <a:cubicBezTo>
                  <a:pt x="33" y="255"/>
                  <a:pt x="41" y="326"/>
                  <a:pt x="66" y="428"/>
                </a:cubicBezTo>
                <a:cubicBezTo>
                  <a:pt x="91" y="530"/>
                  <a:pt x="121" y="697"/>
                  <a:pt x="170" y="797"/>
                </a:cubicBezTo>
                <a:cubicBezTo>
                  <a:pt x="219" y="897"/>
                  <a:pt x="270" y="954"/>
                  <a:pt x="362" y="1026"/>
                </a:cubicBezTo>
                <a:cubicBezTo>
                  <a:pt x="454" y="1098"/>
                  <a:pt x="557" y="1189"/>
                  <a:pt x="724" y="1226"/>
                </a:cubicBezTo>
                <a:cubicBezTo>
                  <a:pt x="891" y="1263"/>
                  <a:pt x="1260" y="1244"/>
                  <a:pt x="1366" y="1248"/>
                </a:cubicBezTo>
              </a:path>
            </a:pathLst>
          </a:custGeom>
          <a:noFill/>
          <a:ln w="28575" cmpd="sng">
            <a:solidFill>
              <a:srgbClr val="0066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5378" name="Text Box 18"/>
          <p:cNvSpPr txBox="1">
            <a:spLocks noChangeArrowheads="1"/>
          </p:cNvSpPr>
          <p:nvPr/>
        </p:nvSpPr>
        <p:spPr bwMode="auto">
          <a:xfrm rot="16200000">
            <a:off x="2239169" y="3680619"/>
            <a:ext cx="20748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chemeClr val="bg1"/>
                </a:solidFill>
              </a:rPr>
              <a:t>Salary (in dollars)</a:t>
            </a:r>
          </a:p>
        </p:txBody>
      </p:sp>
      <p:sp>
        <p:nvSpPr>
          <p:cNvPr id="15379" name="Text Box 19"/>
          <p:cNvSpPr txBox="1">
            <a:spLocks noChangeArrowheads="1"/>
          </p:cNvSpPr>
          <p:nvPr/>
        </p:nvSpPr>
        <p:spPr bwMode="auto">
          <a:xfrm>
            <a:off x="3763964" y="3938588"/>
            <a:ext cx="4587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chemeClr val="bg1"/>
                </a:solidFill>
              </a:rPr>
              <a:t>S*</a:t>
            </a:r>
          </a:p>
        </p:txBody>
      </p:sp>
      <p:sp>
        <p:nvSpPr>
          <p:cNvPr id="15380" name="Text Box 20"/>
          <p:cNvSpPr txBox="1">
            <a:spLocks noChangeArrowheads="1"/>
          </p:cNvSpPr>
          <p:nvPr/>
        </p:nvSpPr>
        <p:spPr bwMode="auto">
          <a:xfrm>
            <a:off x="3751264" y="4232275"/>
            <a:ext cx="3524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 dirty="0">
                <a:solidFill>
                  <a:schemeClr val="bg1"/>
                </a:solidFill>
              </a:rPr>
              <a:t>S’</a:t>
            </a:r>
          </a:p>
        </p:txBody>
      </p:sp>
      <p:sp>
        <p:nvSpPr>
          <p:cNvPr id="15381" name="Text Box 21"/>
          <p:cNvSpPr txBox="1">
            <a:spLocks noChangeArrowheads="1"/>
          </p:cNvSpPr>
          <p:nvPr/>
        </p:nvSpPr>
        <p:spPr bwMode="auto">
          <a:xfrm>
            <a:off x="5121276" y="5789613"/>
            <a:ext cx="4556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F*</a:t>
            </a:r>
          </a:p>
        </p:txBody>
      </p:sp>
      <p:sp>
        <p:nvSpPr>
          <p:cNvPr id="15382" name="Text Box 22"/>
          <p:cNvSpPr txBox="1">
            <a:spLocks noChangeArrowheads="1"/>
          </p:cNvSpPr>
          <p:nvPr/>
        </p:nvSpPr>
        <p:spPr bwMode="auto">
          <a:xfrm>
            <a:off x="5616576" y="5803900"/>
            <a:ext cx="4349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F’</a:t>
            </a:r>
          </a:p>
        </p:txBody>
      </p:sp>
      <p:sp>
        <p:nvSpPr>
          <p:cNvPr id="15383" name="Text Box 23"/>
          <p:cNvSpPr txBox="1">
            <a:spLocks noChangeArrowheads="1"/>
          </p:cNvSpPr>
          <p:nvPr/>
        </p:nvSpPr>
        <p:spPr bwMode="auto">
          <a:xfrm>
            <a:off x="4981576" y="6107113"/>
            <a:ext cx="30019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chemeClr val="bg1"/>
                </a:solidFill>
              </a:rPr>
              <a:t>Fringe benefits (in dollars)</a:t>
            </a:r>
          </a:p>
        </p:txBody>
      </p:sp>
      <p:sp>
        <p:nvSpPr>
          <p:cNvPr id="15384" name="Text Box 24"/>
          <p:cNvSpPr txBox="1">
            <a:spLocks noChangeArrowheads="1"/>
          </p:cNvSpPr>
          <p:nvPr/>
        </p:nvSpPr>
        <p:spPr bwMode="auto">
          <a:xfrm>
            <a:off x="7034213" y="4338638"/>
            <a:ext cx="3746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U</a:t>
            </a:r>
          </a:p>
        </p:txBody>
      </p:sp>
      <p:sp>
        <p:nvSpPr>
          <p:cNvPr id="15385" name="Text Box 25"/>
          <p:cNvSpPr txBox="1">
            <a:spLocks noChangeArrowheads="1"/>
          </p:cNvSpPr>
          <p:nvPr/>
        </p:nvSpPr>
        <p:spPr bwMode="auto">
          <a:xfrm>
            <a:off x="6962776" y="5357813"/>
            <a:ext cx="17113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chemeClr val="bg1"/>
                </a:solidFill>
              </a:rPr>
              <a:t>No payroll taxes</a:t>
            </a:r>
          </a:p>
        </p:txBody>
      </p:sp>
      <p:sp>
        <p:nvSpPr>
          <p:cNvPr id="15386" name="Text Box 26"/>
          <p:cNvSpPr txBox="1">
            <a:spLocks noChangeArrowheads="1"/>
          </p:cNvSpPr>
          <p:nvPr/>
        </p:nvSpPr>
        <p:spPr bwMode="auto">
          <a:xfrm>
            <a:off x="7621588" y="5016500"/>
            <a:ext cx="13827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chemeClr val="bg1"/>
                </a:solidFill>
              </a:rPr>
              <a:t>Payroll taxes</a:t>
            </a:r>
          </a:p>
        </p:txBody>
      </p:sp>
      <p:sp>
        <p:nvSpPr>
          <p:cNvPr id="22" name="Tekstboks 21"/>
          <p:cNvSpPr txBox="1"/>
          <p:nvPr/>
        </p:nvSpPr>
        <p:spPr>
          <a:xfrm>
            <a:off x="7315994" y="2802409"/>
            <a:ext cx="1993900" cy="646331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a-DK" dirty="0" err="1">
                <a:solidFill>
                  <a:schemeClr val="bg1"/>
                </a:solidFill>
              </a:rPr>
              <a:t>Tax</a:t>
            </a:r>
            <a:r>
              <a:rPr lang="da-DK" dirty="0">
                <a:solidFill>
                  <a:schemeClr val="bg1"/>
                </a:solidFill>
              </a:rPr>
              <a:t> </a:t>
            </a:r>
            <a:r>
              <a:rPr lang="da-DK" dirty="0" err="1">
                <a:solidFill>
                  <a:schemeClr val="bg1"/>
                </a:solidFill>
              </a:rPr>
              <a:t>on</a:t>
            </a:r>
            <a:r>
              <a:rPr lang="da-DK" dirty="0">
                <a:solidFill>
                  <a:schemeClr val="bg1"/>
                </a:solidFill>
              </a:rPr>
              <a:t> </a:t>
            </a:r>
            <a:r>
              <a:rPr lang="da-DK" dirty="0" err="1">
                <a:solidFill>
                  <a:schemeClr val="bg1"/>
                </a:solidFill>
              </a:rPr>
              <a:t>wage</a:t>
            </a:r>
            <a:r>
              <a:rPr lang="da-DK" dirty="0">
                <a:solidFill>
                  <a:schemeClr val="bg1"/>
                </a:solidFill>
              </a:rPr>
              <a:t>, not </a:t>
            </a:r>
            <a:r>
              <a:rPr lang="da-DK" dirty="0" err="1">
                <a:solidFill>
                  <a:schemeClr val="bg1"/>
                </a:solidFill>
              </a:rPr>
              <a:t>on</a:t>
            </a:r>
            <a:r>
              <a:rPr lang="da-DK" dirty="0">
                <a:solidFill>
                  <a:schemeClr val="bg1"/>
                </a:solidFill>
              </a:rPr>
              <a:t> </a:t>
            </a:r>
            <a:r>
              <a:rPr lang="da-DK" dirty="0" err="1">
                <a:solidFill>
                  <a:schemeClr val="bg1"/>
                </a:solidFill>
              </a:rPr>
              <a:t>fringe</a:t>
            </a:r>
            <a:r>
              <a:rPr lang="da-DK" dirty="0">
                <a:solidFill>
                  <a:schemeClr val="bg1"/>
                </a:solidFill>
              </a:rPr>
              <a:t> =&gt; 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20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8289861" y="5699126"/>
            <a:ext cx="319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4" name="Rectangle 3"/>
          <p:cNvSpPr/>
          <p:nvPr/>
        </p:nvSpPr>
        <p:spPr>
          <a:xfrm flipV="1">
            <a:off x="3534115" y="1951852"/>
            <a:ext cx="4755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chemeClr val="bg1"/>
                </a:solidFill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32711444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854076" y="290514"/>
            <a:ext cx="9109075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/>
              <a:t>Attracting Particular Types of Employees with the Salary-Benefits Mix</a:t>
            </a:r>
          </a:p>
        </p:txBody>
      </p:sp>
      <p:grpSp>
        <p:nvGrpSpPr>
          <p:cNvPr id="16413" name="Group 29"/>
          <p:cNvGrpSpPr>
            <a:grpSpLocks/>
          </p:cNvGrpSpPr>
          <p:nvPr/>
        </p:nvGrpSpPr>
        <p:grpSpPr bwMode="auto">
          <a:xfrm>
            <a:off x="3013076" y="2032001"/>
            <a:ext cx="5991225" cy="4579938"/>
            <a:chOff x="938" y="1221"/>
            <a:chExt cx="3774" cy="2885"/>
          </a:xfrm>
        </p:grpSpPr>
        <p:sp>
          <p:nvSpPr>
            <p:cNvPr id="16393" name="Line 9"/>
            <p:cNvSpPr>
              <a:spLocks noChangeShapeType="1"/>
            </p:cNvSpPr>
            <p:nvPr/>
          </p:nvSpPr>
          <p:spPr bwMode="auto">
            <a:xfrm>
              <a:off x="1802" y="1359"/>
              <a:ext cx="0" cy="2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/>
              <a:tailEnd/>
            </a:ln>
            <a:effectLst/>
          </p:spPr>
          <p:txBody>
            <a:bodyPr/>
            <a:lstStyle/>
            <a:p>
              <a:endParaRPr lang="da-DK"/>
            </a:p>
          </p:txBody>
        </p:sp>
        <p:sp>
          <p:nvSpPr>
            <p:cNvPr id="16394" name="Line 10"/>
            <p:cNvSpPr>
              <a:spLocks noChangeShapeType="1"/>
            </p:cNvSpPr>
            <p:nvPr/>
          </p:nvSpPr>
          <p:spPr bwMode="auto">
            <a:xfrm>
              <a:off x="1809" y="3728"/>
              <a:ext cx="24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/>
              <a:tailEnd type="triangle"/>
            </a:ln>
            <a:effectLst/>
          </p:spPr>
          <p:txBody>
            <a:bodyPr/>
            <a:lstStyle/>
            <a:p>
              <a:endParaRPr lang="da-DK"/>
            </a:p>
          </p:txBody>
        </p:sp>
        <p:sp>
          <p:nvSpPr>
            <p:cNvPr id="16395" name="Line 11"/>
            <p:cNvSpPr>
              <a:spLocks noChangeShapeType="1"/>
            </p:cNvSpPr>
            <p:nvPr/>
          </p:nvSpPr>
          <p:spPr bwMode="auto">
            <a:xfrm>
              <a:off x="1794" y="1588"/>
              <a:ext cx="2142" cy="2134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da-DK"/>
            </a:p>
          </p:txBody>
        </p:sp>
        <p:sp>
          <p:nvSpPr>
            <p:cNvPr id="16396" name="Line 12"/>
            <p:cNvSpPr>
              <a:spLocks noChangeShapeType="1"/>
            </p:cNvSpPr>
            <p:nvPr/>
          </p:nvSpPr>
          <p:spPr bwMode="auto">
            <a:xfrm>
              <a:off x="1802" y="2754"/>
              <a:ext cx="1144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da-DK"/>
            </a:p>
          </p:txBody>
        </p:sp>
        <p:sp>
          <p:nvSpPr>
            <p:cNvPr id="16397" name="Line 13"/>
            <p:cNvSpPr>
              <a:spLocks noChangeShapeType="1"/>
            </p:cNvSpPr>
            <p:nvPr/>
          </p:nvSpPr>
          <p:spPr bwMode="auto">
            <a:xfrm>
              <a:off x="2961" y="2769"/>
              <a:ext cx="0" cy="931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da-DK"/>
            </a:p>
          </p:txBody>
        </p:sp>
        <p:sp>
          <p:nvSpPr>
            <p:cNvPr id="16398" name="Line 14"/>
            <p:cNvSpPr>
              <a:spLocks noChangeShapeType="1"/>
            </p:cNvSpPr>
            <p:nvPr/>
          </p:nvSpPr>
          <p:spPr bwMode="auto">
            <a:xfrm>
              <a:off x="1817" y="1787"/>
              <a:ext cx="169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da-DK"/>
            </a:p>
          </p:txBody>
        </p:sp>
        <p:sp>
          <p:nvSpPr>
            <p:cNvPr id="16399" name="Line 15"/>
            <p:cNvSpPr>
              <a:spLocks noChangeShapeType="1"/>
            </p:cNvSpPr>
            <p:nvPr/>
          </p:nvSpPr>
          <p:spPr bwMode="auto">
            <a:xfrm>
              <a:off x="1986" y="1794"/>
              <a:ext cx="0" cy="192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da-DK"/>
            </a:p>
          </p:txBody>
        </p:sp>
        <p:sp>
          <p:nvSpPr>
            <p:cNvPr id="16400" name="Freeform 16"/>
            <p:cNvSpPr>
              <a:spLocks/>
            </p:cNvSpPr>
            <p:nvPr/>
          </p:nvSpPr>
          <p:spPr bwMode="auto">
            <a:xfrm>
              <a:off x="1912" y="1374"/>
              <a:ext cx="592" cy="546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6" y="214"/>
                </a:cxn>
                <a:cxn ang="0">
                  <a:pos x="97" y="398"/>
                </a:cxn>
                <a:cxn ang="0">
                  <a:pos x="222" y="502"/>
                </a:cxn>
                <a:cxn ang="0">
                  <a:pos x="407" y="539"/>
                </a:cxn>
                <a:cxn ang="0">
                  <a:pos x="592" y="546"/>
                </a:cxn>
              </a:cxnLst>
              <a:rect l="0" t="0" r="r" b="b"/>
              <a:pathLst>
                <a:path w="592" h="546">
                  <a:moveTo>
                    <a:pt x="1" y="0"/>
                  </a:moveTo>
                  <a:cubicBezTo>
                    <a:pt x="0" y="74"/>
                    <a:pt x="0" y="148"/>
                    <a:pt x="16" y="214"/>
                  </a:cubicBezTo>
                  <a:cubicBezTo>
                    <a:pt x="32" y="280"/>
                    <a:pt x="63" y="350"/>
                    <a:pt x="97" y="398"/>
                  </a:cubicBezTo>
                  <a:cubicBezTo>
                    <a:pt x="131" y="446"/>
                    <a:pt x="170" y="479"/>
                    <a:pt x="222" y="502"/>
                  </a:cubicBezTo>
                  <a:cubicBezTo>
                    <a:pt x="274" y="525"/>
                    <a:pt x="345" y="532"/>
                    <a:pt x="407" y="539"/>
                  </a:cubicBezTo>
                  <a:cubicBezTo>
                    <a:pt x="469" y="546"/>
                    <a:pt x="530" y="546"/>
                    <a:pt x="592" y="546"/>
                  </a:cubicBezTo>
                </a:path>
              </a:pathLst>
            </a:custGeom>
            <a:noFill/>
            <a:ln w="28575" cmpd="sng">
              <a:solidFill>
                <a:srgbClr val="0066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da-DK"/>
            </a:p>
          </p:txBody>
        </p:sp>
        <p:sp>
          <p:nvSpPr>
            <p:cNvPr id="16402" name="Freeform 18"/>
            <p:cNvSpPr>
              <a:spLocks/>
            </p:cNvSpPr>
            <p:nvPr/>
          </p:nvSpPr>
          <p:spPr bwMode="auto">
            <a:xfrm>
              <a:off x="2857" y="2319"/>
              <a:ext cx="592" cy="546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6" y="214"/>
                </a:cxn>
                <a:cxn ang="0">
                  <a:pos x="97" y="398"/>
                </a:cxn>
                <a:cxn ang="0">
                  <a:pos x="222" y="502"/>
                </a:cxn>
                <a:cxn ang="0">
                  <a:pos x="407" y="539"/>
                </a:cxn>
                <a:cxn ang="0">
                  <a:pos x="592" y="546"/>
                </a:cxn>
              </a:cxnLst>
              <a:rect l="0" t="0" r="r" b="b"/>
              <a:pathLst>
                <a:path w="592" h="546">
                  <a:moveTo>
                    <a:pt x="1" y="0"/>
                  </a:moveTo>
                  <a:cubicBezTo>
                    <a:pt x="0" y="74"/>
                    <a:pt x="0" y="148"/>
                    <a:pt x="16" y="214"/>
                  </a:cubicBezTo>
                  <a:cubicBezTo>
                    <a:pt x="32" y="280"/>
                    <a:pt x="63" y="350"/>
                    <a:pt x="97" y="398"/>
                  </a:cubicBezTo>
                  <a:cubicBezTo>
                    <a:pt x="131" y="446"/>
                    <a:pt x="170" y="479"/>
                    <a:pt x="222" y="502"/>
                  </a:cubicBezTo>
                  <a:cubicBezTo>
                    <a:pt x="274" y="525"/>
                    <a:pt x="345" y="532"/>
                    <a:pt x="407" y="539"/>
                  </a:cubicBezTo>
                  <a:cubicBezTo>
                    <a:pt x="469" y="546"/>
                    <a:pt x="530" y="546"/>
                    <a:pt x="592" y="546"/>
                  </a:cubicBezTo>
                </a:path>
              </a:pathLst>
            </a:custGeom>
            <a:noFill/>
            <a:ln w="28575" cmpd="sng">
              <a:solidFill>
                <a:srgbClr val="0066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da-DK"/>
            </a:p>
          </p:txBody>
        </p:sp>
        <p:sp>
          <p:nvSpPr>
            <p:cNvPr id="16403" name="Text Box 19"/>
            <p:cNvSpPr txBox="1">
              <a:spLocks noChangeArrowheads="1"/>
            </p:cNvSpPr>
            <p:nvPr/>
          </p:nvSpPr>
          <p:spPr bwMode="auto">
            <a:xfrm>
              <a:off x="2541" y="1764"/>
              <a:ext cx="122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dirty="0">
                  <a:solidFill>
                    <a:schemeClr val="bg1"/>
                  </a:solidFill>
                </a:rPr>
                <a:t>Reservation utility: Single person</a:t>
              </a:r>
            </a:p>
          </p:txBody>
        </p:sp>
        <p:sp>
          <p:nvSpPr>
            <p:cNvPr id="16404" name="Text Box 20"/>
            <p:cNvSpPr txBox="1">
              <a:spLocks noChangeArrowheads="1"/>
            </p:cNvSpPr>
            <p:nvPr/>
          </p:nvSpPr>
          <p:spPr bwMode="auto">
            <a:xfrm>
              <a:off x="3486" y="2703"/>
              <a:ext cx="122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dirty="0">
                  <a:solidFill>
                    <a:schemeClr val="bg1"/>
                  </a:solidFill>
                </a:rPr>
                <a:t>Reservation utility: Married person</a:t>
              </a:r>
            </a:p>
          </p:txBody>
        </p:sp>
        <p:sp>
          <p:nvSpPr>
            <p:cNvPr id="16405" name="Text Box 21"/>
            <p:cNvSpPr txBox="1">
              <a:spLocks noChangeArrowheads="1"/>
            </p:cNvSpPr>
            <p:nvPr/>
          </p:nvSpPr>
          <p:spPr bwMode="auto">
            <a:xfrm>
              <a:off x="2230" y="3914"/>
              <a:ext cx="163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dirty="0">
                  <a:solidFill>
                    <a:schemeClr val="bg1"/>
                  </a:solidFill>
                </a:rPr>
                <a:t>Fringe benefits (in dollars)</a:t>
              </a:r>
            </a:p>
          </p:txBody>
        </p:sp>
        <p:sp>
          <p:nvSpPr>
            <p:cNvPr id="16406" name="Text Box 22"/>
            <p:cNvSpPr txBox="1">
              <a:spLocks noChangeArrowheads="1"/>
            </p:cNvSpPr>
            <p:nvPr/>
          </p:nvSpPr>
          <p:spPr bwMode="auto">
            <a:xfrm rot="16200000">
              <a:off x="506" y="2470"/>
              <a:ext cx="105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dirty="0">
                  <a:solidFill>
                    <a:schemeClr val="bg1"/>
                  </a:solidFill>
                </a:rPr>
                <a:t>Salary (in dollars)</a:t>
              </a:r>
            </a:p>
          </p:txBody>
        </p:sp>
        <p:sp>
          <p:nvSpPr>
            <p:cNvPr id="16407" name="Text Box 23"/>
            <p:cNvSpPr txBox="1">
              <a:spLocks noChangeArrowheads="1"/>
            </p:cNvSpPr>
            <p:nvPr/>
          </p:nvSpPr>
          <p:spPr bwMode="auto">
            <a:xfrm>
              <a:off x="1492" y="2644"/>
              <a:ext cx="31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dirty="0">
                  <a:solidFill>
                    <a:schemeClr val="bg1"/>
                  </a:solidFill>
                </a:rPr>
                <a:t>$</a:t>
              </a:r>
              <a:r>
                <a:rPr lang="en-US" sz="1400" i="1" baseline="-25000" dirty="0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16408" name="Text Box 24"/>
            <p:cNvSpPr txBox="1">
              <a:spLocks noChangeArrowheads="1"/>
            </p:cNvSpPr>
            <p:nvPr/>
          </p:nvSpPr>
          <p:spPr bwMode="auto">
            <a:xfrm>
              <a:off x="1492" y="1692"/>
              <a:ext cx="31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dirty="0">
                  <a:solidFill>
                    <a:schemeClr val="bg1"/>
                  </a:solidFill>
                </a:rPr>
                <a:t>$</a:t>
              </a:r>
              <a:r>
                <a:rPr lang="en-US" sz="1400" i="1" baseline="-25000" dirty="0">
                  <a:solidFill>
                    <a:schemeClr val="bg1"/>
                  </a:solidFill>
                </a:rPr>
                <a:t>S</a:t>
              </a:r>
            </a:p>
          </p:txBody>
        </p:sp>
        <p:sp>
          <p:nvSpPr>
            <p:cNvPr id="16409" name="Text Box 25"/>
            <p:cNvSpPr txBox="1">
              <a:spLocks noChangeArrowheads="1"/>
            </p:cNvSpPr>
            <p:nvPr/>
          </p:nvSpPr>
          <p:spPr bwMode="auto">
            <a:xfrm>
              <a:off x="1579" y="1221"/>
              <a:ext cx="18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dirty="0">
                  <a:solidFill>
                    <a:schemeClr val="bg1"/>
                  </a:solidFill>
                </a:rPr>
                <a:t>$</a:t>
              </a:r>
            </a:p>
          </p:txBody>
        </p:sp>
        <p:sp>
          <p:nvSpPr>
            <p:cNvPr id="16410" name="Text Box 26"/>
            <p:cNvSpPr txBox="1">
              <a:spLocks noChangeArrowheads="1"/>
            </p:cNvSpPr>
            <p:nvPr/>
          </p:nvSpPr>
          <p:spPr bwMode="auto">
            <a:xfrm>
              <a:off x="1839" y="3729"/>
              <a:ext cx="30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i="1" dirty="0">
                  <a:solidFill>
                    <a:schemeClr val="bg1"/>
                  </a:solidFill>
                </a:rPr>
                <a:t>F</a:t>
              </a:r>
              <a:r>
                <a:rPr lang="en-US" sz="1400" i="1" baseline="-25000" dirty="0">
                  <a:solidFill>
                    <a:schemeClr val="bg1"/>
                  </a:solidFill>
                </a:rPr>
                <a:t>S</a:t>
              </a:r>
            </a:p>
          </p:txBody>
        </p:sp>
        <p:sp>
          <p:nvSpPr>
            <p:cNvPr id="16411" name="Text Box 27"/>
            <p:cNvSpPr txBox="1">
              <a:spLocks noChangeArrowheads="1"/>
            </p:cNvSpPr>
            <p:nvPr/>
          </p:nvSpPr>
          <p:spPr bwMode="auto">
            <a:xfrm>
              <a:off x="2806" y="3722"/>
              <a:ext cx="30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i="1" dirty="0">
                  <a:solidFill>
                    <a:schemeClr val="bg1"/>
                  </a:solidFill>
                </a:rPr>
                <a:t>F</a:t>
              </a:r>
              <a:r>
                <a:rPr lang="en-US" sz="1400" i="1" baseline="-25000" dirty="0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16412" name="Text Box 28"/>
            <p:cNvSpPr txBox="1">
              <a:spLocks noChangeArrowheads="1"/>
            </p:cNvSpPr>
            <p:nvPr/>
          </p:nvSpPr>
          <p:spPr bwMode="auto">
            <a:xfrm>
              <a:off x="4305" y="3501"/>
              <a:ext cx="185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sz="1400" dirty="0">
                <a:solidFill>
                  <a:schemeClr val="bg1"/>
                </a:solidFill>
              </a:endParaRPr>
            </a:p>
            <a:p>
              <a:pPr>
                <a:spcBef>
                  <a:spcPct val="50000"/>
                </a:spcBef>
              </a:pPr>
              <a:r>
                <a:rPr lang="en-US" sz="1400" dirty="0">
                  <a:solidFill>
                    <a:schemeClr val="bg1"/>
                  </a:solidFill>
                </a:rPr>
                <a:t>$</a:t>
              </a:r>
            </a:p>
          </p:txBody>
        </p:sp>
      </p:grpSp>
      <p:sp>
        <p:nvSpPr>
          <p:cNvPr id="24" name="Tekstboks 23"/>
          <p:cNvSpPr txBox="1"/>
          <p:nvPr/>
        </p:nvSpPr>
        <p:spPr>
          <a:xfrm>
            <a:off x="9029700" y="2291397"/>
            <a:ext cx="1638300" cy="1477328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Bemærk; </a:t>
            </a:r>
          </a:p>
          <a:p>
            <a:r>
              <a:rPr lang="da-DK" dirty="0">
                <a:solidFill>
                  <a:schemeClr val="bg1"/>
                </a:solidFill>
              </a:rPr>
              <a:t>’the cafeteria-</a:t>
            </a:r>
            <a:r>
              <a:rPr lang="da-DK" dirty="0" err="1">
                <a:solidFill>
                  <a:schemeClr val="bg1"/>
                </a:solidFill>
              </a:rPr>
              <a:t>style</a:t>
            </a:r>
            <a:r>
              <a:rPr lang="da-DK" dirty="0">
                <a:solidFill>
                  <a:schemeClr val="bg1"/>
                </a:solidFill>
              </a:rPr>
              <a:t>-</a:t>
            </a:r>
            <a:r>
              <a:rPr lang="da-DK" dirty="0" err="1">
                <a:solidFill>
                  <a:schemeClr val="bg1"/>
                </a:solidFill>
              </a:rPr>
              <a:t>benefit</a:t>
            </a:r>
            <a:r>
              <a:rPr lang="da-DK" dirty="0">
                <a:solidFill>
                  <a:schemeClr val="bg1"/>
                </a:solidFill>
              </a:rPr>
              <a:t> – </a:t>
            </a:r>
            <a:r>
              <a:rPr lang="da-DK" dirty="0" err="1">
                <a:solidFill>
                  <a:schemeClr val="bg1"/>
                </a:solidFill>
              </a:rPr>
              <a:t>package</a:t>
            </a:r>
            <a:r>
              <a:rPr lang="da-DK">
                <a:solidFill>
                  <a:schemeClr val="bg1"/>
                </a:solidFill>
              </a:rPr>
              <a:t>’, 456n.</a:t>
            </a:r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25" name="Tekstboks 24"/>
          <p:cNvSpPr txBox="1"/>
          <p:nvPr/>
        </p:nvSpPr>
        <p:spPr>
          <a:xfrm>
            <a:off x="9163050" y="4838701"/>
            <a:ext cx="1504950" cy="1200329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a-DK" dirty="0"/>
              <a:t>Jf./overfør til danske forhold; + sygesikring?</a:t>
            </a:r>
          </a:p>
        </p:txBody>
      </p:sp>
      <p:cxnSp>
        <p:nvCxnSpPr>
          <p:cNvPr id="27" name="Lige pilforbindelse 26"/>
          <p:cNvCxnSpPr/>
          <p:nvPr/>
        </p:nvCxnSpPr>
        <p:spPr>
          <a:xfrm flipH="1" flipV="1">
            <a:off x="6530976" y="4126706"/>
            <a:ext cx="3432175" cy="50244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Lige pilforbindelse 28"/>
          <p:cNvCxnSpPr/>
          <p:nvPr/>
        </p:nvCxnSpPr>
        <p:spPr>
          <a:xfrm flipH="1" flipV="1">
            <a:off x="5499101" y="3328988"/>
            <a:ext cx="4464051" cy="126682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545968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ustom 3">
      <a:dk1>
        <a:srgbClr val="FFFFFF"/>
      </a:dk1>
      <a:lt1>
        <a:sysClr val="window" lastClr="FFFFFF"/>
      </a:lt1>
      <a:dk2>
        <a:srgbClr val="FFFFFF"/>
      </a:dk2>
      <a:lt2>
        <a:srgbClr val="549E39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TM10001105[[fn=Crop]]</Template>
  <TotalTime>433</TotalTime>
  <Words>1325</Words>
  <Application>Microsoft Macintosh PowerPoint</Application>
  <PresentationFormat>Widescreen</PresentationFormat>
  <Paragraphs>200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Franklin Gothic Book</vt:lpstr>
      <vt:lpstr>Wingdings</vt:lpstr>
      <vt:lpstr>Crop</vt:lpstr>
      <vt:lpstr>PowerPoint Presentation</vt:lpstr>
      <vt:lpstr>Contracting Objectives</vt:lpstr>
      <vt:lpstr>The Basic Competitive Model </vt:lpstr>
      <vt:lpstr>The Competitive Model of Employment and Wages; The firms choice</vt:lpstr>
      <vt:lpstr>Relaxing the Assumptions</vt:lpstr>
      <vt:lpstr>Human Capital</vt:lpstr>
      <vt:lpstr>Compensating Wage Differentials</vt:lpstr>
      <vt:lpstr>Internal Labor Markets</vt:lpstr>
      <vt:lpstr>Long Term Relationships (LTR)</vt:lpstr>
      <vt:lpstr>Pay in Internal Labor Markets</vt:lpstr>
      <vt:lpstr>Upward Sloping Earnings Profile</vt:lpstr>
      <vt:lpstr>Pay in Internal Markets</vt:lpstr>
      <vt:lpstr>Promotions as Tournaments</vt:lpstr>
      <vt:lpstr>Compensation Components; salary and fringe benefits</vt:lpstr>
      <vt:lpstr>Employee Preferences for Salary  and Fringe Benefits</vt:lpstr>
      <vt:lpstr>Employer Preferences for Paying Salary or Fringe Benefits</vt:lpstr>
      <vt:lpstr>The Optimal Mix; Salaries Versus Fringes</vt:lpstr>
      <vt:lpstr>Optimal Mix Between Salary and Fringe Benefits</vt:lpstr>
      <vt:lpstr>Salary-Fringe Benefit Choice</vt:lpstr>
      <vt:lpstr>Optimal Choice of Salary and Fringe Benefits with Payroll Taxes</vt:lpstr>
      <vt:lpstr>Attracting Particular Types of Employees with the Salary-Benefits Mix</vt:lpstr>
    </vt:vector>
  </TitlesOfParts>
  <Company>CBS - Copenhagen Business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Tamas Vamosi</dc:creator>
  <cp:lastModifiedBy>Kai Inga Liehr Storm</cp:lastModifiedBy>
  <cp:revision>59</cp:revision>
  <dcterms:created xsi:type="dcterms:W3CDTF">2020-03-17T09:08:22Z</dcterms:created>
  <dcterms:modified xsi:type="dcterms:W3CDTF">2026-01-29T14:35:55Z</dcterms:modified>
</cp:coreProperties>
</file>