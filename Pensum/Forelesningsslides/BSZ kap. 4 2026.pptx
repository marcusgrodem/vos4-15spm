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9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20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mas Vamosi" userId="d29b3f17-2c73-4e3f-a1f7-7beee2a70eaf" providerId="ADAL" clId="{AC19CFD4-5796-4C65-9A95-DBFFF82CC827}"/>
    <pc:docChg chg="modSld">
      <pc:chgData name="Tamas Vamosi" userId="d29b3f17-2c73-4e3f-a1f7-7beee2a70eaf" providerId="ADAL" clId="{AC19CFD4-5796-4C65-9A95-DBFFF82CC827}" dt="2025-02-06T08:37:00.747" v="5" actId="14100"/>
      <pc:docMkLst>
        <pc:docMk/>
      </pc:docMkLst>
      <pc:sldChg chg="modSp mod">
        <pc:chgData name="Tamas Vamosi" userId="d29b3f17-2c73-4e3f-a1f7-7beee2a70eaf" providerId="ADAL" clId="{AC19CFD4-5796-4C65-9A95-DBFFF82CC827}" dt="2025-02-06T08:36:32.404" v="0" actId="20577"/>
        <pc:sldMkLst>
          <pc:docMk/>
          <pc:sldMk cId="1259098664" sldId="258"/>
        </pc:sldMkLst>
        <pc:spChg chg="mod">
          <ac:chgData name="Tamas Vamosi" userId="d29b3f17-2c73-4e3f-a1f7-7beee2a70eaf" providerId="ADAL" clId="{AC19CFD4-5796-4C65-9A95-DBFFF82CC827}" dt="2025-02-06T08:36:32.404" v="0" actId="20577"/>
          <ac:spMkLst>
            <pc:docMk/>
            <pc:sldMk cId="1259098664" sldId="258"/>
            <ac:spMk id="7171" creationId="{00000000-0000-0000-0000-000000000000}"/>
          </ac:spMkLst>
        </pc:spChg>
      </pc:sldChg>
      <pc:sldChg chg="modSp mod">
        <pc:chgData name="Tamas Vamosi" userId="d29b3f17-2c73-4e3f-a1f7-7beee2a70eaf" providerId="ADAL" clId="{AC19CFD4-5796-4C65-9A95-DBFFF82CC827}" dt="2025-02-06T08:37:00.747" v="5" actId="14100"/>
        <pc:sldMkLst>
          <pc:docMk/>
          <pc:sldMk cId="727661927" sldId="259"/>
        </pc:sldMkLst>
        <pc:spChg chg="mod">
          <ac:chgData name="Tamas Vamosi" userId="d29b3f17-2c73-4e3f-a1f7-7beee2a70eaf" providerId="ADAL" clId="{AC19CFD4-5796-4C65-9A95-DBFFF82CC827}" dt="2025-02-06T08:37:00.747" v="5" actId="14100"/>
          <ac:spMkLst>
            <pc:docMk/>
            <pc:sldMk cId="727661927" sldId="259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15271A-1B36-4CA2-986E-84C9D280C62D}" type="datetimeFigureOut">
              <a:rPr lang="da-DK" smtClean="0"/>
              <a:t>26.01.2026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3648B6-846C-432C-AB8F-F355F073F20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3717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BA5A088-871C-41A7-84A5-149DBEAAACEA}" type="slidenum">
              <a:rPr lang="en-US"/>
              <a:pPr/>
              <a:t>6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194431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D899095-AA57-41E0-BE02-85CD70030824}" type="slidenum">
              <a:rPr lang="en-US"/>
              <a:pPr/>
              <a:t>7</a:t>
            </a:fld>
            <a:endParaRPr lang="en-US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934761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fsnitsoverskri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/>
          <p:cNvSpPr>
            <a:spLocks noChangeArrowheads="1"/>
          </p:cNvSpPr>
          <p:nvPr/>
        </p:nvSpPr>
        <p:spPr bwMode="auto">
          <a:xfrm>
            <a:off x="1524000" y="6629400"/>
            <a:ext cx="9144000" cy="228600"/>
          </a:xfrm>
          <a:prstGeom prst="rect">
            <a:avLst/>
          </a:prstGeom>
          <a:solidFill>
            <a:srgbClr val="33333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a-DK"/>
          </a:p>
        </p:txBody>
      </p:sp>
      <p:sp>
        <p:nvSpPr>
          <p:cNvPr id="6149" name="Rectangle 5"/>
          <p:cNvSpPr>
            <a:spLocks noChangeArrowheads="1"/>
          </p:cNvSpPr>
          <p:nvPr/>
        </p:nvSpPr>
        <p:spPr bwMode="auto">
          <a:xfrm>
            <a:off x="2286000" y="1143000"/>
            <a:ext cx="77724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3200" i="1" dirty="0">
                <a:solidFill>
                  <a:srgbClr val="000066"/>
                </a:solidFill>
                <a:latin typeface="Arial" charset="0"/>
                <a:cs typeface="Arial" charset="0"/>
              </a:rPr>
              <a:t>Managerial Economics and Organizational Architecture</a:t>
            </a:r>
            <a:r>
              <a:rPr lang="en-US" sz="3200" dirty="0">
                <a:solidFill>
                  <a:srgbClr val="000066"/>
                </a:solidFill>
                <a:latin typeface="Arial" charset="0"/>
                <a:cs typeface="Arial" charset="0"/>
              </a:rPr>
              <a:t>, 7e</a:t>
            </a:r>
            <a:br>
              <a:rPr lang="en-US" sz="3200" dirty="0">
                <a:solidFill>
                  <a:srgbClr val="000066"/>
                </a:solidFill>
                <a:latin typeface="Arial" charset="0"/>
                <a:cs typeface="Arial" charset="0"/>
              </a:rPr>
            </a:br>
            <a:br>
              <a:rPr lang="en-US" sz="4400" dirty="0">
                <a:solidFill>
                  <a:srgbClr val="000066"/>
                </a:solidFill>
                <a:latin typeface="Arial" charset="0"/>
                <a:cs typeface="Arial" charset="0"/>
              </a:rPr>
            </a:br>
            <a:r>
              <a:rPr lang="en-US" sz="4800" dirty="0">
                <a:solidFill>
                  <a:srgbClr val="000066"/>
                </a:solidFill>
                <a:latin typeface="Arial" charset="0"/>
                <a:cs typeface="Arial" charset="0"/>
              </a:rPr>
              <a:t>Chapter 4:  Demand</a:t>
            </a:r>
          </a:p>
        </p:txBody>
      </p:sp>
    </p:spTree>
    <p:extLst>
      <p:ext uri="{BB962C8B-B14F-4D97-AF65-F5344CB8AC3E}">
        <p14:creationId xmlns:p14="http://schemas.microsoft.com/office/powerpoint/2010/main" val="2400350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600456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Demand Function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2286000"/>
            <a:ext cx="9601200" cy="38221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A mathematical representation of the relationship between the quantity demanded and all factors influencing demand:</a:t>
            </a:r>
          </a:p>
          <a:p>
            <a:pPr marL="0" indent="0">
              <a:buNone/>
            </a:pPr>
            <a:endParaRPr lang="en-US" sz="2800" dirty="0"/>
          </a:p>
          <a:p>
            <a:pPr marL="0" indent="0" algn="ctr">
              <a:buNone/>
            </a:pPr>
            <a:r>
              <a:rPr lang="en-US" sz="2800" i="1" dirty="0">
                <a:solidFill>
                  <a:srgbClr val="FF6600"/>
                </a:solidFill>
              </a:rPr>
              <a:t>Q = f(X</a:t>
            </a:r>
            <a:r>
              <a:rPr lang="en-US" sz="2800" i="1" baseline="-25000" dirty="0">
                <a:solidFill>
                  <a:srgbClr val="FF6600"/>
                </a:solidFill>
              </a:rPr>
              <a:t>1</a:t>
            </a:r>
            <a:r>
              <a:rPr lang="en-US" sz="2800" i="1" dirty="0">
                <a:solidFill>
                  <a:srgbClr val="FF6600"/>
                </a:solidFill>
              </a:rPr>
              <a:t>, X</a:t>
            </a:r>
            <a:r>
              <a:rPr lang="en-US" sz="2800" i="1" baseline="-25000" dirty="0">
                <a:solidFill>
                  <a:srgbClr val="FF6600"/>
                </a:solidFill>
              </a:rPr>
              <a:t>2</a:t>
            </a:r>
            <a:r>
              <a:rPr lang="en-US" sz="2800" i="1" dirty="0">
                <a:solidFill>
                  <a:srgbClr val="FF6600"/>
                </a:solidFill>
              </a:rPr>
              <a:t>,… </a:t>
            </a:r>
            <a:r>
              <a:rPr lang="en-US" sz="2800" i="1" dirty="0" err="1">
                <a:solidFill>
                  <a:srgbClr val="FF6600"/>
                </a:solidFill>
              </a:rPr>
              <a:t>X</a:t>
            </a:r>
            <a:r>
              <a:rPr lang="en-US" sz="2800" i="1" baseline="-25000" dirty="0" err="1">
                <a:solidFill>
                  <a:srgbClr val="FF6600"/>
                </a:solidFill>
              </a:rPr>
              <a:t>n</a:t>
            </a:r>
            <a:r>
              <a:rPr lang="en-US" sz="2800" i="1" dirty="0">
                <a:solidFill>
                  <a:srgbClr val="FF6600"/>
                </a:solidFill>
              </a:rPr>
              <a:t>)</a:t>
            </a:r>
          </a:p>
          <a:p>
            <a:pPr marL="0" indent="0">
              <a:buNone/>
            </a:pPr>
            <a:endParaRPr lang="en-US" sz="2800" dirty="0">
              <a:solidFill>
                <a:srgbClr val="FF6600"/>
              </a:solidFill>
            </a:endParaRPr>
          </a:p>
          <a:p>
            <a:pPr marL="0" indent="0">
              <a:buNone/>
            </a:pPr>
            <a:r>
              <a:rPr lang="en-US" sz="2800" dirty="0"/>
              <a:t>where </a:t>
            </a:r>
            <a:r>
              <a:rPr lang="en-US" sz="2800" i="1" dirty="0">
                <a:solidFill>
                  <a:srgbClr val="FF6600"/>
                </a:solidFill>
              </a:rPr>
              <a:t>Q</a:t>
            </a:r>
            <a:r>
              <a:rPr lang="en-US" sz="2800" dirty="0"/>
              <a:t> is quantity demanded, and the </a:t>
            </a:r>
            <a:r>
              <a:rPr lang="en-US" sz="2800" i="1" dirty="0" err="1">
                <a:solidFill>
                  <a:srgbClr val="FF6600"/>
                </a:solidFill>
              </a:rPr>
              <a:t>X</a:t>
            </a:r>
            <a:r>
              <a:rPr lang="en-US" sz="2800" i="1" baseline="-25000" dirty="0" err="1">
                <a:solidFill>
                  <a:srgbClr val="FF6600"/>
                </a:solidFill>
              </a:rPr>
              <a:t>i</a:t>
            </a:r>
            <a:r>
              <a:rPr lang="en-US" sz="2800" dirty="0" err="1"/>
              <a:t>s</a:t>
            </a:r>
            <a:r>
              <a:rPr lang="en-US" sz="2800" dirty="0"/>
              <a:t> are the factors influencing demand</a:t>
            </a:r>
          </a:p>
        </p:txBody>
      </p:sp>
      <p:sp>
        <p:nvSpPr>
          <p:cNvPr id="7173" name="Rectangle 5"/>
          <p:cNvSpPr>
            <a:spLocks noChangeArrowheads="1"/>
          </p:cNvSpPr>
          <p:nvPr/>
        </p:nvSpPr>
        <p:spPr bwMode="auto">
          <a:xfrm>
            <a:off x="11279505" y="6427471"/>
            <a:ext cx="590550" cy="2444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fld id="{65540A6A-8477-4E50-91D7-C887B89F819F}" type="slidenum">
              <a:rPr lang="en-US" sz="1000" smtClean="0"/>
              <a:pPr eaLnBrk="1" hangingPunct="1"/>
              <a:t>2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259098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258824" y="647422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Demand for PTC Tickets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676401"/>
            <a:ext cx="8229600" cy="4525963"/>
          </a:xfrm>
        </p:spPr>
        <p:txBody>
          <a:bodyPr/>
          <a:lstStyle/>
          <a:p>
            <a:pPr marL="0" indent="0" algn="ctr">
              <a:buNone/>
            </a:pPr>
            <a:endParaRPr lang="en-US" sz="2800" i="1" dirty="0">
              <a:solidFill>
                <a:srgbClr val="FF6600"/>
              </a:solidFill>
            </a:endParaRPr>
          </a:p>
          <a:p>
            <a:pPr marL="0" indent="0" algn="ctr">
              <a:buNone/>
            </a:pPr>
            <a:r>
              <a:rPr lang="en-US" sz="2800" i="1" dirty="0">
                <a:solidFill>
                  <a:srgbClr val="FF6600"/>
                </a:solidFill>
              </a:rPr>
              <a:t>Q</a:t>
            </a:r>
            <a:r>
              <a:rPr lang="en-US" sz="1400" i="1" dirty="0">
                <a:solidFill>
                  <a:srgbClr val="FF6600"/>
                </a:solidFill>
              </a:rPr>
              <a:t>PTC</a:t>
            </a:r>
            <a:r>
              <a:rPr lang="en-US" sz="2800" i="1" dirty="0">
                <a:solidFill>
                  <a:srgbClr val="FF6600"/>
                </a:solidFill>
              </a:rPr>
              <a:t> = </a:t>
            </a:r>
            <a:r>
              <a:rPr lang="en-US" sz="2800" dirty="0">
                <a:solidFill>
                  <a:srgbClr val="FF6600"/>
                </a:solidFill>
              </a:rPr>
              <a:t>117 </a:t>
            </a:r>
            <a:r>
              <a:rPr lang="en-US" sz="2800" i="1" dirty="0">
                <a:solidFill>
                  <a:srgbClr val="FF6600"/>
                </a:solidFill>
              </a:rPr>
              <a:t>- </a:t>
            </a:r>
            <a:r>
              <a:rPr lang="en-US" sz="2800" dirty="0">
                <a:solidFill>
                  <a:srgbClr val="FF6600"/>
                </a:solidFill>
              </a:rPr>
              <a:t>6.6</a:t>
            </a:r>
            <a:r>
              <a:rPr lang="en-US" sz="2800" i="1" dirty="0">
                <a:solidFill>
                  <a:srgbClr val="FF6600"/>
                </a:solidFill>
              </a:rPr>
              <a:t>P + </a:t>
            </a:r>
            <a:r>
              <a:rPr lang="en-US" sz="2800" dirty="0">
                <a:solidFill>
                  <a:srgbClr val="FF6600"/>
                </a:solidFill>
              </a:rPr>
              <a:t>1.66</a:t>
            </a:r>
            <a:r>
              <a:rPr lang="en-US" sz="2800" i="1" dirty="0">
                <a:solidFill>
                  <a:srgbClr val="FF6600"/>
                </a:solidFill>
              </a:rPr>
              <a:t>P</a:t>
            </a:r>
            <a:r>
              <a:rPr lang="en-US" sz="2800" i="1" baseline="-20000" dirty="0">
                <a:solidFill>
                  <a:srgbClr val="FF6600"/>
                </a:solidFill>
              </a:rPr>
              <a:t>s </a:t>
            </a:r>
            <a:r>
              <a:rPr lang="en-US" sz="2800" i="1" dirty="0">
                <a:solidFill>
                  <a:srgbClr val="FF6600"/>
                </a:solidFill>
              </a:rPr>
              <a:t>- </a:t>
            </a:r>
            <a:r>
              <a:rPr lang="en-US" sz="2800" dirty="0">
                <a:solidFill>
                  <a:srgbClr val="FF6600"/>
                </a:solidFill>
              </a:rPr>
              <a:t>3.3</a:t>
            </a:r>
            <a:r>
              <a:rPr lang="en-US" sz="2800" i="1" dirty="0">
                <a:solidFill>
                  <a:srgbClr val="FF6600"/>
                </a:solidFill>
              </a:rPr>
              <a:t>P</a:t>
            </a:r>
            <a:r>
              <a:rPr lang="en-US" sz="2800" i="1" baseline="-20000" dirty="0">
                <a:solidFill>
                  <a:srgbClr val="FF6600"/>
                </a:solidFill>
              </a:rPr>
              <a:t>r</a:t>
            </a:r>
            <a:r>
              <a:rPr lang="en-US" sz="2800" i="1" dirty="0">
                <a:solidFill>
                  <a:srgbClr val="FF6600"/>
                </a:solidFill>
              </a:rPr>
              <a:t> + </a:t>
            </a:r>
            <a:r>
              <a:rPr lang="en-US" sz="2800" dirty="0">
                <a:solidFill>
                  <a:srgbClr val="FF6600"/>
                </a:solidFill>
              </a:rPr>
              <a:t>0.00661</a:t>
            </a:r>
            <a:r>
              <a:rPr lang="en-US" sz="2800" i="1" dirty="0">
                <a:solidFill>
                  <a:srgbClr val="FF6600"/>
                </a:solidFill>
              </a:rPr>
              <a:t>I</a:t>
            </a:r>
            <a:endParaRPr lang="en-US" sz="2800" dirty="0">
              <a:solidFill>
                <a:srgbClr val="FF66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FF6600"/>
              </a:solidFill>
            </a:endParaRPr>
          </a:p>
          <a:p>
            <a:pPr marL="0" indent="0">
              <a:buNone/>
            </a:pPr>
            <a:r>
              <a:rPr lang="en-US" sz="2800" dirty="0"/>
              <a:t>where </a:t>
            </a:r>
            <a:r>
              <a:rPr lang="en-US" sz="2800" i="1" dirty="0">
                <a:solidFill>
                  <a:srgbClr val="FF6600"/>
                </a:solidFill>
              </a:rPr>
              <a:t>P</a:t>
            </a:r>
            <a:r>
              <a:rPr lang="en-US" sz="2800" dirty="0">
                <a:solidFill>
                  <a:srgbClr val="FF6600"/>
                </a:solidFill>
              </a:rPr>
              <a:t> </a:t>
            </a:r>
            <a:r>
              <a:rPr lang="en-US" sz="2800" dirty="0"/>
              <a:t>is PTC ticket price, </a:t>
            </a:r>
            <a:r>
              <a:rPr lang="en-US" sz="2800" i="1" dirty="0">
                <a:solidFill>
                  <a:srgbClr val="FF6600"/>
                </a:solidFill>
              </a:rPr>
              <a:t>P</a:t>
            </a:r>
            <a:r>
              <a:rPr lang="en-US" sz="2800" i="1" baseline="-20000" dirty="0">
                <a:solidFill>
                  <a:srgbClr val="FF6600"/>
                </a:solidFill>
              </a:rPr>
              <a:t>s</a:t>
            </a:r>
            <a:r>
              <a:rPr lang="en-US" sz="2800" dirty="0"/>
              <a:t> is price of symphony tickets, </a:t>
            </a:r>
            <a:r>
              <a:rPr lang="en-US" sz="2800" i="1" dirty="0" err="1">
                <a:solidFill>
                  <a:srgbClr val="FF6600"/>
                </a:solidFill>
              </a:rPr>
              <a:t>P</a:t>
            </a:r>
            <a:r>
              <a:rPr lang="en-US" sz="2800" i="1" baseline="-20000" dirty="0" err="1">
                <a:solidFill>
                  <a:srgbClr val="FF6600"/>
                </a:solidFill>
              </a:rPr>
              <a:t>r</a:t>
            </a:r>
            <a:r>
              <a:rPr lang="en-US" sz="2800" dirty="0"/>
              <a:t> is price of nearby restaurant meals, and </a:t>
            </a:r>
            <a:r>
              <a:rPr lang="en-US" sz="2800" i="1" dirty="0"/>
              <a:t>I</a:t>
            </a:r>
            <a:r>
              <a:rPr lang="en-US" sz="2800" dirty="0"/>
              <a:t> is average per capita income</a:t>
            </a: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11242929" y="6202364"/>
            <a:ext cx="590550" cy="2444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fld id="{12551D34-0F31-4ED2-AC4B-8A4ACB470A9D}" type="slidenum">
              <a:rPr lang="en-US" sz="1000" smtClean="0"/>
              <a:pPr eaLnBrk="1" hangingPunct="1"/>
              <a:t>3</a:t>
            </a:fld>
            <a:endParaRPr lang="en-US" sz="1000" dirty="0"/>
          </a:p>
        </p:txBody>
      </p:sp>
      <p:sp>
        <p:nvSpPr>
          <p:cNvPr id="2" name="Tekstboks 1"/>
          <p:cNvSpPr txBox="1"/>
          <p:nvPr/>
        </p:nvSpPr>
        <p:spPr>
          <a:xfrm>
            <a:off x="1706881" y="5448856"/>
            <a:ext cx="3172937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da-DK" dirty="0">
                <a:solidFill>
                  <a:srgbClr val="002060"/>
                </a:solidFill>
              </a:rPr>
              <a:t>‘Player Theater Company’ PTC</a:t>
            </a:r>
          </a:p>
        </p:txBody>
      </p:sp>
      <p:cxnSp>
        <p:nvCxnSpPr>
          <p:cNvPr id="4" name="Lige pilforbindelse 3"/>
          <p:cNvCxnSpPr/>
          <p:nvPr/>
        </p:nvCxnSpPr>
        <p:spPr bwMode="auto">
          <a:xfrm flipV="1">
            <a:off x="4398264" y="2631186"/>
            <a:ext cx="2732533" cy="1136142"/>
          </a:xfrm>
          <a:prstGeom prst="straightConnector1">
            <a:avLst/>
          </a:prstGeom>
          <a:noFill/>
          <a:ln w="19050" cap="flat" cmpd="sng" algn="ctr">
            <a:solidFill>
              <a:srgbClr val="FF6600"/>
            </a:solidFill>
            <a:prstDash val="solid"/>
            <a:round/>
            <a:headEnd type="triangle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727661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185672" y="505968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The Demand Curve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sz="2800" dirty="0"/>
              <a:t>Substitute variable values (except for </a:t>
            </a:r>
            <a:r>
              <a:rPr lang="en-US" sz="2800" i="1" dirty="0">
                <a:solidFill>
                  <a:srgbClr val="FF6600"/>
                </a:solidFill>
              </a:rPr>
              <a:t>P</a:t>
            </a:r>
            <a:r>
              <a:rPr lang="en-US" sz="2800" dirty="0"/>
              <a:t>) into the equation and simplify:</a:t>
            </a:r>
          </a:p>
          <a:p>
            <a:pPr algn="ctr" eaLnBrk="1" hangingPunct="1">
              <a:buFontTx/>
              <a:buNone/>
            </a:pPr>
            <a:r>
              <a:rPr lang="en-US" sz="2800" i="1" dirty="0">
                <a:solidFill>
                  <a:srgbClr val="FF6600"/>
                </a:solidFill>
              </a:rPr>
              <a:t>P = 60 - 0.15Q</a:t>
            </a:r>
            <a:endParaRPr lang="en-US" sz="2800" dirty="0">
              <a:solidFill>
                <a:srgbClr val="FF6600"/>
              </a:solidFill>
            </a:endParaRPr>
          </a:p>
          <a:p>
            <a:pPr eaLnBrk="1" hangingPunct="1">
              <a:buFontTx/>
              <a:buNone/>
            </a:pPr>
            <a:r>
              <a:rPr lang="en-US" sz="2800" dirty="0"/>
              <a:t>This is the equation for the </a:t>
            </a:r>
            <a:r>
              <a:rPr lang="en-US" sz="2800" i="1" dirty="0"/>
              <a:t>demand curve</a:t>
            </a:r>
            <a:r>
              <a:rPr lang="en-US" sz="2800" dirty="0"/>
              <a:t>.</a:t>
            </a:r>
          </a:p>
          <a:p>
            <a:pPr eaLnBrk="1" hangingPunct="1">
              <a:buFontTx/>
              <a:buNone/>
            </a:pPr>
            <a:endParaRPr lang="en-US" sz="2800" dirty="0"/>
          </a:p>
          <a:p>
            <a:pPr eaLnBrk="1" hangingPunct="1">
              <a:buFontTx/>
              <a:buNone/>
            </a:pPr>
            <a:r>
              <a:rPr lang="en-US" sz="2800" dirty="0"/>
              <a:t>Law of demand – as the price of a good rises, the quantity demanded falls</a:t>
            </a:r>
          </a:p>
          <a:p>
            <a:pPr eaLnBrk="1" hangingPunct="1">
              <a:buFontTx/>
              <a:buNone/>
            </a:pPr>
            <a:endParaRPr lang="en-US" dirty="0"/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10972800" y="6034279"/>
            <a:ext cx="590550" cy="2444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fld id="{B6465B64-C62C-474B-8B09-A93C5B8D6AFA}" type="slidenum">
              <a:rPr lang="en-US" sz="1000" smtClean="0"/>
              <a:pPr eaLnBrk="1" hangingPunct="1"/>
              <a:t>4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766417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1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5334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Price Elasticity of Demand</a:t>
            </a:r>
          </a:p>
        </p:txBody>
      </p:sp>
      <p:sp>
        <p:nvSpPr>
          <p:cNvPr id="163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dirty="0"/>
          </a:p>
          <a:p>
            <a:pPr eaLnBrk="1" hangingPunct="1"/>
            <a:r>
              <a:rPr lang="en-US" sz="3200" dirty="0"/>
              <a:t>Measures the responsiveness of quantity demanded in % to changes in price in %</a:t>
            </a:r>
          </a:p>
          <a:p>
            <a:pPr eaLnBrk="1" hangingPunct="1"/>
            <a:r>
              <a:rPr lang="en-US" sz="3200" dirty="0"/>
              <a:t>Often referred to as elasticity of demand</a:t>
            </a:r>
          </a:p>
          <a:p>
            <a:pPr eaLnBrk="1" hangingPunct="1"/>
            <a:r>
              <a:rPr lang="en-US" sz="3200" dirty="0"/>
              <a:t>Helps firms determine the effect of price changes on total revenue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1050905" y="6116575"/>
            <a:ext cx="590550" cy="2444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fld id="{6BCC4A7B-0584-47C2-91DC-394FE4421B1D}" type="slidenum">
              <a:rPr lang="en-US" sz="1000" smtClean="0"/>
              <a:pPr eaLnBrk="1" hangingPunct="1"/>
              <a:t>5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697464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4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7620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Arc Price Elasticity</a:t>
            </a:r>
          </a:p>
        </p:txBody>
      </p:sp>
      <p:sp>
        <p:nvSpPr>
          <p:cNvPr id="14339" name="Line 4"/>
          <p:cNvSpPr>
            <a:spLocks noChangeShapeType="1"/>
          </p:cNvSpPr>
          <p:nvPr/>
        </p:nvSpPr>
        <p:spPr bwMode="auto">
          <a:xfrm>
            <a:off x="3962400" y="2286000"/>
            <a:ext cx="0" cy="3657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14340" name="Line 5"/>
          <p:cNvSpPr>
            <a:spLocks noChangeShapeType="1"/>
          </p:cNvSpPr>
          <p:nvPr/>
        </p:nvSpPr>
        <p:spPr bwMode="auto">
          <a:xfrm>
            <a:off x="3962400" y="594360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/>
          </a:ln>
        </p:spPr>
        <p:txBody>
          <a:bodyPr/>
          <a:lstStyle/>
          <a:p>
            <a:endParaRPr lang="da-DK"/>
          </a:p>
        </p:txBody>
      </p:sp>
      <p:sp>
        <p:nvSpPr>
          <p:cNvPr id="14341" name="Line 6"/>
          <p:cNvSpPr>
            <a:spLocks noChangeShapeType="1"/>
          </p:cNvSpPr>
          <p:nvPr/>
        </p:nvSpPr>
        <p:spPr bwMode="auto">
          <a:xfrm>
            <a:off x="3962400" y="3048000"/>
            <a:ext cx="2895600" cy="289560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14342" name="Line 7"/>
          <p:cNvSpPr>
            <a:spLocks noChangeShapeType="1"/>
          </p:cNvSpPr>
          <p:nvPr/>
        </p:nvSpPr>
        <p:spPr bwMode="auto">
          <a:xfrm>
            <a:off x="3962400" y="3962400"/>
            <a:ext cx="914400" cy="0"/>
          </a:xfrm>
          <a:prstGeom prst="line">
            <a:avLst/>
          </a:prstGeom>
          <a:noFill/>
          <a:ln w="9525" cap="rnd">
            <a:solidFill>
              <a:schemeClr val="accent1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14343" name="Line 8"/>
          <p:cNvSpPr>
            <a:spLocks noChangeShapeType="1"/>
          </p:cNvSpPr>
          <p:nvPr/>
        </p:nvSpPr>
        <p:spPr bwMode="auto">
          <a:xfrm>
            <a:off x="4876800" y="3962400"/>
            <a:ext cx="0" cy="2057400"/>
          </a:xfrm>
          <a:prstGeom prst="line">
            <a:avLst/>
          </a:prstGeom>
          <a:noFill/>
          <a:ln w="9525" cap="rnd">
            <a:solidFill>
              <a:schemeClr val="accent1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14344" name="Line 9"/>
          <p:cNvSpPr>
            <a:spLocks noChangeShapeType="1"/>
          </p:cNvSpPr>
          <p:nvPr/>
        </p:nvSpPr>
        <p:spPr bwMode="auto">
          <a:xfrm>
            <a:off x="3962400" y="4572000"/>
            <a:ext cx="1524000" cy="0"/>
          </a:xfrm>
          <a:prstGeom prst="line">
            <a:avLst/>
          </a:prstGeom>
          <a:noFill/>
          <a:ln w="9525" cap="rnd">
            <a:solidFill>
              <a:schemeClr val="accent1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14345" name="Line 10"/>
          <p:cNvSpPr>
            <a:spLocks noChangeShapeType="1"/>
          </p:cNvSpPr>
          <p:nvPr/>
        </p:nvSpPr>
        <p:spPr bwMode="auto">
          <a:xfrm>
            <a:off x="5486400" y="4572000"/>
            <a:ext cx="0" cy="1524000"/>
          </a:xfrm>
          <a:prstGeom prst="line">
            <a:avLst/>
          </a:prstGeom>
          <a:noFill/>
          <a:ln w="9525" cap="rnd">
            <a:solidFill>
              <a:schemeClr val="accent1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14346" name="Text Box 11"/>
          <p:cNvSpPr txBox="1">
            <a:spLocks noChangeArrowheads="1"/>
          </p:cNvSpPr>
          <p:nvPr/>
        </p:nvSpPr>
        <p:spPr bwMode="auto">
          <a:xfrm>
            <a:off x="4860925" y="3744913"/>
            <a:ext cx="990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1400" dirty="0">
                <a:latin typeface="Arial" charset="0"/>
                <a:cs typeface="Arial" charset="0"/>
              </a:rPr>
              <a:t>(133, $40)</a:t>
            </a:r>
          </a:p>
        </p:txBody>
      </p:sp>
      <p:sp>
        <p:nvSpPr>
          <p:cNvPr id="14347" name="Text Box 12"/>
          <p:cNvSpPr txBox="1">
            <a:spLocks noChangeArrowheads="1"/>
          </p:cNvSpPr>
          <p:nvPr/>
        </p:nvSpPr>
        <p:spPr bwMode="auto">
          <a:xfrm>
            <a:off x="5546725" y="4278313"/>
            <a:ext cx="990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1400" dirty="0">
                <a:latin typeface="Arial" charset="0"/>
                <a:cs typeface="Arial" charset="0"/>
              </a:rPr>
              <a:t>(200, $30)</a:t>
            </a:r>
          </a:p>
        </p:txBody>
      </p:sp>
      <p:sp>
        <p:nvSpPr>
          <p:cNvPr id="14348" name="Rectangle 13"/>
          <p:cNvSpPr>
            <a:spLocks noChangeArrowheads="1"/>
          </p:cNvSpPr>
          <p:nvPr/>
        </p:nvSpPr>
        <p:spPr bwMode="auto">
          <a:xfrm rot="-5400000">
            <a:off x="2339975" y="3756025"/>
            <a:ext cx="18732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sz="1400" dirty="0">
                <a:latin typeface="Arial" charset="0"/>
                <a:cs typeface="Arial" charset="0"/>
              </a:rPr>
              <a:t>Ticket price in dollars</a:t>
            </a:r>
          </a:p>
        </p:txBody>
      </p:sp>
      <p:sp>
        <p:nvSpPr>
          <p:cNvPr id="14349" name="Text Box 14"/>
          <p:cNvSpPr txBox="1">
            <a:spLocks noChangeArrowheads="1"/>
          </p:cNvSpPr>
          <p:nvPr/>
        </p:nvSpPr>
        <p:spPr bwMode="auto">
          <a:xfrm>
            <a:off x="3810001" y="19050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1400">
                <a:solidFill>
                  <a:schemeClr val="bg2"/>
                </a:solidFill>
                <a:latin typeface="Arial" charset="0"/>
                <a:cs typeface="Arial" charset="0"/>
              </a:rPr>
              <a:t>$</a:t>
            </a:r>
          </a:p>
        </p:txBody>
      </p:sp>
      <p:sp>
        <p:nvSpPr>
          <p:cNvPr id="14350" name="Text Box 15"/>
          <p:cNvSpPr txBox="1">
            <a:spLocks noChangeArrowheads="1"/>
          </p:cNvSpPr>
          <p:nvPr/>
        </p:nvSpPr>
        <p:spPr bwMode="auto">
          <a:xfrm>
            <a:off x="3657600" y="28956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1400" dirty="0">
                <a:latin typeface="Arial" charset="0"/>
                <a:cs typeface="Arial" charset="0"/>
              </a:rPr>
              <a:t>60</a:t>
            </a:r>
          </a:p>
        </p:txBody>
      </p:sp>
      <p:sp>
        <p:nvSpPr>
          <p:cNvPr id="14351" name="Text Box 16"/>
          <p:cNvSpPr txBox="1">
            <a:spLocks noChangeArrowheads="1"/>
          </p:cNvSpPr>
          <p:nvPr/>
        </p:nvSpPr>
        <p:spPr bwMode="auto">
          <a:xfrm>
            <a:off x="6705601" y="5943600"/>
            <a:ext cx="4794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1400" dirty="0">
                <a:latin typeface="Arial" charset="0"/>
                <a:cs typeface="Arial" charset="0"/>
              </a:rPr>
              <a:t>400</a:t>
            </a:r>
          </a:p>
        </p:txBody>
      </p:sp>
      <p:sp>
        <p:nvSpPr>
          <p:cNvPr id="14352" name="Text Box 17"/>
          <p:cNvSpPr txBox="1">
            <a:spLocks noChangeArrowheads="1"/>
          </p:cNvSpPr>
          <p:nvPr/>
        </p:nvSpPr>
        <p:spPr bwMode="auto">
          <a:xfrm>
            <a:off x="4572001" y="6172200"/>
            <a:ext cx="174307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1200" dirty="0">
                <a:latin typeface="Arial" charset="0"/>
                <a:cs typeface="Arial" charset="0"/>
              </a:rPr>
              <a:t>Quantity of PTC tickets</a:t>
            </a:r>
          </a:p>
        </p:txBody>
      </p:sp>
      <p:sp>
        <p:nvSpPr>
          <p:cNvPr id="141330" name="Text Box 18"/>
          <p:cNvSpPr txBox="1">
            <a:spLocks noChangeArrowheads="1"/>
          </p:cNvSpPr>
          <p:nvPr/>
        </p:nvSpPr>
        <p:spPr bwMode="auto">
          <a:xfrm>
            <a:off x="5486401" y="2601914"/>
            <a:ext cx="333777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l-GR" sz="1400" dirty="0">
                <a:latin typeface="Arial" charset="0"/>
                <a:cs typeface="Arial" charset="0"/>
              </a:rPr>
              <a:t>η</a:t>
            </a:r>
            <a:r>
              <a:rPr lang="en-US" sz="1400" dirty="0">
                <a:latin typeface="Arial" charset="0"/>
                <a:cs typeface="Arial" charset="0"/>
              </a:rPr>
              <a:t> = -[</a:t>
            </a:r>
            <a:r>
              <a:rPr lang="el-GR" sz="1400" dirty="0">
                <a:latin typeface="Arial" charset="0"/>
                <a:cs typeface="Arial" charset="0"/>
              </a:rPr>
              <a:t>Δ</a:t>
            </a:r>
            <a:r>
              <a:rPr lang="en-US" sz="1400" i="1" dirty="0">
                <a:latin typeface="Arial" charset="0"/>
                <a:cs typeface="Arial" charset="0"/>
              </a:rPr>
              <a:t>Q/(Q</a:t>
            </a:r>
            <a:r>
              <a:rPr lang="en-US" sz="1400" i="1" baseline="-25000" dirty="0">
                <a:latin typeface="Arial" charset="0"/>
                <a:cs typeface="Arial" charset="0"/>
              </a:rPr>
              <a:t>1</a:t>
            </a:r>
            <a:r>
              <a:rPr lang="en-US" sz="1400" i="1" dirty="0">
                <a:latin typeface="Arial" charset="0"/>
                <a:cs typeface="Arial" charset="0"/>
              </a:rPr>
              <a:t> + Q</a:t>
            </a:r>
            <a:r>
              <a:rPr lang="en-US" sz="1400" i="1" baseline="-25000" dirty="0">
                <a:latin typeface="Arial" charset="0"/>
                <a:cs typeface="Arial" charset="0"/>
              </a:rPr>
              <a:t>2</a:t>
            </a:r>
            <a:r>
              <a:rPr lang="en-US" sz="1400" i="1" dirty="0">
                <a:latin typeface="Arial" charset="0"/>
                <a:cs typeface="Arial" charset="0"/>
              </a:rPr>
              <a:t>)/2] ÷ </a:t>
            </a:r>
            <a:r>
              <a:rPr lang="en-US" sz="1400" dirty="0">
                <a:latin typeface="Arial" charset="0"/>
                <a:cs typeface="Arial" charset="0"/>
              </a:rPr>
              <a:t>[</a:t>
            </a:r>
            <a:r>
              <a:rPr lang="el-GR" sz="1400" dirty="0">
                <a:latin typeface="Arial" charset="0"/>
                <a:cs typeface="Arial" charset="0"/>
              </a:rPr>
              <a:t>Δ</a:t>
            </a:r>
            <a:r>
              <a:rPr lang="en-US" sz="1400" dirty="0">
                <a:latin typeface="Arial" charset="0"/>
                <a:cs typeface="Arial" charset="0"/>
              </a:rPr>
              <a:t>P</a:t>
            </a:r>
            <a:r>
              <a:rPr lang="en-US" sz="1400" i="1" dirty="0">
                <a:latin typeface="Arial" charset="0"/>
                <a:cs typeface="Arial" charset="0"/>
              </a:rPr>
              <a:t>/(P1 + P2)/2]</a:t>
            </a:r>
            <a:endParaRPr lang="el-GR" sz="1400" i="1" dirty="0">
              <a:latin typeface="Arial" charset="0"/>
              <a:cs typeface="Arial" charset="0"/>
            </a:endParaRPr>
          </a:p>
        </p:txBody>
      </p:sp>
      <p:sp>
        <p:nvSpPr>
          <p:cNvPr id="141331" name="Text Box 19"/>
          <p:cNvSpPr txBox="1">
            <a:spLocks noChangeArrowheads="1"/>
          </p:cNvSpPr>
          <p:nvPr/>
        </p:nvSpPr>
        <p:spPr bwMode="auto">
          <a:xfrm>
            <a:off x="5661025" y="2895600"/>
            <a:ext cx="30099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1400" dirty="0">
                <a:latin typeface="Arial" charset="0"/>
                <a:cs typeface="Arial" charset="0"/>
              </a:rPr>
              <a:t>=-[-67/(200+133)/2] </a:t>
            </a:r>
            <a:r>
              <a:rPr lang="en-US" sz="1400" i="1" dirty="0">
                <a:latin typeface="Arial" charset="0"/>
                <a:cs typeface="Arial" charset="0"/>
              </a:rPr>
              <a:t>÷ </a:t>
            </a:r>
            <a:r>
              <a:rPr lang="en-US" sz="1400" dirty="0">
                <a:latin typeface="Arial" charset="0"/>
                <a:cs typeface="Arial" charset="0"/>
              </a:rPr>
              <a:t>[10/(30+40)/2]</a:t>
            </a:r>
          </a:p>
        </p:txBody>
      </p:sp>
      <p:sp>
        <p:nvSpPr>
          <p:cNvPr id="141332" name="Text Box 20"/>
          <p:cNvSpPr txBox="1">
            <a:spLocks noChangeArrowheads="1"/>
          </p:cNvSpPr>
          <p:nvPr/>
        </p:nvSpPr>
        <p:spPr bwMode="auto">
          <a:xfrm>
            <a:off x="5665788" y="3211513"/>
            <a:ext cx="58261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1400" dirty="0">
                <a:latin typeface="Arial" charset="0"/>
                <a:cs typeface="Arial" charset="0"/>
              </a:rPr>
              <a:t>= 1.4</a:t>
            </a:r>
          </a:p>
        </p:txBody>
      </p:sp>
      <p:sp>
        <p:nvSpPr>
          <p:cNvPr id="14356" name="Text Box 21"/>
          <p:cNvSpPr txBox="1">
            <a:spLocks noChangeArrowheads="1"/>
          </p:cNvSpPr>
          <p:nvPr/>
        </p:nvSpPr>
        <p:spPr bwMode="auto">
          <a:xfrm>
            <a:off x="3671888" y="3810000"/>
            <a:ext cx="3429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1200" i="1" dirty="0">
                <a:latin typeface="Arial" charset="0"/>
                <a:cs typeface="Arial" charset="0"/>
              </a:rPr>
              <a:t>P</a:t>
            </a:r>
            <a:r>
              <a:rPr lang="en-US" sz="1200" i="1" baseline="-25000" dirty="0">
                <a:latin typeface="Arial" charset="0"/>
                <a:cs typeface="Arial" charset="0"/>
              </a:rPr>
              <a:t>2</a:t>
            </a:r>
            <a:endParaRPr lang="en-US" sz="1200" i="1" dirty="0">
              <a:latin typeface="Arial" charset="0"/>
              <a:cs typeface="Arial" charset="0"/>
            </a:endParaRPr>
          </a:p>
        </p:txBody>
      </p:sp>
      <p:sp>
        <p:nvSpPr>
          <p:cNvPr id="14357" name="Text Box 22"/>
          <p:cNvSpPr txBox="1">
            <a:spLocks noChangeArrowheads="1"/>
          </p:cNvSpPr>
          <p:nvPr/>
        </p:nvSpPr>
        <p:spPr bwMode="auto">
          <a:xfrm>
            <a:off x="3657600" y="4419600"/>
            <a:ext cx="3429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1200" i="1" dirty="0">
                <a:latin typeface="Arial" charset="0"/>
                <a:cs typeface="Arial" charset="0"/>
              </a:rPr>
              <a:t>P</a:t>
            </a:r>
            <a:r>
              <a:rPr lang="en-US" sz="1200" i="1" baseline="-25000" dirty="0">
                <a:latin typeface="Arial" charset="0"/>
                <a:cs typeface="Arial" charset="0"/>
              </a:rPr>
              <a:t>1</a:t>
            </a:r>
            <a:endParaRPr lang="en-US" sz="1200" i="1" dirty="0">
              <a:latin typeface="Arial" charset="0"/>
              <a:cs typeface="Arial" charset="0"/>
            </a:endParaRPr>
          </a:p>
        </p:txBody>
      </p:sp>
      <p:sp>
        <p:nvSpPr>
          <p:cNvPr id="14358" name="Text Box 23"/>
          <p:cNvSpPr txBox="1">
            <a:spLocks noChangeArrowheads="1"/>
          </p:cNvSpPr>
          <p:nvPr/>
        </p:nvSpPr>
        <p:spPr bwMode="auto">
          <a:xfrm>
            <a:off x="4648201" y="5943600"/>
            <a:ext cx="36036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1200" i="1" dirty="0">
                <a:latin typeface="Arial" charset="0"/>
                <a:cs typeface="Arial" charset="0"/>
              </a:rPr>
              <a:t>Q</a:t>
            </a:r>
            <a:r>
              <a:rPr lang="en-US" sz="1200" i="1" baseline="-25000" dirty="0">
                <a:latin typeface="Arial" charset="0"/>
                <a:cs typeface="Arial" charset="0"/>
              </a:rPr>
              <a:t>2</a:t>
            </a:r>
            <a:endParaRPr lang="en-US" sz="1200" i="1" dirty="0">
              <a:latin typeface="Arial" charset="0"/>
              <a:cs typeface="Arial" charset="0"/>
            </a:endParaRPr>
          </a:p>
        </p:txBody>
      </p:sp>
      <p:sp>
        <p:nvSpPr>
          <p:cNvPr id="14359" name="Text Box 24"/>
          <p:cNvSpPr txBox="1">
            <a:spLocks noChangeArrowheads="1"/>
          </p:cNvSpPr>
          <p:nvPr/>
        </p:nvSpPr>
        <p:spPr bwMode="auto">
          <a:xfrm>
            <a:off x="5257801" y="5943600"/>
            <a:ext cx="36036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1200" i="1" dirty="0">
                <a:latin typeface="Arial" charset="0"/>
                <a:cs typeface="Arial" charset="0"/>
              </a:rPr>
              <a:t>Q</a:t>
            </a:r>
            <a:r>
              <a:rPr lang="en-US" sz="1200" i="1" baseline="-25000" dirty="0">
                <a:latin typeface="Arial" charset="0"/>
                <a:cs typeface="Arial" charset="0"/>
              </a:rPr>
              <a:t>1</a:t>
            </a:r>
            <a:endParaRPr lang="en-US" sz="1200" i="1" dirty="0">
              <a:latin typeface="Arial" charset="0"/>
              <a:cs typeface="Arial" charset="0"/>
            </a:endParaRPr>
          </a:p>
        </p:txBody>
      </p:sp>
      <p:sp>
        <p:nvSpPr>
          <p:cNvPr id="14360" name="Line 25"/>
          <p:cNvSpPr>
            <a:spLocks noChangeShapeType="1"/>
          </p:cNvSpPr>
          <p:nvPr/>
        </p:nvSpPr>
        <p:spPr bwMode="auto">
          <a:xfrm>
            <a:off x="3962400" y="3962400"/>
            <a:ext cx="914400" cy="0"/>
          </a:xfrm>
          <a:prstGeom prst="line">
            <a:avLst/>
          </a:prstGeom>
          <a:noFill/>
          <a:ln w="9525" cap="rnd">
            <a:solidFill>
              <a:schemeClr val="accent1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14361" name="Line 26"/>
          <p:cNvSpPr>
            <a:spLocks noChangeShapeType="1"/>
          </p:cNvSpPr>
          <p:nvPr/>
        </p:nvSpPr>
        <p:spPr bwMode="auto">
          <a:xfrm>
            <a:off x="4876800" y="3962400"/>
            <a:ext cx="0" cy="2057400"/>
          </a:xfrm>
          <a:prstGeom prst="line">
            <a:avLst/>
          </a:prstGeom>
          <a:noFill/>
          <a:ln w="9525" cap="rnd">
            <a:solidFill>
              <a:schemeClr val="accent1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14362" name="Line 27"/>
          <p:cNvSpPr>
            <a:spLocks noChangeShapeType="1"/>
          </p:cNvSpPr>
          <p:nvPr/>
        </p:nvSpPr>
        <p:spPr bwMode="auto">
          <a:xfrm>
            <a:off x="3962400" y="3962400"/>
            <a:ext cx="914400" cy="0"/>
          </a:xfrm>
          <a:prstGeom prst="line">
            <a:avLst/>
          </a:prstGeom>
          <a:noFill/>
          <a:ln w="9525" cap="rnd">
            <a:solidFill>
              <a:schemeClr val="accent1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14363" name="Line 28"/>
          <p:cNvSpPr>
            <a:spLocks noChangeShapeType="1"/>
          </p:cNvSpPr>
          <p:nvPr/>
        </p:nvSpPr>
        <p:spPr bwMode="auto">
          <a:xfrm>
            <a:off x="4876800" y="3962400"/>
            <a:ext cx="0" cy="2057400"/>
          </a:xfrm>
          <a:prstGeom prst="line">
            <a:avLst/>
          </a:prstGeom>
          <a:noFill/>
          <a:ln w="9525" cap="rnd">
            <a:solidFill>
              <a:schemeClr val="accent1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14364" name="Line 29"/>
          <p:cNvSpPr>
            <a:spLocks noChangeShapeType="1"/>
          </p:cNvSpPr>
          <p:nvPr/>
        </p:nvSpPr>
        <p:spPr bwMode="auto">
          <a:xfrm>
            <a:off x="3962400" y="4572000"/>
            <a:ext cx="1524000" cy="0"/>
          </a:xfrm>
          <a:prstGeom prst="line">
            <a:avLst/>
          </a:prstGeom>
          <a:noFill/>
          <a:ln w="9525" cap="rnd">
            <a:solidFill>
              <a:schemeClr val="accent1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14365" name="Line 30"/>
          <p:cNvSpPr>
            <a:spLocks noChangeShapeType="1"/>
          </p:cNvSpPr>
          <p:nvPr/>
        </p:nvSpPr>
        <p:spPr bwMode="auto">
          <a:xfrm>
            <a:off x="3962400" y="3962400"/>
            <a:ext cx="914400" cy="0"/>
          </a:xfrm>
          <a:prstGeom prst="line">
            <a:avLst/>
          </a:prstGeom>
          <a:noFill/>
          <a:ln w="9525" cap="rnd">
            <a:solidFill>
              <a:schemeClr val="accent1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14366" name="Line 31"/>
          <p:cNvSpPr>
            <a:spLocks noChangeShapeType="1"/>
          </p:cNvSpPr>
          <p:nvPr/>
        </p:nvSpPr>
        <p:spPr bwMode="auto">
          <a:xfrm>
            <a:off x="4876800" y="3962400"/>
            <a:ext cx="0" cy="2057400"/>
          </a:xfrm>
          <a:prstGeom prst="line">
            <a:avLst/>
          </a:prstGeom>
          <a:noFill/>
          <a:ln w="9525" cap="rnd">
            <a:solidFill>
              <a:schemeClr val="accent1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14367" name="Line 32"/>
          <p:cNvSpPr>
            <a:spLocks noChangeShapeType="1"/>
          </p:cNvSpPr>
          <p:nvPr/>
        </p:nvSpPr>
        <p:spPr bwMode="auto">
          <a:xfrm>
            <a:off x="5486400" y="4572000"/>
            <a:ext cx="0" cy="1371600"/>
          </a:xfrm>
          <a:prstGeom prst="line">
            <a:avLst/>
          </a:prstGeom>
          <a:noFill/>
          <a:ln w="15875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14368" name="Line 33"/>
          <p:cNvSpPr>
            <a:spLocks noChangeShapeType="1"/>
          </p:cNvSpPr>
          <p:nvPr/>
        </p:nvSpPr>
        <p:spPr bwMode="auto">
          <a:xfrm>
            <a:off x="3962400" y="4572000"/>
            <a:ext cx="15240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14369" name="Line 34"/>
          <p:cNvSpPr>
            <a:spLocks noChangeShapeType="1"/>
          </p:cNvSpPr>
          <p:nvPr/>
        </p:nvSpPr>
        <p:spPr bwMode="auto">
          <a:xfrm>
            <a:off x="3962400" y="3962400"/>
            <a:ext cx="9144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14370" name="Line 35"/>
          <p:cNvSpPr>
            <a:spLocks noChangeShapeType="1"/>
          </p:cNvSpPr>
          <p:nvPr/>
        </p:nvSpPr>
        <p:spPr bwMode="auto">
          <a:xfrm>
            <a:off x="4876800" y="3962400"/>
            <a:ext cx="0" cy="1981200"/>
          </a:xfrm>
          <a:prstGeom prst="line">
            <a:avLst/>
          </a:prstGeom>
          <a:noFill/>
          <a:ln w="15875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14371" name="Text Box 36"/>
          <p:cNvSpPr txBox="1">
            <a:spLocks noChangeArrowheads="1"/>
          </p:cNvSpPr>
          <p:nvPr/>
        </p:nvSpPr>
        <p:spPr bwMode="auto">
          <a:xfrm>
            <a:off x="7467600" y="5715000"/>
            <a:ext cx="4572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sz="1400" i="1">
                <a:solidFill>
                  <a:schemeClr val="bg2"/>
                </a:solidFill>
                <a:latin typeface="Arial" charset="0"/>
                <a:cs typeface="Arial" charset="0"/>
              </a:rPr>
              <a:t>D</a:t>
            </a:r>
          </a:p>
        </p:txBody>
      </p:sp>
      <p:sp>
        <p:nvSpPr>
          <p:cNvPr id="14373" name="Rectangle 37"/>
          <p:cNvSpPr>
            <a:spLocks noChangeArrowheads="1"/>
          </p:cNvSpPr>
          <p:nvPr/>
        </p:nvSpPr>
        <p:spPr bwMode="auto">
          <a:xfrm>
            <a:off x="10571353" y="6074823"/>
            <a:ext cx="590550" cy="2444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fld id="{A7DE40B5-B438-463C-A4FC-AE2D84969062}" type="slidenum">
              <a:rPr lang="en-US" sz="1000" smtClean="0"/>
              <a:pPr eaLnBrk="1" hangingPunct="1"/>
              <a:t>6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986470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30" grpId="0"/>
      <p:bldP spid="14133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685800"/>
            <a:ext cx="7772400" cy="914400"/>
          </a:xfrm>
        </p:spPr>
        <p:txBody>
          <a:bodyPr/>
          <a:lstStyle/>
          <a:p>
            <a:pPr eaLnBrk="1" hangingPunct="1"/>
            <a:r>
              <a:rPr lang="en-US"/>
              <a:t>Range of Price Elasticities</a:t>
            </a:r>
          </a:p>
        </p:txBody>
      </p:sp>
      <p:sp>
        <p:nvSpPr>
          <p:cNvPr id="151556" name="Text Box 4"/>
          <p:cNvSpPr txBox="1">
            <a:spLocks noChangeArrowheads="1"/>
          </p:cNvSpPr>
          <p:nvPr/>
        </p:nvSpPr>
        <p:spPr bwMode="auto">
          <a:xfrm>
            <a:off x="2346325" y="6061075"/>
            <a:ext cx="207120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cs typeface="Arial" charset="0"/>
              </a:rPr>
              <a:t>Perfectly     </a:t>
            </a:r>
            <a:r>
              <a:rPr lang="en-US"/>
              <a:t>nelastic</a:t>
            </a:r>
          </a:p>
        </p:txBody>
      </p:sp>
      <p:sp>
        <p:nvSpPr>
          <p:cNvPr id="151557" name="Text Box 5"/>
          <p:cNvSpPr txBox="1">
            <a:spLocks noChangeArrowheads="1"/>
          </p:cNvSpPr>
          <p:nvPr/>
        </p:nvSpPr>
        <p:spPr bwMode="auto">
          <a:xfrm>
            <a:off x="7353300" y="6013450"/>
            <a:ext cx="205678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cs typeface="Arial" charset="0"/>
              </a:rPr>
              <a:t>Perfectly    </a:t>
            </a:r>
            <a:r>
              <a:rPr lang="en-US">
                <a:latin typeface="Tahoma" pitchFamily="34" charset="0"/>
                <a:cs typeface="Arial" charset="0"/>
              </a:rPr>
              <a:t>    </a:t>
            </a:r>
            <a:r>
              <a:rPr lang="en-US"/>
              <a:t>lastic</a:t>
            </a:r>
          </a:p>
        </p:txBody>
      </p:sp>
      <p:sp>
        <p:nvSpPr>
          <p:cNvPr id="16389" name="Line 6"/>
          <p:cNvSpPr>
            <a:spLocks noChangeShapeType="1"/>
          </p:cNvSpPr>
          <p:nvPr/>
        </p:nvSpPr>
        <p:spPr bwMode="auto">
          <a:xfrm>
            <a:off x="2362200" y="1905000"/>
            <a:ext cx="0" cy="3733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16390" name="Line 7"/>
          <p:cNvSpPr>
            <a:spLocks noChangeShapeType="1"/>
          </p:cNvSpPr>
          <p:nvPr/>
        </p:nvSpPr>
        <p:spPr bwMode="auto">
          <a:xfrm>
            <a:off x="2362200" y="563880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/>
          </a:ln>
        </p:spPr>
        <p:txBody>
          <a:bodyPr/>
          <a:lstStyle/>
          <a:p>
            <a:endParaRPr lang="da-DK"/>
          </a:p>
        </p:txBody>
      </p:sp>
      <p:sp>
        <p:nvSpPr>
          <p:cNvPr id="16391" name="Line 9"/>
          <p:cNvSpPr>
            <a:spLocks noChangeShapeType="1"/>
          </p:cNvSpPr>
          <p:nvPr/>
        </p:nvSpPr>
        <p:spPr bwMode="auto">
          <a:xfrm>
            <a:off x="6626225" y="1905000"/>
            <a:ext cx="0" cy="3733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16392" name="Line 10"/>
          <p:cNvSpPr>
            <a:spLocks noChangeShapeType="1"/>
          </p:cNvSpPr>
          <p:nvPr/>
        </p:nvSpPr>
        <p:spPr bwMode="auto">
          <a:xfrm>
            <a:off x="6629400" y="5638800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/>
          </a:ln>
        </p:spPr>
        <p:txBody>
          <a:bodyPr/>
          <a:lstStyle/>
          <a:p>
            <a:endParaRPr lang="da-DK"/>
          </a:p>
        </p:txBody>
      </p:sp>
      <p:sp>
        <p:nvSpPr>
          <p:cNvPr id="16393" name="Text Box 12"/>
          <p:cNvSpPr txBox="1">
            <a:spLocks noChangeArrowheads="1"/>
          </p:cNvSpPr>
          <p:nvPr/>
        </p:nvSpPr>
        <p:spPr bwMode="auto">
          <a:xfrm>
            <a:off x="3429000" y="5715000"/>
            <a:ext cx="8445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1400" dirty="0">
                <a:latin typeface="Arial" charset="0"/>
                <a:cs typeface="Arial" charset="0"/>
              </a:rPr>
              <a:t>Quantity</a:t>
            </a:r>
          </a:p>
        </p:txBody>
      </p:sp>
      <p:sp>
        <p:nvSpPr>
          <p:cNvPr id="16394" name="Text Box 13"/>
          <p:cNvSpPr txBox="1">
            <a:spLocks noChangeArrowheads="1"/>
          </p:cNvSpPr>
          <p:nvPr/>
        </p:nvSpPr>
        <p:spPr bwMode="auto">
          <a:xfrm>
            <a:off x="7848600" y="5715000"/>
            <a:ext cx="8445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1400" dirty="0">
                <a:latin typeface="Arial" charset="0"/>
                <a:cs typeface="Arial" charset="0"/>
              </a:rPr>
              <a:t>Quantity</a:t>
            </a:r>
          </a:p>
        </p:txBody>
      </p:sp>
      <p:sp>
        <p:nvSpPr>
          <p:cNvPr id="16395" name="Text Box 14"/>
          <p:cNvSpPr txBox="1">
            <a:spLocks noChangeArrowheads="1"/>
          </p:cNvSpPr>
          <p:nvPr/>
        </p:nvSpPr>
        <p:spPr bwMode="auto">
          <a:xfrm rot="-5400000">
            <a:off x="1327944" y="3794919"/>
            <a:ext cx="14652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1400" dirty="0">
                <a:latin typeface="Arial" charset="0"/>
                <a:cs typeface="Arial" charset="0"/>
              </a:rPr>
              <a:t>Price (in dollars)</a:t>
            </a:r>
          </a:p>
        </p:txBody>
      </p:sp>
      <p:sp>
        <p:nvSpPr>
          <p:cNvPr id="16396" name="Text Box 15"/>
          <p:cNvSpPr txBox="1">
            <a:spLocks noChangeArrowheads="1"/>
          </p:cNvSpPr>
          <p:nvPr/>
        </p:nvSpPr>
        <p:spPr bwMode="auto">
          <a:xfrm rot="-5400000">
            <a:off x="5517357" y="3844132"/>
            <a:ext cx="14652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1400" dirty="0">
                <a:latin typeface="Arial" charset="0"/>
                <a:cs typeface="Arial" charset="0"/>
              </a:rPr>
              <a:t>Price (in dollars)</a:t>
            </a:r>
          </a:p>
        </p:txBody>
      </p:sp>
      <p:sp>
        <p:nvSpPr>
          <p:cNvPr id="151568" name="Text Box 16"/>
          <p:cNvSpPr txBox="1">
            <a:spLocks noChangeArrowheads="1"/>
          </p:cNvSpPr>
          <p:nvPr/>
        </p:nvSpPr>
        <p:spPr bwMode="auto">
          <a:xfrm>
            <a:off x="3962400" y="1752601"/>
            <a:ext cx="349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i="1" dirty="0">
                <a:latin typeface="Arial" charset="0"/>
                <a:cs typeface="Arial" charset="0"/>
              </a:rPr>
              <a:t>D</a:t>
            </a:r>
          </a:p>
        </p:txBody>
      </p:sp>
      <p:sp>
        <p:nvSpPr>
          <p:cNvPr id="151569" name="Text Box 17"/>
          <p:cNvSpPr txBox="1">
            <a:spLocks noChangeArrowheads="1"/>
          </p:cNvSpPr>
          <p:nvPr/>
        </p:nvSpPr>
        <p:spPr bwMode="auto">
          <a:xfrm>
            <a:off x="9504111" y="3436143"/>
            <a:ext cx="349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i="1" dirty="0">
                <a:latin typeface="Arial" charset="0"/>
                <a:cs typeface="Arial" charset="0"/>
              </a:rPr>
              <a:t>D</a:t>
            </a:r>
          </a:p>
        </p:txBody>
      </p:sp>
      <p:sp>
        <p:nvSpPr>
          <p:cNvPr id="151570" name="Rectangle 18"/>
          <p:cNvSpPr>
            <a:spLocks noChangeArrowheads="1"/>
          </p:cNvSpPr>
          <p:nvPr/>
        </p:nvSpPr>
        <p:spPr bwMode="auto">
          <a:xfrm>
            <a:off x="3962400" y="2071688"/>
            <a:ext cx="6985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l-GR">
                <a:solidFill>
                  <a:schemeClr val="bg2"/>
                </a:solidFill>
                <a:latin typeface="Arial" charset="0"/>
                <a:cs typeface="Arial" charset="0"/>
              </a:rPr>
              <a:t>η</a:t>
            </a:r>
            <a:r>
              <a:rPr lang="en-US">
                <a:solidFill>
                  <a:schemeClr val="bg2"/>
                </a:solidFill>
                <a:latin typeface="Arial" charset="0"/>
                <a:cs typeface="Arial" charset="0"/>
              </a:rPr>
              <a:t> = 0</a:t>
            </a:r>
          </a:p>
        </p:txBody>
      </p:sp>
      <p:sp>
        <p:nvSpPr>
          <p:cNvPr id="151571" name="Rectangle 19"/>
          <p:cNvSpPr>
            <a:spLocks noChangeArrowheads="1"/>
          </p:cNvSpPr>
          <p:nvPr/>
        </p:nvSpPr>
        <p:spPr bwMode="auto">
          <a:xfrm>
            <a:off x="9448801" y="3733801"/>
            <a:ext cx="73501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l-GR">
                <a:solidFill>
                  <a:schemeClr val="bg2"/>
                </a:solidFill>
                <a:latin typeface="Arial" charset="0"/>
                <a:cs typeface="Arial" charset="0"/>
              </a:rPr>
              <a:t>η</a:t>
            </a:r>
            <a:r>
              <a:rPr lang="en-US">
                <a:solidFill>
                  <a:schemeClr val="bg2"/>
                </a:solidFill>
                <a:latin typeface="Arial" charset="0"/>
                <a:cs typeface="Arial" charset="0"/>
              </a:rPr>
              <a:t> = ∞</a:t>
            </a:r>
          </a:p>
        </p:txBody>
      </p:sp>
      <p:sp>
        <p:nvSpPr>
          <p:cNvPr id="16401" name="Text Box 20"/>
          <p:cNvSpPr txBox="1">
            <a:spLocks noChangeArrowheads="1"/>
          </p:cNvSpPr>
          <p:nvPr/>
        </p:nvSpPr>
        <p:spPr bwMode="auto">
          <a:xfrm>
            <a:off x="2209800" y="153828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solidFill>
                  <a:schemeClr val="bg2"/>
                </a:solidFill>
                <a:latin typeface="Arial" charset="0"/>
                <a:cs typeface="Arial" charset="0"/>
              </a:rPr>
              <a:t>$</a:t>
            </a:r>
          </a:p>
        </p:txBody>
      </p:sp>
      <p:sp>
        <p:nvSpPr>
          <p:cNvPr id="16402" name="Text Box 21"/>
          <p:cNvSpPr txBox="1">
            <a:spLocks noChangeArrowheads="1"/>
          </p:cNvSpPr>
          <p:nvPr/>
        </p:nvSpPr>
        <p:spPr bwMode="auto">
          <a:xfrm>
            <a:off x="6470650" y="153828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solidFill>
                  <a:schemeClr val="bg2"/>
                </a:solidFill>
                <a:latin typeface="Arial" charset="0"/>
                <a:cs typeface="Arial" charset="0"/>
              </a:rPr>
              <a:t>$</a:t>
            </a:r>
          </a:p>
        </p:txBody>
      </p:sp>
      <p:sp>
        <p:nvSpPr>
          <p:cNvPr id="16403" name="Text Box 22"/>
          <p:cNvSpPr txBox="1">
            <a:spLocks noChangeArrowheads="1"/>
          </p:cNvSpPr>
          <p:nvPr/>
        </p:nvSpPr>
        <p:spPr bwMode="auto">
          <a:xfrm>
            <a:off x="5791200" y="5486401"/>
            <a:ext cx="361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i="1">
                <a:solidFill>
                  <a:schemeClr val="bg2"/>
                </a:solidFill>
                <a:latin typeface="Arial" charset="0"/>
                <a:cs typeface="Arial" charset="0"/>
              </a:rPr>
              <a:t>Q</a:t>
            </a:r>
          </a:p>
        </p:txBody>
      </p:sp>
      <p:sp>
        <p:nvSpPr>
          <p:cNvPr id="16404" name="Text Box 23"/>
          <p:cNvSpPr txBox="1">
            <a:spLocks noChangeArrowheads="1"/>
          </p:cNvSpPr>
          <p:nvPr/>
        </p:nvSpPr>
        <p:spPr bwMode="auto">
          <a:xfrm>
            <a:off x="10001250" y="5486401"/>
            <a:ext cx="361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i="1">
                <a:solidFill>
                  <a:schemeClr val="bg2"/>
                </a:solidFill>
                <a:latin typeface="Arial" charset="0"/>
                <a:cs typeface="Arial" charset="0"/>
              </a:rPr>
              <a:t>Q</a:t>
            </a:r>
          </a:p>
        </p:txBody>
      </p:sp>
      <p:sp>
        <p:nvSpPr>
          <p:cNvPr id="151576" name="Line 24"/>
          <p:cNvSpPr>
            <a:spLocks noChangeShapeType="1"/>
          </p:cNvSpPr>
          <p:nvPr/>
        </p:nvSpPr>
        <p:spPr bwMode="auto">
          <a:xfrm flipV="1">
            <a:off x="3886200" y="1905000"/>
            <a:ext cx="0" cy="373380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151577" name="Line 25"/>
          <p:cNvSpPr>
            <a:spLocks noChangeShapeType="1"/>
          </p:cNvSpPr>
          <p:nvPr/>
        </p:nvSpPr>
        <p:spPr bwMode="auto">
          <a:xfrm>
            <a:off x="6629400" y="3657600"/>
            <a:ext cx="2743200" cy="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grpSp>
        <p:nvGrpSpPr>
          <p:cNvPr id="2" name="Group 32"/>
          <p:cNvGrpSpPr>
            <a:grpSpLocks/>
          </p:cNvGrpSpPr>
          <p:nvPr/>
        </p:nvGrpSpPr>
        <p:grpSpPr bwMode="auto">
          <a:xfrm>
            <a:off x="3381929" y="6019800"/>
            <a:ext cx="304800" cy="381000"/>
            <a:chOff x="1776" y="2832"/>
            <a:chExt cx="192" cy="240"/>
          </a:xfrm>
        </p:grpSpPr>
        <p:sp>
          <p:nvSpPr>
            <p:cNvPr id="16413" name="Line 33"/>
            <p:cNvSpPr>
              <a:spLocks noChangeShapeType="1"/>
            </p:cNvSpPr>
            <p:nvPr/>
          </p:nvSpPr>
          <p:spPr bwMode="auto">
            <a:xfrm>
              <a:off x="1776" y="3072"/>
              <a:ext cx="19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da-DK"/>
            </a:p>
          </p:txBody>
        </p:sp>
        <p:sp>
          <p:nvSpPr>
            <p:cNvPr id="16414" name="Line 34"/>
            <p:cNvSpPr>
              <a:spLocks noChangeShapeType="1"/>
            </p:cNvSpPr>
            <p:nvPr/>
          </p:nvSpPr>
          <p:spPr bwMode="auto">
            <a:xfrm flipV="1">
              <a:off x="1872" y="2832"/>
              <a:ext cx="0" cy="240"/>
            </a:xfrm>
            <a:prstGeom prst="line">
              <a:avLst/>
            </a:prstGeom>
            <a:noFill/>
            <a:ln w="19050">
              <a:solidFill>
                <a:srgbClr val="990033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da-DK"/>
            </a:p>
          </p:txBody>
        </p:sp>
      </p:grpSp>
      <p:grpSp>
        <p:nvGrpSpPr>
          <p:cNvPr id="3" name="Group 49"/>
          <p:cNvGrpSpPr>
            <a:grpSpLocks/>
          </p:cNvGrpSpPr>
          <p:nvPr/>
        </p:nvGrpSpPr>
        <p:grpSpPr bwMode="auto">
          <a:xfrm>
            <a:off x="8537575" y="6055965"/>
            <a:ext cx="228600" cy="304800"/>
            <a:chOff x="3600" y="3024"/>
            <a:chExt cx="144" cy="192"/>
          </a:xfrm>
        </p:grpSpPr>
        <p:sp>
          <p:nvSpPr>
            <p:cNvPr id="16409" name="Line 50"/>
            <p:cNvSpPr>
              <a:spLocks noChangeShapeType="1"/>
            </p:cNvSpPr>
            <p:nvPr/>
          </p:nvSpPr>
          <p:spPr bwMode="auto">
            <a:xfrm>
              <a:off x="3600" y="3216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da-DK"/>
            </a:p>
          </p:txBody>
        </p:sp>
        <p:sp>
          <p:nvSpPr>
            <p:cNvPr id="16410" name="Line 51"/>
            <p:cNvSpPr>
              <a:spLocks noChangeShapeType="1"/>
            </p:cNvSpPr>
            <p:nvPr/>
          </p:nvSpPr>
          <p:spPr bwMode="auto">
            <a:xfrm>
              <a:off x="3600" y="3024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da-DK"/>
            </a:p>
          </p:txBody>
        </p:sp>
        <p:sp>
          <p:nvSpPr>
            <p:cNvPr id="16411" name="Line 52"/>
            <p:cNvSpPr>
              <a:spLocks noChangeShapeType="1"/>
            </p:cNvSpPr>
            <p:nvPr/>
          </p:nvSpPr>
          <p:spPr bwMode="auto">
            <a:xfrm>
              <a:off x="3600" y="3024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da-DK"/>
            </a:p>
          </p:txBody>
        </p:sp>
        <p:sp>
          <p:nvSpPr>
            <p:cNvPr id="16412" name="Line 53"/>
            <p:cNvSpPr>
              <a:spLocks noChangeShapeType="1"/>
            </p:cNvSpPr>
            <p:nvPr/>
          </p:nvSpPr>
          <p:spPr bwMode="auto">
            <a:xfrm>
              <a:off x="3600" y="3120"/>
              <a:ext cx="144" cy="0"/>
            </a:xfrm>
            <a:prstGeom prst="line">
              <a:avLst/>
            </a:prstGeom>
            <a:noFill/>
            <a:ln w="25400">
              <a:solidFill>
                <a:srgbClr val="990033"/>
              </a:solidFill>
              <a:round/>
              <a:headEnd/>
              <a:tailEnd/>
            </a:ln>
          </p:spPr>
          <p:txBody>
            <a:bodyPr wrap="square">
              <a:spAutoFit/>
            </a:bodyPr>
            <a:lstStyle/>
            <a:p>
              <a:endParaRPr lang="da-DK"/>
            </a:p>
          </p:txBody>
        </p:sp>
      </p:grpSp>
      <p:sp>
        <p:nvSpPr>
          <p:cNvPr id="16416" name="Rectangle 32"/>
          <p:cNvSpPr>
            <a:spLocks noChangeArrowheads="1"/>
          </p:cNvSpPr>
          <p:nvPr/>
        </p:nvSpPr>
        <p:spPr bwMode="auto">
          <a:xfrm>
            <a:off x="10899252" y="6243812"/>
            <a:ext cx="590550" cy="2444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fld id="{00EA3E5E-9E41-4566-B8B7-E983789ACAC3}" type="slidenum">
              <a:rPr lang="en-US" sz="1000" smtClean="0"/>
              <a:pPr eaLnBrk="1" hangingPunct="1"/>
              <a:t>7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196924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1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51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515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1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69" grpId="0"/>
      <p:bldP spid="151576" grpId="0" animBg="1"/>
      <p:bldP spid="15157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5334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Determinants of Price Elasticity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199" y="1676401"/>
            <a:ext cx="8980025" cy="4525963"/>
          </a:xfrm>
        </p:spPr>
        <p:txBody>
          <a:bodyPr>
            <a:normAutofit/>
          </a:bodyPr>
          <a:lstStyle/>
          <a:p>
            <a:pPr eaLnBrk="1" hangingPunct="1">
              <a:buClr>
                <a:srgbClr val="000066"/>
              </a:buClr>
            </a:pPr>
            <a:r>
              <a:rPr lang="en-US" sz="2800" dirty="0">
                <a:solidFill>
                  <a:srgbClr val="FF6600"/>
                </a:solidFill>
              </a:rPr>
              <a:t>Availability of substitutes</a:t>
            </a:r>
          </a:p>
          <a:p>
            <a:pPr lvl="1" eaLnBrk="1" hangingPunct="1">
              <a:buClr>
                <a:srgbClr val="000066"/>
              </a:buClr>
            </a:pPr>
            <a:r>
              <a:rPr lang="en-US" sz="2800" dirty="0"/>
              <a:t>few substitutes for salt</a:t>
            </a:r>
          </a:p>
          <a:p>
            <a:pPr lvl="1" eaLnBrk="1" hangingPunct="1">
              <a:buClr>
                <a:srgbClr val="000066"/>
              </a:buClr>
            </a:pPr>
            <a:r>
              <a:rPr lang="en-US" sz="2800" dirty="0"/>
              <a:t>many substitutes for milk at the supermarket</a:t>
            </a:r>
          </a:p>
          <a:p>
            <a:pPr eaLnBrk="1" hangingPunct="1">
              <a:buClr>
                <a:srgbClr val="000066"/>
              </a:buClr>
            </a:pPr>
            <a:r>
              <a:rPr lang="en-US" sz="2800" dirty="0">
                <a:solidFill>
                  <a:srgbClr val="FF6600"/>
                </a:solidFill>
              </a:rPr>
              <a:t>Size of good in consumer budget</a:t>
            </a:r>
          </a:p>
          <a:p>
            <a:pPr lvl="1" eaLnBrk="1" hangingPunct="1">
              <a:buClr>
                <a:srgbClr val="000066"/>
              </a:buClr>
            </a:pPr>
            <a:r>
              <a:rPr lang="en-US" sz="2800" dirty="0"/>
              <a:t>paper clips versus a car </a:t>
            </a:r>
          </a:p>
          <a:p>
            <a:pPr eaLnBrk="1" hangingPunct="1">
              <a:buClr>
                <a:srgbClr val="000066"/>
              </a:buClr>
            </a:pPr>
            <a:r>
              <a:rPr lang="en-US" sz="2800" dirty="0">
                <a:solidFill>
                  <a:srgbClr val="FF6600"/>
                </a:solidFill>
              </a:rPr>
              <a:t>Time period for consumer adjustment</a:t>
            </a:r>
          </a:p>
          <a:p>
            <a:pPr lvl="1" eaLnBrk="1" hangingPunct="1">
              <a:buClr>
                <a:srgbClr val="000066"/>
              </a:buClr>
            </a:pPr>
            <a:r>
              <a:rPr lang="en-US" sz="2800" dirty="0"/>
              <a:t>over time consumers find alternative goods</a:t>
            </a:r>
          </a:p>
        </p:txBody>
      </p:sp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9674225" y="5988051"/>
            <a:ext cx="590550" cy="2444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fld id="{E209FB9D-0BEF-4781-A15D-DD549FB87A5A}" type="slidenum">
              <a:rPr lang="en-US" sz="1000" smtClean="0"/>
              <a:pPr eaLnBrk="1" hangingPunct="1"/>
              <a:t>8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534196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533400"/>
            <a:ext cx="82296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P, TR &amp; MR</a:t>
            </a:r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828801"/>
            <a:ext cx="8229600" cy="4525963"/>
          </a:xfrm>
        </p:spPr>
        <p:txBody>
          <a:bodyPr/>
          <a:lstStyle/>
          <a:p>
            <a:pPr eaLnBrk="1" hangingPunct="1"/>
            <a:endParaRPr lang="en-US" dirty="0"/>
          </a:p>
          <a:p>
            <a:pPr marL="0" indent="0">
              <a:buNone/>
            </a:pPr>
            <a:r>
              <a:rPr lang="en-US" sz="2400" dirty="0"/>
              <a:t>For PTC; </a:t>
            </a:r>
          </a:p>
          <a:p>
            <a:pPr eaLnBrk="1" hangingPunct="1"/>
            <a:r>
              <a:rPr lang="en-US" sz="3000" dirty="0">
                <a:solidFill>
                  <a:srgbClr val="FF6600"/>
                </a:solidFill>
                <a:sym typeface="Symbol" pitchFamily="18" charset="2"/>
              </a:rPr>
              <a:t>P</a:t>
            </a:r>
            <a:r>
              <a:rPr lang="en-US" sz="3000" i="1" dirty="0">
                <a:solidFill>
                  <a:srgbClr val="FF6600"/>
                </a:solidFill>
                <a:sym typeface="Symbol" pitchFamily="18" charset="2"/>
              </a:rPr>
              <a:t> = </a:t>
            </a:r>
            <a:r>
              <a:rPr lang="en-US" sz="3000" dirty="0">
                <a:solidFill>
                  <a:srgbClr val="FF6600"/>
                </a:solidFill>
                <a:sym typeface="Symbol" pitchFamily="18" charset="2"/>
              </a:rPr>
              <a:t>60 - .15Q</a:t>
            </a:r>
          </a:p>
          <a:p>
            <a:pPr eaLnBrk="1" hangingPunct="1"/>
            <a:r>
              <a:rPr lang="en-US" sz="3000" dirty="0">
                <a:solidFill>
                  <a:srgbClr val="FF6600"/>
                </a:solidFill>
                <a:sym typeface="Wingdings" pitchFamily="2" charset="2"/>
              </a:rPr>
              <a:t>TR = P * Q = </a:t>
            </a:r>
            <a:r>
              <a:rPr lang="en-US" sz="3000" dirty="0">
                <a:solidFill>
                  <a:srgbClr val="FF6600"/>
                </a:solidFill>
                <a:sym typeface="Symbol" pitchFamily="18" charset="2"/>
              </a:rPr>
              <a:t>(60 - .15Q)  Q = 60Q - .15Q</a:t>
            </a:r>
            <a:r>
              <a:rPr lang="en-US" sz="3000" baseline="30000" dirty="0">
                <a:solidFill>
                  <a:srgbClr val="FF6600"/>
                </a:solidFill>
                <a:sym typeface="Symbol" pitchFamily="18" charset="2"/>
              </a:rPr>
              <a:t>2 </a:t>
            </a:r>
            <a:endParaRPr lang="en-US" sz="3000" dirty="0">
              <a:solidFill>
                <a:srgbClr val="FF6600"/>
              </a:solidFill>
            </a:endParaRPr>
          </a:p>
          <a:p>
            <a:pPr eaLnBrk="1" hangingPunct="1"/>
            <a:r>
              <a:rPr lang="en-US" sz="3000" dirty="0">
                <a:solidFill>
                  <a:srgbClr val="FF6600"/>
                </a:solidFill>
              </a:rPr>
              <a:t>MR = </a:t>
            </a:r>
            <a:r>
              <a:rPr lang="en-US" sz="3000" dirty="0">
                <a:solidFill>
                  <a:srgbClr val="FF6600"/>
                </a:solidFill>
                <a:sym typeface="Symbol" pitchFamily="18" charset="2"/>
              </a:rPr>
              <a:t>TR/Q=60-.30Q</a:t>
            </a:r>
          </a:p>
        </p:txBody>
      </p:sp>
      <p:sp>
        <p:nvSpPr>
          <p:cNvPr id="18437" name="Rectangle 5"/>
          <p:cNvSpPr>
            <a:spLocks noChangeArrowheads="1"/>
          </p:cNvSpPr>
          <p:nvPr/>
        </p:nvSpPr>
        <p:spPr bwMode="auto">
          <a:xfrm>
            <a:off x="10622063" y="5869571"/>
            <a:ext cx="590550" cy="2444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fld id="{E3A553DE-BBEE-445D-BED0-1EFD0804195F}" type="slidenum">
              <a:rPr lang="en-US" sz="1000" smtClean="0"/>
              <a:pPr eaLnBrk="1" hangingPunct="1"/>
              <a:t>9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639872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485900" y="444500"/>
            <a:ext cx="9398000" cy="939800"/>
          </a:xfrm>
        </p:spPr>
        <p:txBody>
          <a:bodyPr/>
          <a:lstStyle/>
          <a:p>
            <a:pPr eaLnBrk="1" hangingPunct="1"/>
            <a:r>
              <a:rPr lang="en-US" sz="3200"/>
              <a:t>Demand, Total Revenue, &amp; Marginal Revenue</a:t>
            </a:r>
          </a:p>
        </p:txBody>
      </p:sp>
      <p:sp>
        <p:nvSpPr>
          <p:cNvPr id="19472" name="Text Box 16"/>
          <p:cNvSpPr txBox="1">
            <a:spLocks noChangeArrowheads="1"/>
          </p:cNvSpPr>
          <p:nvPr/>
        </p:nvSpPr>
        <p:spPr bwMode="auto">
          <a:xfrm>
            <a:off x="5445126" y="6183313"/>
            <a:ext cx="1998663" cy="30480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  <a:latin typeface="Arial" charset="0"/>
              </a:rPr>
              <a:t>Quantity of PTC tickets</a:t>
            </a:r>
          </a:p>
        </p:txBody>
      </p:sp>
      <p:sp>
        <p:nvSpPr>
          <p:cNvPr id="19483" name="Text Box 27"/>
          <p:cNvSpPr txBox="1">
            <a:spLocks noChangeArrowheads="1"/>
          </p:cNvSpPr>
          <p:nvPr/>
        </p:nvSpPr>
        <p:spPr bwMode="auto">
          <a:xfrm>
            <a:off x="6727825" y="2767013"/>
            <a:ext cx="2089150" cy="30480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  <a:latin typeface="Arial" charset="0"/>
              </a:rPr>
              <a:t>Inelastic demand (n &lt; 1)</a:t>
            </a:r>
          </a:p>
        </p:txBody>
      </p:sp>
      <p:sp>
        <p:nvSpPr>
          <p:cNvPr id="19460" name="Line 4"/>
          <p:cNvSpPr>
            <a:spLocks noChangeShapeType="1"/>
          </p:cNvSpPr>
          <p:nvPr/>
        </p:nvSpPr>
        <p:spPr bwMode="auto">
          <a:xfrm>
            <a:off x="5270500" y="1409700"/>
            <a:ext cx="0" cy="1981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/>
            <a:tailEnd/>
          </a:ln>
          <a:effectLst/>
        </p:spPr>
        <p:txBody>
          <a:bodyPr wrap="none">
            <a:spAutoFit/>
          </a:bodyPr>
          <a:lstStyle/>
          <a:p>
            <a:endParaRPr lang="da-DK"/>
          </a:p>
        </p:txBody>
      </p:sp>
      <p:sp>
        <p:nvSpPr>
          <p:cNvPr id="19461" name="Line 5"/>
          <p:cNvSpPr>
            <a:spLocks noChangeShapeType="1"/>
          </p:cNvSpPr>
          <p:nvPr/>
        </p:nvSpPr>
        <p:spPr bwMode="auto">
          <a:xfrm>
            <a:off x="5270500" y="3390900"/>
            <a:ext cx="2286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/>
          </a:ln>
          <a:effectLst/>
        </p:spPr>
        <p:txBody>
          <a:bodyPr wrap="none">
            <a:spAutoFit/>
          </a:bodyPr>
          <a:lstStyle/>
          <a:p>
            <a:endParaRPr lang="da-DK"/>
          </a:p>
        </p:txBody>
      </p:sp>
      <p:sp>
        <p:nvSpPr>
          <p:cNvPr id="19462" name="Line 6"/>
          <p:cNvSpPr>
            <a:spLocks noChangeShapeType="1"/>
          </p:cNvSpPr>
          <p:nvPr/>
        </p:nvSpPr>
        <p:spPr bwMode="auto">
          <a:xfrm>
            <a:off x="5270500" y="1714500"/>
            <a:ext cx="1828800" cy="1676400"/>
          </a:xfrm>
          <a:prstGeom prst="line">
            <a:avLst/>
          </a:prstGeom>
          <a:noFill/>
          <a:ln w="28575">
            <a:solidFill>
              <a:srgbClr val="000066"/>
            </a:solidFill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da-DK"/>
          </a:p>
        </p:txBody>
      </p:sp>
      <p:sp>
        <p:nvSpPr>
          <p:cNvPr id="19463" name="Line 7"/>
          <p:cNvSpPr>
            <a:spLocks noChangeShapeType="1"/>
          </p:cNvSpPr>
          <p:nvPr/>
        </p:nvSpPr>
        <p:spPr bwMode="auto">
          <a:xfrm>
            <a:off x="5270500" y="1714500"/>
            <a:ext cx="1066800" cy="1981200"/>
          </a:xfrm>
          <a:prstGeom prst="line">
            <a:avLst/>
          </a:prstGeom>
          <a:noFill/>
          <a:ln w="28575">
            <a:solidFill>
              <a:srgbClr val="FF6600"/>
            </a:solidFill>
            <a:prstDash val="dash"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da-DK"/>
          </a:p>
        </p:txBody>
      </p:sp>
      <p:sp>
        <p:nvSpPr>
          <p:cNvPr id="19464" name="Line 8"/>
          <p:cNvSpPr>
            <a:spLocks noChangeShapeType="1"/>
          </p:cNvSpPr>
          <p:nvPr/>
        </p:nvSpPr>
        <p:spPr bwMode="auto">
          <a:xfrm>
            <a:off x="5283200" y="2476500"/>
            <a:ext cx="850900" cy="0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da-DK"/>
          </a:p>
        </p:txBody>
      </p:sp>
      <p:sp>
        <p:nvSpPr>
          <p:cNvPr id="19465" name="Line 9"/>
          <p:cNvSpPr>
            <a:spLocks noChangeShapeType="1"/>
          </p:cNvSpPr>
          <p:nvPr/>
        </p:nvSpPr>
        <p:spPr bwMode="auto">
          <a:xfrm>
            <a:off x="6146800" y="2489200"/>
            <a:ext cx="0" cy="889000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da-DK"/>
          </a:p>
        </p:txBody>
      </p:sp>
      <p:sp>
        <p:nvSpPr>
          <p:cNvPr id="19466" name="Line 10"/>
          <p:cNvSpPr>
            <a:spLocks noChangeShapeType="1"/>
          </p:cNvSpPr>
          <p:nvPr/>
        </p:nvSpPr>
        <p:spPr bwMode="auto">
          <a:xfrm>
            <a:off x="5270500" y="3873500"/>
            <a:ext cx="0" cy="195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/>
            <a:tailEnd/>
          </a:ln>
          <a:effectLst/>
        </p:spPr>
        <p:txBody>
          <a:bodyPr wrap="none">
            <a:spAutoFit/>
          </a:bodyPr>
          <a:lstStyle/>
          <a:p>
            <a:endParaRPr lang="da-DK"/>
          </a:p>
        </p:txBody>
      </p:sp>
      <p:sp>
        <p:nvSpPr>
          <p:cNvPr id="19467" name="Line 11"/>
          <p:cNvSpPr>
            <a:spLocks noChangeShapeType="1"/>
          </p:cNvSpPr>
          <p:nvPr/>
        </p:nvSpPr>
        <p:spPr bwMode="auto">
          <a:xfrm>
            <a:off x="5283200" y="5842000"/>
            <a:ext cx="22733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/>
          </a:ln>
          <a:effectLst/>
        </p:spPr>
        <p:txBody>
          <a:bodyPr wrap="none">
            <a:spAutoFit/>
          </a:bodyPr>
          <a:lstStyle/>
          <a:p>
            <a:endParaRPr lang="da-DK"/>
          </a:p>
        </p:txBody>
      </p:sp>
      <p:sp>
        <p:nvSpPr>
          <p:cNvPr id="19468" name="Line 12"/>
          <p:cNvSpPr>
            <a:spLocks noChangeShapeType="1"/>
          </p:cNvSpPr>
          <p:nvPr/>
        </p:nvSpPr>
        <p:spPr bwMode="auto">
          <a:xfrm>
            <a:off x="6146800" y="3390900"/>
            <a:ext cx="0" cy="2438400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da-DK"/>
          </a:p>
        </p:txBody>
      </p:sp>
      <p:sp>
        <p:nvSpPr>
          <p:cNvPr id="19469" name="Line 13"/>
          <p:cNvSpPr>
            <a:spLocks noChangeShapeType="1"/>
          </p:cNvSpPr>
          <p:nvPr/>
        </p:nvSpPr>
        <p:spPr bwMode="auto">
          <a:xfrm>
            <a:off x="5257800" y="4457700"/>
            <a:ext cx="901700" cy="0"/>
          </a:xfrm>
          <a:prstGeom prst="line">
            <a:avLst/>
          </a:prstGeom>
          <a:noFill/>
          <a:ln w="19050">
            <a:solidFill>
              <a:srgbClr val="5F5F5F"/>
            </a:solidFill>
            <a:prstDash val="dash"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da-DK"/>
          </a:p>
        </p:txBody>
      </p:sp>
      <p:sp>
        <p:nvSpPr>
          <p:cNvPr id="19470" name="Freeform 14"/>
          <p:cNvSpPr>
            <a:spLocks/>
          </p:cNvSpPr>
          <p:nvPr/>
        </p:nvSpPr>
        <p:spPr bwMode="auto">
          <a:xfrm>
            <a:off x="5292727" y="4443413"/>
            <a:ext cx="1806573" cy="1384300"/>
          </a:xfrm>
          <a:custGeom>
            <a:avLst/>
            <a:gdLst/>
            <a:ahLst/>
            <a:cxnLst>
              <a:cxn ang="0">
                <a:pos x="0" y="873"/>
              </a:cxn>
              <a:cxn ang="0">
                <a:pos x="128" y="593"/>
              </a:cxn>
              <a:cxn ang="0">
                <a:pos x="328" y="217"/>
              </a:cxn>
              <a:cxn ang="0">
                <a:pos x="512" y="25"/>
              </a:cxn>
              <a:cxn ang="0">
                <a:pos x="656" y="65"/>
              </a:cxn>
              <a:cxn ang="0">
                <a:pos x="872" y="369"/>
              </a:cxn>
              <a:cxn ang="0">
                <a:pos x="912" y="441"/>
              </a:cxn>
              <a:cxn ang="0">
                <a:pos x="1136" y="881"/>
              </a:cxn>
            </a:cxnLst>
            <a:rect l="0" t="0" r="r" b="b"/>
            <a:pathLst>
              <a:path w="1136" h="881">
                <a:moveTo>
                  <a:pt x="0" y="873"/>
                </a:moveTo>
                <a:cubicBezTo>
                  <a:pt x="38" y="787"/>
                  <a:pt x="73" y="702"/>
                  <a:pt x="128" y="593"/>
                </a:cubicBezTo>
                <a:cubicBezTo>
                  <a:pt x="183" y="484"/>
                  <a:pt x="264" y="312"/>
                  <a:pt x="328" y="217"/>
                </a:cubicBezTo>
                <a:cubicBezTo>
                  <a:pt x="392" y="122"/>
                  <a:pt x="457" y="50"/>
                  <a:pt x="512" y="25"/>
                </a:cubicBezTo>
                <a:cubicBezTo>
                  <a:pt x="567" y="0"/>
                  <a:pt x="596" y="8"/>
                  <a:pt x="656" y="65"/>
                </a:cubicBezTo>
                <a:cubicBezTo>
                  <a:pt x="716" y="122"/>
                  <a:pt x="829" y="306"/>
                  <a:pt x="872" y="369"/>
                </a:cubicBezTo>
                <a:cubicBezTo>
                  <a:pt x="915" y="432"/>
                  <a:pt x="868" y="356"/>
                  <a:pt x="912" y="441"/>
                </a:cubicBezTo>
                <a:cubicBezTo>
                  <a:pt x="956" y="526"/>
                  <a:pt x="1089" y="789"/>
                  <a:pt x="1136" y="881"/>
                </a:cubicBezTo>
              </a:path>
            </a:pathLst>
          </a:custGeom>
          <a:noFill/>
          <a:ln w="28575" cap="flat" cmpd="sng">
            <a:solidFill>
              <a:srgbClr val="00006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>
            <a:spAutoFit/>
          </a:bodyPr>
          <a:lstStyle/>
          <a:p>
            <a:endParaRPr lang="da-DK"/>
          </a:p>
        </p:txBody>
      </p:sp>
      <p:sp>
        <p:nvSpPr>
          <p:cNvPr id="19471" name="Text Box 15"/>
          <p:cNvSpPr txBox="1">
            <a:spLocks noChangeArrowheads="1"/>
          </p:cNvSpPr>
          <p:nvPr/>
        </p:nvSpPr>
        <p:spPr bwMode="auto">
          <a:xfrm rot="16200000">
            <a:off x="3382963" y="4727576"/>
            <a:ext cx="2143125" cy="30480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  <a:latin typeface="Arial" charset="0"/>
              </a:rPr>
              <a:t>Total revenue (in dollars)</a:t>
            </a:r>
          </a:p>
        </p:txBody>
      </p:sp>
      <p:sp>
        <p:nvSpPr>
          <p:cNvPr id="19473" name="Text Box 17"/>
          <p:cNvSpPr txBox="1">
            <a:spLocks noChangeArrowheads="1"/>
          </p:cNvSpPr>
          <p:nvPr/>
        </p:nvSpPr>
        <p:spPr bwMode="auto">
          <a:xfrm>
            <a:off x="5902326" y="5840413"/>
            <a:ext cx="479425" cy="30480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400">
                <a:solidFill>
                  <a:srgbClr val="5F5F5F"/>
                </a:solidFill>
                <a:latin typeface="Arial" charset="0"/>
              </a:rPr>
              <a:t>200</a:t>
            </a:r>
          </a:p>
        </p:txBody>
      </p:sp>
      <p:sp>
        <p:nvSpPr>
          <p:cNvPr id="19474" name="Text Box 18"/>
          <p:cNvSpPr txBox="1">
            <a:spLocks noChangeArrowheads="1"/>
          </p:cNvSpPr>
          <p:nvPr/>
        </p:nvSpPr>
        <p:spPr bwMode="auto">
          <a:xfrm>
            <a:off x="7578726" y="5713413"/>
            <a:ext cx="322263" cy="30480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i="1">
                <a:solidFill>
                  <a:srgbClr val="5F5F5F"/>
                </a:solidFill>
                <a:latin typeface="Arial" charset="0"/>
              </a:rPr>
              <a:t>Q</a:t>
            </a:r>
          </a:p>
        </p:txBody>
      </p:sp>
      <p:sp>
        <p:nvSpPr>
          <p:cNvPr id="19475" name="Text Box 19"/>
          <p:cNvSpPr txBox="1">
            <a:spLocks noChangeArrowheads="1"/>
          </p:cNvSpPr>
          <p:nvPr/>
        </p:nvSpPr>
        <p:spPr bwMode="auto">
          <a:xfrm>
            <a:off x="4670425" y="4333875"/>
            <a:ext cx="679450" cy="30480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400">
                <a:solidFill>
                  <a:srgbClr val="5F5F5F"/>
                </a:solidFill>
                <a:latin typeface="Arial" charset="0"/>
              </a:rPr>
              <a:t>6,000</a:t>
            </a:r>
          </a:p>
        </p:txBody>
      </p:sp>
      <p:sp>
        <p:nvSpPr>
          <p:cNvPr id="19476" name="Text Box 20"/>
          <p:cNvSpPr txBox="1">
            <a:spLocks noChangeArrowheads="1"/>
          </p:cNvSpPr>
          <p:nvPr/>
        </p:nvSpPr>
        <p:spPr bwMode="auto">
          <a:xfrm>
            <a:off x="5102226" y="3529013"/>
            <a:ext cx="282575" cy="30480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  <a:latin typeface="Arial" charset="0"/>
              </a:rPr>
              <a:t>$</a:t>
            </a:r>
          </a:p>
        </p:txBody>
      </p:sp>
      <p:sp>
        <p:nvSpPr>
          <p:cNvPr id="19477" name="Text Box 21"/>
          <p:cNvSpPr txBox="1">
            <a:spLocks noChangeArrowheads="1"/>
          </p:cNvSpPr>
          <p:nvPr/>
        </p:nvSpPr>
        <p:spPr bwMode="auto">
          <a:xfrm>
            <a:off x="5089526" y="1116013"/>
            <a:ext cx="282575" cy="30480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  <a:latin typeface="Arial" charset="0"/>
              </a:rPr>
              <a:t>$</a:t>
            </a:r>
          </a:p>
        </p:txBody>
      </p:sp>
      <p:sp>
        <p:nvSpPr>
          <p:cNvPr id="19478" name="Text Box 22"/>
          <p:cNvSpPr txBox="1">
            <a:spLocks noChangeArrowheads="1"/>
          </p:cNvSpPr>
          <p:nvPr/>
        </p:nvSpPr>
        <p:spPr bwMode="auto">
          <a:xfrm>
            <a:off x="7566026" y="3287713"/>
            <a:ext cx="322263" cy="30480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i="1">
                <a:solidFill>
                  <a:srgbClr val="5F5F5F"/>
                </a:solidFill>
                <a:latin typeface="Arial" charset="0"/>
              </a:rPr>
              <a:t>Q</a:t>
            </a:r>
          </a:p>
        </p:txBody>
      </p:sp>
      <p:sp>
        <p:nvSpPr>
          <p:cNvPr id="19479" name="Text Box 23"/>
          <p:cNvSpPr txBox="1">
            <a:spLocks noChangeArrowheads="1"/>
          </p:cNvSpPr>
          <p:nvPr/>
        </p:nvSpPr>
        <p:spPr bwMode="auto">
          <a:xfrm rot="16200000">
            <a:off x="3513932" y="2137569"/>
            <a:ext cx="1966912" cy="30480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  <a:latin typeface="Arial" charset="0"/>
              </a:rPr>
              <a:t>Ticket price (in dollars)</a:t>
            </a:r>
          </a:p>
        </p:txBody>
      </p:sp>
      <p:sp>
        <p:nvSpPr>
          <p:cNvPr id="19480" name="Text Box 24"/>
          <p:cNvSpPr txBox="1">
            <a:spLocks noChangeArrowheads="1"/>
          </p:cNvSpPr>
          <p:nvPr/>
        </p:nvSpPr>
        <p:spPr bwMode="auto">
          <a:xfrm>
            <a:off x="4873625" y="2322513"/>
            <a:ext cx="381000" cy="30480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  <a:latin typeface="Arial" charset="0"/>
              </a:rPr>
              <a:t>30</a:t>
            </a:r>
          </a:p>
        </p:txBody>
      </p:sp>
      <p:sp>
        <p:nvSpPr>
          <p:cNvPr id="19481" name="Text Box 25"/>
          <p:cNvSpPr txBox="1">
            <a:spLocks noChangeArrowheads="1"/>
          </p:cNvSpPr>
          <p:nvPr/>
        </p:nvSpPr>
        <p:spPr bwMode="auto">
          <a:xfrm>
            <a:off x="4873625" y="1547813"/>
            <a:ext cx="381000" cy="30480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  <a:latin typeface="Arial" charset="0"/>
              </a:rPr>
              <a:t>60</a:t>
            </a:r>
          </a:p>
        </p:txBody>
      </p:sp>
      <p:sp>
        <p:nvSpPr>
          <p:cNvPr id="19482" name="Text Box 26"/>
          <p:cNvSpPr txBox="1">
            <a:spLocks noChangeArrowheads="1"/>
          </p:cNvSpPr>
          <p:nvPr/>
        </p:nvSpPr>
        <p:spPr bwMode="auto">
          <a:xfrm>
            <a:off x="5445126" y="1662113"/>
            <a:ext cx="2011363" cy="30480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  <a:latin typeface="Arial" charset="0"/>
              </a:rPr>
              <a:t>Elastic demand (n &gt; 1) </a:t>
            </a:r>
          </a:p>
        </p:txBody>
      </p:sp>
      <p:sp>
        <p:nvSpPr>
          <p:cNvPr id="19484" name="Text Box 28"/>
          <p:cNvSpPr txBox="1">
            <a:spLocks noChangeArrowheads="1"/>
          </p:cNvSpPr>
          <p:nvPr/>
        </p:nvSpPr>
        <p:spPr bwMode="auto">
          <a:xfrm>
            <a:off x="6143626" y="2284413"/>
            <a:ext cx="582613" cy="30480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  <a:latin typeface="Arial" charset="0"/>
              </a:rPr>
              <a:t>n = 1</a:t>
            </a:r>
          </a:p>
        </p:txBody>
      </p:sp>
      <p:sp>
        <p:nvSpPr>
          <p:cNvPr id="19487" name="Rectangle 31"/>
          <p:cNvSpPr>
            <a:spLocks noChangeArrowheads="1"/>
          </p:cNvSpPr>
          <p:nvPr/>
        </p:nvSpPr>
        <p:spPr bwMode="auto">
          <a:xfrm>
            <a:off x="10282239" y="5718175"/>
            <a:ext cx="590550" cy="2444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fld id="{20A555F6-8505-4982-8BCA-CADE57768089}" type="slidenum">
              <a:rPr lang="en-US" sz="1000" smtClean="0"/>
              <a:pPr eaLnBrk="1" hangingPunct="1"/>
              <a:t>10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196310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Other Demand Influences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828801"/>
            <a:ext cx="8229600" cy="4525963"/>
          </a:xfrm>
        </p:spPr>
        <p:txBody>
          <a:bodyPr/>
          <a:lstStyle/>
          <a:p>
            <a:pPr eaLnBrk="1" hangingPunct="1">
              <a:buClr>
                <a:srgbClr val="000066"/>
              </a:buClr>
            </a:pPr>
            <a:endParaRPr lang="en-US" dirty="0">
              <a:solidFill>
                <a:srgbClr val="FFC000"/>
              </a:solidFill>
            </a:endParaRPr>
          </a:p>
          <a:p>
            <a:pPr eaLnBrk="1" hangingPunct="1">
              <a:buClr>
                <a:srgbClr val="000066"/>
              </a:buClr>
            </a:pPr>
            <a:r>
              <a:rPr lang="en-US" sz="2800" dirty="0"/>
              <a:t>Complements versus substitutes</a:t>
            </a:r>
          </a:p>
          <a:p>
            <a:pPr lvl="1" eaLnBrk="1" hangingPunct="1">
              <a:buClr>
                <a:srgbClr val="000066"/>
              </a:buClr>
            </a:pPr>
            <a:r>
              <a:rPr lang="en-US" sz="2800" dirty="0"/>
              <a:t>Cross price elasticity of demand</a:t>
            </a:r>
          </a:p>
          <a:p>
            <a:pPr lvl="1" algn="ctr" eaLnBrk="1" hangingPunct="1">
              <a:buClr>
                <a:srgbClr val="000066"/>
              </a:buClr>
              <a:buFontTx/>
              <a:buNone/>
            </a:pPr>
            <a:endParaRPr lang="en-US" dirty="0"/>
          </a:p>
        </p:txBody>
      </p:sp>
      <p:graphicFrame>
        <p:nvGraphicFramePr>
          <p:cNvPr id="307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6014301"/>
              </p:ext>
            </p:extLst>
          </p:nvPr>
        </p:nvGraphicFramePr>
        <p:xfrm>
          <a:off x="4648200" y="3402957"/>
          <a:ext cx="3384630" cy="27084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77760" imgH="876240" progId="Equation.3">
                  <p:embed/>
                </p:oleObj>
              </mc:Choice>
              <mc:Fallback>
                <p:oleObj name="Equation" r:id="rId2" imgW="977760" imgH="876240" progId="Equation.3">
                  <p:embed/>
                  <p:pic>
                    <p:nvPicPr>
                      <p:cNvPr id="307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3402957"/>
                        <a:ext cx="3384630" cy="270847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10714660" y="5742249"/>
            <a:ext cx="590550" cy="2444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fld id="{90A137DE-94ED-4360-9917-F76872902AC0}" type="slidenum">
              <a:rPr lang="en-US" sz="1000" smtClean="0"/>
              <a:pPr eaLnBrk="1" hangingPunct="1"/>
              <a:t>11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878252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1251995" y="495300"/>
            <a:ext cx="8229600" cy="1143000"/>
          </a:xfrm>
        </p:spPr>
        <p:txBody>
          <a:bodyPr/>
          <a:lstStyle/>
          <a:p>
            <a:pPr eaLnBrk="1" hangingPunct="1">
              <a:buClr>
                <a:srgbClr val="990033"/>
              </a:buClr>
            </a:pPr>
            <a:r>
              <a:rPr lang="en-US" dirty="0"/>
              <a:t>Income</a:t>
            </a:r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eaLnBrk="1" hangingPunct="1">
              <a:buClr>
                <a:srgbClr val="000066"/>
              </a:buClr>
            </a:pPr>
            <a:r>
              <a:rPr lang="en-US" sz="3200" dirty="0"/>
              <a:t>Income elasticity of demand</a:t>
            </a:r>
          </a:p>
          <a:p>
            <a:pPr eaLnBrk="1" hangingPunct="1">
              <a:buClr>
                <a:srgbClr val="000066"/>
              </a:buClr>
            </a:pPr>
            <a:endParaRPr lang="en-US" sz="3200" dirty="0"/>
          </a:p>
          <a:p>
            <a:pPr eaLnBrk="1" hangingPunct="1">
              <a:buClr>
                <a:srgbClr val="000066"/>
              </a:buClr>
            </a:pPr>
            <a:endParaRPr lang="en-US" sz="3200" dirty="0"/>
          </a:p>
          <a:p>
            <a:pPr eaLnBrk="1" hangingPunct="1">
              <a:buClr>
                <a:srgbClr val="000066"/>
              </a:buClr>
            </a:pPr>
            <a:endParaRPr lang="en-US" sz="3200" dirty="0"/>
          </a:p>
          <a:p>
            <a:pPr eaLnBrk="1" hangingPunct="1">
              <a:buClr>
                <a:srgbClr val="000066"/>
              </a:buClr>
            </a:pPr>
            <a:r>
              <a:rPr lang="en-US" sz="3200" dirty="0"/>
              <a:t>Normal goods – demand rises as income increases (&gt;0)</a:t>
            </a:r>
          </a:p>
          <a:p>
            <a:pPr eaLnBrk="1" hangingPunct="1">
              <a:buClr>
                <a:srgbClr val="000066"/>
              </a:buClr>
            </a:pPr>
            <a:r>
              <a:rPr lang="en-US" sz="3200" dirty="0"/>
              <a:t>Inferior goods – demand falls as income increases (&lt;0)</a:t>
            </a:r>
          </a:p>
        </p:txBody>
      </p:sp>
      <p:graphicFrame>
        <p:nvGraphicFramePr>
          <p:cNvPr id="409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1635018"/>
              </p:ext>
            </p:extLst>
          </p:nvPr>
        </p:nvGraphicFramePr>
        <p:xfrm>
          <a:off x="7218362" y="2628901"/>
          <a:ext cx="2049463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39600" imgH="838080" progId="Equation.3">
                  <p:embed/>
                </p:oleObj>
              </mc:Choice>
              <mc:Fallback>
                <p:oleObj name="Equation" r:id="rId2" imgW="939600" imgH="838080" progId="Equation.3">
                  <p:embed/>
                  <p:pic>
                    <p:nvPicPr>
                      <p:cNvPr id="409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8362" y="2628901"/>
                        <a:ext cx="2049463" cy="182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2" name="Rectangle 6"/>
          <p:cNvSpPr>
            <a:spLocks noChangeArrowheads="1"/>
          </p:cNvSpPr>
          <p:nvPr/>
        </p:nvSpPr>
        <p:spPr bwMode="auto">
          <a:xfrm>
            <a:off x="11316544" y="6251536"/>
            <a:ext cx="590550" cy="2444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fld id="{191C1EB6-39E6-4DC6-8F52-4DA79B9749CC}" type="slidenum">
              <a:rPr lang="en-US" sz="1000" smtClean="0"/>
              <a:pPr eaLnBrk="1" hangingPunct="1"/>
              <a:t>12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772644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963" grpId="0" build="p"/>
    </p:bldLst>
  </p:timing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Beskæring</Template>
  <TotalTime>113</TotalTime>
  <Words>475</Words>
  <Application>Microsoft Macintosh PowerPoint</Application>
  <PresentationFormat>Widescreen</PresentationFormat>
  <Paragraphs>108</Paragraphs>
  <Slides>12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Franklin Gothic Book</vt:lpstr>
      <vt:lpstr>Symbol</vt:lpstr>
      <vt:lpstr>Tahoma</vt:lpstr>
      <vt:lpstr>Wingdings</vt:lpstr>
      <vt:lpstr>Crop</vt:lpstr>
      <vt:lpstr>Equation</vt:lpstr>
      <vt:lpstr>PowerPoint Presentation</vt:lpstr>
      <vt:lpstr>Demand Function</vt:lpstr>
      <vt:lpstr>Demand for PTC Tickets</vt:lpstr>
      <vt:lpstr>The Demand Curve</vt:lpstr>
      <vt:lpstr>Price Elasticity of Demand</vt:lpstr>
      <vt:lpstr>Arc Price Elasticity</vt:lpstr>
      <vt:lpstr>Range of Price Elasticities</vt:lpstr>
      <vt:lpstr>Determinants of Price Elasticity</vt:lpstr>
      <vt:lpstr>P, TR &amp; MR</vt:lpstr>
      <vt:lpstr>Demand, Total Revenue, &amp; Marginal Revenue</vt:lpstr>
      <vt:lpstr>Other Demand Influences</vt:lpstr>
      <vt:lpstr>Income</vt:lpstr>
    </vt:vector>
  </TitlesOfParts>
  <Company>CBS - Copenhagen Business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Tamas Vamosi</dc:creator>
  <cp:lastModifiedBy>Kai Inga Liehr Storm</cp:lastModifiedBy>
  <cp:revision>5</cp:revision>
  <dcterms:created xsi:type="dcterms:W3CDTF">2020-02-07T08:06:53Z</dcterms:created>
  <dcterms:modified xsi:type="dcterms:W3CDTF">2026-01-26T16:26:05Z</dcterms:modified>
</cp:coreProperties>
</file>