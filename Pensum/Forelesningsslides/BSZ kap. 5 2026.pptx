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2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D1949F-3230-4513-BF05-0856D0B5E94B}" v="17" dt="2025-02-06T08:43:08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s Vamosi" userId="d29b3f17-2c73-4e3f-a1f7-7beee2a70eaf" providerId="ADAL" clId="{BED1949F-3230-4513-BF05-0856D0B5E94B}"/>
    <pc:docChg chg="modSld">
      <pc:chgData name="Tamas Vamosi" userId="d29b3f17-2c73-4e3f-a1f7-7beee2a70eaf" providerId="ADAL" clId="{BED1949F-3230-4513-BF05-0856D0B5E94B}" dt="2025-02-06T08:43:39.648" v="25" actId="207"/>
      <pc:docMkLst>
        <pc:docMk/>
      </pc:docMkLst>
      <pc:sldChg chg="modSp">
        <pc:chgData name="Tamas Vamosi" userId="d29b3f17-2c73-4e3f-a1f7-7beee2a70eaf" providerId="ADAL" clId="{BED1949F-3230-4513-BF05-0856D0B5E94B}" dt="2025-02-06T08:40:14.534" v="6" actId="207"/>
        <pc:sldMkLst>
          <pc:docMk/>
          <pc:sldMk cId="834392496" sldId="259"/>
        </pc:sldMkLst>
        <pc:spChg chg="mod">
          <ac:chgData name="Tamas Vamosi" userId="d29b3f17-2c73-4e3f-a1f7-7beee2a70eaf" providerId="ADAL" clId="{BED1949F-3230-4513-BF05-0856D0B5E94B}" dt="2025-02-06T08:40:14.534" v="6" actId="207"/>
          <ac:spMkLst>
            <pc:docMk/>
            <pc:sldMk cId="834392496" sldId="259"/>
            <ac:spMk id="49155" creationId="{00000000-0000-0000-0000-000000000000}"/>
          </ac:spMkLst>
        </pc:spChg>
      </pc:sldChg>
      <pc:sldChg chg="modSp">
        <pc:chgData name="Tamas Vamosi" userId="d29b3f17-2c73-4e3f-a1f7-7beee2a70eaf" providerId="ADAL" clId="{BED1949F-3230-4513-BF05-0856D0B5E94B}" dt="2025-02-06T08:40:32.252" v="9" actId="207"/>
        <pc:sldMkLst>
          <pc:docMk/>
          <pc:sldMk cId="3387354645" sldId="260"/>
        </pc:sldMkLst>
        <pc:spChg chg="mod">
          <ac:chgData name="Tamas Vamosi" userId="d29b3f17-2c73-4e3f-a1f7-7beee2a70eaf" providerId="ADAL" clId="{BED1949F-3230-4513-BF05-0856D0B5E94B}" dt="2025-02-06T08:40:32.252" v="9" actId="207"/>
          <ac:spMkLst>
            <pc:docMk/>
            <pc:sldMk cId="3387354645" sldId="260"/>
            <ac:spMk id="21507" creationId="{00000000-0000-0000-0000-000000000000}"/>
          </ac:spMkLst>
        </pc:spChg>
      </pc:sldChg>
      <pc:sldChg chg="modSp mod">
        <pc:chgData name="Tamas Vamosi" userId="d29b3f17-2c73-4e3f-a1f7-7beee2a70eaf" providerId="ADAL" clId="{BED1949F-3230-4513-BF05-0856D0B5E94B}" dt="2025-02-06T08:40:43.250" v="11" actId="207"/>
        <pc:sldMkLst>
          <pc:docMk/>
          <pc:sldMk cId="774266583" sldId="261"/>
        </pc:sldMkLst>
        <pc:spChg chg="mod">
          <ac:chgData name="Tamas Vamosi" userId="d29b3f17-2c73-4e3f-a1f7-7beee2a70eaf" providerId="ADAL" clId="{BED1949F-3230-4513-BF05-0856D0B5E94B}" dt="2025-02-06T08:40:43.250" v="11" actId="207"/>
          <ac:spMkLst>
            <pc:docMk/>
            <pc:sldMk cId="774266583" sldId="261"/>
            <ac:spMk id="8195" creationId="{00000000-0000-0000-0000-000000000000}"/>
          </ac:spMkLst>
        </pc:spChg>
      </pc:sldChg>
      <pc:sldChg chg="modSp mod">
        <pc:chgData name="Tamas Vamosi" userId="d29b3f17-2c73-4e3f-a1f7-7beee2a70eaf" providerId="ADAL" clId="{BED1949F-3230-4513-BF05-0856D0B5E94B}" dt="2025-02-06T08:41:10.178" v="12" actId="692"/>
        <pc:sldMkLst>
          <pc:docMk/>
          <pc:sldMk cId="1708153785" sldId="262"/>
        </pc:sldMkLst>
        <pc:spChg chg="mod">
          <ac:chgData name="Tamas Vamosi" userId="d29b3f17-2c73-4e3f-a1f7-7beee2a70eaf" providerId="ADAL" clId="{BED1949F-3230-4513-BF05-0856D0B5E94B}" dt="2025-02-06T08:41:10.178" v="12" actId="692"/>
          <ac:spMkLst>
            <pc:docMk/>
            <pc:sldMk cId="1708153785" sldId="262"/>
            <ac:spMk id="57368" creationId="{00000000-0000-0000-0000-000000000000}"/>
          </ac:spMkLst>
        </pc:spChg>
      </pc:sldChg>
      <pc:sldChg chg="modSp mod">
        <pc:chgData name="Tamas Vamosi" userId="d29b3f17-2c73-4e3f-a1f7-7beee2a70eaf" providerId="ADAL" clId="{BED1949F-3230-4513-BF05-0856D0B5E94B}" dt="2025-02-06T08:41:30.815" v="13" actId="207"/>
        <pc:sldMkLst>
          <pc:docMk/>
          <pc:sldMk cId="1301850119" sldId="264"/>
        </pc:sldMkLst>
        <pc:spChg chg="mod">
          <ac:chgData name="Tamas Vamosi" userId="d29b3f17-2c73-4e3f-a1f7-7beee2a70eaf" providerId="ADAL" clId="{BED1949F-3230-4513-BF05-0856D0B5E94B}" dt="2025-02-06T08:41:30.815" v="13" actId="207"/>
          <ac:spMkLst>
            <pc:docMk/>
            <pc:sldMk cId="1301850119" sldId="264"/>
            <ac:spMk id="11267" creationId="{00000000-0000-0000-0000-000000000000}"/>
          </ac:spMkLst>
        </pc:spChg>
      </pc:sldChg>
      <pc:sldChg chg="modSp mod">
        <pc:chgData name="Tamas Vamosi" userId="d29b3f17-2c73-4e3f-a1f7-7beee2a70eaf" providerId="ADAL" clId="{BED1949F-3230-4513-BF05-0856D0B5E94B}" dt="2025-02-06T08:41:53.165" v="15" actId="207"/>
        <pc:sldMkLst>
          <pc:docMk/>
          <pc:sldMk cId="1492814380" sldId="266"/>
        </pc:sldMkLst>
        <pc:spChg chg="mod">
          <ac:chgData name="Tamas Vamosi" userId="d29b3f17-2c73-4e3f-a1f7-7beee2a70eaf" providerId="ADAL" clId="{BED1949F-3230-4513-BF05-0856D0B5E94B}" dt="2025-02-06T08:41:53.165" v="15" actId="207"/>
          <ac:spMkLst>
            <pc:docMk/>
            <pc:sldMk cId="1492814380" sldId="266"/>
            <ac:spMk id="14339" creationId="{00000000-0000-0000-0000-000000000000}"/>
          </ac:spMkLst>
        </pc:spChg>
      </pc:sldChg>
      <pc:sldChg chg="modSp mod">
        <pc:chgData name="Tamas Vamosi" userId="d29b3f17-2c73-4e3f-a1f7-7beee2a70eaf" providerId="ADAL" clId="{BED1949F-3230-4513-BF05-0856D0B5E94B}" dt="2025-02-06T08:42:32.548" v="17" actId="207"/>
        <pc:sldMkLst>
          <pc:docMk/>
          <pc:sldMk cId="3535946716" sldId="269"/>
        </pc:sldMkLst>
        <pc:spChg chg="mod">
          <ac:chgData name="Tamas Vamosi" userId="d29b3f17-2c73-4e3f-a1f7-7beee2a70eaf" providerId="ADAL" clId="{BED1949F-3230-4513-BF05-0856D0B5E94B}" dt="2025-02-06T08:42:32.548" v="17" actId="207"/>
          <ac:spMkLst>
            <pc:docMk/>
            <pc:sldMk cId="3535946716" sldId="269"/>
            <ac:spMk id="5" creationId="{1311D5B7-C704-D438-BA08-58B5FDCD7016}"/>
          </ac:spMkLst>
        </pc:spChg>
        <pc:cxnChg chg="mod">
          <ac:chgData name="Tamas Vamosi" userId="d29b3f17-2c73-4e3f-a1f7-7beee2a70eaf" providerId="ADAL" clId="{BED1949F-3230-4513-BF05-0856D0B5E94B}" dt="2025-02-06T08:42:17.100" v="16" actId="692"/>
          <ac:cxnSpMkLst>
            <pc:docMk/>
            <pc:sldMk cId="3535946716" sldId="269"/>
            <ac:cxnSpMk id="2" creationId="{8DF07541-7A90-9BFC-B650-47547B4E5039}"/>
          </ac:cxnSpMkLst>
        </pc:cxnChg>
      </pc:sldChg>
      <pc:sldChg chg="modSp">
        <pc:chgData name="Tamas Vamosi" userId="d29b3f17-2c73-4e3f-a1f7-7beee2a70eaf" providerId="ADAL" clId="{BED1949F-3230-4513-BF05-0856D0B5E94B}" dt="2025-02-06T08:42:56.306" v="21" actId="207"/>
        <pc:sldMkLst>
          <pc:docMk/>
          <pc:sldMk cId="1325698121" sldId="270"/>
        </pc:sldMkLst>
        <pc:spChg chg="mod">
          <ac:chgData name="Tamas Vamosi" userId="d29b3f17-2c73-4e3f-a1f7-7beee2a70eaf" providerId="ADAL" clId="{BED1949F-3230-4513-BF05-0856D0B5E94B}" dt="2025-02-06T08:42:56.306" v="21" actId="207"/>
          <ac:spMkLst>
            <pc:docMk/>
            <pc:sldMk cId="1325698121" sldId="270"/>
            <ac:spMk id="35843" creationId="{00000000-0000-0000-0000-000000000000}"/>
          </ac:spMkLst>
        </pc:spChg>
      </pc:sldChg>
      <pc:sldChg chg="modSp mod">
        <pc:chgData name="Tamas Vamosi" userId="d29b3f17-2c73-4e3f-a1f7-7beee2a70eaf" providerId="ADAL" clId="{BED1949F-3230-4513-BF05-0856D0B5E94B}" dt="2025-02-06T08:43:22.327" v="24" actId="207"/>
        <pc:sldMkLst>
          <pc:docMk/>
          <pc:sldMk cId="2741780220" sldId="272"/>
        </pc:sldMkLst>
        <pc:spChg chg="mod">
          <ac:chgData name="Tamas Vamosi" userId="d29b3f17-2c73-4e3f-a1f7-7beee2a70eaf" providerId="ADAL" clId="{BED1949F-3230-4513-BF05-0856D0B5E94B}" dt="2025-02-06T08:43:15.559" v="23" actId="207"/>
          <ac:spMkLst>
            <pc:docMk/>
            <pc:sldMk cId="2741780220" sldId="272"/>
            <ac:spMk id="2" creationId="{00000000-0000-0000-0000-000000000000}"/>
          </ac:spMkLst>
        </pc:spChg>
        <pc:spChg chg="mod">
          <ac:chgData name="Tamas Vamosi" userId="d29b3f17-2c73-4e3f-a1f7-7beee2a70eaf" providerId="ADAL" clId="{BED1949F-3230-4513-BF05-0856D0B5E94B}" dt="2025-02-06T08:43:22.327" v="24" actId="207"/>
          <ac:spMkLst>
            <pc:docMk/>
            <pc:sldMk cId="2741780220" sldId="272"/>
            <ac:spMk id="6" creationId="{00000000-0000-0000-0000-000000000000}"/>
          </ac:spMkLst>
        </pc:spChg>
        <pc:spChg chg="mod">
          <ac:chgData name="Tamas Vamosi" userId="d29b3f17-2c73-4e3f-a1f7-7beee2a70eaf" providerId="ADAL" clId="{BED1949F-3230-4513-BF05-0856D0B5E94B}" dt="2025-02-06T08:43:08.931" v="22" actId="207"/>
          <ac:spMkLst>
            <pc:docMk/>
            <pc:sldMk cId="2741780220" sldId="272"/>
            <ac:spMk id="52227" creationId="{00000000-0000-0000-0000-000000000000}"/>
          </ac:spMkLst>
        </pc:spChg>
      </pc:sldChg>
      <pc:sldChg chg="modSp mod">
        <pc:chgData name="Tamas Vamosi" userId="d29b3f17-2c73-4e3f-a1f7-7beee2a70eaf" providerId="ADAL" clId="{BED1949F-3230-4513-BF05-0856D0B5E94B}" dt="2025-02-06T08:43:39.648" v="25" actId="207"/>
        <pc:sldMkLst>
          <pc:docMk/>
          <pc:sldMk cId="1915273956" sldId="273"/>
        </pc:sldMkLst>
        <pc:spChg chg="mod">
          <ac:chgData name="Tamas Vamosi" userId="d29b3f17-2c73-4e3f-a1f7-7beee2a70eaf" providerId="ADAL" clId="{BED1949F-3230-4513-BF05-0856D0B5E94B}" dt="2025-02-06T08:43:39.648" v="25" actId="207"/>
          <ac:spMkLst>
            <pc:docMk/>
            <pc:sldMk cId="1915273956" sldId="273"/>
            <ac:spMk id="2765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735997-EC95-484E-8543-6B071CB142D9}" type="datetimeFigureOut">
              <a:rPr lang="da-DK" smtClean="0"/>
              <a:t>26.01.2026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41DF0-36D5-4FEB-BBDE-BEA93354530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188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EE781D-BB93-4F9B-9FD1-CFA8287A6AB7}" type="slidenum">
              <a:rPr lang="en-US"/>
              <a:pPr/>
              <a:t>1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42883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1D68A0-7B62-4CA8-8202-E85A227CE691}" type="slidenum">
              <a:rPr lang="en-US"/>
              <a:pPr/>
              <a:t>9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25276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007B57-FA27-4C55-A043-6E0BD1DBD588}" type="slidenum">
              <a:rPr lang="en-US"/>
              <a:pPr/>
              <a:t>11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3048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296097-08F5-47A5-AF8A-F40E1A8BEC8C}" type="slidenum">
              <a:rPr lang="en-US"/>
              <a:pPr/>
              <a:t>18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15775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4080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00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fsnitsoversk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881597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6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492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89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476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89146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9561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69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036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49D949-AEC9-4799-A1FB-CE0FA382C8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01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9DFE5-DA0A-40C3-BFDC-92E232D048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06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1/26/26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83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2286000" y="1447800"/>
            <a:ext cx="7772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/>
            <a:r>
              <a:rPr lang="en-US" sz="3200" i="1" dirty="0">
                <a:solidFill>
                  <a:srgbClr val="000066"/>
                </a:solidFill>
              </a:rPr>
              <a:t>Managerial Economics and Organizational Architecture</a:t>
            </a:r>
            <a:br>
              <a:rPr lang="en-US" sz="3200" dirty="0">
                <a:solidFill>
                  <a:srgbClr val="000066"/>
                </a:solidFill>
              </a:rPr>
            </a:br>
            <a:br>
              <a:rPr lang="en-US" sz="4400" dirty="0">
                <a:solidFill>
                  <a:srgbClr val="000066"/>
                </a:solidFill>
              </a:rPr>
            </a:br>
            <a:r>
              <a:rPr lang="en-US" sz="4800" dirty="0">
                <a:solidFill>
                  <a:srgbClr val="000066"/>
                </a:solidFill>
              </a:rPr>
              <a:t>Chapter 5:  </a:t>
            </a:r>
            <a:br>
              <a:rPr lang="en-US" sz="4800" dirty="0">
                <a:solidFill>
                  <a:srgbClr val="000066"/>
                </a:solidFill>
              </a:rPr>
            </a:br>
            <a:r>
              <a:rPr lang="en-US" sz="4800" dirty="0">
                <a:solidFill>
                  <a:srgbClr val="000066"/>
                </a:solidFill>
              </a:rPr>
              <a:t>Production and Cost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524000" y="6324600"/>
            <a:ext cx="4876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da-DK" sz="1000" i="1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323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6858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Production Functions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05000"/>
            <a:ext cx="8229600" cy="42672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 production function specifies maximum output from given inputs:</a:t>
            </a:r>
          </a:p>
          <a:p>
            <a:pPr marL="0" indent="0">
              <a:buNone/>
            </a:pPr>
            <a:endParaRPr lang="en-US">
              <a:latin typeface="Comic Sans MS" pitchFamily="66" charset="0"/>
            </a:endParaRP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3810001" y="3657601"/>
          <a:ext cx="458152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228600" progId="Equation.3">
                  <p:embed/>
                </p:oleObj>
              </mc:Choice>
              <mc:Fallback>
                <p:oleObj name="Equation" r:id="rId2" imgW="1155600" imgH="228600" progId="Equation.3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1" y="3657601"/>
                        <a:ext cx="4581525" cy="906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0805541" y="5925979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0575F269-DEEA-445C-8D89-7EDA0A5CB75C}" type="slidenum">
              <a:rPr lang="en-US" sz="1000" smtClean="0"/>
              <a:pPr/>
              <a:t>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29159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6096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Returns to Scale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2095500" y="1600201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i="1" dirty="0">
                <a:solidFill>
                  <a:srgbClr val="002060"/>
                </a:solidFill>
              </a:rPr>
              <a:t>The relation between output and a proportional variation of all inputs together</a:t>
            </a:r>
          </a:p>
          <a:p>
            <a:pPr eaLnBrk="1" hangingPunct="1"/>
            <a:r>
              <a:rPr lang="en-US" sz="3200" dirty="0">
                <a:solidFill>
                  <a:srgbClr val="002060"/>
                </a:solidFill>
              </a:rPr>
              <a:t>Increasing</a:t>
            </a:r>
            <a:r>
              <a:rPr lang="en-US" sz="3200" dirty="0"/>
              <a:t> returns to scale - if inputs double, output </a:t>
            </a:r>
            <a:r>
              <a:rPr lang="en-US" sz="3200" dirty="0">
                <a:solidFill>
                  <a:srgbClr val="002060"/>
                </a:solidFill>
              </a:rPr>
              <a:t>more</a:t>
            </a:r>
            <a:r>
              <a:rPr lang="en-US" sz="3200" dirty="0"/>
              <a:t> than doubles</a:t>
            </a:r>
          </a:p>
          <a:p>
            <a:pPr eaLnBrk="1" hangingPunct="1"/>
            <a:r>
              <a:rPr lang="en-US" sz="3200" dirty="0">
                <a:solidFill>
                  <a:srgbClr val="002060"/>
                </a:solidFill>
              </a:rPr>
              <a:t>Decreasing</a:t>
            </a:r>
            <a:r>
              <a:rPr lang="en-US" sz="3200" dirty="0"/>
              <a:t> returns to scale - if inputs double, output </a:t>
            </a:r>
            <a:r>
              <a:rPr lang="en-US" sz="3200" dirty="0">
                <a:solidFill>
                  <a:srgbClr val="002060"/>
                </a:solidFill>
              </a:rPr>
              <a:t>less</a:t>
            </a:r>
            <a:r>
              <a:rPr lang="en-US" sz="3200" dirty="0"/>
              <a:t> than doubles</a:t>
            </a:r>
          </a:p>
          <a:p>
            <a:pPr eaLnBrk="1" hangingPunct="1"/>
            <a:r>
              <a:rPr lang="en-US" sz="3200" dirty="0">
                <a:solidFill>
                  <a:srgbClr val="002060"/>
                </a:solidFill>
              </a:rPr>
              <a:t>Constant</a:t>
            </a:r>
            <a:r>
              <a:rPr lang="en-US" sz="3200" dirty="0"/>
              <a:t> returns to scale- if inputs double, output </a:t>
            </a:r>
            <a:r>
              <a:rPr lang="en-US" sz="3200" dirty="0">
                <a:solidFill>
                  <a:srgbClr val="002060"/>
                </a:solidFill>
              </a:rPr>
              <a:t>doubles</a:t>
            </a: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11262741" y="6003053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EBCB47C0-EAE6-4F94-B560-C96C1BDF765A}" type="slidenum">
              <a:rPr lang="en-US" sz="1000" smtClean="0"/>
              <a:pPr/>
              <a:t>3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439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Returns to a Factor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676401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i="1" dirty="0">
                <a:solidFill>
                  <a:srgbClr val="002060"/>
                </a:solidFill>
              </a:rPr>
              <a:t>The relation between output and the variation in only one input, holding all other inputs constant</a:t>
            </a:r>
          </a:p>
          <a:p>
            <a:pPr eaLnBrk="1" hangingPunct="1"/>
            <a:r>
              <a:rPr lang="en-US" sz="3200" dirty="0"/>
              <a:t>Total product - amount of output, Q, obtained when an input, L, increases</a:t>
            </a:r>
          </a:p>
          <a:p>
            <a:pPr eaLnBrk="1" hangingPunct="1"/>
            <a:r>
              <a:rPr lang="en-US" sz="3200" dirty="0"/>
              <a:t>Average product  </a:t>
            </a:r>
            <a:r>
              <a:rPr lang="en-US" sz="3200" i="1" dirty="0">
                <a:solidFill>
                  <a:srgbClr val="002060"/>
                </a:solidFill>
              </a:rPr>
              <a:t>Q/L</a:t>
            </a:r>
            <a:endParaRPr lang="en-US" sz="3200" dirty="0">
              <a:solidFill>
                <a:srgbClr val="002060"/>
              </a:solidFill>
            </a:endParaRPr>
          </a:p>
          <a:p>
            <a:pPr eaLnBrk="1" hangingPunct="1"/>
            <a:r>
              <a:rPr lang="en-US" sz="3200" dirty="0"/>
              <a:t>Marginal product  </a:t>
            </a:r>
            <a:r>
              <a:rPr lang="en-US" sz="3200" i="1" dirty="0">
                <a:solidFill>
                  <a:srgbClr val="002060"/>
                </a:solidFill>
                <a:sym typeface="Symbol" pitchFamily="18" charset="2"/>
              </a:rPr>
              <a:t>Q/L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10767442" y="5956143"/>
            <a:ext cx="36671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fld id="{4D8E40BF-1677-4BD8-9C95-7AAFC3C90FFA}" type="slidenum">
              <a:rPr lang="en-US" sz="1000" smtClean="0"/>
              <a:pPr/>
              <a:t>4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87354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838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Illustrating Production Choices </a:t>
            </a:r>
            <a:br>
              <a:rPr lang="en-US" sz="4000" dirty="0"/>
            </a:br>
            <a:r>
              <a:rPr lang="en-US" sz="4000" dirty="0"/>
              <a:t>with Isoquants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2362200"/>
            <a:ext cx="8229600" cy="4114800"/>
          </a:xfrm>
        </p:spPr>
        <p:txBody>
          <a:bodyPr/>
          <a:lstStyle/>
          <a:p>
            <a:pPr eaLnBrk="1" hangingPunct="1"/>
            <a:endParaRPr lang="en-US" i="1" dirty="0">
              <a:solidFill>
                <a:srgbClr val="FF6600"/>
              </a:solidFill>
            </a:endParaRPr>
          </a:p>
          <a:p>
            <a:pPr eaLnBrk="1" hangingPunct="1"/>
            <a:r>
              <a:rPr lang="en-US" sz="3600" i="1" dirty="0">
                <a:solidFill>
                  <a:srgbClr val="002060"/>
                </a:solidFill>
              </a:rPr>
              <a:t>Isoquants show all combinations of two inputs that produce the same level of output, assuming efficient production</a:t>
            </a:r>
          </a:p>
          <a:p>
            <a:pPr eaLnBrk="1" hangingPunct="1"/>
            <a:r>
              <a:rPr lang="en-US" sz="3600" i="1" dirty="0">
                <a:solidFill>
                  <a:srgbClr val="002060"/>
                </a:solidFill>
              </a:rPr>
              <a:t>Shape of isoquants indicates substitutability between inputs 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11427333" y="5985448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CBB52C42-7132-4CBC-A765-789D579ECA76}" type="slidenum">
              <a:rPr lang="en-US" sz="1000" smtClean="0"/>
              <a:pPr/>
              <a:t>5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74266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440107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Isoquants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600201"/>
            <a:ext cx="3581400" cy="4525963"/>
          </a:xfrm>
        </p:spPr>
        <p:txBody>
          <a:bodyPr/>
          <a:lstStyle/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Show all combinations of two inputs that produce the </a:t>
            </a:r>
            <a:r>
              <a:rPr lang="en-US" sz="2800" u="sng" dirty="0">
                <a:solidFill>
                  <a:srgbClr val="C00000"/>
                </a:solidFill>
              </a:rPr>
              <a:t>same</a:t>
            </a:r>
            <a:r>
              <a:rPr lang="en-US" sz="2800" dirty="0"/>
              <a:t> level of output</a:t>
            </a:r>
          </a:p>
          <a:p>
            <a:pPr eaLnBrk="1" hangingPunct="1"/>
            <a:r>
              <a:rPr lang="en-US" sz="2800" dirty="0"/>
              <a:t>Moving to the </a:t>
            </a:r>
            <a:r>
              <a:rPr lang="en-US" sz="2800" u="sng" dirty="0">
                <a:solidFill>
                  <a:srgbClr val="006600"/>
                </a:solidFill>
              </a:rPr>
              <a:t>northeast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/>
              <a:t>implies </a:t>
            </a:r>
            <a:r>
              <a:rPr lang="en-US" sz="2800" u="sng" dirty="0">
                <a:solidFill>
                  <a:srgbClr val="006600"/>
                </a:solidFill>
              </a:rPr>
              <a:t>greater</a:t>
            </a:r>
            <a:r>
              <a:rPr lang="en-US" sz="2800" dirty="0"/>
              <a:t> output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0202863" y="5486401"/>
            <a:ext cx="287258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S</a:t>
            </a:r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5257800" y="1676400"/>
            <a:ext cx="5181600" cy="4572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da-DK"/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 rot="-5400000">
            <a:off x="5131594" y="3631407"/>
            <a:ext cx="1928813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 of Aluminum 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7620000" y="5715001"/>
            <a:ext cx="143193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 of Steel</a:t>
            </a:r>
          </a:p>
        </p:txBody>
      </p:sp>
      <p:sp>
        <p:nvSpPr>
          <p:cNvPr id="9226" name="Line 10"/>
          <p:cNvSpPr>
            <a:spLocks noChangeShapeType="1"/>
          </p:cNvSpPr>
          <p:nvPr/>
        </p:nvSpPr>
        <p:spPr bwMode="auto">
          <a:xfrm>
            <a:off x="6477000" y="19812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9227" name="Line 11"/>
          <p:cNvSpPr>
            <a:spLocks noChangeShapeType="1"/>
          </p:cNvSpPr>
          <p:nvPr/>
        </p:nvSpPr>
        <p:spPr bwMode="auto">
          <a:xfrm>
            <a:off x="6477000" y="5638800"/>
            <a:ext cx="3733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57359" name="Arc 15"/>
          <p:cNvSpPr>
            <a:spLocks/>
          </p:cNvSpPr>
          <p:nvPr/>
        </p:nvSpPr>
        <p:spPr bwMode="auto">
          <a:xfrm rot="10451875">
            <a:off x="7162800" y="2819400"/>
            <a:ext cx="1828800" cy="1981200"/>
          </a:xfrm>
          <a:custGeom>
            <a:avLst/>
            <a:gdLst>
              <a:gd name="T0" fmla="*/ 0 w 21600"/>
              <a:gd name="T1" fmla="*/ 0 h 21600"/>
              <a:gd name="T2" fmla="*/ 1828800 w 21600"/>
              <a:gd name="T3" fmla="*/ 1981200 h 21600"/>
              <a:gd name="T4" fmla="*/ 0 w 21600"/>
              <a:gd name="T5" fmla="*/ 198120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000066"/>
            </a:solidFill>
            <a:round/>
            <a:headEnd type="none" w="sm" len="sm"/>
            <a:tailEnd type="none" w="sm" len="sm"/>
          </a:ln>
        </p:spPr>
        <p:txBody>
          <a:bodyPr rot="10800000" wrap="none" anchor="ctr"/>
          <a:lstStyle/>
          <a:p>
            <a:endParaRPr lang="da-DK"/>
          </a:p>
        </p:txBody>
      </p:sp>
      <p:sp>
        <p:nvSpPr>
          <p:cNvPr id="9229" name="Text Box 16"/>
          <p:cNvSpPr txBox="1">
            <a:spLocks noChangeArrowheads="1"/>
          </p:cNvSpPr>
          <p:nvPr/>
        </p:nvSpPr>
        <p:spPr bwMode="auto">
          <a:xfrm>
            <a:off x="6324600" y="1676401"/>
            <a:ext cx="285656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A</a:t>
            </a:r>
          </a:p>
        </p:txBody>
      </p:sp>
      <p:sp>
        <p:nvSpPr>
          <p:cNvPr id="57364" name="Text Box 20"/>
          <p:cNvSpPr txBox="1">
            <a:spLocks noChangeArrowheads="1"/>
          </p:cNvSpPr>
          <p:nvPr/>
        </p:nvSpPr>
        <p:spPr bwMode="auto">
          <a:xfrm>
            <a:off x="9220200" y="4605339"/>
            <a:ext cx="453970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200</a:t>
            </a:r>
          </a:p>
        </p:txBody>
      </p:sp>
      <p:sp>
        <p:nvSpPr>
          <p:cNvPr id="57365" name="Text Box 21"/>
          <p:cNvSpPr txBox="1">
            <a:spLocks noChangeArrowheads="1"/>
          </p:cNvSpPr>
          <p:nvPr/>
        </p:nvSpPr>
        <p:spPr bwMode="auto">
          <a:xfrm>
            <a:off x="9982200" y="3810001"/>
            <a:ext cx="453970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300</a:t>
            </a:r>
          </a:p>
        </p:txBody>
      </p:sp>
      <p:sp>
        <p:nvSpPr>
          <p:cNvPr id="57366" name="Text Box 22"/>
          <p:cNvSpPr txBox="1">
            <a:spLocks noChangeArrowheads="1"/>
          </p:cNvSpPr>
          <p:nvPr/>
        </p:nvSpPr>
        <p:spPr bwMode="auto">
          <a:xfrm>
            <a:off x="9028113" y="5105401"/>
            <a:ext cx="449034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200">
                <a:solidFill>
                  <a:srgbClr val="5F5F5F"/>
                </a:solidFill>
              </a:rPr>
              <a:t>100</a:t>
            </a:r>
          </a:p>
        </p:txBody>
      </p:sp>
      <p:sp>
        <p:nvSpPr>
          <p:cNvPr id="57367" name="Arc 23"/>
          <p:cNvSpPr>
            <a:spLocks/>
          </p:cNvSpPr>
          <p:nvPr/>
        </p:nvSpPr>
        <p:spPr bwMode="auto">
          <a:xfrm rot="10451875">
            <a:off x="6697663" y="3424238"/>
            <a:ext cx="2286000" cy="1981200"/>
          </a:xfrm>
          <a:custGeom>
            <a:avLst/>
            <a:gdLst>
              <a:gd name="T0" fmla="*/ 0 w 21600"/>
              <a:gd name="T1" fmla="*/ 0 h 21600"/>
              <a:gd name="T2" fmla="*/ 2286000 w 21600"/>
              <a:gd name="T3" fmla="*/ 1981200 h 21600"/>
              <a:gd name="T4" fmla="*/ 0 w 21600"/>
              <a:gd name="T5" fmla="*/ 198120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C00000"/>
            </a:solidFill>
            <a:round/>
            <a:headEnd type="none" w="sm" len="sm"/>
            <a:tailEnd type="none" w="sm" len="sm"/>
          </a:ln>
        </p:spPr>
        <p:txBody>
          <a:bodyPr rot="10800000" wrap="none" anchor="ctr"/>
          <a:lstStyle/>
          <a:p>
            <a:endParaRPr lang="da-DK"/>
          </a:p>
        </p:txBody>
      </p:sp>
      <p:sp>
        <p:nvSpPr>
          <p:cNvPr id="57368" name="Arc 24"/>
          <p:cNvSpPr>
            <a:spLocks/>
          </p:cNvSpPr>
          <p:nvPr/>
        </p:nvSpPr>
        <p:spPr bwMode="auto">
          <a:xfrm rot="10451875">
            <a:off x="8001000" y="2057400"/>
            <a:ext cx="1828800" cy="1981200"/>
          </a:xfrm>
          <a:custGeom>
            <a:avLst/>
            <a:gdLst>
              <a:gd name="T0" fmla="*/ 0 w 21600"/>
              <a:gd name="T1" fmla="*/ 0 h 21600"/>
              <a:gd name="T2" fmla="*/ 1828800 w 21600"/>
              <a:gd name="T3" fmla="*/ 1981200 h 21600"/>
              <a:gd name="T4" fmla="*/ 0 w 21600"/>
              <a:gd name="T5" fmla="*/ 198120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002060"/>
            </a:solidFill>
            <a:round/>
            <a:headEnd type="none" w="sm" len="sm"/>
            <a:tailEnd type="none" w="sm" len="sm"/>
          </a:ln>
        </p:spPr>
        <p:txBody>
          <a:bodyPr rot="10800000" wrap="none" anchor="ctr"/>
          <a:lstStyle/>
          <a:p>
            <a:endParaRPr lang="da-DK"/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11222339" y="6140021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CF7A4C7B-291D-4EB3-9F66-22D3F2B23852}" type="slidenum">
              <a:rPr lang="en-US" sz="1000" smtClean="0"/>
              <a:pPr/>
              <a:t>6</a:t>
            </a:fld>
            <a:endParaRPr lang="en-US" sz="1000" dirty="0"/>
          </a:p>
        </p:txBody>
      </p:sp>
      <p:cxnSp>
        <p:nvCxnSpPr>
          <p:cNvPr id="3" name="Lige pilforbindelse 2">
            <a:extLst>
              <a:ext uri="{FF2B5EF4-FFF2-40B4-BE49-F238E27FC236}">
                <a16:creationId xmlns:a16="http://schemas.microsoft.com/office/drawing/2014/main" id="{43ADDD36-B7D0-C59D-84CC-C814D4B9D7DF}"/>
              </a:ext>
            </a:extLst>
          </p:cNvPr>
          <p:cNvCxnSpPr>
            <a:cxnSpLocks/>
          </p:cNvCxnSpPr>
          <p:nvPr/>
        </p:nvCxnSpPr>
        <p:spPr>
          <a:xfrm>
            <a:off x="5169159" y="3676261"/>
            <a:ext cx="1434217" cy="13374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Lige pilforbindelse 6">
            <a:extLst>
              <a:ext uri="{FF2B5EF4-FFF2-40B4-BE49-F238E27FC236}">
                <a16:creationId xmlns:a16="http://schemas.microsoft.com/office/drawing/2014/main" id="{C4235109-3906-6D5B-5CE3-B52B6108DB13}"/>
              </a:ext>
            </a:extLst>
          </p:cNvPr>
          <p:cNvCxnSpPr>
            <a:cxnSpLocks/>
          </p:cNvCxnSpPr>
          <p:nvPr/>
        </p:nvCxnSpPr>
        <p:spPr>
          <a:xfrm>
            <a:off x="5124659" y="3810001"/>
            <a:ext cx="1869528" cy="70363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ge pilforbindelse 9">
            <a:extLst>
              <a:ext uri="{FF2B5EF4-FFF2-40B4-BE49-F238E27FC236}">
                <a16:creationId xmlns:a16="http://schemas.microsoft.com/office/drawing/2014/main" id="{BEF566EE-91A6-09D2-CAB2-9904BB2BC4EC}"/>
              </a:ext>
            </a:extLst>
          </p:cNvPr>
          <p:cNvCxnSpPr>
            <a:cxnSpLocks/>
          </p:cNvCxnSpPr>
          <p:nvPr/>
        </p:nvCxnSpPr>
        <p:spPr>
          <a:xfrm flipV="1">
            <a:off x="6594268" y="2017376"/>
            <a:ext cx="3199149" cy="3466047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15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  <p:bldP spid="57359" grpId="0" animBg="1"/>
      <p:bldP spid="57364" grpId="0"/>
      <p:bldP spid="57365" grpId="0"/>
      <p:bldP spid="57366" grpId="0"/>
      <p:bldP spid="57367" grpId="0" animBg="1"/>
      <p:bldP spid="5736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199" y="838200"/>
            <a:ext cx="9026325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000" dirty="0"/>
              <a:t>Differing Input Substitutability Isoquants</a:t>
            </a:r>
          </a:p>
        </p:txBody>
      </p:sp>
      <p:sp>
        <p:nvSpPr>
          <p:cNvPr id="10244" name="Line 4"/>
          <p:cNvSpPr>
            <a:spLocks noChangeShapeType="1"/>
          </p:cNvSpPr>
          <p:nvPr/>
        </p:nvSpPr>
        <p:spPr bwMode="auto">
          <a:xfrm>
            <a:off x="2362200" y="2895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2362200" y="5181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2819400" y="3352800"/>
            <a:ext cx="0" cy="121920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2819400" y="4572000"/>
            <a:ext cx="1143000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2209800" y="25146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A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4495800" y="50292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S</a:t>
            </a:r>
          </a:p>
        </p:txBody>
      </p:sp>
      <p:sp>
        <p:nvSpPr>
          <p:cNvPr id="10250" name="Text Box 9"/>
          <p:cNvSpPr txBox="1">
            <a:spLocks noChangeArrowheads="1"/>
          </p:cNvSpPr>
          <p:nvPr/>
        </p:nvSpPr>
        <p:spPr bwMode="auto">
          <a:xfrm>
            <a:off x="2743200" y="5257801"/>
            <a:ext cx="143193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 of Steel</a:t>
            </a:r>
          </a:p>
        </p:txBody>
      </p:sp>
      <p:sp>
        <p:nvSpPr>
          <p:cNvPr id="10251" name="Text Box 8"/>
          <p:cNvSpPr txBox="1">
            <a:spLocks noChangeArrowheads="1"/>
          </p:cNvSpPr>
          <p:nvPr/>
        </p:nvSpPr>
        <p:spPr bwMode="auto">
          <a:xfrm rot="-5400000">
            <a:off x="1092994" y="3860007"/>
            <a:ext cx="1928813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 of Aluminum </a:t>
            </a:r>
          </a:p>
        </p:txBody>
      </p:sp>
      <p:sp>
        <p:nvSpPr>
          <p:cNvPr id="10252" name="Line 12"/>
          <p:cNvSpPr>
            <a:spLocks noChangeShapeType="1"/>
          </p:cNvSpPr>
          <p:nvPr/>
        </p:nvSpPr>
        <p:spPr bwMode="auto">
          <a:xfrm>
            <a:off x="5181600" y="5181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8001000" y="5181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>
            <a:off x="5181600" y="2895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8001000" y="28956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0256" name="Text Box 9"/>
          <p:cNvSpPr txBox="1">
            <a:spLocks noChangeArrowheads="1"/>
          </p:cNvSpPr>
          <p:nvPr/>
        </p:nvSpPr>
        <p:spPr bwMode="auto">
          <a:xfrm>
            <a:off x="8534400" y="5257801"/>
            <a:ext cx="143193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 of Steel</a:t>
            </a:r>
          </a:p>
        </p:txBody>
      </p:sp>
      <p:sp>
        <p:nvSpPr>
          <p:cNvPr id="10257" name="Text Box 9"/>
          <p:cNvSpPr txBox="1">
            <a:spLocks noChangeArrowheads="1"/>
          </p:cNvSpPr>
          <p:nvPr/>
        </p:nvSpPr>
        <p:spPr bwMode="auto">
          <a:xfrm>
            <a:off x="5486400" y="5257801"/>
            <a:ext cx="143193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 of Steel</a:t>
            </a:r>
          </a:p>
        </p:txBody>
      </p:sp>
      <p:sp>
        <p:nvSpPr>
          <p:cNvPr id="10258" name="Freeform 18"/>
          <p:cNvSpPr>
            <a:spLocks/>
          </p:cNvSpPr>
          <p:nvPr/>
        </p:nvSpPr>
        <p:spPr bwMode="auto">
          <a:xfrm>
            <a:off x="5334001" y="3200401"/>
            <a:ext cx="1604963" cy="1704975"/>
          </a:xfrm>
          <a:custGeom>
            <a:avLst/>
            <a:gdLst/>
            <a:ahLst/>
            <a:cxnLst>
              <a:cxn ang="0">
                <a:pos x="1" y="0"/>
              </a:cxn>
              <a:cxn ang="0">
                <a:pos x="8" y="235"/>
              </a:cxn>
              <a:cxn ang="0">
                <a:pos x="51" y="477"/>
              </a:cxn>
              <a:cxn ang="0">
                <a:pos x="115" y="661"/>
              </a:cxn>
              <a:cxn ang="0">
                <a:pos x="257" y="839"/>
              </a:cxn>
              <a:cxn ang="0">
                <a:pos x="371" y="925"/>
              </a:cxn>
              <a:cxn ang="0">
                <a:pos x="545" y="1001"/>
              </a:cxn>
              <a:cxn ang="0">
                <a:pos x="776" y="1053"/>
              </a:cxn>
              <a:cxn ang="0">
                <a:pos x="1011" y="1074"/>
              </a:cxn>
            </a:cxnLst>
            <a:rect l="0" t="0" r="r" b="b"/>
            <a:pathLst>
              <a:path w="1011" h="1074">
                <a:moveTo>
                  <a:pt x="1" y="0"/>
                </a:moveTo>
                <a:cubicBezTo>
                  <a:pt x="2" y="39"/>
                  <a:pt x="0" y="156"/>
                  <a:pt x="8" y="235"/>
                </a:cubicBezTo>
                <a:cubicBezTo>
                  <a:pt x="16" y="314"/>
                  <a:pt x="33" y="406"/>
                  <a:pt x="51" y="477"/>
                </a:cubicBezTo>
                <a:cubicBezTo>
                  <a:pt x="69" y="548"/>
                  <a:pt x="81" y="601"/>
                  <a:pt x="115" y="661"/>
                </a:cubicBezTo>
                <a:cubicBezTo>
                  <a:pt x="149" y="721"/>
                  <a:pt x="214" y="795"/>
                  <a:pt x="257" y="839"/>
                </a:cubicBezTo>
                <a:cubicBezTo>
                  <a:pt x="300" y="883"/>
                  <a:pt x="323" y="898"/>
                  <a:pt x="371" y="925"/>
                </a:cubicBezTo>
                <a:cubicBezTo>
                  <a:pt x="419" y="952"/>
                  <a:pt x="478" y="980"/>
                  <a:pt x="545" y="1001"/>
                </a:cubicBezTo>
                <a:cubicBezTo>
                  <a:pt x="612" y="1022"/>
                  <a:pt x="698" y="1041"/>
                  <a:pt x="776" y="1053"/>
                </a:cubicBezTo>
                <a:cubicBezTo>
                  <a:pt x="854" y="1065"/>
                  <a:pt x="962" y="1070"/>
                  <a:pt x="1011" y="1074"/>
                </a:cubicBezTo>
              </a:path>
            </a:pathLst>
          </a:custGeom>
          <a:noFill/>
          <a:ln w="25400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0259" name="Line 19"/>
          <p:cNvSpPr>
            <a:spLocks noChangeShapeType="1"/>
          </p:cNvSpPr>
          <p:nvPr/>
        </p:nvSpPr>
        <p:spPr bwMode="auto">
          <a:xfrm>
            <a:off x="8001000" y="3352800"/>
            <a:ext cx="1524000" cy="182880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2362200" y="5638801"/>
            <a:ext cx="2209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Fixed proportions</a:t>
            </a: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5410200" y="5638801"/>
            <a:ext cx="2209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Normal case</a:t>
            </a: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8077200" y="5638801"/>
            <a:ext cx="2209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Perfect substitutes</a:t>
            </a:r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7848600" y="25908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A</a:t>
            </a: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5029200" y="25908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A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10134600" y="5029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S</a:t>
            </a: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7315200" y="50292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i="1">
                <a:solidFill>
                  <a:srgbClr val="5F5F5F"/>
                </a:solidFill>
              </a:rPr>
              <a:t>S</a:t>
            </a:r>
          </a:p>
        </p:txBody>
      </p:sp>
      <p:sp>
        <p:nvSpPr>
          <p:cNvPr id="10268" name="Rectangle 28"/>
          <p:cNvSpPr>
            <a:spLocks noChangeArrowheads="1"/>
          </p:cNvSpPr>
          <p:nvPr/>
        </p:nvSpPr>
        <p:spPr bwMode="auto">
          <a:xfrm>
            <a:off x="11296931" y="6193361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CC48913A-56D2-4685-9410-C4A92393898F}" type="slidenum">
              <a:rPr lang="en-US" sz="1000" smtClean="0"/>
              <a:pPr/>
              <a:t>7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23772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800" dirty="0"/>
              <a:t>Isocost Lines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52600"/>
            <a:ext cx="8229600" cy="4038600"/>
          </a:xfrm>
        </p:spPr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sz="4000" i="1" dirty="0">
                <a:solidFill>
                  <a:srgbClr val="002060"/>
                </a:solidFill>
              </a:rPr>
              <a:t>Isocosts show all combinations of two inputs that have the </a:t>
            </a:r>
            <a:r>
              <a:rPr lang="en-US" sz="4000" i="1" u="sng" dirty="0">
                <a:solidFill>
                  <a:srgbClr val="002060"/>
                </a:solidFill>
              </a:rPr>
              <a:t>same</a:t>
            </a:r>
            <a:r>
              <a:rPr lang="en-US" sz="4000" i="1" dirty="0">
                <a:solidFill>
                  <a:srgbClr val="002060"/>
                </a:solidFill>
              </a:rPr>
              <a:t> total cost</a:t>
            </a:r>
          </a:p>
          <a:p>
            <a:pPr eaLnBrk="1" hangingPunct="1"/>
            <a:r>
              <a:rPr lang="en-US" sz="4000" i="1" dirty="0">
                <a:solidFill>
                  <a:srgbClr val="002060"/>
                </a:solidFill>
              </a:rPr>
              <a:t>The </a:t>
            </a:r>
            <a:r>
              <a:rPr lang="en-US" sz="4000" i="1" u="sng" dirty="0">
                <a:solidFill>
                  <a:srgbClr val="002060"/>
                </a:solidFill>
              </a:rPr>
              <a:t>slope</a:t>
            </a:r>
            <a:r>
              <a:rPr lang="en-US" sz="4000" i="1" dirty="0">
                <a:solidFill>
                  <a:srgbClr val="002060"/>
                </a:solidFill>
              </a:rPr>
              <a:t> of an isocost line changes as input prices </a:t>
            </a:r>
            <a:r>
              <a:rPr lang="en-US" sz="4000" i="1" u="sng" dirty="0">
                <a:solidFill>
                  <a:srgbClr val="002060"/>
                </a:solidFill>
              </a:rPr>
              <a:t>change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11400943" y="6116358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94FAC533-E1B1-4E94-AB6D-23123579EFA3}" type="slidenum">
              <a:rPr lang="en-US" sz="1000" smtClean="0"/>
              <a:pPr/>
              <a:t>8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01850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762000"/>
            <a:ext cx="8679084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Isocost Lines and Changes in Input Prices</a:t>
            </a:r>
          </a:p>
        </p:txBody>
      </p:sp>
      <p:sp>
        <p:nvSpPr>
          <p:cNvPr id="13315" name="Line 4"/>
          <p:cNvSpPr>
            <a:spLocks noChangeShapeType="1"/>
          </p:cNvSpPr>
          <p:nvPr/>
        </p:nvSpPr>
        <p:spPr bwMode="auto">
          <a:xfrm>
            <a:off x="3429000" y="2209800"/>
            <a:ext cx="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3316" name="Line 5"/>
          <p:cNvSpPr>
            <a:spLocks noChangeShapeType="1"/>
          </p:cNvSpPr>
          <p:nvPr/>
        </p:nvSpPr>
        <p:spPr bwMode="auto">
          <a:xfrm>
            <a:off x="3429000" y="5638800"/>
            <a:ext cx="609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13317" name="Line 6"/>
          <p:cNvSpPr>
            <a:spLocks noChangeShapeType="1"/>
          </p:cNvSpPr>
          <p:nvPr/>
        </p:nvSpPr>
        <p:spPr bwMode="auto">
          <a:xfrm>
            <a:off x="3429000" y="2819400"/>
            <a:ext cx="5715000" cy="281940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60423" name="Line 7"/>
          <p:cNvSpPr>
            <a:spLocks noChangeShapeType="1"/>
          </p:cNvSpPr>
          <p:nvPr/>
        </p:nvSpPr>
        <p:spPr bwMode="auto">
          <a:xfrm>
            <a:off x="3429000" y="2819400"/>
            <a:ext cx="2743200" cy="2819400"/>
          </a:xfrm>
          <a:prstGeom prst="line">
            <a:avLst/>
          </a:prstGeom>
          <a:noFill/>
          <a:ln w="25400">
            <a:solidFill>
              <a:srgbClr val="000066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3319" name="Text Box 8"/>
          <p:cNvSpPr txBox="1">
            <a:spLocks noChangeArrowheads="1"/>
          </p:cNvSpPr>
          <p:nvPr/>
        </p:nvSpPr>
        <p:spPr bwMode="auto">
          <a:xfrm rot="-5400000">
            <a:off x="1662907" y="3928269"/>
            <a:ext cx="18589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 of aluminum</a:t>
            </a:r>
          </a:p>
        </p:txBody>
      </p:sp>
      <p:sp>
        <p:nvSpPr>
          <p:cNvPr id="13320" name="Text Box 9"/>
          <p:cNvSpPr txBox="1">
            <a:spLocks noChangeArrowheads="1"/>
          </p:cNvSpPr>
          <p:nvPr/>
        </p:nvSpPr>
        <p:spPr bwMode="auto">
          <a:xfrm>
            <a:off x="2895600" y="2590801"/>
            <a:ext cx="49629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100</a:t>
            </a:r>
          </a:p>
        </p:txBody>
      </p:sp>
      <p:sp>
        <p:nvSpPr>
          <p:cNvPr id="13321" name="Text Box 10"/>
          <p:cNvSpPr txBox="1">
            <a:spLocks noChangeArrowheads="1"/>
          </p:cNvSpPr>
          <p:nvPr/>
        </p:nvSpPr>
        <p:spPr bwMode="auto">
          <a:xfrm>
            <a:off x="5334001" y="6096000"/>
            <a:ext cx="14652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 of steel</a:t>
            </a:r>
          </a:p>
        </p:txBody>
      </p:sp>
      <p:sp>
        <p:nvSpPr>
          <p:cNvPr id="13322" name="Text Box 11"/>
          <p:cNvSpPr txBox="1">
            <a:spLocks noChangeArrowheads="1"/>
          </p:cNvSpPr>
          <p:nvPr/>
        </p:nvSpPr>
        <p:spPr bwMode="auto">
          <a:xfrm>
            <a:off x="8915401" y="5638801"/>
            <a:ext cx="50206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200</a:t>
            </a:r>
          </a:p>
        </p:txBody>
      </p:sp>
      <p:sp>
        <p:nvSpPr>
          <p:cNvPr id="60428" name="Text Box 12"/>
          <p:cNvSpPr txBox="1">
            <a:spLocks noChangeArrowheads="1"/>
          </p:cNvSpPr>
          <p:nvPr/>
        </p:nvSpPr>
        <p:spPr bwMode="auto">
          <a:xfrm>
            <a:off x="5715000" y="4572000"/>
            <a:ext cx="1270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5F5F5F"/>
                </a:solidFill>
              </a:rPr>
              <a:t>P</a:t>
            </a:r>
            <a:r>
              <a:rPr lang="en-US" baseline="-25000">
                <a:solidFill>
                  <a:srgbClr val="5F5F5F"/>
                </a:solidFill>
              </a:rPr>
              <a:t>S</a:t>
            </a:r>
            <a:r>
              <a:rPr lang="en-US">
                <a:solidFill>
                  <a:srgbClr val="5F5F5F"/>
                </a:solidFill>
              </a:rPr>
              <a:t> = $1.00</a:t>
            </a:r>
          </a:p>
          <a:p>
            <a:r>
              <a:rPr lang="en-US">
                <a:solidFill>
                  <a:srgbClr val="5F5F5F"/>
                </a:solidFill>
              </a:rPr>
              <a:t>per pound</a:t>
            </a:r>
          </a:p>
        </p:txBody>
      </p:sp>
      <p:sp>
        <p:nvSpPr>
          <p:cNvPr id="13324" name="Text Box 13"/>
          <p:cNvSpPr txBox="1">
            <a:spLocks noChangeArrowheads="1"/>
          </p:cNvSpPr>
          <p:nvPr/>
        </p:nvSpPr>
        <p:spPr bwMode="auto">
          <a:xfrm>
            <a:off x="8686800" y="4648200"/>
            <a:ext cx="12128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5F5F5F"/>
                </a:solidFill>
              </a:rPr>
              <a:t>P</a:t>
            </a:r>
            <a:r>
              <a:rPr lang="en-US" baseline="-25000">
                <a:solidFill>
                  <a:srgbClr val="5F5F5F"/>
                </a:solidFill>
              </a:rPr>
              <a:t>S</a:t>
            </a:r>
            <a:r>
              <a:rPr lang="en-US">
                <a:solidFill>
                  <a:srgbClr val="5F5F5F"/>
                </a:solidFill>
              </a:rPr>
              <a:t> = $.50</a:t>
            </a:r>
          </a:p>
          <a:p>
            <a:r>
              <a:rPr lang="en-US">
                <a:solidFill>
                  <a:srgbClr val="5F5F5F"/>
                </a:solidFill>
              </a:rPr>
              <a:t>per pound</a:t>
            </a:r>
          </a:p>
        </p:txBody>
      </p:sp>
      <p:sp>
        <p:nvSpPr>
          <p:cNvPr id="60430" name="Text Box 14"/>
          <p:cNvSpPr txBox="1">
            <a:spLocks noChangeArrowheads="1"/>
          </p:cNvSpPr>
          <p:nvPr/>
        </p:nvSpPr>
        <p:spPr bwMode="auto">
          <a:xfrm>
            <a:off x="5943600" y="5715001"/>
            <a:ext cx="49629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100</a:t>
            </a:r>
          </a:p>
        </p:txBody>
      </p:sp>
      <p:sp>
        <p:nvSpPr>
          <p:cNvPr id="13326" name="Text Box 15"/>
          <p:cNvSpPr txBox="1">
            <a:spLocks noChangeArrowheads="1"/>
          </p:cNvSpPr>
          <p:nvPr/>
        </p:nvSpPr>
        <p:spPr bwMode="auto">
          <a:xfrm>
            <a:off x="3276600" y="1905001"/>
            <a:ext cx="28565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A</a:t>
            </a:r>
          </a:p>
        </p:txBody>
      </p:sp>
      <p:sp>
        <p:nvSpPr>
          <p:cNvPr id="13327" name="Text Box 16"/>
          <p:cNvSpPr txBox="1">
            <a:spLocks noChangeArrowheads="1"/>
          </p:cNvSpPr>
          <p:nvPr/>
        </p:nvSpPr>
        <p:spPr bwMode="auto">
          <a:xfrm>
            <a:off x="9525000" y="5424489"/>
            <a:ext cx="28725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S</a:t>
            </a:r>
          </a:p>
        </p:txBody>
      </p:sp>
      <p:sp>
        <p:nvSpPr>
          <p:cNvPr id="13329" name="Rectangle 17"/>
          <p:cNvSpPr>
            <a:spLocks noChangeArrowheads="1"/>
          </p:cNvSpPr>
          <p:nvPr/>
        </p:nvSpPr>
        <p:spPr bwMode="auto">
          <a:xfrm>
            <a:off x="11169610" y="6125289"/>
            <a:ext cx="260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F471D5C6-4C67-424F-B337-3EC7ABDABE66}" type="slidenum">
              <a:rPr lang="en-US" sz="1000" smtClean="0"/>
              <a:pPr/>
              <a:t>9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0046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3" grpId="0" animBg="1"/>
      <p:bldP spid="60428" grpId="0"/>
      <p:bldP spid="604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Optimal Input Mix</a:t>
            </a:r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057399" y="1905000"/>
            <a:ext cx="8626033" cy="431868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sz="3600" i="1" dirty="0">
                <a:solidFill>
                  <a:srgbClr val="002060"/>
                </a:solidFill>
              </a:rPr>
              <a:t>Equilibrium occurs when the isoquant curve is </a:t>
            </a:r>
            <a:r>
              <a:rPr lang="en-US" sz="3600" i="1" u="sng" dirty="0">
                <a:solidFill>
                  <a:srgbClr val="002060"/>
                </a:solidFill>
              </a:rPr>
              <a:t>tangent</a:t>
            </a:r>
            <a:r>
              <a:rPr lang="en-US" sz="3600" i="1" dirty="0">
                <a:solidFill>
                  <a:srgbClr val="002060"/>
                </a:solidFill>
              </a:rPr>
              <a:t> to the isocost curve</a:t>
            </a:r>
          </a:p>
          <a:p>
            <a:pPr eaLnBrk="1" hangingPunct="1">
              <a:lnSpc>
                <a:spcPct val="90000"/>
              </a:lnSpc>
            </a:pPr>
            <a:r>
              <a:rPr lang="en-US" sz="3600" i="1" dirty="0">
                <a:solidFill>
                  <a:srgbClr val="002060"/>
                </a:solidFill>
              </a:rPr>
              <a:t>If the </a:t>
            </a:r>
            <a:r>
              <a:rPr lang="en-US" sz="3600" i="1" u="sng" dirty="0">
                <a:solidFill>
                  <a:srgbClr val="002060"/>
                </a:solidFill>
              </a:rPr>
              <a:t>price</a:t>
            </a:r>
            <a:r>
              <a:rPr lang="en-US" sz="3600" i="1" dirty="0">
                <a:solidFill>
                  <a:srgbClr val="002060"/>
                </a:solidFill>
              </a:rPr>
              <a:t> of one input increases, the firm will </a:t>
            </a:r>
            <a:r>
              <a:rPr lang="en-US" sz="3600" i="1" u="sng" dirty="0">
                <a:solidFill>
                  <a:srgbClr val="002060"/>
                </a:solidFill>
              </a:rPr>
              <a:t>reduce</a:t>
            </a:r>
            <a:r>
              <a:rPr lang="en-US" sz="3600" i="1" dirty="0">
                <a:solidFill>
                  <a:srgbClr val="002060"/>
                </a:solidFill>
              </a:rPr>
              <a:t> its use and </a:t>
            </a:r>
            <a:r>
              <a:rPr lang="en-US" sz="3600" i="1" u="sng" dirty="0">
                <a:solidFill>
                  <a:srgbClr val="002060"/>
                </a:solidFill>
              </a:rPr>
              <a:t>substitute</a:t>
            </a:r>
            <a:r>
              <a:rPr lang="en-US" sz="3600" i="1" dirty="0">
                <a:solidFill>
                  <a:srgbClr val="002060"/>
                </a:solidFill>
              </a:rPr>
              <a:t> relatively cheaper inputs in its place </a:t>
            </a:r>
            <a:r>
              <a:rPr lang="en-US" sz="3600" dirty="0">
                <a:solidFill>
                  <a:srgbClr val="002060"/>
                </a:solidFill>
              </a:rPr>
              <a:t>– remember; </a:t>
            </a:r>
            <a:r>
              <a:rPr lang="en-US" sz="3600" dirty="0">
                <a:solidFill>
                  <a:srgbClr val="006600"/>
                </a:solidFill>
              </a:rPr>
              <a:t>prices as a social coordination mechanism (Coase)! </a:t>
            </a:r>
            <a:endParaRPr lang="en-US" sz="3600" i="1" dirty="0">
              <a:solidFill>
                <a:srgbClr val="006600"/>
              </a:solidFill>
            </a:endParaRP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11435666" y="5977461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559B487C-C803-4DFF-9588-B24817A86574}" type="slidenum">
              <a:rPr lang="en-US" sz="1000" smtClean="0"/>
              <a:pPr/>
              <a:t>10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92814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838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Optimal Input Mix Input Price Changes</a:t>
            </a:r>
          </a:p>
        </p:txBody>
      </p:sp>
      <p:sp>
        <p:nvSpPr>
          <p:cNvPr id="16387" name="Line 4"/>
          <p:cNvSpPr>
            <a:spLocks noChangeShapeType="1"/>
          </p:cNvSpPr>
          <p:nvPr/>
        </p:nvSpPr>
        <p:spPr bwMode="auto">
          <a:xfrm>
            <a:off x="4191000" y="2133600"/>
            <a:ext cx="0" cy="373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6388" name="Line 5"/>
          <p:cNvSpPr>
            <a:spLocks noChangeShapeType="1"/>
          </p:cNvSpPr>
          <p:nvPr/>
        </p:nvSpPr>
        <p:spPr bwMode="auto">
          <a:xfrm>
            <a:off x="4191000" y="5867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64518" name="Line 6"/>
          <p:cNvSpPr>
            <a:spLocks noChangeShapeType="1"/>
          </p:cNvSpPr>
          <p:nvPr/>
        </p:nvSpPr>
        <p:spPr bwMode="auto">
          <a:xfrm>
            <a:off x="4267200" y="2438400"/>
            <a:ext cx="2209800" cy="342900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6390" name="Line 7"/>
          <p:cNvSpPr>
            <a:spLocks noChangeShapeType="1"/>
          </p:cNvSpPr>
          <p:nvPr/>
        </p:nvSpPr>
        <p:spPr bwMode="auto">
          <a:xfrm>
            <a:off x="4191000" y="3200400"/>
            <a:ext cx="3962400" cy="26670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64520" name="Line 8"/>
          <p:cNvSpPr>
            <a:spLocks noChangeShapeType="1"/>
          </p:cNvSpPr>
          <p:nvPr/>
        </p:nvSpPr>
        <p:spPr bwMode="auto">
          <a:xfrm>
            <a:off x="4191000" y="3276600"/>
            <a:ext cx="609600" cy="0"/>
          </a:xfrm>
          <a:prstGeom prst="line">
            <a:avLst/>
          </a:prstGeom>
          <a:noFill/>
          <a:ln w="19050" cap="rnd">
            <a:solidFill>
              <a:srgbClr val="5F5F5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64521" name="Line 9"/>
          <p:cNvSpPr>
            <a:spLocks noChangeShapeType="1"/>
          </p:cNvSpPr>
          <p:nvPr/>
        </p:nvSpPr>
        <p:spPr bwMode="auto">
          <a:xfrm>
            <a:off x="4800600" y="3276600"/>
            <a:ext cx="0" cy="2590800"/>
          </a:xfrm>
          <a:prstGeom prst="line">
            <a:avLst/>
          </a:prstGeom>
          <a:noFill/>
          <a:ln w="19050" cap="rnd">
            <a:solidFill>
              <a:srgbClr val="5F5F5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6393" name="Line 10"/>
          <p:cNvSpPr>
            <a:spLocks noChangeShapeType="1"/>
          </p:cNvSpPr>
          <p:nvPr/>
        </p:nvSpPr>
        <p:spPr bwMode="auto">
          <a:xfrm>
            <a:off x="4191000" y="4267200"/>
            <a:ext cx="1600200" cy="0"/>
          </a:xfrm>
          <a:prstGeom prst="line">
            <a:avLst/>
          </a:prstGeom>
          <a:noFill/>
          <a:ln w="19050" cap="rnd">
            <a:solidFill>
              <a:srgbClr val="5F5F5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6394" name="Line 11"/>
          <p:cNvSpPr>
            <a:spLocks noChangeShapeType="1"/>
          </p:cNvSpPr>
          <p:nvPr/>
        </p:nvSpPr>
        <p:spPr bwMode="auto">
          <a:xfrm>
            <a:off x="5791200" y="4267200"/>
            <a:ext cx="0" cy="1600200"/>
          </a:xfrm>
          <a:prstGeom prst="line">
            <a:avLst/>
          </a:prstGeom>
          <a:noFill/>
          <a:ln w="19050" cap="rnd">
            <a:solidFill>
              <a:srgbClr val="5F5F5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6395" name="Text Box 12"/>
          <p:cNvSpPr txBox="1">
            <a:spLocks noChangeArrowheads="1"/>
          </p:cNvSpPr>
          <p:nvPr/>
        </p:nvSpPr>
        <p:spPr bwMode="auto">
          <a:xfrm rot="-5400000">
            <a:off x="2601119" y="4080669"/>
            <a:ext cx="18589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 of aluminum</a:t>
            </a:r>
          </a:p>
        </p:txBody>
      </p:sp>
      <p:sp>
        <p:nvSpPr>
          <p:cNvPr id="64525" name="Text Box 13"/>
          <p:cNvSpPr txBox="1">
            <a:spLocks noChangeArrowheads="1"/>
          </p:cNvSpPr>
          <p:nvPr/>
        </p:nvSpPr>
        <p:spPr bwMode="auto">
          <a:xfrm>
            <a:off x="6235701" y="5116513"/>
            <a:ext cx="9333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High steel</a:t>
            </a:r>
          </a:p>
          <a:p>
            <a:r>
              <a:rPr lang="en-US" sz="1400">
                <a:solidFill>
                  <a:srgbClr val="5F5F5F"/>
                </a:solidFill>
              </a:rPr>
              <a:t>price</a:t>
            </a:r>
          </a:p>
        </p:txBody>
      </p:sp>
      <p:sp>
        <p:nvSpPr>
          <p:cNvPr id="16397" name="Text Box 14"/>
          <p:cNvSpPr txBox="1">
            <a:spLocks noChangeArrowheads="1"/>
          </p:cNvSpPr>
          <p:nvPr/>
        </p:nvSpPr>
        <p:spPr bwMode="auto">
          <a:xfrm>
            <a:off x="7696200" y="5029200"/>
            <a:ext cx="93423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Low steel </a:t>
            </a:r>
          </a:p>
          <a:p>
            <a:r>
              <a:rPr lang="en-US" sz="1400">
                <a:solidFill>
                  <a:srgbClr val="5F5F5F"/>
                </a:solidFill>
              </a:rPr>
              <a:t>price</a:t>
            </a:r>
          </a:p>
        </p:txBody>
      </p:sp>
      <p:sp>
        <p:nvSpPr>
          <p:cNvPr id="16398" name="Text Box 15"/>
          <p:cNvSpPr txBox="1">
            <a:spLocks noChangeArrowheads="1"/>
          </p:cNvSpPr>
          <p:nvPr/>
        </p:nvSpPr>
        <p:spPr bwMode="auto">
          <a:xfrm>
            <a:off x="5661026" y="6156325"/>
            <a:ext cx="14652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 of steel</a:t>
            </a:r>
          </a:p>
        </p:txBody>
      </p:sp>
      <p:sp>
        <p:nvSpPr>
          <p:cNvPr id="16399" name="Text Box 16"/>
          <p:cNvSpPr txBox="1">
            <a:spLocks noChangeArrowheads="1"/>
          </p:cNvSpPr>
          <p:nvPr/>
        </p:nvSpPr>
        <p:spPr bwMode="auto">
          <a:xfrm>
            <a:off x="8578850" y="5653089"/>
            <a:ext cx="28725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S</a:t>
            </a:r>
          </a:p>
        </p:txBody>
      </p:sp>
      <p:sp>
        <p:nvSpPr>
          <p:cNvPr id="64529" name="Text Box 17"/>
          <p:cNvSpPr txBox="1">
            <a:spLocks noChangeArrowheads="1"/>
          </p:cNvSpPr>
          <p:nvPr/>
        </p:nvSpPr>
        <p:spPr bwMode="auto">
          <a:xfrm>
            <a:off x="4572001" y="5867400"/>
            <a:ext cx="3667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S</a:t>
            </a:r>
            <a:r>
              <a:rPr lang="en-US" sz="1400" i="1" baseline="-25000">
                <a:solidFill>
                  <a:srgbClr val="5F5F5F"/>
                </a:solidFill>
              </a:rPr>
              <a:t>2</a:t>
            </a:r>
            <a:endParaRPr lang="en-US" sz="1400" i="1">
              <a:solidFill>
                <a:srgbClr val="5F5F5F"/>
              </a:solidFill>
            </a:endParaRPr>
          </a:p>
        </p:txBody>
      </p:sp>
      <p:sp>
        <p:nvSpPr>
          <p:cNvPr id="16401" name="Text Box 18"/>
          <p:cNvSpPr txBox="1">
            <a:spLocks noChangeArrowheads="1"/>
          </p:cNvSpPr>
          <p:nvPr/>
        </p:nvSpPr>
        <p:spPr bwMode="auto">
          <a:xfrm>
            <a:off x="5622926" y="5867400"/>
            <a:ext cx="3667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S</a:t>
            </a:r>
            <a:r>
              <a:rPr lang="en-US" sz="1400" i="1" baseline="-25000">
                <a:solidFill>
                  <a:srgbClr val="5F5F5F"/>
                </a:solidFill>
              </a:rPr>
              <a:t>1</a:t>
            </a:r>
            <a:endParaRPr lang="en-US" sz="1400" i="1">
              <a:solidFill>
                <a:srgbClr val="5F5F5F"/>
              </a:solidFill>
            </a:endParaRPr>
          </a:p>
        </p:txBody>
      </p:sp>
      <p:sp>
        <p:nvSpPr>
          <p:cNvPr id="64531" name="Text Box 19"/>
          <p:cNvSpPr txBox="1">
            <a:spLocks noChangeArrowheads="1"/>
          </p:cNvSpPr>
          <p:nvPr/>
        </p:nvSpPr>
        <p:spPr bwMode="auto">
          <a:xfrm>
            <a:off x="3810001" y="3124200"/>
            <a:ext cx="3667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A</a:t>
            </a:r>
            <a:r>
              <a:rPr lang="en-US" sz="1400" i="1" baseline="-25000">
                <a:solidFill>
                  <a:srgbClr val="5F5F5F"/>
                </a:solidFill>
              </a:rPr>
              <a:t>2</a:t>
            </a:r>
            <a:endParaRPr lang="en-US" sz="1400" i="1">
              <a:solidFill>
                <a:srgbClr val="5F5F5F"/>
              </a:solidFill>
            </a:endParaRPr>
          </a:p>
        </p:txBody>
      </p:sp>
      <p:sp>
        <p:nvSpPr>
          <p:cNvPr id="16403" name="Text Box 20"/>
          <p:cNvSpPr txBox="1">
            <a:spLocks noChangeArrowheads="1"/>
          </p:cNvSpPr>
          <p:nvPr/>
        </p:nvSpPr>
        <p:spPr bwMode="auto">
          <a:xfrm>
            <a:off x="3794126" y="4083050"/>
            <a:ext cx="3667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A</a:t>
            </a:r>
            <a:r>
              <a:rPr lang="en-US" sz="1400" i="1" baseline="-25000">
                <a:solidFill>
                  <a:srgbClr val="5F5F5F"/>
                </a:solidFill>
              </a:rPr>
              <a:t>1</a:t>
            </a:r>
            <a:endParaRPr lang="en-US" sz="1400" i="1">
              <a:solidFill>
                <a:srgbClr val="5F5F5F"/>
              </a:solidFill>
            </a:endParaRPr>
          </a:p>
        </p:txBody>
      </p:sp>
      <p:sp>
        <p:nvSpPr>
          <p:cNvPr id="16404" name="Text Box 21"/>
          <p:cNvSpPr txBox="1">
            <a:spLocks noChangeArrowheads="1"/>
          </p:cNvSpPr>
          <p:nvPr/>
        </p:nvSpPr>
        <p:spPr bwMode="auto">
          <a:xfrm>
            <a:off x="7502525" y="4464050"/>
            <a:ext cx="4651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Q*</a:t>
            </a:r>
          </a:p>
        </p:txBody>
      </p:sp>
      <p:sp>
        <p:nvSpPr>
          <p:cNvPr id="16405" name="Freeform 22"/>
          <p:cNvSpPr>
            <a:spLocks/>
          </p:cNvSpPr>
          <p:nvPr/>
        </p:nvSpPr>
        <p:spPr bwMode="auto">
          <a:xfrm rot="180282">
            <a:off x="4419600" y="2286000"/>
            <a:ext cx="3124200" cy="2362200"/>
          </a:xfrm>
          <a:custGeom>
            <a:avLst/>
            <a:gdLst>
              <a:gd name="T0" fmla="*/ 0 w 2064"/>
              <a:gd name="T1" fmla="*/ 0 h 1488"/>
              <a:gd name="T2" fmla="*/ 336 w 2064"/>
              <a:gd name="T3" fmla="*/ 768 h 1488"/>
              <a:gd name="T4" fmla="*/ 1152 w 2064"/>
              <a:gd name="T5" fmla="*/ 1344 h 1488"/>
              <a:gd name="T6" fmla="*/ 2064 w 2064"/>
              <a:gd name="T7" fmla="*/ 1488 h 1488"/>
              <a:gd name="T8" fmla="*/ 0 60000 65536"/>
              <a:gd name="T9" fmla="*/ 0 60000 65536"/>
              <a:gd name="T10" fmla="*/ 0 60000 65536"/>
              <a:gd name="T11" fmla="*/ 0 60000 65536"/>
              <a:gd name="T12" fmla="*/ 0 w 2064"/>
              <a:gd name="T13" fmla="*/ 0 h 1488"/>
              <a:gd name="T14" fmla="*/ 2064 w 2064"/>
              <a:gd name="T15" fmla="*/ 1488 h 1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64" h="1488">
                <a:moveTo>
                  <a:pt x="0" y="0"/>
                </a:moveTo>
                <a:cubicBezTo>
                  <a:pt x="72" y="272"/>
                  <a:pt x="144" y="544"/>
                  <a:pt x="336" y="768"/>
                </a:cubicBezTo>
                <a:cubicBezTo>
                  <a:pt x="528" y="992"/>
                  <a:pt x="864" y="1224"/>
                  <a:pt x="1152" y="1344"/>
                </a:cubicBezTo>
                <a:cubicBezTo>
                  <a:pt x="1440" y="1464"/>
                  <a:pt x="1752" y="1476"/>
                  <a:pt x="2064" y="148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16407" name="Rectangle 23"/>
          <p:cNvSpPr>
            <a:spLocks noChangeArrowheads="1"/>
          </p:cNvSpPr>
          <p:nvPr/>
        </p:nvSpPr>
        <p:spPr bwMode="auto">
          <a:xfrm>
            <a:off x="11214462" y="6185614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F9222162-BEC3-49AB-B97B-FB537DD4FA9F}" type="slidenum">
              <a:rPr lang="en-US" sz="1000" smtClean="0"/>
              <a:pPr/>
              <a:t>11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7830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8" grpId="0" animBg="1"/>
      <p:bldP spid="64520" grpId="0" animBg="1"/>
      <p:bldP spid="64521" grpId="0" animBg="1"/>
      <p:bldP spid="64525" grpId="0"/>
      <p:bldP spid="64529" grpId="0"/>
      <p:bldP spid="645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609600"/>
            <a:ext cx="8229600" cy="914400"/>
          </a:xfrm>
        </p:spPr>
        <p:txBody>
          <a:bodyPr/>
          <a:lstStyle/>
          <a:p>
            <a:pPr eaLnBrk="1" hangingPunct="1"/>
            <a:r>
              <a:rPr lang="en-US"/>
              <a:t>Cost Concepts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600200"/>
            <a:ext cx="7772400" cy="48006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200" dirty="0"/>
              <a:t>Total cost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 dirty="0"/>
              <a:t>relation between total cost and output</a:t>
            </a:r>
          </a:p>
          <a:p>
            <a:pPr eaLnBrk="1" hangingPunct="1">
              <a:lnSpc>
                <a:spcPct val="90000"/>
              </a:lnSpc>
            </a:pPr>
            <a:r>
              <a:rPr lang="en-US" sz="3200" dirty="0"/>
              <a:t>Marginal cost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 dirty="0"/>
              <a:t>change in total cost when output rises one unit</a:t>
            </a:r>
          </a:p>
          <a:p>
            <a:pPr eaLnBrk="1" hangingPunct="1">
              <a:lnSpc>
                <a:spcPct val="90000"/>
              </a:lnSpc>
            </a:pPr>
            <a:r>
              <a:rPr lang="en-US" sz="3200" dirty="0"/>
              <a:t>Average cost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 dirty="0"/>
              <a:t>total cost divided by total output</a:t>
            </a:r>
          </a:p>
          <a:p>
            <a:pPr eaLnBrk="1" hangingPunct="1">
              <a:lnSpc>
                <a:spcPct val="90000"/>
              </a:lnSpc>
            </a:pPr>
            <a:r>
              <a:rPr lang="en-US" sz="3200" dirty="0"/>
              <a:t>Opportunity cost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 dirty="0"/>
              <a:t>value of a resource in it next best alternative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11131671" y="6046588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40E94678-0D42-473C-8B97-4AE86B2B95A2}" type="slidenum">
              <a:rPr lang="en-US" sz="1000" smtClean="0"/>
              <a:pPr/>
              <a:t>12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94190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Cost Curves</a:t>
            </a:r>
          </a:p>
        </p:txBody>
      </p:sp>
      <p:grpSp>
        <p:nvGrpSpPr>
          <p:cNvPr id="18462" name="Group 30"/>
          <p:cNvGrpSpPr>
            <a:grpSpLocks/>
          </p:cNvGrpSpPr>
          <p:nvPr/>
        </p:nvGrpSpPr>
        <p:grpSpPr bwMode="auto">
          <a:xfrm>
            <a:off x="4529139" y="1438275"/>
            <a:ext cx="3024187" cy="2446338"/>
            <a:chOff x="249" y="960"/>
            <a:chExt cx="1905" cy="1541"/>
          </a:xfrm>
        </p:grpSpPr>
        <p:sp>
          <p:nvSpPr>
            <p:cNvPr id="18436" name="Line 4"/>
            <p:cNvSpPr>
              <a:spLocks noChangeShapeType="1"/>
            </p:cNvSpPr>
            <p:nvPr/>
          </p:nvSpPr>
          <p:spPr bwMode="auto">
            <a:xfrm>
              <a:off x="570" y="1176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8437" name="Line 5"/>
            <p:cNvSpPr>
              <a:spLocks noChangeShapeType="1"/>
            </p:cNvSpPr>
            <p:nvPr/>
          </p:nvSpPr>
          <p:spPr bwMode="auto">
            <a:xfrm>
              <a:off x="570" y="2424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8438" name="Freeform 6"/>
            <p:cNvSpPr>
              <a:spLocks/>
            </p:cNvSpPr>
            <p:nvPr/>
          </p:nvSpPr>
          <p:spPr bwMode="auto">
            <a:xfrm>
              <a:off x="578" y="1542"/>
              <a:ext cx="977" cy="871"/>
            </a:xfrm>
            <a:custGeom>
              <a:avLst/>
              <a:gdLst/>
              <a:ahLst/>
              <a:cxnLst>
                <a:cxn ang="0">
                  <a:pos x="0" y="871"/>
                </a:cxn>
                <a:cxn ang="0">
                  <a:pos x="57" y="703"/>
                </a:cxn>
                <a:cxn ang="0">
                  <a:pos x="155" y="612"/>
                </a:cxn>
                <a:cxn ang="0">
                  <a:pos x="288" y="569"/>
                </a:cxn>
                <a:cxn ang="0">
                  <a:pos x="464" y="534"/>
                </a:cxn>
                <a:cxn ang="0">
                  <a:pos x="671" y="462"/>
                </a:cxn>
                <a:cxn ang="0">
                  <a:pos x="770" y="381"/>
                </a:cxn>
                <a:cxn ang="0">
                  <a:pos x="854" y="269"/>
                </a:cxn>
                <a:cxn ang="0">
                  <a:pos x="919" y="147"/>
                </a:cxn>
                <a:cxn ang="0">
                  <a:pos x="977" y="0"/>
                </a:cxn>
              </a:cxnLst>
              <a:rect l="0" t="0" r="r" b="b"/>
              <a:pathLst>
                <a:path w="977" h="871">
                  <a:moveTo>
                    <a:pt x="0" y="871"/>
                  </a:moveTo>
                  <a:cubicBezTo>
                    <a:pt x="9" y="843"/>
                    <a:pt x="31" y="746"/>
                    <a:pt x="57" y="703"/>
                  </a:cubicBezTo>
                  <a:cubicBezTo>
                    <a:pt x="83" y="660"/>
                    <a:pt x="117" y="634"/>
                    <a:pt x="155" y="612"/>
                  </a:cubicBezTo>
                  <a:cubicBezTo>
                    <a:pt x="193" y="590"/>
                    <a:pt x="237" y="582"/>
                    <a:pt x="288" y="569"/>
                  </a:cubicBezTo>
                  <a:cubicBezTo>
                    <a:pt x="339" y="556"/>
                    <a:pt x="400" y="552"/>
                    <a:pt x="464" y="534"/>
                  </a:cubicBezTo>
                  <a:cubicBezTo>
                    <a:pt x="528" y="516"/>
                    <a:pt x="620" y="488"/>
                    <a:pt x="671" y="462"/>
                  </a:cubicBezTo>
                  <a:cubicBezTo>
                    <a:pt x="721" y="436"/>
                    <a:pt x="740" y="414"/>
                    <a:pt x="770" y="381"/>
                  </a:cubicBezTo>
                  <a:cubicBezTo>
                    <a:pt x="800" y="349"/>
                    <a:pt x="830" y="307"/>
                    <a:pt x="854" y="269"/>
                  </a:cubicBezTo>
                  <a:cubicBezTo>
                    <a:pt x="879" y="230"/>
                    <a:pt x="899" y="192"/>
                    <a:pt x="919" y="147"/>
                  </a:cubicBezTo>
                  <a:cubicBezTo>
                    <a:pt x="939" y="102"/>
                    <a:pt x="965" y="30"/>
                    <a:pt x="977" y="0"/>
                  </a:cubicBezTo>
                </a:path>
              </a:pathLst>
            </a:custGeom>
            <a:noFill/>
            <a:ln w="25400">
              <a:solidFill>
                <a:srgbClr val="000066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8439" name="Line 7"/>
            <p:cNvSpPr>
              <a:spLocks noChangeShapeType="1"/>
            </p:cNvSpPr>
            <p:nvPr/>
          </p:nvSpPr>
          <p:spPr bwMode="auto">
            <a:xfrm>
              <a:off x="1071" y="1808"/>
              <a:ext cx="0" cy="624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8449" name="Text Box 17"/>
            <p:cNvSpPr txBox="1">
              <a:spLocks noChangeArrowheads="1"/>
            </p:cNvSpPr>
            <p:nvPr/>
          </p:nvSpPr>
          <p:spPr bwMode="auto">
            <a:xfrm rot="16200000">
              <a:off x="-210" y="1674"/>
              <a:ext cx="109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>
                  <a:solidFill>
                    <a:srgbClr val="5F5F5F"/>
                  </a:solidFill>
                </a:rPr>
                <a:t>Total costs (in dollars)</a:t>
              </a:r>
            </a:p>
          </p:txBody>
        </p:sp>
        <p:sp>
          <p:nvSpPr>
            <p:cNvPr id="18450" name="Text Box 18"/>
            <p:cNvSpPr txBox="1">
              <a:spLocks noChangeArrowheads="1"/>
            </p:cNvSpPr>
            <p:nvPr/>
          </p:nvSpPr>
          <p:spPr bwMode="auto">
            <a:xfrm>
              <a:off x="1566" y="1446"/>
              <a:ext cx="57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solidFill>
                    <a:srgbClr val="000066"/>
                  </a:solidFill>
                </a:rPr>
                <a:t>Total cost</a:t>
              </a:r>
            </a:p>
          </p:txBody>
        </p:sp>
        <p:sp>
          <p:nvSpPr>
            <p:cNvPr id="18451" name="Text Box 19"/>
            <p:cNvSpPr txBox="1">
              <a:spLocks noChangeArrowheads="1"/>
            </p:cNvSpPr>
            <p:nvPr/>
          </p:nvSpPr>
          <p:spPr bwMode="auto">
            <a:xfrm>
              <a:off x="1968" y="2328"/>
              <a:ext cx="18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i="1">
                  <a:solidFill>
                    <a:srgbClr val="5F5F5F"/>
                  </a:solidFill>
                </a:rPr>
                <a:t>Q</a:t>
              </a:r>
            </a:p>
          </p:txBody>
        </p:sp>
        <p:sp>
          <p:nvSpPr>
            <p:cNvPr id="18452" name="Text Box 20"/>
            <p:cNvSpPr txBox="1">
              <a:spLocks noChangeArrowheads="1"/>
            </p:cNvSpPr>
            <p:nvPr/>
          </p:nvSpPr>
          <p:spPr bwMode="auto">
            <a:xfrm>
              <a:off x="492" y="960"/>
              <a:ext cx="19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>
                  <a:solidFill>
                    <a:srgbClr val="5F5F5F"/>
                  </a:solidFill>
                </a:rPr>
                <a:t>$</a:t>
              </a:r>
            </a:p>
          </p:txBody>
        </p:sp>
      </p:grpSp>
      <p:grpSp>
        <p:nvGrpSpPr>
          <p:cNvPr id="18461" name="Group 29"/>
          <p:cNvGrpSpPr>
            <a:grpSpLocks/>
          </p:cNvGrpSpPr>
          <p:nvPr/>
        </p:nvGrpSpPr>
        <p:grpSpPr bwMode="auto">
          <a:xfrm>
            <a:off x="4232276" y="3781425"/>
            <a:ext cx="3597275" cy="2789238"/>
            <a:chOff x="2942" y="1596"/>
            <a:chExt cx="2266" cy="1757"/>
          </a:xfrm>
        </p:grpSpPr>
        <p:sp>
          <p:nvSpPr>
            <p:cNvPr id="18440" name="Line 8"/>
            <p:cNvSpPr>
              <a:spLocks noChangeShapeType="1"/>
            </p:cNvSpPr>
            <p:nvPr/>
          </p:nvSpPr>
          <p:spPr bwMode="auto">
            <a:xfrm>
              <a:off x="3436" y="3006"/>
              <a:ext cx="13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8441" name="Line 9"/>
            <p:cNvSpPr>
              <a:spLocks noChangeShapeType="1"/>
            </p:cNvSpPr>
            <p:nvPr/>
          </p:nvSpPr>
          <p:spPr bwMode="auto">
            <a:xfrm>
              <a:off x="3432" y="1773"/>
              <a:ext cx="0" cy="12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8443" name="Freeform 11"/>
            <p:cNvSpPr>
              <a:spLocks/>
            </p:cNvSpPr>
            <p:nvPr/>
          </p:nvSpPr>
          <p:spPr bwMode="auto">
            <a:xfrm>
              <a:off x="3564" y="1944"/>
              <a:ext cx="858" cy="772"/>
            </a:xfrm>
            <a:custGeom>
              <a:avLst/>
              <a:gdLst/>
              <a:ahLst/>
              <a:cxnLst>
                <a:cxn ang="0">
                  <a:pos x="0" y="150"/>
                </a:cxn>
                <a:cxn ang="0">
                  <a:pos x="66" y="414"/>
                </a:cxn>
                <a:cxn ang="0">
                  <a:pos x="150" y="594"/>
                </a:cxn>
                <a:cxn ang="0">
                  <a:pos x="288" y="726"/>
                </a:cxn>
                <a:cxn ang="0">
                  <a:pos x="510" y="714"/>
                </a:cxn>
                <a:cxn ang="0">
                  <a:pos x="720" y="378"/>
                </a:cxn>
                <a:cxn ang="0">
                  <a:pos x="858" y="0"/>
                </a:cxn>
              </a:cxnLst>
              <a:rect l="0" t="0" r="r" b="b"/>
              <a:pathLst>
                <a:path w="858" h="772">
                  <a:moveTo>
                    <a:pt x="0" y="150"/>
                  </a:moveTo>
                  <a:cubicBezTo>
                    <a:pt x="11" y="194"/>
                    <a:pt x="41" y="340"/>
                    <a:pt x="66" y="414"/>
                  </a:cubicBezTo>
                  <a:cubicBezTo>
                    <a:pt x="91" y="488"/>
                    <a:pt x="113" y="542"/>
                    <a:pt x="150" y="594"/>
                  </a:cubicBezTo>
                  <a:cubicBezTo>
                    <a:pt x="187" y="646"/>
                    <a:pt x="228" y="706"/>
                    <a:pt x="288" y="726"/>
                  </a:cubicBezTo>
                  <a:cubicBezTo>
                    <a:pt x="348" y="746"/>
                    <a:pt x="438" y="772"/>
                    <a:pt x="510" y="714"/>
                  </a:cubicBezTo>
                  <a:cubicBezTo>
                    <a:pt x="582" y="656"/>
                    <a:pt x="662" y="497"/>
                    <a:pt x="720" y="378"/>
                  </a:cubicBezTo>
                  <a:cubicBezTo>
                    <a:pt x="778" y="259"/>
                    <a:pt x="829" y="79"/>
                    <a:pt x="858" y="0"/>
                  </a:cubicBezTo>
                </a:path>
              </a:pathLst>
            </a:custGeom>
            <a:noFill/>
            <a:ln w="25400">
              <a:solidFill>
                <a:srgbClr val="000066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8444" name="Freeform 12"/>
            <p:cNvSpPr>
              <a:spLocks/>
            </p:cNvSpPr>
            <p:nvPr/>
          </p:nvSpPr>
          <p:spPr bwMode="auto">
            <a:xfrm>
              <a:off x="3642" y="1980"/>
              <a:ext cx="870" cy="64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0" y="420"/>
                </a:cxn>
                <a:cxn ang="0">
                  <a:pos x="330" y="606"/>
                </a:cxn>
                <a:cxn ang="0">
                  <a:pos x="486" y="630"/>
                </a:cxn>
                <a:cxn ang="0">
                  <a:pos x="624" y="552"/>
                </a:cxn>
                <a:cxn ang="0">
                  <a:pos x="768" y="336"/>
                </a:cxn>
                <a:cxn ang="0">
                  <a:pos x="870" y="54"/>
                </a:cxn>
              </a:cxnLst>
              <a:rect l="0" t="0" r="r" b="b"/>
              <a:pathLst>
                <a:path w="870" h="641">
                  <a:moveTo>
                    <a:pt x="0" y="0"/>
                  </a:moveTo>
                  <a:cubicBezTo>
                    <a:pt x="25" y="70"/>
                    <a:pt x="95" y="319"/>
                    <a:pt x="150" y="420"/>
                  </a:cubicBezTo>
                  <a:cubicBezTo>
                    <a:pt x="205" y="521"/>
                    <a:pt x="274" y="571"/>
                    <a:pt x="330" y="606"/>
                  </a:cubicBezTo>
                  <a:cubicBezTo>
                    <a:pt x="386" y="641"/>
                    <a:pt x="437" y="639"/>
                    <a:pt x="486" y="630"/>
                  </a:cubicBezTo>
                  <a:cubicBezTo>
                    <a:pt x="535" y="621"/>
                    <a:pt x="577" y="601"/>
                    <a:pt x="624" y="552"/>
                  </a:cubicBezTo>
                  <a:cubicBezTo>
                    <a:pt x="671" y="503"/>
                    <a:pt x="727" y="419"/>
                    <a:pt x="768" y="336"/>
                  </a:cubicBezTo>
                  <a:cubicBezTo>
                    <a:pt x="809" y="253"/>
                    <a:pt x="849" y="113"/>
                    <a:pt x="870" y="54"/>
                  </a:cubicBezTo>
                </a:path>
              </a:pathLst>
            </a:custGeom>
            <a:noFill/>
            <a:ln w="25400">
              <a:solidFill>
                <a:srgbClr val="FF66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8445" name="Line 13"/>
            <p:cNvSpPr>
              <a:spLocks noChangeShapeType="1"/>
            </p:cNvSpPr>
            <p:nvPr/>
          </p:nvSpPr>
          <p:spPr bwMode="auto">
            <a:xfrm>
              <a:off x="3918" y="2094"/>
              <a:ext cx="0" cy="912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8446" name="Line 14"/>
            <p:cNvSpPr>
              <a:spLocks noChangeShapeType="1"/>
            </p:cNvSpPr>
            <p:nvPr/>
          </p:nvSpPr>
          <p:spPr bwMode="auto">
            <a:xfrm>
              <a:off x="4122" y="2610"/>
              <a:ext cx="0" cy="396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da-DK"/>
            </a:p>
          </p:txBody>
        </p:sp>
        <p:sp>
          <p:nvSpPr>
            <p:cNvPr id="18447" name="Text Box 15"/>
            <p:cNvSpPr txBox="1">
              <a:spLocks noChangeArrowheads="1"/>
            </p:cNvSpPr>
            <p:nvPr/>
          </p:nvSpPr>
          <p:spPr bwMode="auto">
            <a:xfrm>
              <a:off x="3660" y="3180"/>
              <a:ext cx="101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>
                  <a:solidFill>
                    <a:srgbClr val="5F5F5F"/>
                  </a:solidFill>
                </a:rPr>
                <a:t>Quantity of output</a:t>
              </a:r>
            </a:p>
          </p:txBody>
        </p:sp>
        <p:sp>
          <p:nvSpPr>
            <p:cNvPr id="18448" name="Text Box 16"/>
            <p:cNvSpPr txBox="1">
              <a:spLocks noChangeArrowheads="1"/>
            </p:cNvSpPr>
            <p:nvPr/>
          </p:nvSpPr>
          <p:spPr bwMode="auto">
            <a:xfrm rot="16200000">
              <a:off x="2584" y="2169"/>
              <a:ext cx="1062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>
                  <a:solidFill>
                    <a:srgbClr val="5F5F5F"/>
                  </a:solidFill>
                </a:rPr>
                <a:t>Cost per unit of output </a:t>
              </a:r>
            </a:p>
            <a:p>
              <a:pPr algn="ctr">
                <a:spcBef>
                  <a:spcPct val="50000"/>
                </a:spcBef>
              </a:pPr>
              <a:r>
                <a:rPr lang="en-US" sz="1200">
                  <a:solidFill>
                    <a:srgbClr val="5F5F5F"/>
                  </a:solidFill>
                </a:rPr>
                <a:t>(in dollars)</a:t>
              </a:r>
            </a:p>
          </p:txBody>
        </p:sp>
        <p:sp>
          <p:nvSpPr>
            <p:cNvPr id="18454" name="Text Box 22"/>
            <p:cNvSpPr txBox="1">
              <a:spLocks noChangeArrowheads="1"/>
            </p:cNvSpPr>
            <p:nvPr/>
          </p:nvSpPr>
          <p:spPr bwMode="auto">
            <a:xfrm>
              <a:off x="3666" y="1818"/>
              <a:ext cx="76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solidFill>
                    <a:srgbClr val="000066"/>
                  </a:solidFill>
                </a:rPr>
                <a:t>Marginal cost</a:t>
              </a:r>
            </a:p>
          </p:txBody>
        </p:sp>
        <p:sp>
          <p:nvSpPr>
            <p:cNvPr id="18455" name="Text Box 23"/>
            <p:cNvSpPr txBox="1">
              <a:spLocks noChangeArrowheads="1"/>
            </p:cNvSpPr>
            <p:nvPr/>
          </p:nvSpPr>
          <p:spPr bwMode="auto">
            <a:xfrm>
              <a:off x="4452" y="2238"/>
              <a:ext cx="75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solidFill>
                    <a:srgbClr val="FF6600"/>
                  </a:solidFill>
                </a:rPr>
                <a:t>Average cost</a:t>
              </a:r>
            </a:p>
          </p:txBody>
        </p:sp>
        <p:sp>
          <p:nvSpPr>
            <p:cNvPr id="18456" name="Text Box 24"/>
            <p:cNvSpPr txBox="1">
              <a:spLocks noChangeArrowheads="1"/>
            </p:cNvSpPr>
            <p:nvPr/>
          </p:nvSpPr>
          <p:spPr bwMode="auto">
            <a:xfrm>
              <a:off x="3786" y="3006"/>
              <a:ext cx="31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i="1">
                  <a:solidFill>
                    <a:srgbClr val="5F5F5F"/>
                  </a:solidFill>
                </a:rPr>
                <a:t>Q</a:t>
              </a:r>
              <a:r>
                <a:rPr lang="en-US" sz="1200" baseline="-25000">
                  <a:solidFill>
                    <a:srgbClr val="5F5F5F"/>
                  </a:solidFill>
                </a:rPr>
                <a:t>1</a:t>
              </a:r>
            </a:p>
          </p:txBody>
        </p:sp>
        <p:sp>
          <p:nvSpPr>
            <p:cNvPr id="18457" name="Text Box 25"/>
            <p:cNvSpPr txBox="1">
              <a:spLocks noChangeArrowheads="1"/>
            </p:cNvSpPr>
            <p:nvPr/>
          </p:nvSpPr>
          <p:spPr bwMode="auto">
            <a:xfrm>
              <a:off x="4062" y="3006"/>
              <a:ext cx="31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i="1">
                  <a:solidFill>
                    <a:srgbClr val="5F5F5F"/>
                  </a:solidFill>
                </a:rPr>
                <a:t>Q</a:t>
              </a:r>
              <a:r>
                <a:rPr lang="en-US" sz="1200" baseline="-25000">
                  <a:solidFill>
                    <a:srgbClr val="5F5F5F"/>
                  </a:solidFill>
                </a:rPr>
                <a:t>2</a:t>
              </a:r>
            </a:p>
          </p:txBody>
        </p:sp>
        <p:sp>
          <p:nvSpPr>
            <p:cNvPr id="18458" name="Text Box 26"/>
            <p:cNvSpPr txBox="1">
              <a:spLocks noChangeArrowheads="1"/>
            </p:cNvSpPr>
            <p:nvPr/>
          </p:nvSpPr>
          <p:spPr bwMode="auto">
            <a:xfrm>
              <a:off x="4824" y="2928"/>
              <a:ext cx="27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i="1">
                  <a:solidFill>
                    <a:srgbClr val="5F5F5F"/>
                  </a:solidFill>
                </a:rPr>
                <a:t>Q</a:t>
              </a:r>
            </a:p>
          </p:txBody>
        </p:sp>
        <p:sp>
          <p:nvSpPr>
            <p:cNvPr id="18459" name="Text Box 27"/>
            <p:cNvSpPr txBox="1">
              <a:spLocks noChangeArrowheads="1"/>
            </p:cNvSpPr>
            <p:nvPr/>
          </p:nvSpPr>
          <p:spPr bwMode="auto">
            <a:xfrm>
              <a:off x="3360" y="1596"/>
              <a:ext cx="16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>
                  <a:solidFill>
                    <a:srgbClr val="5F5F5F"/>
                  </a:solidFill>
                </a:rPr>
                <a:t>$</a:t>
              </a:r>
            </a:p>
          </p:txBody>
        </p:sp>
      </p:grpSp>
      <p:sp>
        <p:nvSpPr>
          <p:cNvPr id="18464" name="Rectangle 32"/>
          <p:cNvSpPr>
            <a:spLocks noChangeArrowheads="1"/>
          </p:cNvSpPr>
          <p:nvPr/>
        </p:nvSpPr>
        <p:spPr bwMode="auto">
          <a:xfrm>
            <a:off x="11367183" y="6113705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EE565CF9-A1DC-4B49-ABF4-F2BF9D2C382E}" type="slidenum">
              <a:rPr lang="en-US" sz="1000" smtClean="0"/>
              <a:pPr/>
              <a:t>13</a:t>
            </a:fld>
            <a:endParaRPr lang="en-US" sz="1000" dirty="0"/>
          </a:p>
        </p:txBody>
      </p:sp>
      <p:cxnSp>
        <p:nvCxnSpPr>
          <p:cNvPr id="2" name="Lige pilforbindelse 1">
            <a:extLst>
              <a:ext uri="{FF2B5EF4-FFF2-40B4-BE49-F238E27FC236}">
                <a16:creationId xmlns:a16="http://schemas.microsoft.com/office/drawing/2014/main" id="{8DF07541-7A90-9BFC-B650-47547B4E5039}"/>
              </a:ext>
            </a:extLst>
          </p:cNvPr>
          <p:cNvCxnSpPr>
            <a:cxnSpLocks/>
          </p:cNvCxnSpPr>
          <p:nvPr/>
        </p:nvCxnSpPr>
        <p:spPr>
          <a:xfrm flipH="1">
            <a:off x="6343652" y="5390259"/>
            <a:ext cx="3393735" cy="89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kstfelt 4">
            <a:extLst>
              <a:ext uri="{FF2B5EF4-FFF2-40B4-BE49-F238E27FC236}">
                <a16:creationId xmlns:a16="http://schemas.microsoft.com/office/drawing/2014/main" id="{1311D5B7-C704-D438-BA08-58B5FDCD7016}"/>
              </a:ext>
            </a:extLst>
          </p:cNvPr>
          <p:cNvSpPr txBox="1"/>
          <p:nvPr/>
        </p:nvSpPr>
        <p:spPr>
          <a:xfrm>
            <a:off x="9785012" y="5059144"/>
            <a:ext cx="1381125" cy="64633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tx2"/>
                </a:solidFill>
              </a:rPr>
              <a:t>Bemærk og forklar!</a:t>
            </a:r>
          </a:p>
        </p:txBody>
      </p:sp>
    </p:spTree>
    <p:extLst>
      <p:ext uri="{BB962C8B-B14F-4D97-AF65-F5344CB8AC3E}">
        <p14:creationId xmlns:p14="http://schemas.microsoft.com/office/powerpoint/2010/main" val="3535946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533400"/>
            <a:ext cx="7772400" cy="990600"/>
          </a:xfrm>
        </p:spPr>
        <p:txBody>
          <a:bodyPr/>
          <a:lstStyle/>
          <a:p>
            <a:pPr eaLnBrk="1" hangingPunct="1"/>
            <a:r>
              <a:rPr lang="en-US"/>
              <a:t>Short Run versus Long Run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600200"/>
            <a:ext cx="7772400" cy="4648200"/>
          </a:xfrm>
        </p:spPr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sz="3600" dirty="0"/>
              <a:t>Short run</a:t>
            </a:r>
          </a:p>
          <a:p>
            <a:pPr lvl="1" eaLnBrk="1" hangingPunct="1"/>
            <a:r>
              <a:rPr lang="en-US" sz="3600" dirty="0"/>
              <a:t>at least one input is </a:t>
            </a:r>
            <a:r>
              <a:rPr lang="en-US" sz="3600" i="1" dirty="0">
                <a:solidFill>
                  <a:srgbClr val="002060"/>
                </a:solidFill>
              </a:rPr>
              <a:t>fixed</a:t>
            </a:r>
          </a:p>
          <a:p>
            <a:pPr lvl="1" eaLnBrk="1" hangingPunct="1"/>
            <a:r>
              <a:rPr lang="en-US" sz="3600" i="1" dirty="0">
                <a:solidFill>
                  <a:srgbClr val="002060"/>
                </a:solidFill>
              </a:rPr>
              <a:t>cost curves are operating curves</a:t>
            </a:r>
          </a:p>
          <a:p>
            <a:pPr eaLnBrk="1" hangingPunct="1"/>
            <a:r>
              <a:rPr lang="en-US" sz="3600" dirty="0"/>
              <a:t>Long run</a:t>
            </a:r>
          </a:p>
          <a:p>
            <a:pPr lvl="1" eaLnBrk="1" hangingPunct="1"/>
            <a:r>
              <a:rPr lang="en-US" sz="3600" dirty="0"/>
              <a:t>all inputs are </a:t>
            </a:r>
            <a:r>
              <a:rPr lang="en-US" sz="3600" i="1" dirty="0">
                <a:solidFill>
                  <a:srgbClr val="002060"/>
                </a:solidFill>
              </a:rPr>
              <a:t>variable</a:t>
            </a:r>
          </a:p>
          <a:p>
            <a:pPr lvl="1" eaLnBrk="1" hangingPunct="1"/>
            <a:r>
              <a:rPr lang="en-US" sz="3600" i="1" dirty="0">
                <a:solidFill>
                  <a:srgbClr val="002060"/>
                </a:solidFill>
              </a:rPr>
              <a:t>cost curves are planning curves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11169449" y="6002179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7119C28C-94EA-4E0C-AD08-5DBDA911D357}" type="slidenum">
              <a:rPr lang="en-US" sz="1000" smtClean="0"/>
              <a:pPr/>
              <a:t>14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25698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Fixed versus Variable Costs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981200" y="1828801"/>
            <a:ext cx="8229600" cy="4525963"/>
          </a:xfrm>
        </p:spPr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sz="4000" dirty="0"/>
              <a:t>Fixed costs</a:t>
            </a:r>
          </a:p>
          <a:p>
            <a:pPr lvl="1" eaLnBrk="1" hangingPunct="1"/>
            <a:r>
              <a:rPr lang="en-US" sz="4000" dirty="0"/>
              <a:t>incurred even if firm produces nothing</a:t>
            </a:r>
          </a:p>
          <a:p>
            <a:pPr eaLnBrk="1" hangingPunct="1"/>
            <a:r>
              <a:rPr lang="en-US" sz="4000" dirty="0"/>
              <a:t>Variable costs</a:t>
            </a:r>
          </a:p>
          <a:p>
            <a:pPr lvl="1" eaLnBrk="1" hangingPunct="1"/>
            <a:r>
              <a:rPr lang="en-US" sz="4000" dirty="0"/>
              <a:t>change with the level of output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11146300" y="5954312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B1B06C3D-1520-419B-AFCC-13C1E3D48758}" type="slidenum">
              <a:rPr lang="en-US" sz="1000" smtClean="0"/>
              <a:pPr/>
              <a:t>15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72942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609600"/>
            <a:ext cx="8229600" cy="1143000"/>
          </a:xfrm>
        </p:spPr>
        <p:txBody>
          <a:bodyPr/>
          <a:lstStyle/>
          <a:p>
            <a:pPr eaLnBrk="1" hangingPunct="1"/>
            <a:r>
              <a:rPr lang="en-US"/>
              <a:t>Cost Concepts</a:t>
            </a:r>
            <a:r>
              <a:rPr lang="en-US">
                <a:solidFill>
                  <a:srgbClr val="990033"/>
                </a:solidFill>
              </a:rPr>
              <a:t> 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52601"/>
            <a:ext cx="8229600" cy="4525963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FF6600"/>
              </a:solidFill>
            </a:endParaRPr>
          </a:p>
          <a:p>
            <a:pPr eaLnBrk="1" hangingPunct="1"/>
            <a:r>
              <a:rPr lang="en-US" sz="3600" dirty="0">
                <a:solidFill>
                  <a:srgbClr val="002060"/>
                </a:solidFill>
              </a:rPr>
              <a:t>Economies of scale</a:t>
            </a:r>
          </a:p>
          <a:p>
            <a:pPr lvl="1" eaLnBrk="1" hangingPunct="1"/>
            <a:r>
              <a:rPr lang="en-US" sz="3600" dirty="0">
                <a:solidFill>
                  <a:srgbClr val="002060"/>
                </a:solidFill>
              </a:rPr>
              <a:t>Average costs fall as output expands</a:t>
            </a:r>
          </a:p>
          <a:p>
            <a:pPr eaLnBrk="1" hangingPunct="1"/>
            <a:r>
              <a:rPr lang="en-US" sz="3600" dirty="0"/>
              <a:t>Economies of scope</a:t>
            </a:r>
          </a:p>
          <a:p>
            <a:pPr lvl="1" eaLnBrk="1" hangingPunct="1"/>
            <a:r>
              <a:rPr lang="en-US" sz="3600" dirty="0"/>
              <a:t>cost of producing a joint set of </a:t>
            </a:r>
            <a:r>
              <a:rPr lang="en-US" sz="3600" i="1" dirty="0"/>
              <a:t>products</a:t>
            </a:r>
            <a:r>
              <a:rPr lang="en-US" sz="3600" dirty="0"/>
              <a:t> is less than cost of producing separately in separate firms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11030553" y="6032343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31729DA4-1051-41EA-BD60-63ED557BCED1}" type="slidenum">
              <a:rPr lang="en-US" sz="1000" smtClean="0"/>
              <a:pPr/>
              <a:t>16</a:t>
            </a:fld>
            <a:endParaRPr lang="en-US" sz="1000" dirty="0"/>
          </a:p>
        </p:txBody>
      </p:sp>
      <p:sp>
        <p:nvSpPr>
          <p:cNvPr id="2" name="Tekstboks 1"/>
          <p:cNvSpPr txBox="1"/>
          <p:nvPr/>
        </p:nvSpPr>
        <p:spPr>
          <a:xfrm>
            <a:off x="9189156" y="3644628"/>
            <a:ext cx="3002844" cy="369332"/>
          </a:xfrm>
          <a:prstGeom prst="rect">
            <a:avLst/>
          </a:prstGeom>
          <a:solidFill>
            <a:srgbClr val="002060"/>
          </a:solidFill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a-DK" dirty="0">
                <a:solidFill>
                  <a:schemeClr val="bg1"/>
                </a:solidFill>
              </a:rPr>
              <a:t>Ramme p. 176m. – 177m.</a:t>
            </a:r>
          </a:p>
        </p:txBody>
      </p:sp>
      <p:sp>
        <p:nvSpPr>
          <p:cNvPr id="6" name="Tekstboks 1"/>
          <p:cNvSpPr txBox="1"/>
          <p:nvPr/>
        </p:nvSpPr>
        <p:spPr>
          <a:xfrm>
            <a:off x="9471433" y="4278017"/>
            <a:ext cx="2720567" cy="1754326"/>
          </a:xfrm>
          <a:prstGeom prst="rect">
            <a:avLst/>
          </a:prstGeom>
          <a:solidFill>
            <a:srgbClr val="002060"/>
          </a:solidFill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Ex.: </a:t>
            </a:r>
          </a:p>
          <a:p>
            <a:r>
              <a:rPr lang="da-DK" dirty="0">
                <a:solidFill>
                  <a:schemeClr val="bg1"/>
                </a:solidFill>
              </a:rPr>
              <a:t>1) Tulip; pålæg og bacon</a:t>
            </a:r>
          </a:p>
          <a:p>
            <a:r>
              <a:rPr lang="da-DK" dirty="0">
                <a:solidFill>
                  <a:schemeClr val="bg1"/>
                </a:solidFill>
              </a:rPr>
              <a:t>2) PWC; revision og </a:t>
            </a:r>
            <a:r>
              <a:rPr lang="da-DK" dirty="0" err="1">
                <a:solidFill>
                  <a:schemeClr val="bg1"/>
                </a:solidFill>
              </a:rPr>
              <a:t>kon</a:t>
            </a:r>
            <a:r>
              <a:rPr lang="da-DK" dirty="0">
                <a:solidFill>
                  <a:schemeClr val="bg1"/>
                </a:solidFill>
              </a:rPr>
              <a:t>-	</a:t>
            </a:r>
            <a:r>
              <a:rPr lang="da-DK" dirty="0" err="1">
                <a:solidFill>
                  <a:schemeClr val="bg1"/>
                </a:solidFill>
              </a:rPr>
              <a:t>sulentydelser</a:t>
            </a:r>
            <a:endParaRPr lang="da-DK" dirty="0">
              <a:solidFill>
                <a:schemeClr val="bg1"/>
              </a:solidFill>
            </a:endParaRPr>
          </a:p>
          <a:p>
            <a:r>
              <a:rPr lang="da-DK" dirty="0">
                <a:solidFill>
                  <a:schemeClr val="bg1"/>
                </a:solidFill>
              </a:rPr>
              <a:t>3) Alm. Brand; forsikring 	og pension</a:t>
            </a:r>
          </a:p>
        </p:txBody>
      </p:sp>
    </p:spTree>
    <p:extLst>
      <p:ext uri="{BB962C8B-B14F-4D97-AF65-F5344CB8AC3E}">
        <p14:creationId xmlns:p14="http://schemas.microsoft.com/office/powerpoint/2010/main" val="274178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Profit Maximization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05001"/>
            <a:ext cx="8229600" cy="4525963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3600" dirty="0">
                <a:solidFill>
                  <a:srgbClr val="002060"/>
                </a:solidFill>
              </a:rPr>
              <a:t>A firm should increase output as long as marginal revenue exceeds marginal cost</a:t>
            </a:r>
          </a:p>
          <a:p>
            <a:pPr eaLnBrk="1" hangingPunct="1">
              <a:lnSpc>
                <a:spcPct val="90000"/>
              </a:lnSpc>
            </a:pPr>
            <a:r>
              <a:rPr lang="en-US" sz="3600" dirty="0">
                <a:solidFill>
                  <a:srgbClr val="002060"/>
                </a:solidFill>
              </a:rPr>
              <a:t>A firm should not increase output if marginal cost exceeds marginal revenue</a:t>
            </a:r>
          </a:p>
          <a:p>
            <a:pPr eaLnBrk="1" hangingPunct="1">
              <a:lnSpc>
                <a:spcPct val="90000"/>
              </a:lnSpc>
            </a:pPr>
            <a:r>
              <a:rPr lang="en-US" sz="3600" dirty="0">
                <a:solidFill>
                  <a:srgbClr val="002060"/>
                </a:solidFill>
              </a:rPr>
              <a:t>At the profit-maximizing level of output,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3600" i="1" dirty="0">
                <a:solidFill>
                  <a:srgbClr val="002060"/>
                </a:solidFill>
              </a:rPr>
              <a:t>MR = MC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11389368" y="5954312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3460DE98-97B5-4280-A67F-C25A0A073ED7}" type="slidenum">
              <a:rPr lang="en-US" sz="1000" smtClean="0"/>
              <a:pPr/>
              <a:t>17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15273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6324" y="617787"/>
            <a:ext cx="9664981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dirty="0"/>
              <a:t>Optimal Output and Changes in Marginal Cost</a:t>
            </a:r>
          </a:p>
        </p:txBody>
      </p:sp>
      <p:sp>
        <p:nvSpPr>
          <p:cNvPr id="28675" name="Line 4"/>
          <p:cNvSpPr>
            <a:spLocks noChangeShapeType="1"/>
          </p:cNvSpPr>
          <p:nvPr/>
        </p:nvSpPr>
        <p:spPr bwMode="auto">
          <a:xfrm>
            <a:off x="4038600" y="2286000"/>
            <a:ext cx="0" cy="3657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8676" name="Line 5"/>
          <p:cNvSpPr>
            <a:spLocks noChangeShapeType="1"/>
          </p:cNvSpPr>
          <p:nvPr/>
        </p:nvSpPr>
        <p:spPr bwMode="auto">
          <a:xfrm>
            <a:off x="4038600" y="5943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  <p:txBody>
          <a:bodyPr/>
          <a:lstStyle/>
          <a:p>
            <a:endParaRPr lang="da-DK"/>
          </a:p>
        </p:txBody>
      </p:sp>
      <p:sp>
        <p:nvSpPr>
          <p:cNvPr id="28677" name="Line 6"/>
          <p:cNvSpPr>
            <a:spLocks noChangeShapeType="1"/>
          </p:cNvSpPr>
          <p:nvPr/>
        </p:nvSpPr>
        <p:spPr bwMode="auto">
          <a:xfrm>
            <a:off x="4648200" y="2514600"/>
            <a:ext cx="3581400" cy="23622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8678" name="Line 7"/>
          <p:cNvSpPr>
            <a:spLocks noChangeShapeType="1"/>
          </p:cNvSpPr>
          <p:nvPr/>
        </p:nvSpPr>
        <p:spPr bwMode="auto">
          <a:xfrm flipV="1">
            <a:off x="4343400" y="2286000"/>
            <a:ext cx="3124200" cy="2286000"/>
          </a:xfrm>
          <a:prstGeom prst="line">
            <a:avLst/>
          </a:prstGeom>
          <a:noFill/>
          <a:ln w="31750">
            <a:solidFill>
              <a:srgbClr val="000066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 flipV="1">
            <a:off x="4724400" y="2743200"/>
            <a:ext cx="3352800" cy="2362200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8680" name="Line 9"/>
          <p:cNvSpPr>
            <a:spLocks noChangeShapeType="1"/>
          </p:cNvSpPr>
          <p:nvPr/>
        </p:nvSpPr>
        <p:spPr bwMode="auto">
          <a:xfrm>
            <a:off x="5943600" y="3352800"/>
            <a:ext cx="0" cy="2590800"/>
          </a:xfrm>
          <a:prstGeom prst="line">
            <a:avLst/>
          </a:prstGeom>
          <a:noFill/>
          <a:ln w="28575" cap="rnd">
            <a:solidFill>
              <a:srgbClr val="5F5F5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66570" name="Line 10"/>
          <p:cNvSpPr>
            <a:spLocks noChangeShapeType="1"/>
          </p:cNvSpPr>
          <p:nvPr/>
        </p:nvSpPr>
        <p:spPr bwMode="auto">
          <a:xfrm>
            <a:off x="6553200" y="3810000"/>
            <a:ext cx="0" cy="2133600"/>
          </a:xfrm>
          <a:prstGeom prst="line">
            <a:avLst/>
          </a:prstGeom>
          <a:noFill/>
          <a:ln w="28575" cap="rnd">
            <a:solidFill>
              <a:srgbClr val="5F5F5F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  <p:sp>
        <p:nvSpPr>
          <p:cNvPr id="28682" name="Text Box 11"/>
          <p:cNvSpPr txBox="1">
            <a:spLocks noChangeArrowheads="1"/>
          </p:cNvSpPr>
          <p:nvPr/>
        </p:nvSpPr>
        <p:spPr bwMode="auto">
          <a:xfrm rot="-5400000">
            <a:off x="2691856" y="3676184"/>
            <a:ext cx="18394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Cost/revenue per unit</a:t>
            </a:r>
          </a:p>
          <a:p>
            <a:r>
              <a:rPr lang="en-US" sz="1400">
                <a:solidFill>
                  <a:srgbClr val="5F5F5F"/>
                </a:solidFill>
              </a:rPr>
              <a:t>(in dollars)</a:t>
            </a:r>
          </a:p>
        </p:txBody>
      </p:sp>
      <p:sp>
        <p:nvSpPr>
          <p:cNvPr id="28683" name="Text Box 12"/>
          <p:cNvSpPr txBox="1">
            <a:spLocks noChangeArrowheads="1"/>
          </p:cNvSpPr>
          <p:nvPr/>
        </p:nvSpPr>
        <p:spPr bwMode="auto">
          <a:xfrm>
            <a:off x="5318125" y="6259513"/>
            <a:ext cx="15827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Quantity of output</a:t>
            </a:r>
          </a:p>
        </p:txBody>
      </p:sp>
      <p:sp>
        <p:nvSpPr>
          <p:cNvPr id="28684" name="Text Box 13"/>
          <p:cNvSpPr txBox="1">
            <a:spLocks noChangeArrowheads="1"/>
          </p:cNvSpPr>
          <p:nvPr/>
        </p:nvSpPr>
        <p:spPr bwMode="auto">
          <a:xfrm>
            <a:off x="8226425" y="4735514"/>
            <a:ext cx="4411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MR</a:t>
            </a:r>
          </a:p>
        </p:txBody>
      </p:sp>
      <p:sp>
        <p:nvSpPr>
          <p:cNvPr id="66574" name="Text Box 14"/>
          <p:cNvSpPr txBox="1">
            <a:spLocks noChangeArrowheads="1"/>
          </p:cNvSpPr>
          <p:nvPr/>
        </p:nvSpPr>
        <p:spPr bwMode="auto">
          <a:xfrm>
            <a:off x="8077201" y="2514600"/>
            <a:ext cx="52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MC</a:t>
            </a:r>
            <a:r>
              <a:rPr lang="en-US" sz="1400" baseline="-25000">
                <a:solidFill>
                  <a:srgbClr val="5F5F5F"/>
                </a:solidFill>
              </a:rPr>
              <a:t>1</a:t>
            </a:r>
            <a:endParaRPr lang="en-US" sz="1400">
              <a:solidFill>
                <a:srgbClr val="5F5F5F"/>
              </a:solidFill>
            </a:endParaRPr>
          </a:p>
        </p:txBody>
      </p:sp>
      <p:sp>
        <p:nvSpPr>
          <p:cNvPr id="28686" name="Text Box 15"/>
          <p:cNvSpPr txBox="1">
            <a:spLocks noChangeArrowheads="1"/>
          </p:cNvSpPr>
          <p:nvPr/>
        </p:nvSpPr>
        <p:spPr bwMode="auto">
          <a:xfrm>
            <a:off x="7467601" y="2057400"/>
            <a:ext cx="52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MC</a:t>
            </a:r>
            <a:r>
              <a:rPr lang="en-US" sz="1400" baseline="-25000">
                <a:solidFill>
                  <a:srgbClr val="5F5F5F"/>
                </a:solidFill>
              </a:rPr>
              <a:t>0</a:t>
            </a:r>
            <a:endParaRPr lang="en-US" sz="1400">
              <a:solidFill>
                <a:srgbClr val="5F5F5F"/>
              </a:solidFill>
            </a:endParaRPr>
          </a:p>
        </p:txBody>
      </p:sp>
      <p:sp>
        <p:nvSpPr>
          <p:cNvPr id="28687" name="Text Box 16"/>
          <p:cNvSpPr txBox="1">
            <a:spLocks noChangeArrowheads="1"/>
          </p:cNvSpPr>
          <p:nvPr/>
        </p:nvSpPr>
        <p:spPr bwMode="auto">
          <a:xfrm>
            <a:off x="8364538" y="5791201"/>
            <a:ext cx="30008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Q</a:t>
            </a:r>
          </a:p>
        </p:txBody>
      </p:sp>
      <p:sp>
        <p:nvSpPr>
          <p:cNvPr id="66577" name="Text Box 17"/>
          <p:cNvSpPr txBox="1">
            <a:spLocks noChangeArrowheads="1"/>
          </p:cNvSpPr>
          <p:nvPr/>
        </p:nvSpPr>
        <p:spPr bwMode="auto">
          <a:xfrm>
            <a:off x="6400800" y="5943601"/>
            <a:ext cx="3706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Q</a:t>
            </a:r>
            <a:r>
              <a:rPr lang="en-US" sz="1400" i="1" baseline="-25000">
                <a:solidFill>
                  <a:srgbClr val="5F5F5F"/>
                </a:solidFill>
              </a:rPr>
              <a:t>1</a:t>
            </a:r>
            <a:endParaRPr lang="en-US" sz="1400" i="1">
              <a:solidFill>
                <a:srgbClr val="5F5F5F"/>
              </a:solidFill>
            </a:endParaRPr>
          </a:p>
        </p:txBody>
      </p:sp>
      <p:sp>
        <p:nvSpPr>
          <p:cNvPr id="28689" name="Text Box 18"/>
          <p:cNvSpPr txBox="1">
            <a:spLocks noChangeArrowheads="1"/>
          </p:cNvSpPr>
          <p:nvPr/>
        </p:nvSpPr>
        <p:spPr bwMode="auto">
          <a:xfrm>
            <a:off x="5786438" y="5943601"/>
            <a:ext cx="3706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solidFill>
                  <a:srgbClr val="5F5F5F"/>
                </a:solidFill>
              </a:rPr>
              <a:t>Q</a:t>
            </a:r>
            <a:r>
              <a:rPr lang="en-US" sz="1400" i="1" baseline="-25000">
                <a:solidFill>
                  <a:srgbClr val="5F5F5F"/>
                </a:solidFill>
              </a:rPr>
              <a:t>0</a:t>
            </a:r>
            <a:endParaRPr lang="en-US" sz="1400" i="1">
              <a:solidFill>
                <a:srgbClr val="5F5F5F"/>
              </a:solidFill>
            </a:endParaRPr>
          </a:p>
        </p:txBody>
      </p:sp>
      <p:sp>
        <p:nvSpPr>
          <p:cNvPr id="28690" name="Text Box 19"/>
          <p:cNvSpPr txBox="1">
            <a:spLocks noChangeArrowheads="1"/>
          </p:cNvSpPr>
          <p:nvPr/>
        </p:nvSpPr>
        <p:spPr bwMode="auto">
          <a:xfrm>
            <a:off x="3886200" y="1905001"/>
            <a:ext cx="2904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28692" name="Rectangle 20"/>
          <p:cNvSpPr>
            <a:spLocks noChangeArrowheads="1"/>
          </p:cNvSpPr>
          <p:nvPr/>
        </p:nvSpPr>
        <p:spPr bwMode="auto">
          <a:xfrm>
            <a:off x="11097351" y="6005157"/>
            <a:ext cx="66919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fld id="{D77A0385-FC31-43A8-9D44-636122EA0295}" type="slidenum">
              <a:rPr lang="en-US" sz="1000" smtClean="0"/>
              <a:pPr/>
              <a:t>18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4385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8" grpId="0" animBg="1"/>
      <p:bldP spid="66570" grpId="0" animBg="1"/>
      <p:bldP spid="66574" grpId="0"/>
      <p:bldP spid="6657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Factor Demand Curve</a:t>
            </a:r>
          </a:p>
        </p:txBody>
      </p:sp>
      <p:sp>
        <p:nvSpPr>
          <p:cNvPr id="30724" name="Line 4"/>
          <p:cNvSpPr>
            <a:spLocks noChangeShapeType="1"/>
          </p:cNvSpPr>
          <p:nvPr/>
        </p:nvSpPr>
        <p:spPr bwMode="auto">
          <a:xfrm>
            <a:off x="3657600" y="1905000"/>
            <a:ext cx="0" cy="396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30725" name="Line 5"/>
          <p:cNvSpPr>
            <a:spLocks noChangeShapeType="1"/>
          </p:cNvSpPr>
          <p:nvPr/>
        </p:nvSpPr>
        <p:spPr bwMode="auto">
          <a:xfrm>
            <a:off x="3657600" y="5867400"/>
            <a:ext cx="449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>
            <a:off x="3657600" y="3810000"/>
            <a:ext cx="449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30727" name="Line 7"/>
          <p:cNvSpPr>
            <a:spLocks noChangeShapeType="1"/>
          </p:cNvSpPr>
          <p:nvPr/>
        </p:nvSpPr>
        <p:spPr bwMode="auto">
          <a:xfrm>
            <a:off x="4267200" y="2286000"/>
            <a:ext cx="3733800" cy="251460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30728" name="Line 8"/>
          <p:cNvSpPr>
            <a:spLocks noChangeShapeType="1"/>
          </p:cNvSpPr>
          <p:nvPr/>
        </p:nvSpPr>
        <p:spPr bwMode="auto">
          <a:xfrm>
            <a:off x="6477000" y="3810000"/>
            <a:ext cx="0" cy="2057400"/>
          </a:xfrm>
          <a:prstGeom prst="line">
            <a:avLst/>
          </a:prstGeom>
          <a:noFill/>
          <a:ln w="9525">
            <a:solidFill>
              <a:srgbClr val="5F5F5F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da-DK"/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5181600" y="6172200"/>
            <a:ext cx="2209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Quantity of input </a:t>
            </a:r>
            <a:r>
              <a:rPr lang="en-US" sz="1400" i="1">
                <a:solidFill>
                  <a:srgbClr val="5F5F5F"/>
                </a:solidFill>
              </a:rPr>
              <a:t>i</a:t>
            </a: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 rot="16200000">
            <a:off x="1874044" y="3608829"/>
            <a:ext cx="2514600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Cost/revenue per unit of input</a:t>
            </a:r>
          </a:p>
          <a:p>
            <a:pPr algn="ctr"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(in dollars)</a:t>
            </a:r>
          </a:p>
        </p:txBody>
      </p:sp>
      <p:sp>
        <p:nvSpPr>
          <p:cNvPr id="30731" name="Text Box 11"/>
          <p:cNvSpPr txBox="1">
            <a:spLocks noChangeArrowheads="1"/>
          </p:cNvSpPr>
          <p:nvPr/>
        </p:nvSpPr>
        <p:spPr bwMode="auto">
          <a:xfrm>
            <a:off x="6324600" y="5867400"/>
            <a:ext cx="4572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Q</a:t>
            </a:r>
            <a:r>
              <a:rPr lang="en-US" sz="1400" baseline="30000">
                <a:solidFill>
                  <a:srgbClr val="5F5F5F"/>
                </a:solidFill>
              </a:rPr>
              <a:t>*</a:t>
            </a:r>
            <a:r>
              <a:rPr lang="en-US" sz="1400" i="1" baseline="-25000">
                <a:solidFill>
                  <a:srgbClr val="5F5F5F"/>
                </a:solidFill>
              </a:rPr>
              <a:t>i</a:t>
            </a:r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8229600" y="57150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Q</a:t>
            </a:r>
            <a:r>
              <a:rPr lang="en-US" sz="1400" i="1" baseline="-25000">
                <a:solidFill>
                  <a:srgbClr val="5F5F5F"/>
                </a:solidFill>
              </a:rPr>
              <a:t>i</a:t>
            </a:r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8229600" y="3657600"/>
            <a:ext cx="53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P</a:t>
            </a:r>
            <a:r>
              <a:rPr lang="en-US" sz="1400" baseline="30000">
                <a:solidFill>
                  <a:srgbClr val="5F5F5F"/>
                </a:solidFill>
              </a:rPr>
              <a:t>*</a:t>
            </a:r>
            <a:r>
              <a:rPr lang="en-US" sz="1400" i="1" baseline="-25000">
                <a:solidFill>
                  <a:srgbClr val="5F5F5F"/>
                </a:solidFill>
              </a:rPr>
              <a:t>i</a:t>
            </a:r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7391400" y="4038600"/>
            <a:ext cx="762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MRP</a:t>
            </a:r>
            <a:r>
              <a:rPr lang="en-US" sz="1400" baseline="-25000">
                <a:solidFill>
                  <a:srgbClr val="5F5F5F"/>
                </a:solidFill>
              </a:rPr>
              <a:t>i</a:t>
            </a:r>
          </a:p>
        </p:txBody>
      </p:sp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3505200" y="1600200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5F5F5F"/>
                </a:solidFill>
              </a:rPr>
              <a:t>$</a:t>
            </a:r>
          </a:p>
        </p:txBody>
      </p:sp>
      <p:sp>
        <p:nvSpPr>
          <p:cNvPr id="30737" name="Rectangle 17"/>
          <p:cNvSpPr>
            <a:spLocks noChangeArrowheads="1"/>
          </p:cNvSpPr>
          <p:nvPr/>
        </p:nvSpPr>
        <p:spPr bwMode="auto">
          <a:xfrm>
            <a:off x="11412518" y="6041985"/>
            <a:ext cx="33534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1D4E3AB3-835A-4D15-B107-64417F4F399E}" type="slidenum">
              <a:rPr lang="en-US" sz="1000" smtClean="0"/>
              <a:pPr/>
              <a:t>19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94709075"/>
      </p:ext>
    </p:extLst>
  </p:cSld>
  <p:clrMapOvr>
    <a:masterClrMapping/>
  </p:clrMapOvr>
</p:sld>
</file>

<file path=ppt/theme/theme1.xml><?xml version="1.0" encoding="utf-8"?>
<a:theme xmlns:a="http://schemas.openxmlformats.org/drawingml/2006/main" name="Beskæring">
  <a:themeElements>
    <a:clrScheme name="Brugerdefineret 2">
      <a:dk1>
        <a:sysClr val="windowText" lastClr="000000"/>
      </a:dk1>
      <a:lt1>
        <a:sysClr val="window" lastClr="FFFFFF"/>
      </a:lt1>
      <a:dk2>
        <a:srgbClr val="C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eskæring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eskæring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TM10001105[[fn=Beskæring]]</Template>
  <TotalTime>181</TotalTime>
  <Words>653</Words>
  <Application>Microsoft Macintosh PowerPoint</Application>
  <PresentationFormat>Widescreen</PresentationFormat>
  <Paragraphs>171</Paragraphs>
  <Slides>19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Comic Sans MS</vt:lpstr>
      <vt:lpstr>Franklin Gothic Book</vt:lpstr>
      <vt:lpstr>Symbol</vt:lpstr>
      <vt:lpstr>Beskæring</vt:lpstr>
      <vt:lpstr>Equation</vt:lpstr>
      <vt:lpstr>PowerPoint Presentation</vt:lpstr>
      <vt:lpstr>Production Functions</vt:lpstr>
      <vt:lpstr>Returns to Scale</vt:lpstr>
      <vt:lpstr>Returns to a Factor</vt:lpstr>
      <vt:lpstr>Illustrating Production Choices  with Isoquants</vt:lpstr>
      <vt:lpstr>Isoquants</vt:lpstr>
      <vt:lpstr>Differing Input Substitutability Isoquants</vt:lpstr>
      <vt:lpstr>Isocost Lines</vt:lpstr>
      <vt:lpstr>Isocost Lines and Changes in Input Prices</vt:lpstr>
      <vt:lpstr>Optimal Input Mix</vt:lpstr>
      <vt:lpstr>Optimal Input Mix Input Price Changes</vt:lpstr>
      <vt:lpstr>Cost Concepts</vt:lpstr>
      <vt:lpstr>Cost Curves</vt:lpstr>
      <vt:lpstr>Short Run versus Long Run</vt:lpstr>
      <vt:lpstr>Fixed versus Variable Costs</vt:lpstr>
      <vt:lpstr>Cost Concepts </vt:lpstr>
      <vt:lpstr>Profit Maximization</vt:lpstr>
      <vt:lpstr>Optimal Output and Changes in Marginal Cost</vt:lpstr>
      <vt:lpstr>Factor Demand Curve</vt:lpstr>
    </vt:vector>
  </TitlesOfParts>
  <Company>CBS - Copenhagen Business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Tamas Vamosi</dc:creator>
  <cp:lastModifiedBy>Kai Inga Liehr Storm</cp:lastModifiedBy>
  <cp:revision>13</cp:revision>
  <dcterms:created xsi:type="dcterms:W3CDTF">2020-02-07T08:08:37Z</dcterms:created>
  <dcterms:modified xsi:type="dcterms:W3CDTF">2026-01-26T16:28:21Z</dcterms:modified>
</cp:coreProperties>
</file>