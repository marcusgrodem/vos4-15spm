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70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628"/>
    <a:srgbClr val="700000"/>
    <a:srgbClr val="3375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86000" y="16002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Managerial Economics and </a:t>
            </a:r>
          </a:p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Organizational Architecture</a:t>
            </a:r>
            <a:br>
              <a:rPr lang="en-US" sz="32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Chapter 11:  </a:t>
            </a:r>
          </a:p>
          <a:p>
            <a:pPr algn="ctr" eaLnBrk="0" hangingPunct="0"/>
            <a:r>
              <a:rPr lang="en-US" sz="4800" dirty="0">
                <a:solidFill>
                  <a:srgbClr val="000066"/>
                </a:solidFill>
              </a:rPr>
              <a:t>Organizational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902138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B73C468-D875-4A8E-A540-E43BF8232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F6C54-02B2-DCF2-5FD2-60511E5C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885" y="634028"/>
            <a:ext cx="4798243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cap="all"/>
              <a:t>Slido for Jeres input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B4734F2F-19FC-4D35-9BDE-5CEAD57D9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27878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D97A8A26-FD96-4968-A34A-727382AC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D669AFD6-E820-17D2-7A7E-260AD420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4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/>
              <a:t>Organisatorisk</a:t>
            </a:r>
            <a:r>
              <a:rPr lang="en-US" dirty="0"/>
              <a:t> </a:t>
            </a:r>
            <a:r>
              <a:rPr lang="en-US" dirty="0" err="1"/>
              <a:t>Arkitektur</a:t>
            </a:r>
            <a:endParaRPr lang="en-US" dirty="0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1571514" y="6291944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6A57DBB4-534F-4D48-BC59-56DC5CBBEC75}" type="slidenum">
              <a:rPr lang="en-US" sz="1000" smtClean="0"/>
              <a:pPr/>
              <a:t>3</a:t>
            </a:fld>
            <a:endParaRPr lang="en-US" sz="1000" dirty="0"/>
          </a:p>
        </p:txBody>
      </p:sp>
      <p:sp>
        <p:nvSpPr>
          <p:cNvPr id="4" name="Ligebenet trekant 4">
            <a:extLst>
              <a:ext uri="{FF2B5EF4-FFF2-40B4-BE49-F238E27FC236}">
                <a16:creationId xmlns:a16="http://schemas.microsoft.com/office/drawing/2014/main" id="{E27FF42A-5F98-88F7-5779-9692A01AA201}"/>
              </a:ext>
            </a:extLst>
          </p:cNvPr>
          <p:cNvSpPr/>
          <p:nvPr/>
        </p:nvSpPr>
        <p:spPr>
          <a:xfrm>
            <a:off x="4145384" y="2806153"/>
            <a:ext cx="2305050" cy="1676400"/>
          </a:xfrm>
          <a:prstGeom prst="triangle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kstboks 15">
            <a:extLst>
              <a:ext uri="{FF2B5EF4-FFF2-40B4-BE49-F238E27FC236}">
                <a16:creationId xmlns:a16="http://schemas.microsoft.com/office/drawing/2014/main" id="{0578F171-A9E5-CAEA-93BB-4BEB59382A9B}"/>
              </a:ext>
            </a:extLst>
          </p:cNvPr>
          <p:cNvSpPr txBox="1"/>
          <p:nvPr/>
        </p:nvSpPr>
        <p:spPr>
          <a:xfrm>
            <a:off x="3794229" y="2268286"/>
            <a:ext cx="3225165" cy="461665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>
                <a:solidFill>
                  <a:srgbClr val="002060"/>
                </a:solidFill>
              </a:rPr>
              <a:t>Beslutningsretigheder</a:t>
            </a:r>
            <a:endParaRPr lang="da-DK" sz="2400" dirty="0">
              <a:solidFill>
                <a:srgbClr val="002060"/>
              </a:solidFill>
            </a:endParaRPr>
          </a:p>
        </p:txBody>
      </p:sp>
      <p:sp>
        <p:nvSpPr>
          <p:cNvPr id="6" name="Tekstboks 16">
            <a:extLst>
              <a:ext uri="{FF2B5EF4-FFF2-40B4-BE49-F238E27FC236}">
                <a16:creationId xmlns:a16="http://schemas.microsoft.com/office/drawing/2014/main" id="{68D614B2-0A0C-277A-9126-9C38D8EE3C4C}"/>
              </a:ext>
            </a:extLst>
          </p:cNvPr>
          <p:cNvSpPr txBox="1"/>
          <p:nvPr/>
        </p:nvSpPr>
        <p:spPr>
          <a:xfrm>
            <a:off x="1548870" y="4558755"/>
            <a:ext cx="3225164" cy="461665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400" dirty="0">
                <a:solidFill>
                  <a:srgbClr val="002060"/>
                </a:solidFill>
              </a:rPr>
              <a:t>Præstationsevaluering</a:t>
            </a:r>
          </a:p>
        </p:txBody>
      </p:sp>
      <p:sp>
        <p:nvSpPr>
          <p:cNvPr id="7" name="Tekstboks 17">
            <a:extLst>
              <a:ext uri="{FF2B5EF4-FFF2-40B4-BE49-F238E27FC236}">
                <a16:creationId xmlns:a16="http://schemas.microsoft.com/office/drawing/2014/main" id="{E4A894B0-AC2E-3278-2F7D-89713E833483}"/>
              </a:ext>
            </a:extLst>
          </p:cNvPr>
          <p:cNvSpPr txBox="1"/>
          <p:nvPr/>
        </p:nvSpPr>
        <p:spPr>
          <a:xfrm>
            <a:off x="5859884" y="4558755"/>
            <a:ext cx="2495550" cy="461665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400" dirty="0">
                <a:solidFill>
                  <a:srgbClr val="002060"/>
                </a:solidFill>
              </a:rPr>
              <a:t>Belønning/Straf</a:t>
            </a:r>
          </a:p>
        </p:txBody>
      </p:sp>
      <p:pic>
        <p:nvPicPr>
          <p:cNvPr id="1026" name="Picture 2" descr="Broken Three Legged Stool Images – Browse 18 Stock Photos, Vectors, and  Video | Adobe Stock">
            <a:extLst>
              <a:ext uri="{FF2B5EF4-FFF2-40B4-BE49-F238E27FC236}">
                <a16:creationId xmlns:a16="http://schemas.microsoft.com/office/drawing/2014/main" id="{1C849E28-BCE7-C1DC-43CE-7C54CEA3D4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6" t="24125" r="67418" b="32164"/>
          <a:stretch>
            <a:fillRect/>
          </a:stretch>
        </p:blipFill>
        <p:spPr bwMode="auto">
          <a:xfrm>
            <a:off x="10098257" y="1363562"/>
            <a:ext cx="1733265" cy="145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roken Three Legged Stool Images – Browse 18 Stock Photos, Vectors, and  Video | Adobe Stock">
            <a:extLst>
              <a:ext uri="{FF2B5EF4-FFF2-40B4-BE49-F238E27FC236}">
                <a16:creationId xmlns:a16="http://schemas.microsoft.com/office/drawing/2014/main" id="{4A3FECC1-56E7-F3E4-0CB1-F348D2135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0" t="15896" r="32696" b="32164"/>
          <a:stretch>
            <a:fillRect/>
          </a:stretch>
        </p:blipFill>
        <p:spPr bwMode="auto">
          <a:xfrm>
            <a:off x="10098257" y="2914895"/>
            <a:ext cx="1733265" cy="145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roken Three Legged Stool Images – Browse 18 Stock Photos, Vectors, and  Video | Adobe Stock">
            <a:extLst>
              <a:ext uri="{FF2B5EF4-FFF2-40B4-BE49-F238E27FC236}">
                <a16:creationId xmlns:a16="http://schemas.microsoft.com/office/drawing/2014/main" id="{CD9E5C52-3D4A-915B-8495-062532C16A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52" t="15896" r="5001" b="32164"/>
          <a:stretch>
            <a:fillRect/>
          </a:stretch>
        </p:blipFill>
        <p:spPr bwMode="auto">
          <a:xfrm>
            <a:off x="10098257" y="4474930"/>
            <a:ext cx="1733265" cy="166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43C4F5-0BF2-FDE7-1933-8E132A3FE806}"/>
              </a:ext>
            </a:extLst>
          </p:cNvPr>
          <p:cNvSpPr txBox="1"/>
          <p:nvPr/>
        </p:nvSpPr>
        <p:spPr>
          <a:xfrm>
            <a:off x="9914761" y="6155622"/>
            <a:ext cx="210025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stock.adobe.com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search?k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=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broken+three+legged+stool</a:t>
            </a:r>
            <a:endParaRPr lang="en-US" sz="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E732B-C267-5AB9-BD82-F2B6BD9D4F1D}"/>
              </a:ext>
            </a:extLst>
          </p:cNvPr>
          <p:cNvSpPr txBox="1"/>
          <p:nvPr/>
        </p:nvSpPr>
        <p:spPr>
          <a:xfrm>
            <a:off x="2101755" y="5854890"/>
            <a:ext cx="6403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-&gt; ‘</a:t>
            </a:r>
            <a:r>
              <a:rPr lang="en-US" sz="3600" dirty="0" err="1"/>
              <a:t>Benene</a:t>
            </a:r>
            <a:r>
              <a:rPr lang="en-US" sz="3600" dirty="0"/>
              <a:t>’ </a:t>
            </a:r>
            <a:r>
              <a:rPr lang="en-US" sz="3600" dirty="0" err="1"/>
              <a:t>skal</a:t>
            </a:r>
            <a:r>
              <a:rPr lang="en-US" sz="3600" dirty="0"/>
              <a:t> </a:t>
            </a:r>
            <a:r>
              <a:rPr lang="en-US" sz="3600" dirty="0" err="1"/>
              <a:t>være</a:t>
            </a:r>
            <a:r>
              <a:rPr lang="en-US" sz="3600" dirty="0"/>
              <a:t> </a:t>
            </a:r>
            <a:r>
              <a:rPr lang="en-US" sz="3600" dirty="0" err="1"/>
              <a:t>lige</a:t>
            </a:r>
            <a:r>
              <a:rPr lang="en-US" sz="3600" dirty="0"/>
              <a:t> </a:t>
            </a:r>
            <a:r>
              <a:rPr lang="en-US" sz="3600" dirty="0" err="1"/>
              <a:t>lange</a:t>
            </a:r>
            <a:endParaRPr lang="en-US" sz="3600" dirty="0"/>
          </a:p>
        </p:txBody>
      </p:sp>
      <p:sp>
        <p:nvSpPr>
          <p:cNvPr id="12" name="5-takket stjerne 1">
            <a:extLst>
              <a:ext uri="{FF2B5EF4-FFF2-40B4-BE49-F238E27FC236}">
                <a16:creationId xmlns:a16="http://schemas.microsoft.com/office/drawing/2014/main" id="{163A405C-6B86-B663-E6BC-5AECAEF2C0C8}"/>
              </a:ext>
            </a:extLst>
          </p:cNvPr>
          <p:cNvSpPr/>
          <p:nvPr/>
        </p:nvSpPr>
        <p:spPr>
          <a:xfrm>
            <a:off x="7967718" y="0"/>
            <a:ext cx="2035629" cy="1687285"/>
          </a:xfrm>
          <a:prstGeom prst="star5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47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4822D7F-829B-40F4-2145-95860130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07681AE-32C7-970F-02C8-AC33C650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Fundamental Problem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6DA9B9C-F6DD-B417-0CEC-30783F5FD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9014" y="1517039"/>
            <a:ext cx="6121020" cy="35814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500" dirty="0">
                <a:solidFill>
                  <a:srgbClr val="700000"/>
                </a:solidFill>
              </a:rPr>
              <a:t>Important information for profit maximizing decisions is;  </a:t>
            </a:r>
          </a:p>
          <a:p>
            <a:pPr marL="1044702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>
                <a:solidFill>
                  <a:srgbClr val="700000"/>
                </a:solidFill>
              </a:rPr>
              <a:t>controlled by many individuals</a:t>
            </a:r>
          </a:p>
          <a:p>
            <a:pPr marL="1044702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>
                <a:solidFill>
                  <a:srgbClr val="700000"/>
                </a:solidFill>
              </a:rPr>
              <a:t>may be costly to transfer (specific vs. general knowledge, Jensen &amp; </a:t>
            </a:r>
            <a:r>
              <a:rPr lang="en-US" sz="2500" dirty="0" err="1">
                <a:solidFill>
                  <a:srgbClr val="700000"/>
                </a:solidFill>
              </a:rPr>
              <a:t>Meckling</a:t>
            </a:r>
            <a:r>
              <a:rPr lang="en-US" sz="2500" dirty="0">
                <a:solidFill>
                  <a:srgbClr val="700000"/>
                </a:solidFill>
              </a:rPr>
              <a:t>, 1992, se note 3)</a:t>
            </a:r>
          </a:p>
          <a:p>
            <a:pPr eaLnBrk="1" hangingPunct="1">
              <a:lnSpc>
                <a:spcPct val="90000"/>
              </a:lnSpc>
            </a:pPr>
            <a:r>
              <a:rPr lang="en-US" sz="2500" dirty="0">
                <a:solidFill>
                  <a:srgbClr val="700000"/>
                </a:solidFill>
              </a:rPr>
              <a:t>Decision makers may have incompatible incentives – but a lot of specific, relevant knowledge</a:t>
            </a:r>
          </a:p>
          <a:p>
            <a:pPr eaLnBrk="1" hangingPunct="1">
              <a:lnSpc>
                <a:spcPct val="90000"/>
              </a:lnSpc>
            </a:pPr>
            <a:r>
              <a:rPr lang="en-US" sz="2500" dirty="0">
                <a:solidFill>
                  <a:srgbClr val="700000"/>
                </a:solidFill>
              </a:rPr>
              <a:t>Organizational architecture helps overcome these limitations/dilemmas/alignment of interests</a:t>
            </a:r>
            <a:r>
              <a:rPr lang="en-US" sz="2500" dirty="0">
                <a:solidFill>
                  <a:srgbClr val="70000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85B9ECD-B812-F572-F7CE-5D1076AB1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1514" y="6291944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6A57DBB4-534F-4D48-BC59-56DC5CBBEC75}" type="slidenum">
              <a:rPr lang="en-US" sz="1000" smtClean="0"/>
              <a:pPr/>
              <a:t>4</a:t>
            </a:fld>
            <a:endParaRPr lang="en-US" sz="1000" dirty="0"/>
          </a:p>
        </p:txBody>
      </p:sp>
      <p:pic>
        <p:nvPicPr>
          <p:cNvPr id="2050" name="Picture 2" descr="Nvidia Org Chart &amp; Company Structure Hierarchy — The Information">
            <a:extLst>
              <a:ext uri="{FF2B5EF4-FFF2-40B4-BE49-F238E27FC236}">
                <a16:creationId xmlns:a16="http://schemas.microsoft.com/office/drawing/2014/main" id="{701E76FA-1F0E-06EB-7292-05A33935E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694" y="2179394"/>
            <a:ext cx="4012819" cy="225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9F2775-DDEC-10E5-1429-8E17F5FD1629}"/>
              </a:ext>
            </a:extLst>
          </p:cNvPr>
          <p:cNvSpPr txBox="1"/>
          <p:nvPr/>
        </p:nvSpPr>
        <p:spPr>
          <a:xfrm>
            <a:off x="8025694" y="4436083"/>
            <a:ext cx="270298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Kilde: https://</a:t>
            </a:r>
            <a:r>
              <a:rPr lang="en-US" sz="500" dirty="0" err="1"/>
              <a:t>www.theinformation.com</a:t>
            </a:r>
            <a:r>
              <a:rPr lang="en-US" sz="500" dirty="0"/>
              <a:t>/org-charts/</a:t>
            </a:r>
            <a:r>
              <a:rPr lang="en-US" sz="500" dirty="0" err="1"/>
              <a:t>nvidia?selected_employee</a:t>
            </a:r>
            <a:r>
              <a:rPr lang="en-US" sz="500" dirty="0"/>
              <a:t>=</a:t>
            </a:r>
            <a:r>
              <a:rPr lang="en-US" sz="500" dirty="0" err="1"/>
              <a:t>jensen-huang</a:t>
            </a:r>
            <a:endParaRPr lang="en-US" sz="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1AA40-00EE-841D-FC3D-79C53B493FF4}"/>
              </a:ext>
            </a:extLst>
          </p:cNvPr>
          <p:cNvSpPr txBox="1"/>
          <p:nvPr/>
        </p:nvSpPr>
        <p:spPr>
          <a:xfrm>
            <a:off x="9156061" y="1825451"/>
            <a:ext cx="175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 chart Nvidia</a:t>
            </a:r>
          </a:p>
        </p:txBody>
      </p:sp>
    </p:spTree>
    <p:extLst>
      <p:ext uri="{BB962C8B-B14F-4D97-AF65-F5344CB8AC3E}">
        <p14:creationId xmlns:p14="http://schemas.microsoft.com/office/powerpoint/2010/main" val="231705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Architecture Within Firms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1"/>
            <a:ext cx="8077200" cy="4525963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rgbClr val="700000"/>
                </a:solidFill>
              </a:rPr>
              <a:t>In markets</a:t>
            </a:r>
            <a:r>
              <a:rPr lang="en-US" sz="2400" dirty="0">
                <a:solidFill>
                  <a:srgbClr val="700000"/>
                </a:solidFill>
              </a:rPr>
              <a:t> the price system solve a) information and incentive problems, and b) efficient </a:t>
            </a:r>
            <a:r>
              <a:rPr lang="en-US" sz="2400" u="sng" dirty="0">
                <a:solidFill>
                  <a:srgbClr val="700000"/>
                </a:solidFill>
              </a:rPr>
              <a:t>resource use</a:t>
            </a:r>
            <a:r>
              <a:rPr lang="en-US" sz="2400" dirty="0">
                <a:solidFill>
                  <a:srgbClr val="700000"/>
                </a:solidFill>
              </a:rPr>
              <a:t> due to ownership!</a:t>
            </a:r>
          </a:p>
          <a:p>
            <a:pPr eaLnBrk="1" hangingPunct="1"/>
            <a:r>
              <a:rPr lang="en-US" sz="2400" u="sng" dirty="0">
                <a:solidFill>
                  <a:srgbClr val="1E4628"/>
                </a:solidFill>
              </a:rPr>
              <a:t>Within firms</a:t>
            </a:r>
            <a:r>
              <a:rPr lang="en-US" sz="2400" dirty="0">
                <a:solidFill>
                  <a:srgbClr val="1E4628"/>
                </a:solidFill>
              </a:rPr>
              <a:t>:</a:t>
            </a:r>
          </a:p>
          <a:p>
            <a:pPr lvl="2"/>
            <a:r>
              <a:rPr lang="en-US" sz="2000" u="sng" dirty="0">
                <a:solidFill>
                  <a:srgbClr val="1E4628"/>
                </a:solidFill>
              </a:rPr>
              <a:t>Decision-rights are assigned </a:t>
            </a:r>
          </a:p>
          <a:p>
            <a:pPr lvl="3"/>
            <a:r>
              <a:rPr lang="en-US" sz="2000" dirty="0">
                <a:solidFill>
                  <a:srgbClr val="1E4628"/>
                </a:solidFill>
              </a:rPr>
              <a:t>Empowering employees</a:t>
            </a:r>
          </a:p>
          <a:p>
            <a:pPr lvl="3"/>
            <a:r>
              <a:rPr lang="en-US" sz="2000" dirty="0">
                <a:solidFill>
                  <a:srgbClr val="1E4628"/>
                </a:solidFill>
              </a:rPr>
              <a:t>A control system is required</a:t>
            </a:r>
            <a:endParaRPr lang="en-US" dirty="0">
              <a:solidFill>
                <a:srgbClr val="1E4628"/>
              </a:solidFill>
            </a:endParaRPr>
          </a:p>
          <a:p>
            <a:pPr lvl="3"/>
            <a:r>
              <a:rPr lang="en-US" sz="2000" dirty="0">
                <a:solidFill>
                  <a:srgbClr val="1E4628"/>
                </a:solidFill>
              </a:rPr>
              <a:t>Employees are </a:t>
            </a:r>
            <a:r>
              <a:rPr lang="en-US" sz="2000" u="sng" dirty="0">
                <a:solidFill>
                  <a:srgbClr val="1E4628"/>
                </a:solidFill>
              </a:rPr>
              <a:t>granted </a:t>
            </a:r>
            <a:r>
              <a:rPr lang="en-US" sz="2000" dirty="0">
                <a:solidFill>
                  <a:srgbClr val="1E4628"/>
                </a:solidFill>
              </a:rPr>
              <a:t>authority over resources</a:t>
            </a:r>
          </a:p>
          <a:p>
            <a:pPr lvl="3"/>
            <a:r>
              <a:rPr lang="en-US" sz="2000" dirty="0">
                <a:solidFill>
                  <a:srgbClr val="1E4628"/>
                </a:solidFill>
              </a:rPr>
              <a:t>Incentives may be misaligned (when decentralizing decision rights)</a:t>
            </a:r>
          </a:p>
          <a:p>
            <a:pPr lvl="2" eaLnBrk="1" hangingPunct="1"/>
            <a:r>
              <a:rPr lang="en-US" sz="2000" u="sng" dirty="0">
                <a:solidFill>
                  <a:srgbClr val="1E4628"/>
                </a:solidFill>
              </a:rPr>
              <a:t>To align incentives managers must develop a reward and performance evaluation system</a:t>
            </a:r>
          </a:p>
          <a:p>
            <a:pPr lvl="2" eaLnBrk="1" hangingPunct="1"/>
            <a:r>
              <a:rPr lang="en-US" sz="2000" dirty="0">
                <a:solidFill>
                  <a:srgbClr val="1E4628"/>
                </a:solidFill>
              </a:rPr>
              <a:t>Many P/A-relations!</a:t>
            </a:r>
          </a:p>
          <a:p>
            <a:pPr eaLnBrk="1" hangingPunct="1"/>
            <a:endParaRPr lang="en-US" dirty="0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1627192" y="631400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DD73A546-6A1F-4949-9BC1-C53D028D514A}" type="slidenum">
              <a:rPr lang="en-US" sz="1000" smtClean="0"/>
              <a:pPr/>
              <a:t>5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10210800" y="2743200"/>
            <a:ext cx="1955801" cy="923330"/>
          </a:xfrm>
          <a:prstGeom prst="rect">
            <a:avLst/>
          </a:prstGeom>
          <a:solidFill>
            <a:srgbClr val="005828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Ramme:</a:t>
            </a:r>
          </a:p>
          <a:p>
            <a:pPr marL="342900" indent="-342900">
              <a:buAutoNum type="arabicParenR"/>
            </a:pPr>
            <a:r>
              <a:rPr lang="da-DK" dirty="0">
                <a:solidFill>
                  <a:schemeClr val="bg1"/>
                </a:solidFill>
              </a:rPr>
              <a:t>353 – 354!</a:t>
            </a:r>
          </a:p>
          <a:p>
            <a:r>
              <a:rPr lang="da-DK" dirty="0">
                <a:solidFill>
                  <a:schemeClr val="bg1"/>
                </a:solidFill>
              </a:rPr>
              <a:t>2)  356m.!</a:t>
            </a:r>
          </a:p>
        </p:txBody>
      </p:sp>
      <p:sp>
        <p:nvSpPr>
          <p:cNvPr id="2" name="Ligebenet trekant 1"/>
          <p:cNvSpPr/>
          <p:nvPr/>
        </p:nvSpPr>
        <p:spPr>
          <a:xfrm>
            <a:off x="7772400" y="5699126"/>
            <a:ext cx="228600" cy="244475"/>
          </a:xfrm>
          <a:prstGeom prst="triangl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Ligebenet trekant 8"/>
          <p:cNvSpPr/>
          <p:nvPr/>
        </p:nvSpPr>
        <p:spPr>
          <a:xfrm>
            <a:off x="7620000" y="5989638"/>
            <a:ext cx="228600" cy="244475"/>
          </a:xfrm>
          <a:prstGeom prst="triangl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Ligebenet trekant 9"/>
          <p:cNvSpPr/>
          <p:nvPr/>
        </p:nvSpPr>
        <p:spPr>
          <a:xfrm>
            <a:off x="7924800" y="5989638"/>
            <a:ext cx="228600" cy="244475"/>
          </a:xfrm>
          <a:prstGeom prst="triangl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ekstboks 2"/>
          <p:cNvSpPr txBox="1"/>
          <p:nvPr/>
        </p:nvSpPr>
        <p:spPr>
          <a:xfrm>
            <a:off x="7924800" y="5622964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</a:t>
            </a:r>
          </a:p>
        </p:txBody>
      </p:sp>
      <p:sp>
        <p:nvSpPr>
          <p:cNvPr id="11" name="Tekstboks 10"/>
          <p:cNvSpPr txBox="1"/>
          <p:nvPr/>
        </p:nvSpPr>
        <p:spPr>
          <a:xfrm>
            <a:off x="6819900" y="594467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</a:t>
            </a:r>
          </a:p>
        </p:txBody>
      </p:sp>
      <p:sp>
        <p:nvSpPr>
          <p:cNvPr id="12" name="Tekstboks 11"/>
          <p:cNvSpPr txBox="1"/>
          <p:nvPr/>
        </p:nvSpPr>
        <p:spPr>
          <a:xfrm flipH="1">
            <a:off x="8483599" y="5960545"/>
            <a:ext cx="327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</a:t>
            </a:r>
          </a:p>
        </p:txBody>
      </p:sp>
      <p:sp>
        <p:nvSpPr>
          <p:cNvPr id="13" name="Tekstboks 12"/>
          <p:cNvSpPr txBox="1"/>
          <p:nvPr/>
        </p:nvSpPr>
        <p:spPr>
          <a:xfrm>
            <a:off x="7188200" y="594677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</a:t>
            </a:r>
          </a:p>
        </p:txBody>
      </p:sp>
      <p:sp>
        <p:nvSpPr>
          <p:cNvPr id="14" name="Tekstboks 13"/>
          <p:cNvSpPr txBox="1"/>
          <p:nvPr/>
        </p:nvSpPr>
        <p:spPr>
          <a:xfrm>
            <a:off x="8191500" y="595737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</a:t>
            </a:r>
          </a:p>
        </p:txBody>
      </p:sp>
      <p:sp>
        <p:nvSpPr>
          <p:cNvPr id="15" name="Ligebenet trekant 31"/>
          <p:cNvSpPr/>
          <p:nvPr/>
        </p:nvSpPr>
        <p:spPr>
          <a:xfrm>
            <a:off x="781756" y="3863182"/>
            <a:ext cx="2057400" cy="1295400"/>
          </a:xfrm>
          <a:prstGeom prst="triangl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00B050"/>
              </a:solidFill>
            </a:endParaRPr>
          </a:p>
        </p:txBody>
      </p:sp>
      <p:cxnSp>
        <p:nvCxnSpPr>
          <p:cNvPr id="19" name="Lige pilforbindelse 18"/>
          <p:cNvCxnSpPr/>
          <p:nvPr/>
        </p:nvCxnSpPr>
        <p:spPr>
          <a:xfrm flipH="1">
            <a:off x="1981200" y="3287486"/>
            <a:ext cx="1110344" cy="575695"/>
          </a:xfrm>
          <a:prstGeom prst="straightConnector1">
            <a:avLst/>
          </a:prstGeom>
          <a:ln>
            <a:solidFill>
              <a:srgbClr val="337544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ge pilforbindelse 22"/>
          <p:cNvCxnSpPr/>
          <p:nvPr/>
        </p:nvCxnSpPr>
        <p:spPr>
          <a:xfrm flipH="1" flipV="1">
            <a:off x="838200" y="5246914"/>
            <a:ext cx="2706511" cy="206829"/>
          </a:xfrm>
          <a:prstGeom prst="straightConnector1">
            <a:avLst/>
          </a:prstGeom>
          <a:ln>
            <a:solidFill>
              <a:srgbClr val="337544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ge pilforbindelse 25"/>
          <p:cNvCxnSpPr/>
          <p:nvPr/>
        </p:nvCxnSpPr>
        <p:spPr>
          <a:xfrm flipH="1" flipV="1">
            <a:off x="2952016" y="5128653"/>
            <a:ext cx="5859243" cy="10312"/>
          </a:xfrm>
          <a:prstGeom prst="straightConnector1">
            <a:avLst/>
          </a:prstGeom>
          <a:ln>
            <a:solidFill>
              <a:srgbClr val="337544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ktangel 3">
            <a:extLst>
              <a:ext uri="{FF2B5EF4-FFF2-40B4-BE49-F238E27FC236}">
                <a16:creationId xmlns:a16="http://schemas.microsoft.com/office/drawing/2014/main" id="{0EA38F71-5F71-B1C0-8A6D-8013EA9D8D21}"/>
              </a:ext>
            </a:extLst>
          </p:cNvPr>
          <p:cNvSpPr/>
          <p:nvPr/>
        </p:nvSpPr>
        <p:spPr>
          <a:xfrm>
            <a:off x="6819900" y="5622964"/>
            <a:ext cx="2423688" cy="8412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01E1E7AE-BA7E-B76E-C532-1429BC3596B8}"/>
              </a:ext>
            </a:extLst>
          </p:cNvPr>
          <p:cNvSpPr txBox="1"/>
          <p:nvPr/>
        </p:nvSpPr>
        <p:spPr>
          <a:xfrm>
            <a:off x="1568514" y="1069890"/>
            <a:ext cx="325924" cy="2585323"/>
          </a:xfrm>
          <a:prstGeom prst="rect">
            <a:avLst/>
          </a:prstGeom>
          <a:noFill/>
          <a:ln w="2222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rgbClr val="002060"/>
                </a:solidFill>
              </a:rPr>
              <a:t>Dichotomy</a:t>
            </a:r>
            <a:endParaRPr lang="da-DK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73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66700"/>
            <a:ext cx="8229600" cy="914400"/>
          </a:xfrm>
        </p:spPr>
        <p:txBody>
          <a:bodyPr/>
          <a:lstStyle/>
          <a:p>
            <a:pPr algn="ctr" eaLnBrk="1" hangingPunct="1"/>
            <a:r>
              <a:rPr lang="en-US" dirty="0">
                <a:solidFill>
                  <a:srgbClr val="1E4628"/>
                </a:solidFill>
              </a:rPr>
              <a:t>Determinants of Architecture</a:t>
            </a:r>
          </a:p>
        </p:txBody>
      </p:sp>
      <p:grpSp>
        <p:nvGrpSpPr>
          <p:cNvPr id="5144" name="Group 24"/>
          <p:cNvGrpSpPr>
            <a:grpSpLocks/>
          </p:cNvGrpSpPr>
          <p:nvPr/>
        </p:nvGrpSpPr>
        <p:grpSpPr bwMode="auto">
          <a:xfrm>
            <a:off x="4419600" y="2895600"/>
            <a:ext cx="3505200" cy="1066800"/>
            <a:chOff x="1776" y="1776"/>
            <a:chExt cx="2208" cy="672"/>
          </a:xfrm>
        </p:grpSpPr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1776" y="1776"/>
              <a:ext cx="220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5133" name="Text Box 13"/>
            <p:cNvSpPr txBox="1">
              <a:spLocks noChangeArrowheads="1"/>
            </p:cNvSpPr>
            <p:nvPr/>
          </p:nvSpPr>
          <p:spPr bwMode="auto">
            <a:xfrm>
              <a:off x="1776" y="1776"/>
              <a:ext cx="2208" cy="192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Strategy</a:t>
              </a:r>
            </a:p>
          </p:txBody>
        </p:sp>
        <p:sp>
          <p:nvSpPr>
            <p:cNvPr id="5134" name="Text Box 14"/>
            <p:cNvSpPr txBox="1">
              <a:spLocks noChangeArrowheads="1"/>
            </p:cNvSpPr>
            <p:nvPr/>
          </p:nvSpPr>
          <p:spPr bwMode="auto">
            <a:xfrm>
              <a:off x="2112" y="1968"/>
              <a:ext cx="1632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Char char="•"/>
              </a:pPr>
              <a:r>
                <a:rPr lang="en-US" sz="1400">
                  <a:solidFill>
                    <a:srgbClr val="5F5F5F"/>
                  </a:solidFill>
                </a:rPr>
                <a:t> Choice of industries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Basis for competition 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</a:rPr>
                <a:t>(price, quality, service)</a:t>
              </a:r>
            </a:p>
          </p:txBody>
        </p:sp>
      </p:grpSp>
      <p:grpSp>
        <p:nvGrpSpPr>
          <p:cNvPr id="5143" name="Group 23"/>
          <p:cNvGrpSpPr>
            <a:grpSpLocks/>
          </p:cNvGrpSpPr>
          <p:nvPr/>
        </p:nvGrpSpPr>
        <p:grpSpPr bwMode="auto">
          <a:xfrm>
            <a:off x="3352800" y="1295400"/>
            <a:ext cx="5638800" cy="1295400"/>
            <a:chOff x="1344" y="912"/>
            <a:chExt cx="3552" cy="816"/>
          </a:xfrm>
        </p:grpSpPr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1344" y="912"/>
              <a:ext cx="3552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1344" y="912"/>
              <a:ext cx="3552" cy="192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Business environment</a:t>
              </a:r>
            </a:p>
          </p:txBody>
        </p:sp>
        <p:sp>
          <p:nvSpPr>
            <p:cNvPr id="5132" name="Text Box 12"/>
            <p:cNvSpPr txBox="1">
              <a:spLocks noChangeArrowheads="1"/>
            </p:cNvSpPr>
            <p:nvPr/>
          </p:nvSpPr>
          <p:spPr bwMode="auto">
            <a:xfrm>
              <a:off x="1344" y="1104"/>
              <a:ext cx="1248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>
                  <a:solidFill>
                    <a:srgbClr val="5F5F5F"/>
                  </a:solidFill>
                </a:rPr>
                <a:t>Technology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Computers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Telecommunications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Production methods</a:t>
              </a:r>
            </a:p>
          </p:txBody>
        </p:sp>
        <p:sp>
          <p:nvSpPr>
            <p:cNvPr id="5135" name="Text Box 15"/>
            <p:cNvSpPr txBox="1">
              <a:spLocks noChangeArrowheads="1"/>
            </p:cNvSpPr>
            <p:nvPr/>
          </p:nvSpPr>
          <p:spPr bwMode="auto">
            <a:xfrm>
              <a:off x="2736" y="1104"/>
              <a:ext cx="1008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>
                  <a:solidFill>
                    <a:srgbClr val="5F5F5F"/>
                  </a:solidFill>
                </a:rPr>
                <a:t>Markets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Competitors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Customers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Suppliers</a:t>
              </a:r>
            </a:p>
          </p:txBody>
        </p:sp>
        <p:sp>
          <p:nvSpPr>
            <p:cNvPr id="5136" name="Text Box 16"/>
            <p:cNvSpPr txBox="1">
              <a:spLocks noChangeArrowheads="1"/>
            </p:cNvSpPr>
            <p:nvPr/>
          </p:nvSpPr>
          <p:spPr bwMode="auto">
            <a:xfrm>
              <a:off x="3936" y="1104"/>
              <a:ext cx="960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>
                  <a:solidFill>
                    <a:srgbClr val="5F5F5F"/>
                  </a:solidFill>
                </a:rPr>
                <a:t>Regulation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Taxes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Antitrust</a:t>
              </a:r>
              <a:br>
                <a:rPr lang="en-US" sz="1400">
                  <a:solidFill>
                    <a:srgbClr val="5F5F5F"/>
                  </a:solidFill>
                </a:rPr>
              </a:br>
              <a:r>
                <a:rPr lang="en-US" sz="140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>
                  <a:solidFill>
                    <a:srgbClr val="5F5F5F"/>
                  </a:solidFill>
                </a:rPr>
                <a:t>International</a:t>
              </a:r>
            </a:p>
          </p:txBody>
        </p:sp>
        <p:sp>
          <p:nvSpPr>
            <p:cNvPr id="5137" name="Line 17"/>
            <p:cNvSpPr>
              <a:spLocks noChangeShapeType="1"/>
            </p:cNvSpPr>
            <p:nvPr/>
          </p:nvSpPr>
          <p:spPr bwMode="auto">
            <a:xfrm>
              <a:off x="2544" y="110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5138" name="Line 18"/>
            <p:cNvSpPr>
              <a:spLocks noChangeShapeType="1"/>
            </p:cNvSpPr>
            <p:nvPr/>
          </p:nvSpPr>
          <p:spPr bwMode="auto">
            <a:xfrm>
              <a:off x="3792" y="110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5147" name="Group 27"/>
          <p:cNvGrpSpPr>
            <a:grpSpLocks/>
          </p:cNvGrpSpPr>
          <p:nvPr/>
        </p:nvGrpSpPr>
        <p:grpSpPr bwMode="auto">
          <a:xfrm>
            <a:off x="4724400" y="4267200"/>
            <a:ext cx="2895600" cy="1295400"/>
            <a:chOff x="2112" y="2496"/>
            <a:chExt cx="1824" cy="912"/>
          </a:xfrm>
        </p:grpSpPr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2112" y="2496"/>
              <a:ext cx="1728" cy="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5139" name="Text Box 19"/>
            <p:cNvSpPr txBox="1">
              <a:spLocks noChangeArrowheads="1"/>
            </p:cNvSpPr>
            <p:nvPr/>
          </p:nvSpPr>
          <p:spPr bwMode="auto">
            <a:xfrm>
              <a:off x="2112" y="2496"/>
              <a:ext cx="1728" cy="215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Organizational architecture</a:t>
              </a:r>
            </a:p>
          </p:txBody>
        </p:sp>
        <p:sp>
          <p:nvSpPr>
            <p:cNvPr id="5140" name="Text Box 20"/>
            <p:cNvSpPr txBox="1">
              <a:spLocks noChangeArrowheads="1"/>
            </p:cNvSpPr>
            <p:nvPr/>
          </p:nvSpPr>
          <p:spPr bwMode="auto">
            <a:xfrm>
              <a:off x="2112" y="2784"/>
              <a:ext cx="1824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400" dirty="0">
                  <a:solidFill>
                    <a:srgbClr val="5F5F5F"/>
                  </a:solidFill>
                </a:rPr>
                <a:t>Decision-right assignment</a:t>
              </a:r>
              <a:br>
                <a:rPr lang="en-US" sz="1400" dirty="0">
                  <a:solidFill>
                    <a:srgbClr val="5F5F5F"/>
                  </a:solidFill>
                </a:rPr>
              </a:br>
              <a:r>
                <a:rPr lang="en-US" sz="1400" dirty="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 dirty="0">
                  <a:solidFill>
                    <a:srgbClr val="5F5F5F"/>
                  </a:solidFill>
                </a:rPr>
                <a:t>Reward system</a:t>
              </a:r>
              <a:br>
                <a:rPr lang="en-US" sz="1400" dirty="0">
                  <a:solidFill>
                    <a:srgbClr val="5F5F5F"/>
                  </a:solidFill>
                </a:rPr>
              </a:br>
              <a:r>
                <a:rPr lang="en-US" sz="1400" dirty="0">
                  <a:solidFill>
                    <a:srgbClr val="5F5F5F"/>
                  </a:solidFill>
                  <a:sym typeface="Wingdings" pitchFamily="2" charset="2"/>
                </a:rPr>
                <a:t> </a:t>
              </a:r>
              <a:r>
                <a:rPr lang="en-US" sz="1400" dirty="0">
                  <a:solidFill>
                    <a:srgbClr val="5F5F5F"/>
                  </a:solidFill>
                </a:rPr>
                <a:t>Performance-evaluation system</a:t>
              </a:r>
            </a:p>
          </p:txBody>
        </p:sp>
      </p:grpSp>
      <p:grpSp>
        <p:nvGrpSpPr>
          <p:cNvPr id="5145" name="Group 25"/>
          <p:cNvGrpSpPr>
            <a:grpSpLocks/>
          </p:cNvGrpSpPr>
          <p:nvPr/>
        </p:nvGrpSpPr>
        <p:grpSpPr bwMode="auto">
          <a:xfrm>
            <a:off x="4953000" y="5791200"/>
            <a:ext cx="2438400" cy="304800"/>
            <a:chOff x="2160" y="3552"/>
            <a:chExt cx="1536" cy="192"/>
          </a:xfrm>
        </p:grpSpPr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2160" y="3552"/>
              <a:ext cx="15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5141" name="Text Box 21"/>
            <p:cNvSpPr txBox="1">
              <a:spLocks noChangeArrowheads="1"/>
            </p:cNvSpPr>
            <p:nvPr/>
          </p:nvSpPr>
          <p:spPr bwMode="auto">
            <a:xfrm>
              <a:off x="2160" y="3552"/>
              <a:ext cx="1536" cy="192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Incentives and actions</a:t>
              </a:r>
            </a:p>
          </p:txBody>
        </p:sp>
      </p:grpSp>
      <p:grpSp>
        <p:nvGrpSpPr>
          <p:cNvPr id="5146" name="Group 26"/>
          <p:cNvGrpSpPr>
            <a:grpSpLocks/>
          </p:cNvGrpSpPr>
          <p:nvPr/>
        </p:nvGrpSpPr>
        <p:grpSpPr bwMode="auto">
          <a:xfrm>
            <a:off x="4953000" y="6248400"/>
            <a:ext cx="2438400" cy="304800"/>
            <a:chOff x="2160" y="3792"/>
            <a:chExt cx="1536" cy="192"/>
          </a:xfrm>
        </p:grpSpPr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2160" y="3792"/>
              <a:ext cx="15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5142" name="Text Box 22"/>
            <p:cNvSpPr txBox="1">
              <a:spLocks noChangeArrowheads="1"/>
            </p:cNvSpPr>
            <p:nvPr/>
          </p:nvSpPr>
          <p:spPr bwMode="auto">
            <a:xfrm>
              <a:off x="2160" y="3792"/>
              <a:ext cx="1536" cy="192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Firm value</a:t>
              </a:r>
            </a:p>
          </p:txBody>
        </p:sp>
      </p:grpSp>
      <p:sp>
        <p:nvSpPr>
          <p:cNvPr id="5148" name="Line 28"/>
          <p:cNvSpPr>
            <a:spLocks noChangeShapeType="1"/>
          </p:cNvSpPr>
          <p:nvPr/>
        </p:nvSpPr>
        <p:spPr bwMode="auto">
          <a:xfrm>
            <a:off x="4343400" y="2590800"/>
            <a:ext cx="1219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5149" name="Line 29"/>
          <p:cNvSpPr>
            <a:spLocks noChangeShapeType="1"/>
          </p:cNvSpPr>
          <p:nvPr/>
        </p:nvSpPr>
        <p:spPr bwMode="auto">
          <a:xfrm>
            <a:off x="6172200" y="259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5150" name="Line 30"/>
          <p:cNvSpPr>
            <a:spLocks noChangeShapeType="1"/>
          </p:cNvSpPr>
          <p:nvPr/>
        </p:nvSpPr>
        <p:spPr bwMode="auto">
          <a:xfrm flipH="1">
            <a:off x="6705600" y="25908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cxnSp>
        <p:nvCxnSpPr>
          <p:cNvPr id="5151" name="AutoShape 31"/>
          <p:cNvCxnSpPr>
            <a:cxnSpLocks noChangeShapeType="1"/>
            <a:endCxn id="5128" idx="0"/>
          </p:cNvCxnSpPr>
          <p:nvPr/>
        </p:nvCxnSpPr>
        <p:spPr bwMode="auto">
          <a:xfrm>
            <a:off x="6096000" y="3962400"/>
            <a:ext cx="0" cy="304800"/>
          </a:xfrm>
          <a:prstGeom prst="straightConnector1">
            <a:avLst/>
          </a:prstGeom>
          <a:noFill/>
          <a:ln w="47625">
            <a:solidFill>
              <a:srgbClr val="FFC000"/>
            </a:solidFill>
            <a:round/>
            <a:headEnd type="triangle" w="med" len="med"/>
            <a:tailEnd type="triangle" w="med" len="med"/>
          </a:ln>
          <a:effectLst/>
        </p:spPr>
      </p:cxnSp>
      <p:sp>
        <p:nvSpPr>
          <p:cNvPr id="5152" name="Line 32"/>
          <p:cNvSpPr>
            <a:spLocks noChangeShapeType="1"/>
          </p:cNvSpPr>
          <p:nvPr/>
        </p:nvSpPr>
        <p:spPr bwMode="auto">
          <a:xfrm>
            <a:off x="6096000" y="5562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5153" name="Line 33"/>
          <p:cNvSpPr>
            <a:spLocks noChangeShapeType="1"/>
          </p:cNvSpPr>
          <p:nvPr/>
        </p:nvSpPr>
        <p:spPr bwMode="auto">
          <a:xfrm>
            <a:off x="6096000" y="6096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5154" name="Rectangle 34"/>
          <p:cNvSpPr>
            <a:spLocks noChangeArrowheads="1"/>
          </p:cNvSpPr>
          <p:nvPr/>
        </p:nvSpPr>
        <p:spPr bwMode="auto">
          <a:xfrm>
            <a:off x="11549743" y="643008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D4D950F5-F500-49E4-AB61-A7E512862E10}" type="slidenum">
              <a:rPr lang="en-US" sz="1000" smtClean="0"/>
              <a:pPr/>
              <a:t>6</a:t>
            </a:fld>
            <a:endParaRPr lang="en-US" sz="1000" dirty="0"/>
          </a:p>
        </p:txBody>
      </p:sp>
      <p:sp>
        <p:nvSpPr>
          <p:cNvPr id="32" name="Ligebenet trekant 31"/>
          <p:cNvSpPr/>
          <p:nvPr/>
        </p:nvSpPr>
        <p:spPr>
          <a:xfrm>
            <a:off x="9258300" y="4267200"/>
            <a:ext cx="2057400" cy="1295400"/>
          </a:xfrm>
          <a:prstGeom prst="triangl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00B05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7721600" y="4914900"/>
            <a:ext cx="1384300" cy="1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525000" y="1754078"/>
            <a:ext cx="2641192" cy="646331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a-DK" b="1" u="sng" dirty="0" err="1">
                <a:solidFill>
                  <a:srgbClr val="002060"/>
                </a:solidFill>
              </a:rPr>
              <a:t>Remember</a:t>
            </a:r>
            <a:r>
              <a:rPr lang="da-DK" b="1" u="sng" dirty="0">
                <a:solidFill>
                  <a:srgbClr val="002060"/>
                </a:solidFill>
              </a:rPr>
              <a:t> from </a:t>
            </a:r>
            <a:r>
              <a:rPr lang="da-DK" b="1" u="sng" dirty="0" err="1">
                <a:solidFill>
                  <a:srgbClr val="002060"/>
                </a:solidFill>
              </a:rPr>
              <a:t>chap</a:t>
            </a:r>
            <a:r>
              <a:rPr lang="da-DK" b="1" u="sng" dirty="0">
                <a:solidFill>
                  <a:srgbClr val="002060"/>
                </a:solidFill>
              </a:rPr>
              <a:t>. 8; </a:t>
            </a:r>
            <a:r>
              <a:rPr lang="da-DK" b="1" u="sng" dirty="0" err="1">
                <a:solidFill>
                  <a:srgbClr val="002060"/>
                </a:solidFill>
              </a:rPr>
              <a:t>value</a:t>
            </a:r>
            <a:r>
              <a:rPr lang="da-DK" b="1" u="sng" dirty="0">
                <a:solidFill>
                  <a:srgbClr val="002060"/>
                </a:solidFill>
              </a:rPr>
              <a:t> </a:t>
            </a:r>
            <a:r>
              <a:rPr lang="da-DK" b="1" u="sng" dirty="0" err="1">
                <a:solidFill>
                  <a:srgbClr val="002060"/>
                </a:solidFill>
              </a:rPr>
              <a:t>creation</a:t>
            </a:r>
            <a:r>
              <a:rPr lang="da-DK" b="1" u="sng" dirty="0">
                <a:solidFill>
                  <a:srgbClr val="00206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5630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1E4628"/>
                </a:solidFill>
              </a:rPr>
              <a:t>Determinants of Architecture (2)</a:t>
            </a:r>
          </a:p>
        </p:txBody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Strategy affects architecture and architecture affects strategy (</a:t>
            </a:r>
            <a:r>
              <a:rPr lang="en-US" sz="2800" dirty="0">
                <a:solidFill>
                  <a:srgbClr val="1E4628"/>
                </a:solidFill>
                <a:highlight>
                  <a:srgbClr val="FFFF00"/>
                </a:highlight>
                <a:sym typeface="Wingdings" pitchFamily="2" charset="2"/>
              </a:rPr>
              <a:t></a:t>
            </a:r>
            <a:r>
              <a:rPr lang="en-US" sz="2800" dirty="0">
                <a:solidFill>
                  <a:srgbClr val="1E4628"/>
                </a:solidFill>
                <a:sym typeface="Wingdings" pitchFamily="2" charset="2"/>
              </a:rPr>
              <a:t>)</a:t>
            </a:r>
            <a:endParaRPr lang="en-US" sz="2800" dirty="0">
              <a:solidFill>
                <a:srgbClr val="1E4628"/>
              </a:solidFill>
            </a:endParaRP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As the business environment changes, architecture will (should) change with it……..</a:t>
            </a:r>
          </a:p>
        </p:txBody>
      </p:sp>
      <p:sp>
        <p:nvSpPr>
          <p:cNvPr id="22532" name="Rectangle 1028"/>
          <p:cNvSpPr>
            <a:spLocks noChangeArrowheads="1"/>
          </p:cNvSpPr>
          <p:nvPr/>
        </p:nvSpPr>
        <p:spPr bwMode="auto">
          <a:xfrm>
            <a:off x="11658600" y="632460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F7419B32-5165-4022-AF40-1947EF4F1A2F}" type="slidenum">
              <a:rPr lang="en-US" sz="1000" smtClean="0"/>
              <a:pPr/>
              <a:t>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48713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1E4628"/>
                </a:solidFill>
              </a:rPr>
              <a:t>When Changing Architecture </a:t>
            </a:r>
            <a:br>
              <a:rPr lang="en-US" dirty="0">
                <a:solidFill>
                  <a:srgbClr val="1E4628"/>
                </a:solidFill>
              </a:rPr>
            </a:br>
            <a:r>
              <a:rPr lang="en-US" sz="2700" dirty="0">
                <a:solidFill>
                  <a:srgbClr val="1E4628"/>
                </a:solidFill>
              </a:rPr>
              <a:t>(but not too often….)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93543"/>
            <a:ext cx="4760794" cy="4755508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Benefits of </a:t>
            </a:r>
            <a:r>
              <a:rPr lang="en-US" sz="2800" dirty="0">
                <a:solidFill>
                  <a:srgbClr val="700000"/>
                </a:solidFill>
              </a:rPr>
              <a:t>organizational change </a:t>
            </a:r>
            <a:r>
              <a:rPr lang="en-US" sz="2800" dirty="0">
                <a:solidFill>
                  <a:srgbClr val="1E4628"/>
                </a:solidFill>
              </a:rPr>
              <a:t>must exceed costs (MR &gt; MC - surprise!)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Costs:</a:t>
            </a:r>
          </a:p>
          <a:p>
            <a:pPr lvl="1" eaLnBrk="1" hangingPunct="1"/>
            <a:r>
              <a:rPr lang="en-US" sz="2800" dirty="0">
                <a:solidFill>
                  <a:srgbClr val="1E4628"/>
                </a:solidFill>
              </a:rPr>
              <a:t>Direct: resources for design and communication</a:t>
            </a:r>
          </a:p>
          <a:p>
            <a:pPr lvl="1"/>
            <a:r>
              <a:rPr lang="en-US" sz="2800" dirty="0">
                <a:solidFill>
                  <a:srgbClr val="1E4628"/>
                </a:solidFill>
              </a:rPr>
              <a:t>Indirect: impact on employee incentives</a:t>
            </a:r>
          </a:p>
          <a:p>
            <a:pPr lvl="1" eaLnBrk="1" hangingPunct="1"/>
            <a:r>
              <a:rPr lang="en-US" sz="2800" dirty="0">
                <a:solidFill>
                  <a:srgbClr val="1E4628"/>
                </a:solidFill>
              </a:rPr>
              <a:t>Changes in accounting and information systems</a:t>
            </a:r>
          </a:p>
          <a:p>
            <a:pPr lvl="1" eaLnBrk="1" hangingPunct="1">
              <a:buNone/>
            </a:pPr>
            <a:endParaRPr lang="en-US" dirty="0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11495314" y="6302830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C5583715-9A8E-433E-96F7-F52790F94721}" type="slidenum">
              <a:rPr lang="en-US" sz="1000" smtClean="0"/>
              <a:pPr/>
              <a:t>8</a:t>
            </a:fld>
            <a:endParaRPr lang="en-US" sz="1000" dirty="0"/>
          </a:p>
        </p:txBody>
      </p:sp>
      <p:pic>
        <p:nvPicPr>
          <p:cNvPr id="3074" name="Picture 2" descr="frankfurt minimal - Three-legged chair by Walter Papst for Wilkhahn -  frankfurt minimal - 20th century furniture, Designklassiker und Vintage  Möbel">
            <a:extLst>
              <a:ext uri="{FF2B5EF4-FFF2-40B4-BE49-F238E27FC236}">
                <a16:creationId xmlns:a16="http://schemas.microsoft.com/office/drawing/2014/main" id="{1D5B5E82-550D-08DE-7C8D-AC726C0ED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314" y="2159758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7CCEAF-0DBD-81C8-D9EA-8E2659B96F74}"/>
              </a:ext>
            </a:extLst>
          </p:cNvPr>
          <p:cNvSpPr txBox="1"/>
          <p:nvPr/>
        </p:nvSpPr>
        <p:spPr>
          <a:xfrm>
            <a:off x="6923314" y="5588758"/>
            <a:ext cx="309892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https://frankfurt-minimal.de/en/products/details/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dreibeinstuhl-walter-papst-wilkhahn_reedition.html</a:t>
            </a:r>
            <a:endParaRPr lang="en-US" sz="5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04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1E4628"/>
                </a:solidFill>
              </a:rPr>
              <a:t>Changing Architecture</a:t>
            </a:r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371600" y="1310184"/>
            <a:ext cx="7008125" cy="4667535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Organizations are </a:t>
            </a:r>
            <a:r>
              <a:rPr lang="en-US" sz="2800" i="1" dirty="0">
                <a:solidFill>
                  <a:srgbClr val="1E4628"/>
                </a:solidFill>
              </a:rPr>
              <a:t>interdependent</a:t>
            </a:r>
            <a:r>
              <a:rPr lang="en-US" sz="2800" dirty="0">
                <a:solidFill>
                  <a:srgbClr val="1E4628"/>
                </a:solidFill>
              </a:rPr>
              <a:t> systems, change(s) must be coordinated</a:t>
            </a:r>
          </a:p>
          <a:p>
            <a:pPr lvl="1" eaLnBrk="1" hangingPunct="1"/>
            <a:r>
              <a:rPr lang="en-US" sz="2800" dirty="0">
                <a:solidFill>
                  <a:srgbClr val="1E4628"/>
                </a:solidFill>
              </a:rPr>
              <a:t>Ex.; how should we reward cooperation among divisional subunits/teams?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As with three legs of a stool; if one leg changes, the others must change with it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Likewise for 1) decision rights, 2) reward systems and          3) performance evaluation systems</a:t>
            </a: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11811000" y="661177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F8667A66-9D66-4F59-B172-C9A0239FED82}" type="slidenum">
              <a:rPr lang="en-US" sz="1000" smtClean="0"/>
              <a:pPr/>
              <a:t>9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7525840" y="5563166"/>
            <a:ext cx="4089218" cy="923330"/>
          </a:xfrm>
          <a:prstGeom prst="rect">
            <a:avLst/>
          </a:prstGeom>
          <a:solidFill>
            <a:srgbClr val="1E462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Ramme 361n. – 362m.; godt eksempel for kommende HA-IT-uddannede! Decentralisering og IT-programmer.</a:t>
            </a:r>
          </a:p>
        </p:txBody>
      </p:sp>
      <p:sp>
        <p:nvSpPr>
          <p:cNvPr id="6" name="Ligebenet trekant 5"/>
          <p:cNvSpPr/>
          <p:nvPr/>
        </p:nvSpPr>
        <p:spPr>
          <a:xfrm>
            <a:off x="4666161" y="6154579"/>
            <a:ext cx="1429839" cy="457200"/>
          </a:xfrm>
          <a:prstGeom prst="triangle">
            <a:avLst>
              <a:gd name="adj" fmla="val 50698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" name="Lige pilforbindelse 2"/>
          <p:cNvCxnSpPr>
            <a:cxnSpLocks/>
          </p:cNvCxnSpPr>
          <p:nvPr/>
        </p:nvCxnSpPr>
        <p:spPr>
          <a:xfrm>
            <a:off x="5295007" y="5308979"/>
            <a:ext cx="0" cy="552813"/>
          </a:xfrm>
          <a:prstGeom prst="straightConnector1">
            <a:avLst/>
          </a:prstGeom>
          <a:ln w="44450">
            <a:solidFill>
              <a:srgbClr val="1E462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Three-Legged Stool with Cruciform Pattern - North Carolina Museum of Art">
            <a:extLst>
              <a:ext uri="{FF2B5EF4-FFF2-40B4-BE49-F238E27FC236}">
                <a16:creationId xmlns:a16="http://schemas.microsoft.com/office/drawing/2014/main" id="{C74E289A-6699-AE3D-B0FC-A6602D2DF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17" t="23333" r="28663" b="10257"/>
          <a:stretch>
            <a:fillRect/>
          </a:stretch>
        </p:blipFill>
        <p:spPr bwMode="auto">
          <a:xfrm>
            <a:off x="9239606" y="1707970"/>
            <a:ext cx="2375452" cy="264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F30260-C815-E3D2-06E0-DCA353F5F342}"/>
              </a:ext>
            </a:extLst>
          </p:cNvPr>
          <p:cNvSpPr txBox="1"/>
          <p:nvPr/>
        </p:nvSpPr>
        <p:spPr>
          <a:xfrm>
            <a:off x="9213439" y="4376767"/>
            <a:ext cx="24016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ncartmuseum.org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/object/three-legged-stool-with-cruciform-pattern/</a:t>
            </a:r>
          </a:p>
        </p:txBody>
      </p:sp>
    </p:spTree>
    <p:extLst>
      <p:ext uri="{BB962C8B-B14F-4D97-AF65-F5344CB8AC3E}">
        <p14:creationId xmlns:p14="http://schemas.microsoft.com/office/powerpoint/2010/main" val="28672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1E4628"/>
                </a:solidFill>
              </a:rPr>
              <a:t>Corporate Culture </a:t>
            </a:r>
            <a:r>
              <a:rPr lang="en-US" sz="2200" dirty="0">
                <a:solidFill>
                  <a:srgbClr val="1E4628"/>
                </a:solidFill>
              </a:rPr>
              <a:t>(‘</a:t>
            </a:r>
            <a:r>
              <a:rPr lang="en-US" sz="2200" dirty="0" err="1">
                <a:solidFill>
                  <a:srgbClr val="1E4628"/>
                </a:solidFill>
              </a:rPr>
              <a:t>bløde</a:t>
            </a:r>
            <a:r>
              <a:rPr lang="en-US" sz="2200" dirty="0">
                <a:solidFill>
                  <a:srgbClr val="1E4628"/>
                </a:solidFill>
              </a:rPr>
              <a:t>’ </a:t>
            </a:r>
            <a:r>
              <a:rPr lang="en-US" sz="2200" dirty="0" err="1">
                <a:solidFill>
                  <a:srgbClr val="1E4628"/>
                </a:solidFill>
              </a:rPr>
              <a:t>elementer</a:t>
            </a:r>
            <a:r>
              <a:rPr lang="en-US" sz="2200" dirty="0">
                <a:solidFill>
                  <a:srgbClr val="1E4628"/>
                </a:solidFill>
              </a:rPr>
              <a:t> </a:t>
            </a:r>
            <a:r>
              <a:rPr lang="en-US" sz="2200" dirty="0" err="1">
                <a:solidFill>
                  <a:srgbClr val="1E4628"/>
                </a:solidFill>
              </a:rPr>
              <a:t>og</a:t>
            </a:r>
            <a:r>
              <a:rPr lang="en-US" sz="2200" dirty="0">
                <a:solidFill>
                  <a:srgbClr val="1E4628"/>
                </a:solidFill>
              </a:rPr>
              <a:t> </a:t>
            </a:r>
            <a:r>
              <a:rPr lang="en-US" sz="2200" dirty="0" err="1">
                <a:solidFill>
                  <a:srgbClr val="1E4628"/>
                </a:solidFill>
              </a:rPr>
              <a:t>forhold</a:t>
            </a:r>
            <a:r>
              <a:rPr lang="en-US" sz="2200" dirty="0">
                <a:solidFill>
                  <a:srgbClr val="1E4628"/>
                </a:solidFill>
              </a:rPr>
              <a:t> i </a:t>
            </a:r>
            <a:r>
              <a:rPr lang="en-US" sz="2200" dirty="0" err="1">
                <a:solidFill>
                  <a:srgbClr val="1E4628"/>
                </a:solidFill>
              </a:rPr>
              <a:t>økonomisk</a:t>
            </a:r>
            <a:r>
              <a:rPr lang="en-US" sz="2200" dirty="0">
                <a:solidFill>
                  <a:srgbClr val="1E4628"/>
                </a:solidFill>
              </a:rPr>
              <a:t> (</a:t>
            </a:r>
            <a:r>
              <a:rPr lang="en-US" sz="2200" dirty="0" err="1">
                <a:solidFill>
                  <a:srgbClr val="1E4628"/>
                </a:solidFill>
              </a:rPr>
              <a:t>organisations</a:t>
            </a:r>
            <a:r>
              <a:rPr lang="en-US" sz="2200" dirty="0">
                <a:solidFill>
                  <a:srgbClr val="1E4628"/>
                </a:solidFill>
              </a:rPr>
              <a:t>-) </a:t>
            </a:r>
            <a:r>
              <a:rPr lang="en-US" sz="2200" dirty="0" err="1">
                <a:solidFill>
                  <a:srgbClr val="1E4628"/>
                </a:solidFill>
              </a:rPr>
              <a:t>teori</a:t>
            </a:r>
            <a:r>
              <a:rPr lang="en-US" sz="2200" dirty="0">
                <a:solidFill>
                  <a:srgbClr val="1E4628"/>
                </a:solidFill>
              </a:rPr>
              <a:t>?)</a:t>
            </a:r>
            <a:r>
              <a:rPr lang="en-US" dirty="0">
                <a:solidFill>
                  <a:srgbClr val="1E4628"/>
                </a:solidFill>
              </a:rPr>
              <a:t> 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3226" y="1600201"/>
            <a:ext cx="5630338" cy="4993256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Culture (and norms) is the set of explicit and implicit expectations of behavior within the firm</a:t>
            </a:r>
          </a:p>
          <a:p>
            <a:pPr eaLnBrk="1" hangingPunct="1"/>
            <a:r>
              <a:rPr lang="en-US" sz="2800" u="sng" dirty="0">
                <a:solidFill>
                  <a:srgbClr val="004821"/>
                </a:solidFill>
              </a:rPr>
              <a:t>Communicating</a:t>
            </a:r>
            <a:r>
              <a:rPr lang="en-US" sz="2800" dirty="0">
                <a:solidFill>
                  <a:srgbClr val="004821"/>
                </a:solidFill>
              </a:rPr>
              <a:t> </a:t>
            </a:r>
            <a:r>
              <a:rPr lang="en-US" sz="2800" dirty="0"/>
              <a:t>culture</a:t>
            </a:r>
          </a:p>
          <a:p>
            <a:pPr lvl="1" eaLnBrk="1" hangingPunct="1"/>
            <a:r>
              <a:rPr lang="en-US" sz="2800" dirty="0">
                <a:solidFill>
                  <a:srgbClr val="1E4628"/>
                </a:solidFill>
              </a:rPr>
              <a:t>Slogans, rituals, role models (p. 363)</a:t>
            </a:r>
          </a:p>
          <a:p>
            <a:pPr lvl="1" eaLnBrk="1" hangingPunct="1"/>
            <a:r>
              <a:rPr lang="en-US" sz="2800" dirty="0">
                <a:solidFill>
                  <a:srgbClr val="1E4628"/>
                </a:solidFill>
              </a:rPr>
              <a:t>Honesty – </a:t>
            </a:r>
            <a:r>
              <a:rPr lang="en-US" sz="2800" dirty="0" err="1">
                <a:solidFill>
                  <a:srgbClr val="1E4628"/>
                </a:solidFill>
              </a:rPr>
              <a:t>ihukom</a:t>
            </a:r>
            <a:r>
              <a:rPr lang="en-US" sz="2800" dirty="0">
                <a:solidFill>
                  <a:srgbClr val="1E4628"/>
                </a:solidFill>
              </a:rPr>
              <a:t> Wells Fargo-</a:t>
            </a:r>
            <a:r>
              <a:rPr lang="en-US" sz="2800" dirty="0" err="1">
                <a:solidFill>
                  <a:srgbClr val="1E4628"/>
                </a:solidFill>
              </a:rPr>
              <a:t>eksemplet</a:t>
            </a:r>
            <a:r>
              <a:rPr lang="en-US" sz="2800" dirty="0">
                <a:solidFill>
                  <a:srgbClr val="1E4628"/>
                </a:solidFill>
              </a:rPr>
              <a:t> (‘integrity’)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Architecture shapes employee </a:t>
            </a:r>
            <a:r>
              <a:rPr lang="en-US" sz="2800" u="sng" dirty="0">
                <a:solidFill>
                  <a:srgbClr val="1E4628"/>
                </a:solidFill>
              </a:rPr>
              <a:t>expectations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Architecture elements are (should be) </a:t>
            </a:r>
            <a:r>
              <a:rPr lang="en-US" sz="2800" u="sng" dirty="0">
                <a:solidFill>
                  <a:srgbClr val="1E4628"/>
                </a:solidFill>
              </a:rPr>
              <a:t>complements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110505" y="623859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3637A52E-E840-48E7-BBB5-5C12CC757D9A}" type="slidenum">
              <a:rPr lang="en-US" sz="1000" smtClean="0"/>
              <a:pPr/>
              <a:t>10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6034098" y="6361703"/>
            <a:ext cx="2396674" cy="369332"/>
          </a:xfrm>
          <a:prstGeom prst="rect">
            <a:avLst/>
          </a:prstGeom>
          <a:solidFill>
            <a:srgbClr val="1E4628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Ramme 365n.-366m.!</a:t>
            </a:r>
          </a:p>
        </p:txBody>
      </p:sp>
      <p:pic>
        <p:nvPicPr>
          <p:cNvPr id="4098" name="Picture 2" descr="Why Invest in D&amp;I? 8 Compelling Reasons to Start Now">
            <a:extLst>
              <a:ext uri="{FF2B5EF4-FFF2-40B4-BE49-F238E27FC236}">
                <a16:creationId xmlns:a16="http://schemas.microsoft.com/office/drawing/2014/main" id="{2FD5752C-D2EE-A439-C6A7-B7F91B975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564" y="2511188"/>
            <a:ext cx="4429406" cy="231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B87332-0449-3F25-ABF7-62D4FA5062C0}"/>
              </a:ext>
            </a:extLst>
          </p:cNvPr>
          <p:cNvSpPr txBox="1"/>
          <p:nvPr/>
        </p:nvSpPr>
        <p:spPr>
          <a:xfrm>
            <a:off x="7438030" y="4809819"/>
            <a:ext cx="407675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includeconsulting.com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/the-case-for-investing-in-a-diversity-and-inclusion-strategy-eight-compelling-reasons-to-help-you-get-started</a:t>
            </a:r>
          </a:p>
        </p:txBody>
      </p:sp>
    </p:spTree>
    <p:extLst>
      <p:ext uri="{BB962C8B-B14F-4D97-AF65-F5344CB8AC3E}">
        <p14:creationId xmlns:p14="http://schemas.microsoft.com/office/powerpoint/2010/main" val="190949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1E4628"/>
                </a:solidFill>
              </a:rPr>
              <a:t>When Architecture Fails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286000"/>
            <a:ext cx="5957248" cy="3581400"/>
          </a:xfrm>
        </p:spPr>
        <p:txBody>
          <a:bodyPr>
            <a:normAutofit fontScale="92500"/>
          </a:bodyPr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3600" dirty="0">
                <a:solidFill>
                  <a:srgbClr val="1E4628"/>
                </a:solidFill>
              </a:rPr>
              <a:t>Management is at risk of dismissal</a:t>
            </a:r>
          </a:p>
          <a:p>
            <a:pPr eaLnBrk="1" hangingPunct="1"/>
            <a:r>
              <a:rPr lang="en-US" sz="3600" dirty="0">
                <a:solidFill>
                  <a:srgbClr val="1E4628"/>
                </a:solidFill>
              </a:rPr>
              <a:t>Firm is at risk of takeover</a:t>
            </a:r>
          </a:p>
          <a:p>
            <a:pPr eaLnBrk="1" hangingPunct="1"/>
            <a:r>
              <a:rPr lang="en-US" sz="3600" dirty="0">
                <a:solidFill>
                  <a:srgbClr val="1E4628"/>
                </a:solidFill>
              </a:rPr>
              <a:t>Rivals are lurking in the wings</a:t>
            </a:r>
          </a:p>
          <a:p>
            <a:pPr eaLnBrk="1" hangingPunct="1"/>
            <a:r>
              <a:rPr lang="en-US" sz="3600" dirty="0">
                <a:solidFill>
                  <a:srgbClr val="1E4628"/>
                </a:solidFill>
              </a:rPr>
              <a:t>Economic Darwinism….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1647714" y="622662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884F941B-67DB-49B3-867A-E39FD007FC9F}" type="slidenum">
              <a:rPr lang="en-US" sz="1000" smtClean="0"/>
              <a:pPr/>
              <a:t>11</a:t>
            </a:fld>
            <a:endParaRPr lang="en-US" sz="1000" dirty="0"/>
          </a:p>
        </p:txBody>
      </p:sp>
      <p:pic>
        <p:nvPicPr>
          <p:cNvPr id="5124" name="Picture 4" descr="Carrier's counsel and the collapsing three-legged stool - 600 Camp600 Camp">
            <a:extLst>
              <a:ext uri="{FF2B5EF4-FFF2-40B4-BE49-F238E27FC236}">
                <a16:creationId xmlns:a16="http://schemas.microsoft.com/office/drawing/2014/main" id="{47C57621-D2B9-4DE4-CD56-AC20C16D9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300" y="2286000"/>
            <a:ext cx="24130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35B6E9-18CD-8215-C57A-11D80679F29A}"/>
              </a:ext>
            </a:extLst>
          </p:cNvPr>
          <p:cNvSpPr txBox="1"/>
          <p:nvPr/>
        </p:nvSpPr>
        <p:spPr>
          <a:xfrm>
            <a:off x="8948354" y="5716321"/>
            <a:ext cx="246894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https://600camp.com/carriers-counsel-and-the-collapsing-three-legged-stool/</a:t>
            </a:r>
          </a:p>
        </p:txBody>
      </p:sp>
    </p:spTree>
    <p:extLst>
      <p:ext uri="{BB962C8B-B14F-4D97-AF65-F5344CB8AC3E}">
        <p14:creationId xmlns:p14="http://schemas.microsoft.com/office/powerpoint/2010/main" val="61062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1E4628"/>
                </a:solidFill>
              </a:rPr>
              <a:t>Managerial Implications – </a:t>
            </a:r>
            <a:br>
              <a:rPr lang="en-US" dirty="0"/>
            </a:br>
            <a:r>
              <a:rPr lang="en-US" sz="3200" dirty="0">
                <a:solidFill>
                  <a:srgbClr val="700000"/>
                </a:solidFill>
              </a:rPr>
              <a:t>Guide (1)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Does the strategy fit the business environment?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Does the </a:t>
            </a:r>
            <a:r>
              <a:rPr lang="en-US" sz="2800" u="sng" dirty="0">
                <a:solidFill>
                  <a:srgbClr val="1E4628"/>
                </a:solidFill>
              </a:rPr>
              <a:t>current architecture</a:t>
            </a:r>
            <a:r>
              <a:rPr lang="en-US" sz="2800" dirty="0">
                <a:solidFill>
                  <a:srgbClr val="1E4628"/>
                </a:solidFill>
              </a:rPr>
              <a:t> fit the business environment and strategy?</a:t>
            </a:r>
          </a:p>
          <a:p>
            <a:pPr lvl="1" eaLnBrk="1" hangingPunct="1"/>
            <a:r>
              <a:rPr lang="en-US" sz="2800" dirty="0">
                <a:solidFill>
                  <a:srgbClr val="1E4628"/>
                </a:solidFill>
              </a:rPr>
              <a:t>Does it effectively link specific knowledge and decision rights?</a:t>
            </a:r>
          </a:p>
          <a:p>
            <a:pPr lvl="1" eaLnBrk="1" hangingPunct="1"/>
            <a:r>
              <a:rPr lang="en-US" sz="2800" dirty="0">
                <a:solidFill>
                  <a:srgbClr val="1E4628"/>
                </a:solidFill>
              </a:rPr>
              <a:t>Does it provide incentives to use information productively?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1582400" y="6444344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01AF5AC5-DA01-4F76-80A2-2807B7FDB571}" type="slidenum">
              <a:rPr lang="en-US" sz="1000" smtClean="0"/>
              <a:pPr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635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1E4628"/>
                </a:solidFill>
              </a:rPr>
              <a:t>Managerial Implications – </a:t>
            </a:r>
            <a:br>
              <a:rPr lang="en-US" dirty="0"/>
            </a:br>
            <a:r>
              <a:rPr lang="en-US" sz="3200" dirty="0">
                <a:solidFill>
                  <a:srgbClr val="700000"/>
                </a:solidFill>
              </a:rPr>
              <a:t>Guide (2)</a:t>
            </a:r>
          </a:p>
        </p:txBody>
      </p:sp>
      <p:sp>
        <p:nvSpPr>
          <p:cNvPr id="2662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Given the decision rights system; does the control system fit?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If any of the above questions show a problem, determine what changes in strategy or architecture are appropriate.</a:t>
            </a:r>
          </a:p>
          <a:p>
            <a:pPr eaLnBrk="1" hangingPunct="1"/>
            <a:r>
              <a:rPr lang="en-US" sz="2800" dirty="0">
                <a:solidFill>
                  <a:srgbClr val="1E4628"/>
                </a:solidFill>
              </a:rPr>
              <a:t>Determine problems that will be faced if the firm implements these changes.</a:t>
            </a:r>
          </a:p>
        </p:txBody>
      </p:sp>
      <p:sp>
        <p:nvSpPr>
          <p:cNvPr id="26628" name="Rectangle 1028"/>
          <p:cNvSpPr>
            <a:spLocks noChangeArrowheads="1"/>
          </p:cNvSpPr>
          <p:nvPr/>
        </p:nvSpPr>
        <p:spPr bwMode="auto">
          <a:xfrm>
            <a:off x="11680372" y="6346372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5FDD9064-E6CB-4952-BBE5-0B8CEFB5206C}" type="slidenum">
              <a:rPr lang="en-US" sz="1000" smtClean="0"/>
              <a:pPr/>
              <a:t>13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3595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1E4628"/>
                </a:solidFill>
              </a:rPr>
              <a:t>Managerial Implications – </a:t>
            </a:r>
            <a:br>
              <a:rPr lang="en-US" dirty="0"/>
            </a:br>
            <a:r>
              <a:rPr lang="en-US" sz="3200" dirty="0">
                <a:solidFill>
                  <a:srgbClr val="700000"/>
                </a:solidFill>
              </a:rPr>
              <a:t>Guide (3)</a:t>
            </a:r>
          </a:p>
        </p:txBody>
      </p:sp>
      <p:sp>
        <p:nvSpPr>
          <p:cNvPr id="26627" name="Rectangle 1027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rgbClr val="002060"/>
            </a:solidFill>
          </a:ln>
        </p:spPr>
        <p:txBody>
          <a:bodyPr/>
          <a:lstStyle/>
          <a:p>
            <a:pPr eaLnBrk="1" hangingPunct="1"/>
            <a:endParaRPr lang="en-US" dirty="0"/>
          </a:p>
          <a:p>
            <a:r>
              <a:rPr lang="en-US" sz="2800" dirty="0">
                <a:solidFill>
                  <a:srgbClr val="1E4628"/>
                </a:solidFill>
              </a:rPr>
              <a:t>The Controllability Principle:</a:t>
            </a:r>
            <a:endParaRPr lang="da-DK" sz="2800" dirty="0">
              <a:solidFill>
                <a:srgbClr val="1E4628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E4628"/>
                </a:solidFill>
              </a:rPr>
              <a:t>’Holding managers (and other agents, TV) responsible for only those decisions for which they are given authority ((decision rights) … ‘and therefor can control’, TV)’.</a:t>
            </a:r>
            <a:endParaRPr lang="da-DK" sz="2400" dirty="0">
              <a:solidFill>
                <a:srgbClr val="1E4628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1E4628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E4628"/>
                </a:solidFill>
              </a:rPr>
              <a:t>(Zimmerman. J. (2020), p. 654: Accounting for Decision Making and Control)</a:t>
            </a:r>
            <a:endParaRPr lang="da-DK" dirty="0">
              <a:solidFill>
                <a:srgbClr val="1E4628"/>
              </a:solidFill>
            </a:endParaRPr>
          </a:p>
        </p:txBody>
      </p:sp>
      <p:sp>
        <p:nvSpPr>
          <p:cNvPr id="26628" name="Rectangle 1028"/>
          <p:cNvSpPr>
            <a:spLocks noChangeArrowheads="1"/>
          </p:cNvSpPr>
          <p:nvPr/>
        </p:nvSpPr>
        <p:spPr bwMode="auto">
          <a:xfrm>
            <a:off x="11604171" y="637903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5FDD9064-E6CB-4952-BBE5-0B8CEFB5206C}" type="slidenum">
              <a:rPr lang="en-US" sz="1000" smtClean="0"/>
              <a:pPr/>
              <a:t>14</a:t>
            </a:fld>
            <a:endParaRPr lang="en-US" sz="1000" dirty="0"/>
          </a:p>
        </p:txBody>
      </p:sp>
      <p:sp>
        <p:nvSpPr>
          <p:cNvPr id="2" name="5-takket stjerne 1"/>
          <p:cNvSpPr/>
          <p:nvPr/>
        </p:nvSpPr>
        <p:spPr>
          <a:xfrm>
            <a:off x="9568542" y="1001486"/>
            <a:ext cx="2035629" cy="1687285"/>
          </a:xfrm>
          <a:prstGeom prst="star5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315095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Beskæring</Template>
  <TotalTime>1285</TotalTime>
  <Words>781</Words>
  <Application>Microsoft Macintosh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Comic Sans MS</vt:lpstr>
      <vt:lpstr>Franklin Gothic Book</vt:lpstr>
      <vt:lpstr>Wingdings</vt:lpstr>
      <vt:lpstr>Crop</vt:lpstr>
      <vt:lpstr>PowerPoint Presentation</vt:lpstr>
      <vt:lpstr>Slido for Jeres input</vt:lpstr>
      <vt:lpstr>Organisatorisk Arkitektur</vt:lpstr>
      <vt:lpstr>The Fundamental Problem</vt:lpstr>
      <vt:lpstr>Architecture Within Firms</vt:lpstr>
      <vt:lpstr>Determinants of Architecture</vt:lpstr>
      <vt:lpstr>Determinants of Architecture (2)</vt:lpstr>
      <vt:lpstr>When Changing Architecture  (but not too often….)</vt:lpstr>
      <vt:lpstr>Changing Architecture</vt:lpstr>
      <vt:lpstr>Corporate Culture (‘bløde’ elementer og forhold i økonomisk (organisations-) teori?)  </vt:lpstr>
      <vt:lpstr>When Architecture Fails</vt:lpstr>
      <vt:lpstr>Managerial Implications –  Guide (1)</vt:lpstr>
      <vt:lpstr>Managerial Implications –  Guide (2)</vt:lpstr>
      <vt:lpstr>Managerial Implications –  Guide (3)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Tamas Vamosi</dc:creator>
  <cp:lastModifiedBy>Kai Inga Liehr Storm</cp:lastModifiedBy>
  <cp:revision>32</cp:revision>
  <dcterms:created xsi:type="dcterms:W3CDTF">2020-03-03T09:00:22Z</dcterms:created>
  <dcterms:modified xsi:type="dcterms:W3CDTF">2026-03-03T10:16:51Z</dcterms:modified>
</cp:coreProperties>
</file>