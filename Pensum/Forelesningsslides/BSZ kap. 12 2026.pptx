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0000"/>
    <a:srgbClr val="002060"/>
    <a:srgbClr val="006600"/>
    <a:srgbClr val="00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D242E-6CC5-418E-9124-9BD6D4868335}" v="2" dt="2025-03-03T08:58:40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6" autoAdjust="0"/>
    <p:restoredTop sz="94660"/>
  </p:normalViewPr>
  <p:slideViewPr>
    <p:cSldViewPr snapToGrid="0">
      <p:cViewPr varScale="1">
        <p:scale>
          <a:sx n="96" d="100"/>
          <a:sy n="96" d="100"/>
        </p:scale>
        <p:origin x="18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2E4D242E-6CC5-418E-9124-9BD6D4868335}"/>
    <pc:docChg chg="modSld">
      <pc:chgData name="Tamas Vamosi" userId="d29b3f17-2c73-4e3f-a1f7-7beee2a70eaf" providerId="ADAL" clId="{2E4D242E-6CC5-418E-9124-9BD6D4868335}" dt="2025-03-03T09:03:08.058" v="10" actId="115"/>
      <pc:docMkLst>
        <pc:docMk/>
      </pc:docMkLst>
      <pc:sldChg chg="modSp mod">
        <pc:chgData name="Tamas Vamosi" userId="d29b3f17-2c73-4e3f-a1f7-7beee2a70eaf" providerId="ADAL" clId="{2E4D242E-6CC5-418E-9124-9BD6D4868335}" dt="2025-03-03T08:57:10.588" v="1" actId="20577"/>
        <pc:sldMkLst>
          <pc:docMk/>
          <pc:sldMk cId="4089139195" sldId="259"/>
        </pc:sldMkLst>
        <pc:spChg chg="mod">
          <ac:chgData name="Tamas Vamosi" userId="d29b3f17-2c73-4e3f-a1f7-7beee2a70eaf" providerId="ADAL" clId="{2E4D242E-6CC5-418E-9124-9BD6D4868335}" dt="2025-03-03T08:57:10.588" v="1" actId="20577"/>
          <ac:spMkLst>
            <pc:docMk/>
            <pc:sldMk cId="4089139195" sldId="259"/>
            <ac:spMk id="5122" creationId="{00000000-0000-0000-0000-000000000000}"/>
          </ac:spMkLst>
        </pc:spChg>
      </pc:sldChg>
      <pc:sldChg chg="modSp mod">
        <pc:chgData name="Tamas Vamosi" userId="d29b3f17-2c73-4e3f-a1f7-7beee2a70eaf" providerId="ADAL" clId="{2E4D242E-6CC5-418E-9124-9BD6D4868335}" dt="2025-03-03T08:57:55.694" v="4" actId="20577"/>
        <pc:sldMkLst>
          <pc:docMk/>
          <pc:sldMk cId="1412523715" sldId="261"/>
        </pc:sldMkLst>
        <pc:spChg chg="mod">
          <ac:chgData name="Tamas Vamosi" userId="d29b3f17-2c73-4e3f-a1f7-7beee2a70eaf" providerId="ADAL" clId="{2E4D242E-6CC5-418E-9124-9BD6D4868335}" dt="2025-03-03T08:57:55.694" v="4" actId="20577"/>
          <ac:spMkLst>
            <pc:docMk/>
            <pc:sldMk cId="1412523715" sldId="261"/>
            <ac:spMk id="92163" creationId="{00000000-0000-0000-0000-000000000000}"/>
          </ac:spMkLst>
        </pc:spChg>
      </pc:sldChg>
      <pc:sldChg chg="modSp mod">
        <pc:chgData name="Tamas Vamosi" userId="d29b3f17-2c73-4e3f-a1f7-7beee2a70eaf" providerId="ADAL" clId="{2E4D242E-6CC5-418E-9124-9BD6D4868335}" dt="2025-03-03T08:58:40.456" v="7" actId="207"/>
        <pc:sldMkLst>
          <pc:docMk/>
          <pc:sldMk cId="2174302905" sldId="263"/>
        </pc:sldMkLst>
        <pc:spChg chg="mod">
          <ac:chgData name="Tamas Vamosi" userId="d29b3f17-2c73-4e3f-a1f7-7beee2a70eaf" providerId="ADAL" clId="{2E4D242E-6CC5-418E-9124-9BD6D4868335}" dt="2025-03-03T08:58:33.455" v="5" actId="207"/>
          <ac:spMkLst>
            <pc:docMk/>
            <pc:sldMk cId="2174302905" sldId="263"/>
            <ac:spMk id="30722" creationId="{00000000-0000-0000-0000-000000000000}"/>
          </ac:spMkLst>
        </pc:spChg>
        <pc:spChg chg="mod">
          <ac:chgData name="Tamas Vamosi" userId="d29b3f17-2c73-4e3f-a1f7-7beee2a70eaf" providerId="ADAL" clId="{2E4D242E-6CC5-418E-9124-9BD6D4868335}" dt="2025-03-03T08:58:40.456" v="7" actId="207"/>
          <ac:spMkLst>
            <pc:docMk/>
            <pc:sldMk cId="2174302905" sldId="263"/>
            <ac:spMk id="30723" creationId="{00000000-0000-0000-0000-000000000000}"/>
          </ac:spMkLst>
        </pc:spChg>
      </pc:sldChg>
      <pc:sldChg chg="modSp mod">
        <pc:chgData name="Tamas Vamosi" userId="d29b3f17-2c73-4e3f-a1f7-7beee2a70eaf" providerId="ADAL" clId="{2E4D242E-6CC5-418E-9124-9BD6D4868335}" dt="2025-03-03T09:03:08.058" v="10" actId="115"/>
        <pc:sldMkLst>
          <pc:docMk/>
          <pc:sldMk cId="578568236" sldId="273"/>
        </pc:sldMkLst>
        <pc:spChg chg="mod">
          <ac:chgData name="Tamas Vamosi" userId="d29b3f17-2c73-4e3f-a1f7-7beee2a70eaf" providerId="ADAL" clId="{2E4D242E-6CC5-418E-9124-9BD6D4868335}" dt="2025-03-03T09:03:08.058" v="10" actId="115"/>
          <ac:spMkLst>
            <pc:docMk/>
            <pc:sldMk cId="578568236" sldId="273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588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2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45432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4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40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4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03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8093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615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77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3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2286000" y="19050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US" sz="3200" i="1" dirty="0">
                <a:solidFill>
                  <a:schemeClr val="bg1"/>
                </a:solidFill>
              </a:rPr>
              <a:t>Managerial Economics and </a:t>
            </a:r>
          </a:p>
          <a:p>
            <a:pPr algn="ctr" eaLnBrk="0" hangingPunct="0"/>
            <a:r>
              <a:rPr lang="en-US" sz="3200" i="1" dirty="0">
                <a:solidFill>
                  <a:schemeClr val="bg1"/>
                </a:solidFill>
              </a:rPr>
              <a:t>Organizational Architecture</a:t>
            </a: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Chapter 12: 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Decision Rights: </a:t>
            </a:r>
          </a:p>
          <a:p>
            <a:pPr algn="ctr" eaLnBrk="0" hangingPunct="0"/>
            <a:r>
              <a:rPr lang="en-US" sz="4800" dirty="0">
                <a:solidFill>
                  <a:schemeClr val="bg1"/>
                </a:solidFill>
              </a:rPr>
              <a:t>The Level of Empowerment</a:t>
            </a:r>
          </a:p>
        </p:txBody>
      </p:sp>
    </p:spTree>
    <p:extLst>
      <p:ext uri="{BB962C8B-B14F-4D97-AF65-F5344CB8AC3E}">
        <p14:creationId xmlns:p14="http://schemas.microsoft.com/office/powerpoint/2010/main" val="240320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120" y="261257"/>
            <a:ext cx="9144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Assigning Tasks and Decision Rights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515291"/>
            <a:ext cx="8229600" cy="4885509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400" dirty="0"/>
              <a:t>UBS &amp; Bank of America; Centralization -&gt; Decentralization (groups/team) -&gt; Centralization…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Fiat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General Electric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Motorola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Google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Apple…….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/>
              <a:t>Production processes involves </a:t>
            </a:r>
            <a:r>
              <a:rPr lang="en-US" sz="2400" i="1" dirty="0"/>
              <a:t>tasks</a:t>
            </a:r>
            <a:r>
              <a:rPr lang="en-US" sz="2400" dirty="0"/>
              <a:t> (</a:t>
            </a:r>
            <a:r>
              <a:rPr lang="en-US" sz="2400" dirty="0" err="1"/>
              <a:t>delopgaver</a:t>
            </a:r>
            <a:r>
              <a:rPr lang="en-US" sz="2400" dirty="0"/>
              <a:t>) bundled into </a:t>
            </a:r>
            <a:r>
              <a:rPr lang="en-US" sz="2400" i="1" dirty="0"/>
              <a:t>jobs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/>
              <a:t>Job dimensions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CC3300"/>
                </a:solidFill>
              </a:rPr>
              <a:t>variety of tasks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dirty="0">
                <a:solidFill>
                  <a:srgbClr val="CC3300"/>
                </a:solidFill>
              </a:rPr>
              <a:t>few or many?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CC3300"/>
                </a:solidFill>
              </a:rPr>
              <a:t>decision authority (on the tasks to be completed)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dirty="0">
                <a:solidFill>
                  <a:srgbClr val="CC3300"/>
                </a:solidFill>
              </a:rPr>
              <a:t>limited or broad?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1378679" y="615457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663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uiExpand="1" build="p" bldLvl="3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49612" y="335994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/>
              <a:t>Dimensions of Job Design</a:t>
            </a:r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4114800" y="1676400"/>
            <a:ext cx="0" cy="403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4114800" y="57150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5127" name="Oval 7"/>
          <p:cNvSpPr>
            <a:spLocks noChangeArrowheads="1"/>
          </p:cNvSpPr>
          <p:nvPr/>
        </p:nvSpPr>
        <p:spPr bwMode="auto">
          <a:xfrm>
            <a:off x="4965700" y="2397125"/>
            <a:ext cx="152400" cy="152400"/>
          </a:xfrm>
          <a:prstGeom prst="ellipse">
            <a:avLst/>
          </a:prstGeom>
          <a:solidFill>
            <a:srgbClr val="000066"/>
          </a:solidFill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7742238" y="4813300"/>
            <a:ext cx="152400" cy="152400"/>
          </a:xfrm>
          <a:prstGeom prst="ellipse">
            <a:avLst/>
          </a:prstGeom>
          <a:solidFill>
            <a:srgbClr val="000066"/>
          </a:solidFill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4953000" y="4824413"/>
            <a:ext cx="152400" cy="152400"/>
          </a:xfrm>
          <a:prstGeom prst="ellipse">
            <a:avLst/>
          </a:prstGeom>
          <a:solidFill>
            <a:srgbClr val="000066"/>
          </a:solidFill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5130" name="Oval 10"/>
          <p:cNvSpPr>
            <a:spLocks noChangeArrowheads="1"/>
          </p:cNvSpPr>
          <p:nvPr/>
        </p:nvSpPr>
        <p:spPr bwMode="auto">
          <a:xfrm>
            <a:off x="7761288" y="2386013"/>
            <a:ext cx="152400" cy="152400"/>
          </a:xfrm>
          <a:prstGeom prst="ellipse">
            <a:avLst/>
          </a:prstGeom>
          <a:solidFill>
            <a:srgbClr val="000066"/>
          </a:solidFill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314700" y="1670051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5F5F5F"/>
                </a:solidFill>
              </a:rPr>
              <a:t>Many</a:t>
            </a: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3321050" y="5359401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5F5F5F"/>
                </a:solidFill>
              </a:rPr>
              <a:t>Few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4113213" y="5857876"/>
            <a:ext cx="109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5F5F5F"/>
                </a:solidFill>
              </a:rPr>
              <a:t>Narrow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5668962" y="5718175"/>
            <a:ext cx="25987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5F5F5F"/>
                </a:solidFill>
              </a:rPr>
              <a:t>Decision authority/autonomy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7923213" y="5900738"/>
            <a:ext cx="1098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5F5F5F"/>
                </a:solidFill>
              </a:rPr>
              <a:t>Broad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 rot="16200000">
            <a:off x="2560638" y="3363913"/>
            <a:ext cx="1682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Variety of tasks</a:t>
            </a:r>
          </a:p>
        </p:txBody>
      </p:sp>
      <p:sp>
        <p:nvSpPr>
          <p:cNvPr id="5138" name="Text Box 18"/>
          <p:cNvSpPr txBox="1">
            <a:spLocks noChangeArrowheads="1"/>
          </p:cNvSpPr>
          <p:nvPr/>
        </p:nvSpPr>
        <p:spPr bwMode="auto">
          <a:xfrm>
            <a:off x="4621214" y="4743450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5139" name="Text Box 19"/>
          <p:cNvSpPr txBox="1">
            <a:spLocks noChangeArrowheads="1"/>
          </p:cNvSpPr>
          <p:nvPr/>
        </p:nvSpPr>
        <p:spPr bwMode="auto">
          <a:xfrm>
            <a:off x="4627564" y="2286000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2</a:t>
            </a:r>
          </a:p>
        </p:txBody>
      </p:sp>
      <p:sp>
        <p:nvSpPr>
          <p:cNvPr id="5140" name="Text Box 20"/>
          <p:cNvSpPr txBox="1">
            <a:spLocks noChangeArrowheads="1"/>
          </p:cNvSpPr>
          <p:nvPr/>
        </p:nvSpPr>
        <p:spPr bwMode="auto">
          <a:xfrm>
            <a:off x="7412039" y="4754563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3</a:t>
            </a:r>
          </a:p>
        </p:txBody>
      </p: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7432676" y="2298700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4</a:t>
            </a:r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11603209" y="6267450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000" dirty="0"/>
              <a:t>3</a:t>
            </a:r>
          </a:p>
        </p:txBody>
      </p:sp>
      <p:sp>
        <p:nvSpPr>
          <p:cNvPr id="20" name="Tekstboks 19"/>
          <p:cNvSpPr txBox="1"/>
          <p:nvPr/>
        </p:nvSpPr>
        <p:spPr>
          <a:xfrm>
            <a:off x="8648700" y="5467350"/>
            <a:ext cx="1123950" cy="369332"/>
          </a:xfrm>
          <a:prstGeom prst="rect">
            <a:avLst/>
          </a:prstGeom>
          <a:solidFill>
            <a:srgbClr val="FF9900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Kap. 12</a:t>
            </a:r>
          </a:p>
        </p:txBody>
      </p:sp>
      <p:sp>
        <p:nvSpPr>
          <p:cNvPr id="21" name="Tekstboks 20"/>
          <p:cNvSpPr txBox="1"/>
          <p:nvPr/>
        </p:nvSpPr>
        <p:spPr>
          <a:xfrm>
            <a:off x="1662113" y="1581150"/>
            <a:ext cx="1576387" cy="584775"/>
          </a:xfrm>
          <a:prstGeom prst="rect">
            <a:avLst/>
          </a:prstGeom>
          <a:solidFill>
            <a:srgbClr val="FF9900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Kap. 13</a:t>
            </a:r>
          </a:p>
          <a:p>
            <a:pPr algn="ctr"/>
            <a:r>
              <a:rPr lang="da-DK" sz="1400" dirty="0"/>
              <a:t>(ikke pensum)</a:t>
            </a:r>
          </a:p>
        </p:txBody>
      </p:sp>
      <p:sp>
        <p:nvSpPr>
          <p:cNvPr id="22" name="Tekstboks 21"/>
          <p:cNvSpPr txBox="1"/>
          <p:nvPr/>
        </p:nvSpPr>
        <p:spPr>
          <a:xfrm>
            <a:off x="7239000" y="2933700"/>
            <a:ext cx="1314450" cy="369332"/>
          </a:xfrm>
          <a:prstGeom prst="rect">
            <a:avLst/>
          </a:prstGeom>
          <a:solidFill>
            <a:srgbClr val="000066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Generalist</a:t>
            </a:r>
          </a:p>
        </p:txBody>
      </p:sp>
      <p:sp>
        <p:nvSpPr>
          <p:cNvPr id="23" name="Tekstboks 22"/>
          <p:cNvSpPr txBox="1"/>
          <p:nvPr/>
        </p:nvSpPr>
        <p:spPr>
          <a:xfrm>
            <a:off x="7219950" y="4286250"/>
            <a:ext cx="1314450" cy="369332"/>
          </a:xfrm>
          <a:prstGeom prst="rect">
            <a:avLst/>
          </a:prstGeom>
          <a:solidFill>
            <a:srgbClr val="000066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Sælger</a:t>
            </a:r>
          </a:p>
        </p:txBody>
      </p:sp>
      <p:sp>
        <p:nvSpPr>
          <p:cNvPr id="24" name="Tekstboks 23"/>
          <p:cNvSpPr txBox="1"/>
          <p:nvPr/>
        </p:nvSpPr>
        <p:spPr>
          <a:xfrm>
            <a:off x="4419600" y="4286250"/>
            <a:ext cx="1314450" cy="369332"/>
          </a:xfrm>
          <a:prstGeom prst="rect">
            <a:avLst/>
          </a:prstGeom>
          <a:solidFill>
            <a:srgbClr val="000066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’Skriver’</a:t>
            </a:r>
          </a:p>
        </p:txBody>
      </p:sp>
      <p:sp>
        <p:nvSpPr>
          <p:cNvPr id="25" name="Tekstboks 24"/>
          <p:cNvSpPr txBox="1"/>
          <p:nvPr/>
        </p:nvSpPr>
        <p:spPr>
          <a:xfrm>
            <a:off x="4476750" y="2914650"/>
            <a:ext cx="1314450" cy="369332"/>
          </a:xfrm>
          <a:prstGeom prst="rect">
            <a:avLst/>
          </a:prstGeom>
          <a:solidFill>
            <a:srgbClr val="000066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Sekretær</a:t>
            </a:r>
          </a:p>
        </p:txBody>
      </p:sp>
      <p:cxnSp>
        <p:nvCxnSpPr>
          <p:cNvPr id="3" name="Lige pilforbindelse 2"/>
          <p:cNvCxnSpPr/>
          <p:nvPr/>
        </p:nvCxnSpPr>
        <p:spPr>
          <a:xfrm flipV="1">
            <a:off x="1722258" y="2286000"/>
            <a:ext cx="561975" cy="2014538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13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8137" y="337991"/>
            <a:ext cx="8804275" cy="1143000"/>
          </a:xfrm>
        </p:spPr>
        <p:txBody>
          <a:bodyPr/>
          <a:lstStyle/>
          <a:p>
            <a:pPr eaLnBrk="1" hangingPunct="1"/>
            <a:r>
              <a:rPr lang="en-US" dirty="0"/>
              <a:t>Centralization vs Decentralization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1608137" y="1230219"/>
            <a:ext cx="5998611" cy="5196114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600" dirty="0" err="1"/>
              <a:t>Automart</a:t>
            </a:r>
            <a:r>
              <a:rPr lang="en-US" sz="2600" dirty="0"/>
              <a:t> example</a:t>
            </a:r>
          </a:p>
          <a:p>
            <a:pPr lvl="1">
              <a:buClr>
                <a:srgbClr val="000066"/>
              </a:buClr>
            </a:pPr>
            <a:r>
              <a:rPr lang="en-US" sz="2400" dirty="0" err="1"/>
              <a:t>AutoMart</a:t>
            </a:r>
            <a:r>
              <a:rPr lang="en-US" sz="2400" dirty="0"/>
              <a:t> sells automobiles in two cities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Hierarchy includes CEO and two local managers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Which decisions are to be retained by the CEO (centralization)</a:t>
            </a:r>
          </a:p>
          <a:p>
            <a:pPr lvl="1">
              <a:buClr>
                <a:srgbClr val="000066"/>
              </a:buClr>
            </a:pPr>
            <a:r>
              <a:rPr lang="en-US" sz="2400" dirty="0"/>
              <a:t>Which decisions should be delegated to local managers (decentralization)? </a:t>
            </a:r>
          </a:p>
          <a:p>
            <a:pPr lvl="1">
              <a:buClr>
                <a:srgbClr val="000066"/>
              </a:buClr>
            </a:pPr>
            <a:r>
              <a:rPr lang="en-US" sz="2400" i="0" dirty="0"/>
              <a:t>4 possibilities:</a:t>
            </a:r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This choice determines on which level of the firms’ hierarchy to place the decision right!</a:t>
            </a:r>
          </a:p>
          <a:p>
            <a:pPr eaLnBrk="1" hangingPunct="1"/>
            <a:r>
              <a:rPr lang="en-US" sz="2400" dirty="0"/>
              <a:t>Ex. fig. 12.2; who should determine prices?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11559428" y="638277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6447FA69-7E01-441A-AFAF-EBD4473394C8}" type="slidenum">
              <a:rPr lang="en-US" sz="1000" smtClean="0"/>
              <a:pPr/>
              <a:t>4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2524387" y="3945083"/>
            <a:ext cx="3771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002060"/>
                </a:solidFill>
              </a:rPr>
              <a:t>Roberto (Bob) (cent.)?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002060"/>
                </a:solidFill>
              </a:rPr>
              <a:t>Dec.; Pekka            </a:t>
            </a:r>
            <a:r>
              <a:rPr lang="da-DK" dirty="0" err="1">
                <a:solidFill>
                  <a:srgbClr val="002060"/>
                </a:solidFill>
              </a:rPr>
              <a:t>Colleen</a:t>
            </a:r>
            <a:r>
              <a:rPr lang="da-DK" dirty="0">
                <a:solidFill>
                  <a:srgbClr val="002060"/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002060"/>
                </a:solidFill>
              </a:rPr>
              <a:t>Dec.; </a:t>
            </a:r>
            <a:r>
              <a:rPr lang="da-DK" dirty="0" err="1">
                <a:solidFill>
                  <a:srgbClr val="002060"/>
                </a:solidFill>
              </a:rPr>
              <a:t>Colleen</a:t>
            </a:r>
            <a:r>
              <a:rPr lang="da-DK" dirty="0">
                <a:solidFill>
                  <a:srgbClr val="002060"/>
                </a:solidFill>
              </a:rPr>
              <a:t>           Pekka?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>
                <a:solidFill>
                  <a:srgbClr val="002060"/>
                </a:solidFill>
              </a:rPr>
              <a:t>Dec.; Team – </a:t>
            </a:r>
            <a:r>
              <a:rPr lang="da-DK" dirty="0" err="1">
                <a:solidFill>
                  <a:srgbClr val="002060"/>
                </a:solidFill>
              </a:rPr>
              <a:t>Pekka/Colleen</a:t>
            </a:r>
            <a:r>
              <a:rPr lang="da-DK" dirty="0">
                <a:solidFill>
                  <a:srgbClr val="002060"/>
                </a:solidFill>
              </a:rPr>
              <a:t>? </a:t>
            </a:r>
          </a:p>
          <a:p>
            <a:pPr marL="342900" indent="-342900">
              <a:buFont typeface="+mj-lt"/>
              <a:buAutoNum type="arabicPeriod"/>
            </a:pPr>
            <a:endParaRPr lang="da-DK" dirty="0">
              <a:solidFill>
                <a:srgbClr val="002060"/>
              </a:solidFill>
            </a:endParaRPr>
          </a:p>
        </p:txBody>
      </p:sp>
      <p:sp>
        <p:nvSpPr>
          <p:cNvPr id="6" name="Nedadbuet pil 5"/>
          <p:cNvSpPr/>
          <p:nvPr/>
        </p:nvSpPr>
        <p:spPr>
          <a:xfrm>
            <a:off x="4257937" y="4186085"/>
            <a:ext cx="476250" cy="323850"/>
          </a:xfrm>
          <a:prstGeom prst="curvedDownArrow">
            <a:avLst>
              <a:gd name="adj1" fmla="val 25000"/>
              <a:gd name="adj2" fmla="val 50000"/>
              <a:gd name="adj3" fmla="val 1911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7" name="Nedadbuet pil 6"/>
          <p:cNvSpPr/>
          <p:nvPr/>
        </p:nvSpPr>
        <p:spPr>
          <a:xfrm>
            <a:off x="4257937" y="4454541"/>
            <a:ext cx="476250" cy="266700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4029337" y="4755106"/>
            <a:ext cx="1714500" cy="476250"/>
          </a:xfrm>
          <a:prstGeom prst="ellips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26" name="Picture 2" descr="Difference Between Centralization And Decentralization - Shiksha Online">
            <a:extLst>
              <a:ext uri="{FF2B5EF4-FFF2-40B4-BE49-F238E27FC236}">
                <a16:creationId xmlns:a16="http://schemas.microsoft.com/office/drawing/2014/main" id="{FBB84835-619D-D42F-E6E2-3C32633E41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5" t="10889" r="7098" b="11816"/>
          <a:stretch>
            <a:fillRect/>
          </a:stretch>
        </p:blipFill>
        <p:spPr bwMode="auto">
          <a:xfrm>
            <a:off x="8029837" y="2574213"/>
            <a:ext cx="3926864" cy="201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9CC95F-8DB7-F187-CFB0-111B8FC7811B}"/>
              </a:ext>
            </a:extLst>
          </p:cNvPr>
          <p:cNvSpPr txBox="1"/>
          <p:nvPr/>
        </p:nvSpPr>
        <p:spPr>
          <a:xfrm>
            <a:off x="7961490" y="4585829"/>
            <a:ext cx="324319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www.shiksha.com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/online-courses/articles/difference-between-centralization-and-decentralization/</a:t>
            </a:r>
          </a:p>
        </p:txBody>
      </p:sp>
    </p:spTree>
    <p:extLst>
      <p:ext uri="{BB962C8B-B14F-4D97-AF65-F5344CB8AC3E}">
        <p14:creationId xmlns:p14="http://schemas.microsoft.com/office/powerpoint/2010/main" val="1412523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57388" y="531813"/>
            <a:ext cx="8229600" cy="1143000"/>
          </a:xfrm>
        </p:spPr>
        <p:txBody>
          <a:bodyPr/>
          <a:lstStyle/>
          <a:p>
            <a:pPr>
              <a:buClr>
                <a:srgbClr val="990033"/>
              </a:buClr>
            </a:pPr>
            <a:r>
              <a:rPr lang="en-US" dirty="0">
                <a:solidFill>
                  <a:srgbClr val="006600"/>
                </a:solidFill>
              </a:rPr>
              <a:t>Benefits</a:t>
            </a:r>
            <a:r>
              <a:rPr lang="en-US" dirty="0"/>
              <a:t> of Decentralization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idx="1"/>
          </p:nvPr>
        </p:nvSpPr>
        <p:spPr>
          <a:xfrm>
            <a:off x="1957388" y="1900556"/>
            <a:ext cx="8229600" cy="4525963"/>
          </a:xfrm>
        </p:spPr>
        <p:txBody>
          <a:bodyPr>
            <a:normAutofit/>
          </a:bodyPr>
          <a:lstStyle/>
          <a:p>
            <a:pPr>
              <a:buClr>
                <a:srgbClr val="000066"/>
              </a:buClr>
            </a:pPr>
            <a:r>
              <a:rPr lang="en-US" sz="3200" dirty="0"/>
              <a:t>Effective use of local knowledge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local tastes and preferences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price sensitivities of particular customers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Conservation of management time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opportunity costs for managers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senior management </a:t>
            </a:r>
            <a:r>
              <a:rPr lang="en-US" sz="3200" i="0" dirty="0"/>
              <a:t>(should/can) </a:t>
            </a:r>
            <a:r>
              <a:rPr lang="en-US" sz="3200" dirty="0"/>
              <a:t>focus on strategy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Training and motivation for local managers</a:t>
            </a:r>
          </a:p>
        </p:txBody>
      </p:sp>
      <p:sp>
        <p:nvSpPr>
          <p:cNvPr id="29700" name="Rectangle 1028"/>
          <p:cNvSpPr>
            <a:spLocks noChangeArrowheads="1"/>
          </p:cNvSpPr>
          <p:nvPr/>
        </p:nvSpPr>
        <p:spPr bwMode="auto">
          <a:xfrm>
            <a:off x="11601562" y="6303408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62970F55-71A2-4F56-9F56-92B17A75F7AC}" type="slidenum">
              <a:rPr lang="en-US" sz="1000" smtClean="0"/>
              <a:pPr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886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522288"/>
            <a:ext cx="8229600" cy="1143000"/>
          </a:xfrm>
        </p:spPr>
        <p:txBody>
          <a:bodyPr/>
          <a:lstStyle/>
          <a:p>
            <a:pPr>
              <a:buClr>
                <a:srgbClr val="990033"/>
              </a:buClr>
            </a:pPr>
            <a:r>
              <a:rPr lang="en-US" dirty="0">
                <a:solidFill>
                  <a:srgbClr val="C00000"/>
                </a:solidFill>
              </a:rPr>
              <a:t>Costs</a:t>
            </a:r>
            <a:r>
              <a:rPr lang="en-US" dirty="0"/>
              <a:t> of Decentralization</a:t>
            </a:r>
          </a:p>
        </p:txBody>
      </p:sp>
      <p:sp>
        <p:nvSpPr>
          <p:cNvPr id="30723" name="Rectangle 1027"/>
          <p:cNvSpPr>
            <a:spLocks noGrp="1" noChangeArrowheads="1"/>
          </p:cNvSpPr>
          <p:nvPr>
            <p:ph idx="1"/>
          </p:nvPr>
        </p:nvSpPr>
        <p:spPr>
          <a:xfrm>
            <a:off x="2103120" y="1455738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C00000"/>
                </a:solidFill>
              </a:rPr>
              <a:t>Potential agency problems!!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/>
              <a:t>Effective control systems may be expensive – 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C00000"/>
                </a:solidFill>
              </a:rPr>
              <a:t>Coordination costs and failures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/>
              <a:t>Interaction effects can be ignored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/>
              <a:t>Duplication and cannibalization may occur (ex. in markets)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C00000"/>
                </a:solidFill>
              </a:rPr>
              <a:t>Less effective use of central information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/>
              <a:t>Product costs, promoting information flows and coordination among decentralized decision makers..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C00000"/>
                </a:solidFill>
              </a:rPr>
              <a:t>Forgone scale economics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C00000"/>
                </a:solidFill>
              </a:rPr>
              <a:t>Economies of scale needs coordination</a:t>
            </a:r>
          </a:p>
        </p:txBody>
      </p:sp>
      <p:sp>
        <p:nvSpPr>
          <p:cNvPr id="30724" name="Rectangle 1028"/>
          <p:cNvSpPr>
            <a:spLocks noChangeArrowheads="1"/>
          </p:cNvSpPr>
          <p:nvPr/>
        </p:nvSpPr>
        <p:spPr bwMode="auto">
          <a:xfrm>
            <a:off x="11194052" y="6074908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F083CC0D-B8B1-4B00-AB8A-705CD2A7377D}" type="slidenum">
              <a:rPr lang="en-US" sz="1000" smtClean="0"/>
              <a:pPr/>
              <a:t>6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10897800" y="4843993"/>
            <a:ext cx="1112520" cy="923330"/>
          </a:xfrm>
          <a:prstGeom prst="rect">
            <a:avLst/>
          </a:prstGeom>
          <a:solidFill>
            <a:srgbClr val="003300"/>
          </a:solidFill>
          <a:ln w="28575"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Vigtigt - ramme 382ø.</a:t>
            </a:r>
          </a:p>
        </p:txBody>
      </p:sp>
    </p:spTree>
    <p:extLst>
      <p:ext uri="{BB962C8B-B14F-4D97-AF65-F5344CB8AC3E}">
        <p14:creationId xmlns:p14="http://schemas.microsoft.com/office/powerpoint/2010/main" val="217430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49288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 dirty="0"/>
              <a:t>Determining the Level of Decentralization (1)</a:t>
            </a:r>
            <a:br>
              <a:rPr lang="en-US" sz="3600" dirty="0"/>
            </a:br>
            <a:r>
              <a:rPr lang="en-US" sz="3600" dirty="0"/>
              <a:t>– The Firms Choice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970088" y="2070101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800" dirty="0"/>
              <a:t>D is the degree of decentralization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/>
              <a:t>If D = 0, all pricing decisions are made by Bob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B, A and C are positive constants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006600"/>
                </a:solidFill>
              </a:rPr>
              <a:t>Benefits of decentralization = B</a:t>
            </a:r>
            <a:r>
              <a:rPr lang="en-US" sz="2800" dirty="0">
                <a:solidFill>
                  <a:srgbClr val="006600"/>
                </a:solidFill>
                <a:sym typeface="Symbol" pitchFamily="18" charset="2"/>
              </a:rPr>
              <a:t></a:t>
            </a:r>
            <a:r>
              <a:rPr lang="en-US" sz="2800" dirty="0">
                <a:solidFill>
                  <a:srgbClr val="006600"/>
                </a:solidFill>
              </a:rPr>
              <a:t>D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C00000"/>
                </a:solidFill>
              </a:rPr>
              <a:t>Costs of decentralization =(A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</a:t>
            </a:r>
            <a:r>
              <a:rPr lang="en-US" sz="2800" dirty="0">
                <a:solidFill>
                  <a:srgbClr val="C00000"/>
                </a:solidFill>
              </a:rPr>
              <a:t>D)+(C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</a:t>
            </a:r>
            <a:r>
              <a:rPr lang="en-US" sz="2800" dirty="0">
                <a:solidFill>
                  <a:srgbClr val="C00000"/>
                </a:solidFill>
              </a:rPr>
              <a:t>D</a:t>
            </a:r>
            <a:r>
              <a:rPr lang="en-US" sz="2800" baseline="30000" dirty="0">
                <a:solidFill>
                  <a:srgbClr val="C00000"/>
                </a:solidFill>
              </a:rPr>
              <a:t>2</a:t>
            </a:r>
            <a:r>
              <a:rPr lang="en-US" sz="2800" dirty="0">
                <a:solidFill>
                  <a:srgbClr val="C00000"/>
                </a:solidFill>
              </a:rPr>
              <a:t>)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Where AD represents </a:t>
            </a:r>
            <a:r>
              <a:rPr lang="en-US" sz="2800" dirty="0">
                <a:solidFill>
                  <a:srgbClr val="C00000"/>
                </a:solidFill>
              </a:rPr>
              <a:t>contracting costs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CD represents </a:t>
            </a:r>
            <a:r>
              <a:rPr lang="en-US" sz="2800" dirty="0">
                <a:solidFill>
                  <a:srgbClr val="C00000"/>
                </a:solidFill>
              </a:rPr>
              <a:t>coordination/information costs</a:t>
            </a:r>
            <a:r>
              <a:rPr lang="en-US" sz="2800" dirty="0"/>
              <a:t> (se </a:t>
            </a:r>
            <a:r>
              <a:rPr lang="en-US" sz="2800" dirty="0" err="1"/>
              <a:t>og</a:t>
            </a:r>
            <a:r>
              <a:rPr lang="en-US" sz="2800" dirty="0"/>
              <a:t> </a:t>
            </a:r>
            <a:r>
              <a:rPr lang="en-US" sz="2800" dirty="0" err="1"/>
              <a:t>ramme</a:t>
            </a:r>
            <a:r>
              <a:rPr lang="en-US" sz="2800" dirty="0"/>
              <a:t> note 8!)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1488351" y="634984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199FC983-0040-4E95-B9EA-D59AC75A4D39}" type="slidenum">
              <a:rPr lang="en-US" sz="1000" smtClean="0"/>
              <a:pPr/>
              <a:t>7</a:t>
            </a:fld>
            <a:endParaRPr lang="en-US" sz="1000" dirty="0"/>
          </a:p>
        </p:txBody>
      </p:sp>
      <p:cxnSp>
        <p:nvCxnSpPr>
          <p:cNvPr id="6" name="Lige pilforbindelse 5"/>
          <p:cNvCxnSpPr/>
          <p:nvPr/>
        </p:nvCxnSpPr>
        <p:spPr>
          <a:xfrm rot="5400000" flipH="1" flipV="1">
            <a:off x="6671684" y="4800203"/>
            <a:ext cx="32385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Lige pilforbindelse 6"/>
          <p:cNvCxnSpPr>
            <a:cxnSpLocks/>
          </p:cNvCxnSpPr>
          <p:nvPr/>
        </p:nvCxnSpPr>
        <p:spPr>
          <a:xfrm flipV="1">
            <a:off x="6691256" y="4639072"/>
            <a:ext cx="1198859" cy="8365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7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3999" y="895350"/>
            <a:ext cx="10010503" cy="920387"/>
          </a:xfrm>
        </p:spPr>
        <p:txBody>
          <a:bodyPr>
            <a:normAutofit fontScale="90000"/>
          </a:bodyPr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Determining the Level of Decentralization (2)</a:t>
            </a:r>
          </a:p>
        </p:txBody>
      </p:sp>
      <p:sp>
        <p:nvSpPr>
          <p:cNvPr id="31747" name="Rectangle 1027"/>
          <p:cNvSpPr>
            <a:spLocks noGrp="1" noChangeArrowheads="1"/>
          </p:cNvSpPr>
          <p:nvPr>
            <p:ph idx="1"/>
          </p:nvPr>
        </p:nvSpPr>
        <p:spPr>
          <a:xfrm>
            <a:off x="1885950" y="1943712"/>
            <a:ext cx="8229600" cy="3071812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400" dirty="0"/>
              <a:t>Objective: maximize net benefits</a:t>
            </a:r>
          </a:p>
          <a:p>
            <a:pPr algn="ctr" eaLnBrk="1" hangingPunct="1">
              <a:buClr>
                <a:srgbClr val="000066"/>
              </a:buClr>
            </a:pPr>
            <a:r>
              <a:rPr lang="en-US" sz="2400" dirty="0"/>
              <a:t>NB = </a:t>
            </a:r>
            <a:r>
              <a:rPr lang="en-US" sz="2400" dirty="0">
                <a:solidFill>
                  <a:srgbClr val="006600"/>
                </a:solidFill>
              </a:rPr>
              <a:t>BD </a:t>
            </a:r>
            <a:r>
              <a:rPr lang="en-US" sz="2400" dirty="0">
                <a:solidFill>
                  <a:schemeClr val="tx1"/>
                </a:solidFill>
              </a:rPr>
              <a:t>-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AD </a:t>
            </a:r>
            <a:r>
              <a:rPr lang="en-US" sz="2400" dirty="0"/>
              <a:t>- </a:t>
            </a:r>
            <a:r>
              <a:rPr lang="en-US" sz="2400" dirty="0">
                <a:solidFill>
                  <a:srgbClr val="C00000"/>
                </a:solidFill>
              </a:rPr>
              <a:t>CD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/>
              <a:t>    …..which occurs when</a:t>
            </a:r>
          </a:p>
          <a:p>
            <a:pPr algn="ctr" eaLnBrk="1" hangingPunct="1">
              <a:buClr>
                <a:srgbClr val="000066"/>
              </a:buClr>
              <a:buFontTx/>
              <a:buNone/>
            </a:pPr>
            <a:r>
              <a:rPr lang="en-US" sz="2400" dirty="0"/>
              <a:t>D* = (B-A)/2C</a:t>
            </a:r>
          </a:p>
          <a:p>
            <a:pPr algn="ctr" eaLnBrk="1" hangingPunct="1">
              <a:buClr>
                <a:srgbClr val="000066"/>
              </a:buClr>
              <a:buFontTx/>
              <a:buNone/>
            </a:pPr>
            <a:r>
              <a:rPr lang="en-US" sz="2400" dirty="0"/>
              <a:t>(which require a bit - but just at bit - of calculus)</a:t>
            </a:r>
          </a:p>
        </p:txBody>
      </p:sp>
      <p:sp>
        <p:nvSpPr>
          <p:cNvPr id="31748" name="Rectangle 1028"/>
          <p:cNvSpPr>
            <a:spLocks noChangeArrowheads="1"/>
          </p:cNvSpPr>
          <p:nvPr/>
        </p:nvSpPr>
        <p:spPr bwMode="auto">
          <a:xfrm>
            <a:off x="11451575" y="6242474"/>
            <a:ext cx="34597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831D5D0D-9FC7-4946-8181-2EEF2C981CCD}" type="slidenum">
              <a:rPr lang="en-US" sz="1000" smtClean="0"/>
              <a:pPr/>
              <a:t>8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9220200" y="3666406"/>
            <a:ext cx="1790700" cy="1200329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/>
              <a:t>Helt </a:t>
            </a:r>
            <a:r>
              <a:rPr lang="da-DK" dirty="0" err="1"/>
              <a:t>straight</a:t>
            </a:r>
            <a:r>
              <a:rPr lang="da-DK" dirty="0"/>
              <a:t> – se note 9! Rødder, lokale min./max.</a:t>
            </a:r>
          </a:p>
        </p:txBody>
      </p:sp>
      <p:sp>
        <p:nvSpPr>
          <p:cNvPr id="6" name="Tekstboks 5"/>
          <p:cNvSpPr txBox="1"/>
          <p:nvPr/>
        </p:nvSpPr>
        <p:spPr>
          <a:xfrm>
            <a:off x="3984978" y="5790065"/>
            <a:ext cx="2358672" cy="369332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/>
              <a:t>Ramme p. 385-386m.</a:t>
            </a:r>
          </a:p>
        </p:txBody>
      </p:sp>
      <p:sp>
        <p:nvSpPr>
          <p:cNvPr id="7" name="Tekstboks 6"/>
          <p:cNvSpPr txBox="1"/>
          <p:nvPr/>
        </p:nvSpPr>
        <p:spPr>
          <a:xfrm>
            <a:off x="6343650" y="4866735"/>
            <a:ext cx="2876550" cy="923330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/>
              <a:t>Lidt mere kompliceret, hvis mere end én beslutnings-rettighed skal allokeres.</a:t>
            </a:r>
          </a:p>
        </p:txBody>
      </p:sp>
    </p:spTree>
    <p:extLst>
      <p:ext uri="{BB962C8B-B14F-4D97-AF65-F5344CB8AC3E}">
        <p14:creationId xmlns:p14="http://schemas.microsoft.com/office/powerpoint/2010/main" val="93751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96913"/>
            <a:ext cx="8229600" cy="1066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Determining the Level of Decentralization (3)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4454525" y="2532063"/>
            <a:ext cx="0" cy="328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4467226" y="5838825"/>
            <a:ext cx="3446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4454526" y="2989263"/>
            <a:ext cx="2778125" cy="282575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2" name="Freeform 8"/>
          <p:cNvSpPr>
            <a:spLocks/>
          </p:cNvSpPr>
          <p:nvPr/>
        </p:nvSpPr>
        <p:spPr bwMode="auto">
          <a:xfrm>
            <a:off x="4489451" y="2708275"/>
            <a:ext cx="2416175" cy="3094038"/>
          </a:xfrm>
          <a:custGeom>
            <a:avLst/>
            <a:gdLst/>
            <a:ahLst/>
            <a:cxnLst>
              <a:cxn ang="0">
                <a:pos x="0" y="1949"/>
              </a:cxn>
              <a:cxn ang="0">
                <a:pos x="178" y="1935"/>
              </a:cxn>
              <a:cxn ang="0">
                <a:pos x="451" y="1876"/>
              </a:cxn>
              <a:cxn ang="0">
                <a:pos x="790" y="1691"/>
              </a:cxn>
              <a:cxn ang="0">
                <a:pos x="1086" y="1366"/>
              </a:cxn>
              <a:cxn ang="0">
                <a:pos x="1322" y="886"/>
              </a:cxn>
              <a:cxn ang="0">
                <a:pos x="1455" y="399"/>
              </a:cxn>
              <a:cxn ang="0">
                <a:pos x="1522" y="0"/>
              </a:cxn>
            </a:cxnLst>
            <a:rect l="0" t="0" r="r" b="b"/>
            <a:pathLst>
              <a:path w="1522" h="1949">
                <a:moveTo>
                  <a:pt x="0" y="1949"/>
                </a:moveTo>
                <a:cubicBezTo>
                  <a:pt x="51" y="1948"/>
                  <a:pt x="103" y="1947"/>
                  <a:pt x="178" y="1935"/>
                </a:cubicBezTo>
                <a:cubicBezTo>
                  <a:pt x="253" y="1923"/>
                  <a:pt x="349" y="1917"/>
                  <a:pt x="451" y="1876"/>
                </a:cubicBezTo>
                <a:cubicBezTo>
                  <a:pt x="553" y="1835"/>
                  <a:pt x="684" y="1776"/>
                  <a:pt x="790" y="1691"/>
                </a:cubicBezTo>
                <a:cubicBezTo>
                  <a:pt x="896" y="1606"/>
                  <a:pt x="997" y="1500"/>
                  <a:pt x="1086" y="1366"/>
                </a:cubicBezTo>
                <a:cubicBezTo>
                  <a:pt x="1175" y="1232"/>
                  <a:pt x="1261" y="1047"/>
                  <a:pt x="1322" y="886"/>
                </a:cubicBezTo>
                <a:cubicBezTo>
                  <a:pt x="1383" y="725"/>
                  <a:pt x="1422" y="547"/>
                  <a:pt x="1455" y="399"/>
                </a:cubicBezTo>
                <a:cubicBezTo>
                  <a:pt x="1488" y="251"/>
                  <a:pt x="1505" y="125"/>
                  <a:pt x="1522" y="0"/>
                </a:cubicBezTo>
              </a:path>
            </a:pathLst>
          </a:custGeom>
          <a:noFill/>
          <a:ln w="28575" cmpd="sng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5908675" y="4325939"/>
            <a:ext cx="0" cy="1512887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5392739" y="6132513"/>
            <a:ext cx="210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Decentralization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5684839" y="5838825"/>
            <a:ext cx="422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/>
              <a:t>D*</a:t>
            </a: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7926388" y="5684838"/>
            <a:ext cx="387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 rot="16200000">
            <a:off x="2581275" y="3983038"/>
            <a:ext cx="2990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Total costs and benefits (in dollars)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4313239" y="2168525"/>
            <a:ext cx="269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6823075" y="2381250"/>
            <a:ext cx="736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C00000"/>
                </a:solidFill>
              </a:rPr>
              <a:t>Costs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7245350" y="2767013"/>
            <a:ext cx="901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6600"/>
                </a:solidFill>
              </a:rPr>
              <a:t>Benefits</a:t>
            </a:r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11234511" y="5783037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6F3F54E4-574C-4552-8347-B440BCB76891}" type="slidenum">
              <a:rPr lang="en-US" sz="1000" smtClean="0"/>
              <a:pPr/>
              <a:t>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85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835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Determining the Level of Decentralization (4)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2081213"/>
            <a:ext cx="8229600" cy="4525962"/>
          </a:xfrm>
        </p:spPr>
        <p:txBody>
          <a:bodyPr/>
          <a:lstStyle/>
          <a:p>
            <a:endParaRPr lang="en-US" dirty="0"/>
          </a:p>
          <a:p>
            <a:r>
              <a:rPr lang="en-US" sz="3600" dirty="0"/>
              <a:t>Over time, the costs and benefits will change</a:t>
            </a:r>
          </a:p>
          <a:p>
            <a:r>
              <a:rPr lang="en-US" sz="3600" dirty="0"/>
              <a:t>Information </a:t>
            </a:r>
            <a:r>
              <a:rPr lang="en-US" sz="3600" dirty="0">
                <a:solidFill>
                  <a:srgbClr val="C00000"/>
                </a:solidFill>
              </a:rPr>
              <a:t>costs </a:t>
            </a:r>
            <a:r>
              <a:rPr lang="en-US" sz="3600" dirty="0"/>
              <a:t>and incentive </a:t>
            </a:r>
            <a:r>
              <a:rPr lang="en-US" sz="3600" dirty="0">
                <a:solidFill>
                  <a:srgbClr val="C00000"/>
                </a:solidFill>
              </a:rPr>
              <a:t>costs </a:t>
            </a:r>
            <a:r>
              <a:rPr lang="en-US" sz="3600" dirty="0"/>
              <a:t>may fall as technologies change</a:t>
            </a:r>
          </a:p>
          <a:p>
            <a:r>
              <a:rPr lang="en-US" sz="3600" dirty="0">
                <a:solidFill>
                  <a:srgbClr val="006600"/>
                </a:solidFill>
              </a:rPr>
              <a:t>Benefits</a:t>
            </a:r>
            <a:r>
              <a:rPr lang="en-US" sz="3600" dirty="0"/>
              <a:t> may increase if the importance of local knowledge increases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0872017" y="5708469"/>
            <a:ext cx="131998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B4D9B641-BF16-48BF-B56B-3AF08C13622F}" type="slidenum">
              <a:rPr lang="en-US" sz="1000" smtClean="0"/>
              <a:pPr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0201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27038"/>
            <a:ext cx="8229600" cy="1143000"/>
          </a:xfrm>
        </p:spPr>
        <p:txBody>
          <a:bodyPr/>
          <a:lstStyle/>
          <a:p>
            <a:r>
              <a:rPr lang="en-US" dirty="0"/>
              <a:t>Management Implications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570038"/>
            <a:ext cx="9601200" cy="4297362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3200" dirty="0"/>
              <a:t>The net </a:t>
            </a:r>
            <a:r>
              <a:rPr lang="en-US" sz="3200" dirty="0">
                <a:solidFill>
                  <a:srgbClr val="006600"/>
                </a:solidFill>
              </a:rPr>
              <a:t>benefits</a:t>
            </a:r>
            <a:r>
              <a:rPr lang="en-US" sz="3200" dirty="0"/>
              <a:t> of decentralization will be highest in rapidly changing environments</a:t>
            </a:r>
          </a:p>
          <a:p>
            <a:r>
              <a:rPr lang="en-US" sz="3200" dirty="0">
                <a:solidFill>
                  <a:srgbClr val="006600"/>
                </a:solidFill>
              </a:rPr>
              <a:t>Benefits</a:t>
            </a:r>
            <a:r>
              <a:rPr lang="en-US" sz="3200" dirty="0"/>
              <a:t> of decentralization increases as a firm enters more markets with a broader array of products</a:t>
            </a:r>
          </a:p>
          <a:p>
            <a:pPr lvl="1"/>
            <a:r>
              <a:rPr lang="en-US" sz="3200" dirty="0"/>
              <a:t>Local/specific knowledge/information become more important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11067416" y="6113417"/>
            <a:ext cx="937350" cy="250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FF063864-B114-4853-98DD-149E72C47AEB}" type="slidenum">
              <a:rPr lang="en-US" sz="1000" smtClean="0"/>
              <a:pPr/>
              <a:t>11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281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6763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006600"/>
                </a:solidFill>
              </a:rPr>
              <a:t>Benefits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Costs</a:t>
            </a:r>
            <a:r>
              <a:rPr lang="en-US" dirty="0"/>
              <a:t> of Team Decision Making 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2035175"/>
            <a:ext cx="5903843" cy="4577660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006600"/>
                </a:solidFill>
              </a:rPr>
              <a:t>Benefits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of team decision making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800" dirty="0"/>
              <a:t>improved use of dispersed specific knowledge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800" dirty="0"/>
              <a:t>employee buy-in (p. 391); </a:t>
            </a:r>
            <a:r>
              <a:rPr lang="en-US" sz="2800" dirty="0" err="1"/>
              <a:t>idéen</a:t>
            </a:r>
            <a:r>
              <a:rPr lang="en-US" sz="2800" dirty="0"/>
              <a:t> om commitment!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C00000"/>
                </a:solidFill>
              </a:rPr>
              <a:t>Costs </a:t>
            </a:r>
            <a:r>
              <a:rPr lang="en-US" sz="2800" dirty="0"/>
              <a:t>of team decision making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800" dirty="0"/>
              <a:t>collective-action problems (slow speed, 392ø.; “a camel is a horse designed by a committee”)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800" dirty="0"/>
              <a:t>free-rider problems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1239954" y="6056154"/>
            <a:ext cx="63418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BD4DB0F6-7433-4CBD-B7B8-08667512F8F6}" type="slidenum">
              <a:rPr lang="en-US" sz="1000" smtClean="0"/>
              <a:pPr/>
              <a:t>12</a:t>
            </a:fld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83913-729D-53A2-7C13-4E33F1B33F98}"/>
              </a:ext>
            </a:extLst>
          </p:cNvPr>
          <p:cNvSpPr txBox="1"/>
          <p:nvPr/>
        </p:nvSpPr>
        <p:spPr>
          <a:xfrm>
            <a:off x="8327859" y="3833675"/>
            <a:ext cx="274305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intellisoft.io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/team-based-organizational-structure-to-optimize-your-teams-output/</a:t>
            </a:r>
          </a:p>
        </p:txBody>
      </p:sp>
      <p:pic>
        <p:nvPicPr>
          <p:cNvPr id="2052" name="Picture 4" descr="Development Team Organizational Structure To Revolutionize Your Teamwork">
            <a:extLst>
              <a:ext uri="{FF2B5EF4-FFF2-40B4-BE49-F238E27FC236}">
                <a16:creationId xmlns:a16="http://schemas.microsoft.com/office/drawing/2014/main" id="{13EFD8C1-084A-732A-C0CC-39494D173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" t="9469" r="28107" b="3575"/>
          <a:stretch>
            <a:fillRect/>
          </a:stretch>
        </p:blipFill>
        <p:spPr bwMode="auto">
          <a:xfrm>
            <a:off x="8623251" y="1700969"/>
            <a:ext cx="2152276" cy="215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ree rider economics">
            <a:extLst>
              <a:ext uri="{FF2B5EF4-FFF2-40B4-BE49-F238E27FC236}">
                <a16:creationId xmlns:a16="http://schemas.microsoft.com/office/drawing/2014/main" id="{1CAF059E-4725-C5D7-CE66-25EFB0172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8" t="40870" r="8029" b="3283"/>
          <a:stretch>
            <a:fillRect/>
          </a:stretch>
        </p:blipFill>
        <p:spPr bwMode="auto">
          <a:xfrm>
            <a:off x="7978959" y="4120789"/>
            <a:ext cx="3578086" cy="187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72772D-4449-83A0-9230-9014D3F87A1B}"/>
              </a:ext>
            </a:extLst>
          </p:cNvPr>
          <p:cNvSpPr txBox="1"/>
          <p:nvPr/>
        </p:nvSpPr>
        <p:spPr>
          <a:xfrm>
            <a:off x="7885043" y="5949020"/>
            <a:ext cx="18982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plutuseducation.com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/blog/free-rider-economics/</a:t>
            </a:r>
          </a:p>
        </p:txBody>
      </p:sp>
    </p:spTree>
    <p:extLst>
      <p:ext uri="{BB962C8B-B14F-4D97-AF65-F5344CB8AC3E}">
        <p14:creationId xmlns:p14="http://schemas.microsoft.com/office/powerpoint/2010/main" val="175557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uiExpand="1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27818" y="113439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buClr>
                <a:srgbClr val="990033"/>
              </a:buClr>
            </a:pPr>
            <a:br>
              <a:rPr lang="en-US" dirty="0"/>
            </a:br>
            <a:r>
              <a:rPr lang="en-US" dirty="0"/>
              <a:t>Management Implications of Team Decision Making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011681"/>
            <a:ext cx="9601200" cy="4243456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Clr>
                <a:srgbClr val="990033"/>
              </a:buClr>
            </a:pPr>
            <a:endParaRPr lang="en-US" dirty="0"/>
          </a:p>
          <a:p>
            <a:pPr eaLnBrk="1" hangingPunct="1">
              <a:buClr>
                <a:srgbClr val="990033"/>
              </a:buClr>
            </a:pPr>
            <a:r>
              <a:rPr lang="en-US" sz="3200" dirty="0"/>
              <a:t>Team decisions are more beneficial when</a:t>
            </a:r>
          </a:p>
          <a:p>
            <a:pPr lvl="1" eaLnBrk="1" hangingPunct="1">
              <a:buClr>
                <a:srgbClr val="990033"/>
              </a:buClr>
              <a:buFontTx/>
              <a:buChar char="•"/>
            </a:pPr>
            <a:r>
              <a:rPr lang="en-US" sz="3200" dirty="0"/>
              <a:t>Specific knowledge is dispersed</a:t>
            </a:r>
          </a:p>
          <a:p>
            <a:pPr lvl="1" eaLnBrk="1" hangingPunct="1">
              <a:buClr>
                <a:srgbClr val="990033"/>
              </a:buClr>
              <a:buFontTx/>
              <a:buChar char="•"/>
            </a:pPr>
            <a:r>
              <a:rPr lang="en-US" sz="3200" dirty="0"/>
              <a:t>It is easy to control </a:t>
            </a:r>
          </a:p>
          <a:p>
            <a:pPr lvl="2">
              <a:buClr>
                <a:srgbClr val="990033"/>
              </a:buClr>
              <a:buFontTx/>
              <a:buChar char="•"/>
            </a:pPr>
            <a:r>
              <a:rPr lang="en-US" sz="3000" dirty="0"/>
              <a:t>a) the costs of collective decision making and </a:t>
            </a:r>
          </a:p>
          <a:p>
            <a:pPr lvl="2">
              <a:buClr>
                <a:srgbClr val="990033"/>
              </a:buClr>
              <a:buFontTx/>
              <a:buChar char="•"/>
            </a:pPr>
            <a:r>
              <a:rPr lang="en-US" sz="3000" dirty="0"/>
              <a:t>b) the free-rider problem</a:t>
            </a:r>
          </a:p>
          <a:p>
            <a:pPr eaLnBrk="1" hangingPunct="1">
              <a:buClr>
                <a:srgbClr val="990033"/>
              </a:buClr>
            </a:pPr>
            <a:r>
              <a:rPr lang="en-US" sz="3200" dirty="0"/>
              <a:t>Optimal team size</a:t>
            </a:r>
          </a:p>
          <a:p>
            <a:pPr lvl="1" eaLnBrk="1" hangingPunct="1">
              <a:buClr>
                <a:srgbClr val="990033"/>
              </a:buClr>
              <a:buFontTx/>
              <a:buChar char="•"/>
            </a:pPr>
            <a:r>
              <a:rPr lang="en-US" sz="3200" dirty="0"/>
              <a:t>Consider the trade-off between the increased knowledge base and the costs of team decision making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1177906" y="6008916"/>
            <a:ext cx="6047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1FE8633C-5E67-46C7-925C-9A6C78B64C7D}" type="slidenum">
              <a:rPr lang="en-US" sz="1000" smtClean="0"/>
              <a:pPr/>
              <a:t>13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936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27063"/>
            <a:ext cx="9144000" cy="1143000"/>
          </a:xfrm>
        </p:spPr>
        <p:txBody>
          <a:bodyPr/>
          <a:lstStyle/>
          <a:p>
            <a:r>
              <a:rPr lang="en-US" dirty="0"/>
              <a:t>Decision </a:t>
            </a:r>
            <a:r>
              <a:rPr lang="en-US" dirty="0">
                <a:solidFill>
                  <a:srgbClr val="C0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(1)</a:t>
            </a:r>
            <a:br>
              <a:rPr lang="en-US" dirty="0"/>
            </a:br>
            <a:r>
              <a:rPr lang="en-US" sz="2000" dirty="0"/>
              <a:t>(</a:t>
            </a:r>
            <a:r>
              <a:rPr lang="en-US" sz="2000" dirty="0" err="1"/>
              <a:t>meget</a:t>
            </a:r>
            <a:r>
              <a:rPr lang="en-US" sz="2000" dirty="0"/>
              <a:t> </a:t>
            </a:r>
            <a:r>
              <a:rPr lang="en-US" sz="2000" dirty="0" err="1"/>
              <a:t>centralt</a:t>
            </a:r>
            <a:r>
              <a:rPr lang="en-US" sz="2000" dirty="0"/>
              <a:t> </a:t>
            </a:r>
            <a:r>
              <a:rPr lang="en-US" sz="2000" dirty="0" err="1"/>
              <a:t>begrebspar</a:t>
            </a:r>
            <a:r>
              <a:rPr lang="en-US" sz="2000" dirty="0"/>
              <a:t> med </a:t>
            </a:r>
            <a:r>
              <a:rPr lang="en-US" sz="2000" u="sng" dirty="0" err="1"/>
              <a:t>udtalt</a:t>
            </a:r>
            <a:r>
              <a:rPr lang="en-US" sz="2000" dirty="0"/>
              <a:t> </a:t>
            </a:r>
            <a:r>
              <a:rPr lang="en-US" sz="2000" dirty="0" err="1"/>
              <a:t>relevans</a:t>
            </a:r>
            <a:r>
              <a:rPr lang="en-US" sz="2000" dirty="0"/>
              <a:t> </a:t>
            </a:r>
            <a:r>
              <a:rPr lang="en-US" sz="2000" dirty="0" err="1"/>
              <a:t>også</a:t>
            </a:r>
            <a:r>
              <a:rPr lang="en-US" sz="2000" dirty="0"/>
              <a:t> for VØS (5)) 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962150" y="1620838"/>
            <a:ext cx="6386720" cy="4525962"/>
          </a:xfrm>
        </p:spPr>
        <p:txBody>
          <a:bodyPr>
            <a:normAutofit fontScale="92500"/>
          </a:bodyPr>
          <a:lstStyle/>
          <a:p>
            <a:endParaRPr lang="en-US" i="1" dirty="0">
              <a:solidFill>
                <a:srgbClr val="FF0000"/>
              </a:solidFill>
            </a:endParaRPr>
          </a:p>
          <a:p>
            <a:endParaRPr lang="en-US" i="1" dirty="0">
              <a:solidFill>
                <a:srgbClr val="FF0000"/>
              </a:solidFill>
            </a:endParaRPr>
          </a:p>
          <a:p>
            <a:r>
              <a:rPr lang="en-US" sz="4000" i="1" dirty="0">
                <a:solidFill>
                  <a:srgbClr val="C00000"/>
                </a:solidFill>
              </a:rPr>
              <a:t>Decision management is the </a:t>
            </a:r>
            <a:r>
              <a:rPr lang="en-US" sz="4000" i="1" u="sng" dirty="0">
                <a:solidFill>
                  <a:srgbClr val="C00000"/>
                </a:solidFill>
              </a:rPr>
              <a:t>initiation</a:t>
            </a:r>
            <a:r>
              <a:rPr lang="en-US" sz="4000" i="1" dirty="0">
                <a:solidFill>
                  <a:srgbClr val="C00000"/>
                </a:solidFill>
              </a:rPr>
              <a:t> and </a:t>
            </a:r>
            <a:r>
              <a:rPr lang="en-US" sz="4000" i="1" u="sng" dirty="0">
                <a:solidFill>
                  <a:srgbClr val="C00000"/>
                </a:solidFill>
              </a:rPr>
              <a:t>implementation</a:t>
            </a:r>
            <a:r>
              <a:rPr lang="en-US" sz="4000" i="1" dirty="0">
                <a:solidFill>
                  <a:srgbClr val="C00000"/>
                </a:solidFill>
              </a:rPr>
              <a:t> of decisions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Decision control is the </a:t>
            </a:r>
            <a:r>
              <a:rPr lang="en-US" sz="4000" i="1" u="sng" dirty="0">
                <a:solidFill>
                  <a:srgbClr val="002060"/>
                </a:solidFill>
              </a:rPr>
              <a:t>ratifying</a:t>
            </a:r>
            <a:r>
              <a:rPr lang="en-US" sz="4000" i="1" dirty="0">
                <a:solidFill>
                  <a:srgbClr val="002060"/>
                </a:solidFill>
              </a:rPr>
              <a:t> and </a:t>
            </a:r>
            <a:r>
              <a:rPr lang="en-US" sz="4000" i="1" u="sng" dirty="0">
                <a:solidFill>
                  <a:srgbClr val="002060"/>
                </a:solidFill>
              </a:rPr>
              <a:t>monitoring</a:t>
            </a:r>
            <a:r>
              <a:rPr lang="en-US" sz="4000" i="1" dirty="0">
                <a:solidFill>
                  <a:srgbClr val="002060"/>
                </a:solidFill>
              </a:rPr>
              <a:t> of decisions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11089730" y="6146800"/>
            <a:ext cx="56233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B2A52ECE-523E-4D8A-855D-DA3CE9B07CFC}" type="slidenum">
              <a:rPr lang="en-US" sz="1000" smtClean="0"/>
              <a:pPr/>
              <a:t>14</a:t>
            </a:fld>
            <a:endParaRPr lang="en-US" sz="1000" dirty="0"/>
          </a:p>
        </p:txBody>
      </p:sp>
      <p:pic>
        <p:nvPicPr>
          <p:cNvPr id="3074" name="Picture 2" descr="Understanding-Decision-Making">
            <a:extLst>
              <a:ext uri="{FF2B5EF4-FFF2-40B4-BE49-F238E27FC236}">
                <a16:creationId xmlns:a16="http://schemas.microsoft.com/office/drawing/2014/main" id="{A7BD1CFB-D443-44DE-BC87-40487F0DA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" t="9702" r="46205" b="6218"/>
          <a:stretch>
            <a:fillRect/>
          </a:stretch>
        </p:blipFill>
        <p:spPr bwMode="auto">
          <a:xfrm>
            <a:off x="9041389" y="2975415"/>
            <a:ext cx="2676939" cy="211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DBDEFF-8C33-A1E5-D376-469A6463C2A3}"/>
              </a:ext>
            </a:extLst>
          </p:cNvPr>
          <p:cNvSpPr txBox="1"/>
          <p:nvPr/>
        </p:nvSpPr>
        <p:spPr>
          <a:xfrm>
            <a:off x="8945218" y="5087938"/>
            <a:ext cx="2773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www.profit.co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/blog/behavioral-economics/understanding-decision-making-in-organizational-strategy-and-management/</a:t>
            </a:r>
          </a:p>
        </p:txBody>
      </p:sp>
    </p:spTree>
    <p:extLst>
      <p:ext uri="{BB962C8B-B14F-4D97-AF65-F5344CB8AC3E}">
        <p14:creationId xmlns:p14="http://schemas.microsoft.com/office/powerpoint/2010/main" val="3626678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15925"/>
            <a:ext cx="8915400" cy="1143000"/>
          </a:xfrm>
        </p:spPr>
        <p:txBody>
          <a:bodyPr>
            <a:normAutofit fontScale="90000"/>
          </a:bodyPr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Decision </a:t>
            </a:r>
            <a:r>
              <a:rPr lang="en-US" dirty="0">
                <a:solidFill>
                  <a:srgbClr val="C0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(2)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345474"/>
            <a:ext cx="9601200" cy="452192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Four steps occur (chronologically):</a:t>
            </a:r>
          </a:p>
          <a:p>
            <a:pPr lvl="1">
              <a:lnSpc>
                <a:spcPct val="90000"/>
              </a:lnSpc>
            </a:pPr>
            <a:endParaRPr lang="en-US" sz="3200" dirty="0"/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C00000"/>
                </a:solidFill>
              </a:rPr>
              <a:t>Initiation</a:t>
            </a:r>
          </a:p>
          <a:p>
            <a:pPr lvl="2">
              <a:lnSpc>
                <a:spcPct val="90000"/>
              </a:lnSpc>
            </a:pPr>
            <a:r>
              <a:rPr lang="en-US" sz="3200" dirty="0">
                <a:solidFill>
                  <a:srgbClr val="C00000"/>
                </a:solidFill>
              </a:rPr>
              <a:t>Generation of proposals for resources utilization and structuring of contracts</a:t>
            </a:r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002060"/>
                </a:solidFill>
              </a:rPr>
              <a:t>Ratification</a:t>
            </a:r>
          </a:p>
          <a:p>
            <a:pPr lvl="2">
              <a:lnSpc>
                <a:spcPct val="90000"/>
              </a:lnSpc>
            </a:pPr>
            <a:r>
              <a:rPr lang="en-US" sz="3200" dirty="0">
                <a:solidFill>
                  <a:srgbClr val="002060"/>
                </a:solidFill>
              </a:rPr>
              <a:t>Choice of decision initiatives to be implemented</a:t>
            </a:r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C00000"/>
                </a:solidFill>
              </a:rPr>
              <a:t>Implementation</a:t>
            </a:r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002060"/>
                </a:solidFill>
              </a:rPr>
              <a:t>Monitoring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1099528" y="5882640"/>
            <a:ext cx="5786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42107200-3CEC-4576-9EDA-650F6DAD1F69}" type="slidenum">
              <a:rPr lang="en-US" sz="1000" smtClean="0"/>
              <a:pPr/>
              <a:t>15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9832622" y="5314870"/>
            <a:ext cx="2359378" cy="369332"/>
          </a:xfrm>
          <a:prstGeom prst="rect">
            <a:avLst/>
          </a:prstGeom>
          <a:solidFill>
            <a:srgbClr val="FF9900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tx1"/>
                </a:solidFill>
              </a:rPr>
              <a:t>Ramme p. 394 – 395!</a:t>
            </a:r>
          </a:p>
        </p:txBody>
      </p:sp>
    </p:spTree>
    <p:extLst>
      <p:ext uri="{BB962C8B-B14F-4D97-AF65-F5344CB8AC3E}">
        <p14:creationId xmlns:p14="http://schemas.microsoft.com/office/powerpoint/2010/main" val="17334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27063"/>
            <a:ext cx="9144000" cy="1143000"/>
          </a:xfrm>
        </p:spPr>
        <p:txBody>
          <a:bodyPr/>
          <a:lstStyle/>
          <a:p>
            <a:r>
              <a:rPr lang="en-US" dirty="0"/>
              <a:t>Decision </a:t>
            </a:r>
            <a:r>
              <a:rPr lang="en-US" dirty="0">
                <a:solidFill>
                  <a:srgbClr val="C0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(3)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962150" y="1620838"/>
            <a:ext cx="8229600" cy="4525962"/>
          </a:xfrm>
        </p:spPr>
        <p:txBody>
          <a:bodyPr>
            <a:normAutofit/>
          </a:bodyPr>
          <a:lstStyle/>
          <a:p>
            <a:r>
              <a:rPr lang="en-US" sz="2800" dirty="0"/>
              <a:t>Basic principle/’rule of thumb’:</a:t>
            </a:r>
          </a:p>
          <a:p>
            <a:pPr lvl="1"/>
            <a:r>
              <a:rPr lang="en-US" sz="2800" dirty="0"/>
              <a:t>If decision makers do not bear the </a:t>
            </a:r>
            <a:r>
              <a:rPr lang="en-US" sz="2800" dirty="0">
                <a:solidFill>
                  <a:srgbClr val="006600"/>
                </a:solidFill>
              </a:rPr>
              <a:t>major wealth effects of their decisions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/>
              <a:t>- if they are neither owners, nor </a:t>
            </a:r>
            <a:r>
              <a:rPr lang="en-US" sz="2800" dirty="0">
                <a:solidFill>
                  <a:srgbClr val="C00000"/>
                </a:solidFill>
              </a:rPr>
              <a:t>residual claimants </a:t>
            </a:r>
            <a:r>
              <a:rPr lang="en-US" sz="2800" dirty="0"/>
              <a:t>- decision </a:t>
            </a:r>
            <a:r>
              <a:rPr lang="en-US" sz="2800" dirty="0">
                <a:solidFill>
                  <a:srgbClr val="C00000"/>
                </a:solidFill>
              </a:rPr>
              <a:t>management</a:t>
            </a:r>
            <a:r>
              <a:rPr lang="en-US" sz="2800" dirty="0"/>
              <a:t> and decision </a:t>
            </a:r>
            <a:r>
              <a:rPr lang="en-US" sz="2800" dirty="0">
                <a:solidFill>
                  <a:srgbClr val="002060"/>
                </a:solidFill>
              </a:rPr>
              <a:t>control</a:t>
            </a:r>
            <a:r>
              <a:rPr lang="en-US" sz="2800" dirty="0"/>
              <a:t> should be held by separate decision makers!!!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11391715" y="6317292"/>
            <a:ext cx="68262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B2A52ECE-523E-4D8A-855D-DA3CE9B07CFC}" type="slidenum">
              <a:rPr lang="en-US" sz="1000" smtClean="0"/>
              <a:pPr/>
              <a:t>16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892884" y="2594561"/>
            <a:ext cx="1567543" cy="338554"/>
          </a:xfrm>
          <a:prstGeom prst="rect">
            <a:avLst/>
          </a:prstGeom>
          <a:solidFill>
            <a:srgbClr val="FF9900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sz="1600" dirty="0">
                <a:solidFill>
                  <a:srgbClr val="003300"/>
                </a:solidFill>
              </a:rPr>
              <a:t>Eksternaliteter!</a:t>
            </a:r>
          </a:p>
        </p:txBody>
      </p:sp>
      <p:cxnSp>
        <p:nvCxnSpPr>
          <p:cNvPr id="4" name="Lige pilforbindelse 3"/>
          <p:cNvCxnSpPr/>
          <p:nvPr/>
        </p:nvCxnSpPr>
        <p:spPr>
          <a:xfrm>
            <a:off x="7236824" y="3304903"/>
            <a:ext cx="1950207" cy="987398"/>
          </a:xfrm>
          <a:prstGeom prst="straightConnector1">
            <a:avLst/>
          </a:prstGeom>
          <a:ln w="34925">
            <a:solidFill>
              <a:srgbClr val="C00000">
                <a:alpha val="74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280185" y="4378300"/>
            <a:ext cx="4557485" cy="1631216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261938" lvl="2"/>
            <a:r>
              <a:rPr lang="en-US" sz="2000" dirty="0">
                <a:solidFill>
                  <a:srgbClr val="860000"/>
                </a:solidFill>
              </a:rPr>
              <a:t>Def.: “Residual claimant; the person with the legal right to the profits of the enterprise once all the other </a:t>
            </a:r>
            <a:r>
              <a:rPr lang="en-US" sz="2000" dirty="0" err="1">
                <a:solidFill>
                  <a:srgbClr val="860000"/>
                </a:solidFill>
              </a:rPr>
              <a:t>clai-mants</a:t>
            </a:r>
            <a:r>
              <a:rPr lang="en-US" sz="2000" dirty="0">
                <a:solidFill>
                  <a:srgbClr val="860000"/>
                </a:solidFill>
              </a:rPr>
              <a:t> of the firm (ex. bond-holders, employees) are paid”! (p. 394n).</a:t>
            </a:r>
          </a:p>
        </p:txBody>
      </p:sp>
      <p:sp>
        <p:nvSpPr>
          <p:cNvPr id="7" name="Tekstfelt 6"/>
          <p:cNvSpPr txBox="1"/>
          <p:nvPr/>
        </p:nvSpPr>
        <p:spPr>
          <a:xfrm>
            <a:off x="892884" y="4378300"/>
            <a:ext cx="5992009" cy="2062103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860000"/>
                </a:solidFill>
              </a:rPr>
              <a:t>The Controllability Principle:</a:t>
            </a:r>
            <a:endParaRPr lang="da-DK" sz="2000" dirty="0">
              <a:solidFill>
                <a:srgbClr val="860000"/>
              </a:solidFill>
            </a:endParaRPr>
          </a:p>
          <a:p>
            <a:r>
              <a:rPr lang="en-US" dirty="0">
                <a:solidFill>
                  <a:srgbClr val="860000"/>
                </a:solidFill>
              </a:rPr>
              <a:t>’Holding managers (and other agents, TV) responsible for </a:t>
            </a:r>
            <a:r>
              <a:rPr lang="en-US" u="sng" dirty="0">
                <a:solidFill>
                  <a:srgbClr val="860000"/>
                </a:solidFill>
              </a:rPr>
              <a:t>only</a:t>
            </a:r>
            <a:r>
              <a:rPr lang="en-US" dirty="0">
                <a:solidFill>
                  <a:srgbClr val="860000"/>
                </a:solidFill>
              </a:rPr>
              <a:t> </a:t>
            </a:r>
            <a:r>
              <a:rPr lang="en-US" u="sng" dirty="0">
                <a:solidFill>
                  <a:srgbClr val="860000"/>
                </a:solidFill>
              </a:rPr>
              <a:t>those</a:t>
            </a:r>
            <a:r>
              <a:rPr lang="en-US" dirty="0">
                <a:solidFill>
                  <a:srgbClr val="860000"/>
                </a:solidFill>
              </a:rPr>
              <a:t> </a:t>
            </a:r>
            <a:r>
              <a:rPr lang="en-US" u="sng" dirty="0">
                <a:solidFill>
                  <a:srgbClr val="860000"/>
                </a:solidFill>
              </a:rPr>
              <a:t>decisions</a:t>
            </a:r>
            <a:r>
              <a:rPr lang="en-US" dirty="0">
                <a:solidFill>
                  <a:srgbClr val="860000"/>
                </a:solidFill>
              </a:rPr>
              <a:t> for which they are given authority ((decision rights) … ‘and therefor can control’, TV)’.</a:t>
            </a:r>
            <a:endParaRPr lang="da-DK" dirty="0">
              <a:solidFill>
                <a:srgbClr val="860000"/>
              </a:solidFill>
            </a:endParaRPr>
          </a:p>
          <a:p>
            <a:endParaRPr lang="en-US" dirty="0">
              <a:solidFill>
                <a:srgbClr val="860000"/>
              </a:solidFill>
            </a:endParaRPr>
          </a:p>
          <a:p>
            <a:r>
              <a:rPr lang="en-US" dirty="0">
                <a:solidFill>
                  <a:srgbClr val="860000"/>
                </a:solidFill>
              </a:rPr>
              <a:t>(Zimmerman. J. (2020), p. 654: Accounting for Decision Making and Control)</a:t>
            </a:r>
            <a:endParaRPr lang="da-DK" dirty="0">
              <a:solidFill>
                <a:srgbClr val="8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568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579438"/>
            <a:ext cx="9144000" cy="1143000"/>
          </a:xfrm>
        </p:spPr>
        <p:txBody>
          <a:bodyPr/>
          <a:lstStyle/>
          <a:p>
            <a:r>
              <a:rPr lang="en-US" dirty="0"/>
              <a:t>Decision </a:t>
            </a:r>
            <a:r>
              <a:rPr lang="en-US" dirty="0">
                <a:solidFill>
                  <a:srgbClr val="C0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(4)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82751"/>
            <a:ext cx="5612296" cy="4525963"/>
          </a:xfrm>
        </p:spPr>
        <p:txBody>
          <a:bodyPr/>
          <a:lstStyle/>
          <a:p>
            <a:endParaRPr lang="en-US" dirty="0"/>
          </a:p>
          <a:p>
            <a:r>
              <a:rPr lang="en-US" sz="3200" dirty="0">
                <a:solidFill>
                  <a:srgbClr val="002060"/>
                </a:solidFill>
              </a:rPr>
              <a:t>Both ideas explain why boards of directors have the ‘ability’ to ratify decisions made by CEOs</a:t>
            </a:r>
          </a:p>
          <a:p>
            <a:r>
              <a:rPr lang="en-US" sz="3200" dirty="0">
                <a:solidFill>
                  <a:srgbClr val="002060"/>
                </a:solidFill>
              </a:rPr>
              <a:t>Boards also have monitoring authority</a:t>
            </a:r>
          </a:p>
          <a:p>
            <a:r>
              <a:rPr lang="en-US" sz="3200" dirty="0">
                <a:solidFill>
                  <a:srgbClr val="002060"/>
                </a:solidFill>
              </a:rPr>
              <a:t>Monitoring authority is also held by large shareholders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11461191" y="630769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2CC69D11-888F-4108-B181-57A3B4753160}" type="slidenum">
              <a:rPr lang="en-US" sz="1000" smtClean="0"/>
              <a:pPr/>
              <a:t>17</a:t>
            </a:fld>
            <a:endParaRPr lang="en-US" sz="1000" dirty="0"/>
          </a:p>
        </p:txBody>
      </p:sp>
      <p:pic>
        <p:nvPicPr>
          <p:cNvPr id="4098" name="Picture 2" descr="5 Reasons Your Board Doesn't Need An AI Specialist - Corporate Board Member">
            <a:extLst>
              <a:ext uri="{FF2B5EF4-FFF2-40B4-BE49-F238E27FC236}">
                <a16:creationId xmlns:a16="http://schemas.microsoft.com/office/drawing/2014/main" id="{32DC3124-3A8B-DFFD-FC11-6819CA7B2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157" y="2689817"/>
            <a:ext cx="3841293" cy="244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FF7FDD-5781-E6D0-AF01-A0650C0F043F}"/>
              </a:ext>
            </a:extLst>
          </p:cNvPr>
          <p:cNvSpPr txBox="1"/>
          <p:nvPr/>
        </p:nvSpPr>
        <p:spPr>
          <a:xfrm>
            <a:off x="7714604" y="5135563"/>
            <a:ext cx="249619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boardmember.com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/5-reasons-your-board-doesnt-need-an-ai-specialist/</a:t>
            </a:r>
          </a:p>
        </p:txBody>
      </p:sp>
    </p:spTree>
    <p:extLst>
      <p:ext uri="{BB962C8B-B14F-4D97-AF65-F5344CB8AC3E}">
        <p14:creationId xmlns:p14="http://schemas.microsoft.com/office/powerpoint/2010/main" val="3985088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4730" y="523569"/>
            <a:ext cx="9713843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Influence Costs – the possibility of lobbying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531790"/>
            <a:ext cx="7119730" cy="4624139"/>
          </a:xfrm>
        </p:spPr>
        <p:txBody>
          <a:bodyPr>
            <a:no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500" dirty="0">
                <a:solidFill>
                  <a:schemeClr val="tx1"/>
                </a:solidFill>
              </a:rPr>
              <a:t>Employees have incentives to </a:t>
            </a:r>
            <a:r>
              <a:rPr lang="en-US" sz="2500" i="1" dirty="0">
                <a:solidFill>
                  <a:schemeClr val="tx1"/>
                </a:solidFill>
              </a:rPr>
              <a:t>influence</a:t>
            </a:r>
            <a:r>
              <a:rPr lang="en-US" sz="2500" dirty="0">
                <a:solidFill>
                  <a:schemeClr val="tx1"/>
                </a:solidFill>
              </a:rPr>
              <a:t> managerial decisions</a:t>
            </a:r>
          </a:p>
          <a:p>
            <a:pPr eaLnBrk="1" hangingPunct="1">
              <a:buClr>
                <a:srgbClr val="000066"/>
              </a:buClr>
            </a:pPr>
            <a:r>
              <a:rPr lang="en-US" sz="2500" dirty="0">
                <a:solidFill>
                  <a:schemeClr val="tx1"/>
                </a:solidFill>
              </a:rPr>
              <a:t>Influence activities may entail </a:t>
            </a:r>
            <a:r>
              <a:rPr lang="en-US" sz="2500" i="1" dirty="0">
                <a:solidFill>
                  <a:schemeClr val="tx1"/>
                </a:solidFill>
              </a:rPr>
              <a:t>costs</a:t>
            </a:r>
            <a:endParaRPr lang="en-US" sz="25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time away from the job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dysfunctional activities</a:t>
            </a:r>
          </a:p>
          <a:p>
            <a:pPr eaLnBrk="1" hangingPunct="1">
              <a:buClr>
                <a:srgbClr val="000066"/>
              </a:buClr>
            </a:pPr>
            <a:r>
              <a:rPr lang="en-US" sz="2500" dirty="0">
                <a:solidFill>
                  <a:schemeClr val="tx1"/>
                </a:solidFill>
              </a:rPr>
              <a:t>Limits on managerial discretion may reduce influence costs (</a:t>
            </a:r>
            <a:r>
              <a:rPr lang="en-US" sz="2500" i="1" dirty="0">
                <a:solidFill>
                  <a:schemeClr val="tx1"/>
                </a:solidFill>
              </a:rPr>
              <a:t>obj./subj. performance evaluation</a:t>
            </a:r>
            <a:r>
              <a:rPr lang="en-US" sz="2500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buClr>
                <a:srgbClr val="000066"/>
              </a:buClr>
            </a:pPr>
            <a:r>
              <a:rPr lang="en-US" sz="2500" dirty="0">
                <a:solidFill>
                  <a:schemeClr val="tx1"/>
                </a:solidFill>
              </a:rPr>
              <a:t>When firm’s profits are unaffected by decisions that may have a major impact on individual employees, </a:t>
            </a:r>
            <a:r>
              <a:rPr lang="en-US" sz="2500" u="sng" dirty="0">
                <a:solidFill>
                  <a:schemeClr val="tx1"/>
                </a:solidFill>
              </a:rPr>
              <a:t>‘bureaucratic rules’</a:t>
            </a:r>
            <a:r>
              <a:rPr lang="en-US" sz="2500" dirty="0">
                <a:solidFill>
                  <a:schemeClr val="tx1"/>
                </a:solidFill>
              </a:rPr>
              <a:t> are more likely – se Unites Airlines </a:t>
            </a:r>
            <a:r>
              <a:rPr lang="en-US" sz="2500" dirty="0" err="1">
                <a:solidFill>
                  <a:schemeClr val="tx1"/>
                </a:solidFill>
              </a:rPr>
              <a:t>eksemplet</a:t>
            </a:r>
            <a:r>
              <a:rPr lang="en-US" sz="2500" dirty="0">
                <a:solidFill>
                  <a:schemeClr val="tx1"/>
                </a:solidFill>
              </a:rPr>
              <a:t> (Hawaii, seniority)!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11517508" y="6389085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A83A0CA6-022C-4BF2-AF70-B3329D2030CA}" type="slidenum">
              <a:rPr lang="en-US" sz="1000" smtClean="0"/>
              <a:pPr/>
              <a:t>18</a:t>
            </a:fld>
            <a:endParaRPr lang="en-US" sz="1000" dirty="0"/>
          </a:p>
        </p:txBody>
      </p:sp>
      <p:pic>
        <p:nvPicPr>
          <p:cNvPr id="5122" name="Picture 2" descr="Government lobbying in the US and EU">
            <a:extLst>
              <a:ext uri="{FF2B5EF4-FFF2-40B4-BE49-F238E27FC236}">
                <a16:creationId xmlns:a16="http://schemas.microsoft.com/office/drawing/2014/main" id="{792F7E93-CA85-E42C-9ED9-F3BBB39E1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960" y="1666569"/>
            <a:ext cx="4101889" cy="230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A3A687-7476-6D9B-2FBE-6E0524C36DB5}"/>
              </a:ext>
            </a:extLst>
          </p:cNvPr>
          <p:cNvSpPr txBox="1"/>
          <p:nvPr/>
        </p:nvSpPr>
        <p:spPr>
          <a:xfrm>
            <a:off x="7905960" y="3976036"/>
            <a:ext cx="247535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saisobserver.org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/2018/10/03/government-lobbying-in-the-us-and-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eu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1550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uiExpand="1" build="p" bldLvl="2" autoUpdateAnimBg="0"/>
    </p:bldLst>
  </p:timing>
</p:sld>
</file>

<file path=ppt/theme/theme1.xml><?xml version="1.0" encoding="utf-8"?>
<a:theme xmlns:a="http://schemas.openxmlformats.org/drawingml/2006/main" name="Crop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363</TotalTime>
  <Words>1116</Words>
  <Application>Microsoft Macintosh PowerPoint</Application>
  <PresentationFormat>Widescreen</PresentationFormat>
  <Paragraphs>179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Franklin Gothic Book</vt:lpstr>
      <vt:lpstr>Symbol</vt:lpstr>
      <vt:lpstr>Crop</vt:lpstr>
      <vt:lpstr>PowerPoint Presentation</vt:lpstr>
      <vt:lpstr>Assigning Tasks and Decision Rights</vt:lpstr>
      <vt:lpstr>Dimensions of Job Design</vt:lpstr>
      <vt:lpstr>Centralization vs Decentralization</vt:lpstr>
      <vt:lpstr>Benefits of Decentralization</vt:lpstr>
      <vt:lpstr>Costs of Decentralization</vt:lpstr>
      <vt:lpstr>Determining the Level of Decentralization (1) – The Firms Choice</vt:lpstr>
      <vt:lpstr>Determining the Level of Decentralization (2)</vt:lpstr>
      <vt:lpstr>Determining the Level of Decentralization (3)</vt:lpstr>
      <vt:lpstr>Determining the Level of Decentralization (4)</vt:lpstr>
      <vt:lpstr>Management Implications</vt:lpstr>
      <vt:lpstr>Benefits and Costs of Team Decision Making </vt:lpstr>
      <vt:lpstr> Management Implications of Team Decision Making</vt:lpstr>
      <vt:lpstr>Decision Management and Control (1) (meget centralt begrebspar med udtalt relevans også for VØS (5)) </vt:lpstr>
      <vt:lpstr>Decision Management and Control (2)</vt:lpstr>
      <vt:lpstr>Decision Management and Control (3)</vt:lpstr>
      <vt:lpstr>Decision Management and Control (4)</vt:lpstr>
      <vt:lpstr>Influence Costs – the possibility of lobbying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Vamosi</dc:creator>
  <cp:lastModifiedBy>Kai Inga Liehr Storm</cp:lastModifiedBy>
  <cp:revision>40</cp:revision>
  <dcterms:created xsi:type="dcterms:W3CDTF">2020-03-12T14:19:56Z</dcterms:created>
  <dcterms:modified xsi:type="dcterms:W3CDTF">2026-01-28T17:18:47Z</dcterms:modified>
</cp:coreProperties>
</file>